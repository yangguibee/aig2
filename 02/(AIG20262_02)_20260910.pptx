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66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542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86507"/>
            <a:ext cx="1067105" cy="418795"/>
          </a:xfrm>
          <a:prstGeom prst="rect">
            <a:avLst/>
          </a:prstGeom>
          <a:noFill/>
          <a:ln w="25400">
            <a:solidFill>
              <a:srgbClr val="036B3F"/>
            </a:solidFill>
            <a:prstDash val="solid"/>
          </a:ln>
        </p:spPr>
      </p:sp>
      <p:pic>
        <p:nvPicPr>
          <p:cNvPr id="4" name="Image 1" descr="gen-dedup-19c911119b5455341ec56e38170d158e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952805" y="7200900"/>
            <a:ext cx="1714500" cy="384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477695" y="8020202"/>
            <a:ext cx="2857500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52805" y="418795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38" dirty="0">
                <a:solidFill>
                  <a:srgbClr val="036B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KONKUK UNIVERSITY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952805" y="838505"/>
            <a:ext cx="8572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952805" y="2686507"/>
            <a:ext cx="10671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강</a:t>
            </a:r>
            <a:endParaRPr lang="en-US" sz="165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3353105"/>
            <a:ext cx="16383305" cy="119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법규제의 기초 이론</a:t>
            </a:r>
            <a:endParaRPr lang="en-US" sz="7200" dirty="0"/>
          </a:p>
        </p:txBody>
      </p:sp>
      <p:sp>
        <p:nvSpPr>
          <p:cNvPr id="10" name="Text 6"/>
          <p:cNvSpPr txBox="1"/>
          <p:nvPr/>
        </p:nvSpPr>
        <p:spPr>
          <a:xfrm>
            <a:off x="952805" y="4762195"/>
            <a:ext cx="16383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Theoretical Foundations of AI Regulation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952805" y="6724498"/>
            <a:ext cx="9525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https://github.com/YangGuiBee/AIG2</a:t>
            </a:r>
            <a:endParaRPr lang="en-US" sz="1575" dirty="0"/>
          </a:p>
        </p:txBody>
      </p:sp>
      <p:sp>
        <p:nvSpPr>
          <p:cNvPr id="12" name="Text 8"/>
          <p:cNvSpPr txBox="1"/>
          <p:nvPr/>
        </p:nvSpPr>
        <p:spPr>
          <a:xfrm>
            <a:off x="952805" y="7563002"/>
            <a:ext cx="11430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2026학년도 2학기 · 담당교수 </a:t>
            </a:r>
            <a:r>
              <a:rPr lang="en-US" sz="202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양희정</a:t>
            </a:r>
            <a:endParaRPr lang="en-US" sz="2025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7987284"/>
            <a:ext cx="114300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https://yangguibee.github.io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guibee@konkuk.ac.kr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783105" y="8268005"/>
            <a:ext cx="22485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036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COURSE · 2026-2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14783105" y="8553298"/>
            <a:ext cx="224851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09.10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5266944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7067398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667305"/>
            <a:ext cx="5266944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66730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7067398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667305"/>
            <a:ext cx="5277002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667305"/>
            <a:ext cx="5277002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7067398"/>
            <a:ext cx="4667098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805" y="8096098"/>
            <a:ext cx="16383305" cy="1429207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13" name="Shape 7"/>
          <p:cNvSpPr/>
          <p:nvPr/>
        </p:nvSpPr>
        <p:spPr>
          <a:xfrm>
            <a:off x="952805" y="8096098"/>
            <a:ext cx="75895" cy="14292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1강 요약</a:t>
            </a:r>
            <a:endParaRPr lang="en-US" sz="5000" dirty="0"/>
          </a:p>
        </p:txBody>
      </p:sp>
      <p:sp>
        <p:nvSpPr>
          <p:cNvPr id="16" name="Text 10"/>
          <p:cNvSpPr txBox="1"/>
          <p:nvPr/>
        </p:nvSpPr>
        <p:spPr>
          <a:xfrm>
            <a:off x="1257300" y="3029407"/>
            <a:ext cx="4657954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37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AI거버넌스의 계보</a:t>
            </a:r>
            <a:endParaRPr lang="en-US" sz="2800" dirty="0">
              <a:solidFill>
                <a:srgbClr val="0033CC"/>
              </a:solidFill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1257300" y="3791102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어원은 '배의 키를 잡다'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257300" y="4311396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1990년대 기업 지배구조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257300" y="4832604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2000년대 IT 거버넌스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1257300" y="535289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2020년대 AI 거버넌스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1257300" y="6962699"/>
            <a:ext cx="46579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통치가 아니라 </a:t>
            </a:r>
            <a:r>
              <a:rPr lang="en-US" sz="2000" dirty="0" err="1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</a:t>
            </a: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</a:t>
            </a: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방향 설정</a:t>
            </a:r>
            <a:endParaRPr lang="en-US" sz="2000" dirty="0">
              <a:solidFill>
                <a:srgbClr val="FF00FF"/>
              </a:solidFill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6810451" y="3029407"/>
            <a:ext cx="4657954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37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AI거버넌스의 핵심</a:t>
            </a:r>
            <a:endParaRPr lang="en-US" sz="2800" dirty="0">
              <a:solidFill>
                <a:srgbClr val="0033CC"/>
              </a:solidFill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6810451" y="3791102"/>
            <a:ext cx="4977079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윤리는 방향, 법은 강제, 표준은 이행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6810451" y="4485566"/>
            <a:ext cx="53437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AI Act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위험을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네 단계로 나눈 규정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810451" y="5166433"/>
            <a:ext cx="46579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AI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기본법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진흥과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규제를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기본법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6810451" y="7191298"/>
            <a:ext cx="46579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같은 위험을 서로 다르게 다룬다</a:t>
            </a:r>
            <a:endParaRPr lang="en-US" sz="2000" dirty="0">
              <a:solidFill>
                <a:srgbClr val="FF00FF"/>
              </a:solidFill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12363602" y="3029407"/>
            <a:ext cx="466801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37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AI표준과 연구</a:t>
            </a:r>
            <a:endParaRPr lang="en-US" sz="2800" dirty="0">
              <a:solidFill>
                <a:srgbClr val="0033CC"/>
              </a:solidFill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2363602" y="3791102"/>
            <a:ext cx="4668012" cy="355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JTC 1/SC 42 :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국제표준 기구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12363602" y="4200068"/>
            <a:ext cx="46680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경영시스템 실무지침</a:t>
            </a:r>
            <a:endParaRPr lang="en-US" sz="2000" dirty="0"/>
          </a:p>
        </p:txBody>
      </p:sp>
      <p:sp>
        <p:nvSpPr>
          <p:cNvPr id="30" name="Text 24"/>
          <p:cNvSpPr txBox="1"/>
          <p:nvPr/>
        </p:nvSpPr>
        <p:spPr>
          <a:xfrm>
            <a:off x="12362688" y="5018684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지금은 규범 형성기의 한복판</a:t>
            </a:r>
            <a:endParaRPr lang="en-US" sz="2000" dirty="0"/>
          </a:p>
        </p:txBody>
      </p:sp>
      <p:sp>
        <p:nvSpPr>
          <p:cNvPr id="31" name="Text 25"/>
          <p:cNvSpPr txBox="1"/>
          <p:nvPr/>
        </p:nvSpPr>
        <p:spPr>
          <a:xfrm>
            <a:off x="12363602" y="7191298"/>
            <a:ext cx="46680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미해결 과제가 곧 연구 주제</a:t>
            </a:r>
            <a:endParaRPr lang="en-US" sz="2000" dirty="0">
              <a:solidFill>
                <a:srgbClr val="FF00FF"/>
              </a:solidFill>
            </a:endParaRPr>
          </a:p>
        </p:txBody>
      </p:sp>
      <p:sp>
        <p:nvSpPr>
          <p:cNvPr id="32" name="Text 26"/>
          <p:cNvSpPr txBox="1"/>
          <p:nvPr/>
        </p:nvSpPr>
        <p:spPr>
          <a:xfrm>
            <a:off x="1410005" y="8591702"/>
            <a:ext cx="15621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1강의 질문 — “AI거버넌스를 위한 새로운 법이 왜 필요한가?”</a:t>
            </a:r>
            <a:endParaRPr lang="en-US" sz="2250" dirty="0"/>
          </a:p>
        </p:txBody>
      </p:sp>
      <p:sp>
        <p:nvSpPr>
          <p:cNvPr id="33" name="Text 27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1/24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3810305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3810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fd9a1c36629d031af03f6d694b88d9ab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4138791"/>
            <a:ext cx="3200400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953305" y="2667305"/>
            <a:ext cx="3810305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953305" y="2667305"/>
            <a:ext cx="3810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8" name="Image 2" descr="gen-dedup-fd9a1c36629d031af03f6d694b88d9ab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257800" y="4138791"/>
            <a:ext cx="3200400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953805" y="2667305"/>
            <a:ext cx="3810305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953805" y="2667305"/>
            <a:ext cx="3810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1" name="Image 3" descr="gen-dedup-fd9a1c36629d031af03f6d694b88d9ab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258300" y="4138791"/>
            <a:ext cx="32004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2954305" y="2667305"/>
            <a:ext cx="4381805" cy="5333695"/>
          </a:xfrm>
          <a:prstGeom prst="rect">
            <a:avLst/>
          </a:prstGeom>
          <a:solidFill>
            <a:srgbClr val="EAF2ED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12954305" y="2667305"/>
            <a:ext cx="43818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14" name="Image 4" descr="gen-dedup-560a2a837308f4c21b3550573ce20f6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3258800" y="4138791"/>
            <a:ext cx="3771900" cy="914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952805" y="8096098"/>
            <a:ext cx="16383305" cy="1429207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16" name="Shape 9"/>
          <p:cNvSpPr/>
          <p:nvPr/>
        </p:nvSpPr>
        <p:spPr>
          <a:xfrm>
            <a:off x="952805" y="8096098"/>
            <a:ext cx="75895" cy="14292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2강 구성</a:t>
            </a:r>
            <a:endParaRPr lang="en-US" sz="5000" dirty="0"/>
          </a:p>
        </p:txBody>
      </p:sp>
      <p:sp>
        <p:nvSpPr>
          <p:cNvPr id="19" name="Text 12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AI에는 새로운 법이 필요한가?</a:t>
            </a:r>
            <a:r>
              <a:rPr lang="en-US" sz="18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정당성 → 방식 → 가치 → 연구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1257299" y="3029407"/>
            <a:ext cx="1800453" cy="432728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2000" b="1" kern="0" spc="1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1257300" y="348195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규제의 정당성은 </a:t>
            </a:r>
            <a:r>
              <a:rPr lang="en-US" sz="2000" dirty="0" err="1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</a:t>
            </a:r>
            <a:r>
              <a:rPr lang="en-US" sz="200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</a:t>
            </a:r>
            <a:r>
              <a:rPr lang="ko-KR" altLang="en-US" sz="200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</a:t>
            </a:r>
            <a:r>
              <a:rPr lang="en-US" sz="200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1257300" y="4762195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(1) 시장실패의 유형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1295248" y="5078711"/>
            <a:ext cx="3505810" cy="441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2000" dirty="0" err="1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</a:t>
            </a:r>
            <a:r>
              <a:rPr lang="en-US" sz="2000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비대칭</a:t>
            </a:r>
            <a:r>
              <a:rPr lang="en-US" sz="2000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2000" dirty="0" err="1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외부성</a:t>
            </a:r>
            <a:r>
              <a:rPr lang="en-US" sz="2000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2000" dirty="0" err="1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공공재</a:t>
            </a:r>
            <a:endParaRPr lang="en-US" sz="2000" dirty="0">
              <a:solidFill>
                <a:srgbClr val="0033CC"/>
              </a:solidFill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1257300" y="5646364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(2) 예방원칙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1257300" y="6122766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(3) 규제실패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5257800" y="3029407"/>
            <a:ext cx="2104948" cy="452547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2000" b="1" kern="0" spc="1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5257800" y="3696005"/>
            <a:ext cx="343540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방식으로 규제하는가?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5257800" y="4762195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(1) 규제의 유형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5264900" y="5108806"/>
            <a:ext cx="3428301" cy="415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2000" dirty="0" err="1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</a:t>
            </a:r>
            <a:r>
              <a:rPr lang="en-US" sz="2000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</a:t>
            </a:r>
            <a:r>
              <a:rPr lang="en-US" sz="2000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2000" dirty="0" err="1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성과기반</a:t>
            </a:r>
            <a:r>
              <a:rPr lang="en-US" sz="2000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2000" dirty="0" err="1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</a:t>
            </a:r>
            <a:r>
              <a:rPr lang="en-US" sz="2000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2000" dirty="0" err="1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</a:t>
            </a:r>
            <a:endParaRPr lang="en-US" sz="2000" dirty="0">
              <a:solidFill>
                <a:srgbClr val="0033CC"/>
              </a:solidFill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5257800" y="5646364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(2) 국가별 규제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5257800" y="6122766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(3) 브뤼셀 효과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5257800" y="6598254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(4) 캘리포니아 효과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9258299" y="3029407"/>
            <a:ext cx="2062843" cy="489798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2000" b="1" kern="0" spc="1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9258300" y="3696005"/>
            <a:ext cx="32004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가치를 담는가?</a:t>
            </a:r>
            <a:endParaRPr lang="en-US" sz="2000" dirty="0"/>
          </a:p>
        </p:txBody>
      </p:sp>
      <p:sp>
        <p:nvSpPr>
          <p:cNvPr id="35" name="Text 28"/>
          <p:cNvSpPr txBox="1"/>
          <p:nvPr/>
        </p:nvSpPr>
        <p:spPr>
          <a:xfrm>
            <a:off x="9258300" y="4762195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(1) 인공지능기본법 제정</a:t>
            </a:r>
            <a:endParaRPr lang="en-US" sz="2000" dirty="0"/>
          </a:p>
        </p:txBody>
      </p:sp>
      <p:sp>
        <p:nvSpPr>
          <p:cNvPr id="36" name="Text 29"/>
          <p:cNvSpPr txBox="1"/>
          <p:nvPr/>
        </p:nvSpPr>
        <p:spPr>
          <a:xfrm>
            <a:off x="9258300" y="5238598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(2) 윤리와 신뢰</a:t>
            </a:r>
            <a:endParaRPr lang="en-US" sz="2000" dirty="0"/>
          </a:p>
        </p:txBody>
      </p:sp>
      <p:sp>
        <p:nvSpPr>
          <p:cNvPr id="37" name="Text 30"/>
          <p:cNvSpPr txBox="1"/>
          <p:nvPr/>
        </p:nvSpPr>
        <p:spPr>
          <a:xfrm>
            <a:off x="9258300" y="5715000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(3) 윤리 원칙</a:t>
            </a:r>
            <a:endParaRPr lang="en-US" sz="2000" dirty="0"/>
          </a:p>
        </p:txBody>
      </p:sp>
      <p:sp>
        <p:nvSpPr>
          <p:cNvPr id="38" name="Text 31"/>
          <p:cNvSpPr txBox="1"/>
          <p:nvPr/>
        </p:nvSpPr>
        <p:spPr>
          <a:xfrm>
            <a:off x="9258300" y="6191402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(4) 신뢰 구성요소</a:t>
            </a:r>
            <a:endParaRPr lang="en-US" sz="2000" dirty="0"/>
          </a:p>
        </p:txBody>
      </p:sp>
      <p:sp>
        <p:nvSpPr>
          <p:cNvPr id="39" name="Text 32"/>
          <p:cNvSpPr txBox="1"/>
          <p:nvPr/>
        </p:nvSpPr>
        <p:spPr>
          <a:xfrm>
            <a:off x="9258300" y="6667805"/>
            <a:ext cx="32004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(5) 신뢰의 법률적 구현</a:t>
            </a:r>
            <a:endParaRPr lang="en-US" sz="2000" dirty="0"/>
          </a:p>
        </p:txBody>
      </p:sp>
      <p:sp>
        <p:nvSpPr>
          <p:cNvPr id="40" name="Text 33"/>
          <p:cNvSpPr txBox="1"/>
          <p:nvPr/>
        </p:nvSpPr>
        <p:spPr>
          <a:xfrm>
            <a:off x="13258800" y="3029407"/>
            <a:ext cx="1792514" cy="489798"/>
          </a:xfrm>
          <a:prstGeom prst="rect">
            <a:avLst/>
          </a:prstGeom>
          <a:solidFill>
            <a:srgbClr val="9A762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63500" rIns="177800" bIns="63500" rtlCol="0" anchor="ctr"/>
          <a:lstStyle/>
          <a:p>
            <a:pPr marL="0" indent="0" algn="l">
              <a:buNone/>
            </a:pPr>
            <a:r>
              <a:rPr lang="en-US" sz="2000" b="1" kern="0" spc="1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2000" dirty="0"/>
          </a:p>
        </p:txBody>
      </p:sp>
      <p:sp>
        <p:nvSpPr>
          <p:cNvPr id="41" name="Text 34"/>
          <p:cNvSpPr txBox="1"/>
          <p:nvPr/>
        </p:nvSpPr>
        <p:spPr>
          <a:xfrm>
            <a:off x="13057552" y="4654349"/>
            <a:ext cx="400141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(1) AI 거버넌스 정책 형성과정</a:t>
            </a:r>
            <a:endParaRPr lang="en-US" sz="2000" dirty="0">
              <a:solidFill>
                <a:srgbClr val="FF00FF"/>
              </a:solidFill>
            </a:endParaRPr>
          </a:p>
        </p:txBody>
      </p:sp>
      <p:sp>
        <p:nvSpPr>
          <p:cNvPr id="42" name="Text 35"/>
          <p:cNvSpPr txBox="1"/>
          <p:nvPr/>
        </p:nvSpPr>
        <p:spPr>
          <a:xfrm>
            <a:off x="13057552" y="5117950"/>
            <a:ext cx="37719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(2) AI 윤리 저작권 규제체계</a:t>
            </a:r>
            <a:endParaRPr lang="en-US" sz="2000" dirty="0">
              <a:solidFill>
                <a:srgbClr val="FF00FF"/>
              </a:solidFill>
            </a:endParaRPr>
          </a:p>
        </p:txBody>
      </p:sp>
      <p:sp>
        <p:nvSpPr>
          <p:cNvPr id="43" name="Text 36"/>
          <p:cNvSpPr txBox="1"/>
          <p:nvPr/>
        </p:nvSpPr>
        <p:spPr>
          <a:xfrm>
            <a:off x="13057552" y="5581551"/>
            <a:ext cx="4336999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(3) AI시대 인공지능기본법과 윤리</a:t>
            </a:r>
            <a:endParaRPr lang="en-US" sz="2000" dirty="0">
              <a:solidFill>
                <a:srgbClr val="FF00FF"/>
              </a:solidFill>
            </a:endParaRPr>
          </a:p>
        </p:txBody>
      </p:sp>
      <p:sp>
        <p:nvSpPr>
          <p:cNvPr id="44" name="Text 37"/>
          <p:cNvSpPr txBox="1"/>
          <p:nvPr/>
        </p:nvSpPr>
        <p:spPr>
          <a:xfrm>
            <a:off x="13057552" y="6045152"/>
            <a:ext cx="37719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(4) AI 윤리 법의접점</a:t>
            </a:r>
            <a:endParaRPr lang="en-US" sz="2000" dirty="0">
              <a:solidFill>
                <a:srgbClr val="FF00FF"/>
              </a:solidFill>
            </a:endParaRPr>
          </a:p>
        </p:txBody>
      </p:sp>
      <p:sp>
        <p:nvSpPr>
          <p:cNvPr id="45" name="Text 38"/>
          <p:cNvSpPr txBox="1"/>
          <p:nvPr/>
        </p:nvSpPr>
        <p:spPr>
          <a:xfrm>
            <a:off x="13057552" y="6508752"/>
            <a:ext cx="439735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(5) AI 기술 윤리성 인식척도 개발</a:t>
            </a:r>
            <a:endParaRPr lang="en-US" sz="2000" dirty="0">
              <a:solidFill>
                <a:srgbClr val="FF00FF"/>
              </a:solidFill>
            </a:endParaRPr>
          </a:p>
        </p:txBody>
      </p:sp>
      <p:sp>
        <p:nvSpPr>
          <p:cNvPr id="46" name="Text 39"/>
          <p:cNvSpPr txBox="1"/>
          <p:nvPr/>
        </p:nvSpPr>
        <p:spPr>
          <a:xfrm>
            <a:off x="13068605" y="6757092"/>
            <a:ext cx="413018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(6) AI 윤리원칙 분류모형 윤리 </a:t>
            </a:r>
            <a:r>
              <a:rPr lang="en-US" sz="2000" dirty="0" err="1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측정지표</a:t>
            </a: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2000" dirty="0">
              <a:solidFill>
                <a:srgbClr val="FF00FF"/>
              </a:solidFill>
            </a:endParaRPr>
          </a:p>
        </p:txBody>
      </p:sp>
      <p:sp>
        <p:nvSpPr>
          <p:cNvPr id="47" name="Text 40"/>
          <p:cNvSpPr txBox="1"/>
          <p:nvPr/>
        </p:nvSpPr>
        <p:spPr>
          <a:xfrm>
            <a:off x="13068605" y="7427725"/>
            <a:ext cx="448879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0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(7) AI 로봇위험성 유형별 측정지표</a:t>
            </a:r>
            <a:endParaRPr lang="en-US" sz="2000" dirty="0">
              <a:solidFill>
                <a:srgbClr val="FF00FF"/>
              </a:solidFill>
            </a:endParaRPr>
          </a:p>
        </p:txBody>
      </p:sp>
      <p:sp>
        <p:nvSpPr>
          <p:cNvPr id="48" name="Text 41"/>
          <p:cNvSpPr txBox="1"/>
          <p:nvPr/>
        </p:nvSpPr>
        <p:spPr>
          <a:xfrm>
            <a:off x="1485900" y="8295735"/>
            <a:ext cx="1714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000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</a:t>
            </a:r>
            <a:endParaRPr lang="en-US" sz="2250" dirty="0"/>
          </a:p>
        </p:txBody>
      </p:sp>
      <p:sp>
        <p:nvSpPr>
          <p:cNvPr id="49" name="Text 42"/>
          <p:cNvSpPr txBox="1"/>
          <p:nvPr/>
        </p:nvSpPr>
        <p:spPr>
          <a:xfrm>
            <a:off x="3314700" y="8257330"/>
            <a:ext cx="13716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규제는 시장실패가 있을 때 정당화된다</a:t>
            </a:r>
            <a:endParaRPr lang="en-US" sz="2000" dirty="0"/>
          </a:p>
        </p:txBody>
      </p:sp>
      <p:sp>
        <p:nvSpPr>
          <p:cNvPr id="50" name="Text 43"/>
          <p:cNvSpPr txBox="1"/>
          <p:nvPr/>
        </p:nvSpPr>
        <p:spPr>
          <a:xfrm>
            <a:off x="3314700" y="8651436"/>
            <a:ext cx="13716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각 나라별로 다양한 규제 방식의 조합을 선정한다</a:t>
            </a:r>
            <a:endParaRPr lang="en-US" sz="2000" dirty="0"/>
          </a:p>
        </p:txBody>
      </p:sp>
      <p:sp>
        <p:nvSpPr>
          <p:cNvPr id="51" name="Text 44"/>
          <p:cNvSpPr txBox="1"/>
          <p:nvPr/>
        </p:nvSpPr>
        <p:spPr>
          <a:xfrm>
            <a:off x="3314700" y="9044628"/>
            <a:ext cx="13716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윤리는 이상, 신뢰는 그 이상을 보증하는 장치이다</a:t>
            </a:r>
            <a:endParaRPr lang="en-US" sz="2000" dirty="0"/>
          </a:p>
        </p:txBody>
      </p:sp>
      <p:sp>
        <p:nvSpPr>
          <p:cNvPr id="52" name="Text 45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2/24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9805" y="2667305"/>
            <a:ext cx="6096305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239805" y="2667305"/>
            <a:ext cx="6096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5" name="Image 1" descr="gen-dedup-3662020fb77b35643e8465d34b64416b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544300" y="3733495"/>
            <a:ext cx="5486400" cy="9144"/>
          </a:xfrm>
          <a:prstGeom prst="rect">
            <a:avLst/>
          </a:prstGeom>
        </p:spPr>
      </p:pic>
      <p:pic>
        <p:nvPicPr>
          <p:cNvPr id="6" name="Image 2" descr="gen-dedup-3662020fb77b35643e8465d34b64416b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544300" y="5829300"/>
            <a:ext cx="5486400" cy="914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52805" y="8096098"/>
            <a:ext cx="16383305" cy="1429207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8" name="Shape 3"/>
          <p:cNvSpPr/>
          <p:nvPr/>
        </p:nvSpPr>
        <p:spPr>
          <a:xfrm>
            <a:off x="952805" y="8096098"/>
            <a:ext cx="75895" cy="14292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규제의 정당성</a:t>
            </a:r>
            <a:endParaRPr lang="en-US" sz="5000" dirty="0"/>
          </a:p>
        </p:txBody>
      </p:sp>
      <p:sp>
        <p:nvSpPr>
          <p:cNvPr id="15" name="Text 1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시장경제의 전제는 자유로운 거래가 자원을 가장 효율적으로 배분한다는 것. 따라서 국가의 개입은 예외이며, 그 예외를 정당화하는 사유가 필요.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2857500"/>
            <a:ext cx="9811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법의 대안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728186"/>
              </p:ext>
            </p:extLst>
          </p:nvPr>
        </p:nvGraphicFramePr>
        <p:xfrm>
          <a:off x="952805" y="3372307"/>
          <a:ext cx="9801454" cy="3663028"/>
        </p:xfrm>
        <a:graphic>
          <a:graphicData uri="http://schemas.openxmlformats.org/drawingml/2006/table">
            <a:tbl>
              <a:tblPr/>
              <a:tblGrid>
                <a:gridCol w="132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8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78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대안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작동 원리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분야의 실제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시장의 힘</a:t>
                      </a:r>
                      <a:endParaRPr lang="en-US" sz="20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나쁜 제품은 소비자가 외면한다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이용자는 모델의 편향을 알 수 없다(정보의 비대칭)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 자율</a:t>
                      </a:r>
                      <a:endParaRPr lang="en-US" sz="20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평판 손실을 피하려 스스로 규율한다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선도기업만 참여하고 후발주자는 무임승차한다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기술 개선</a:t>
                      </a:r>
                      <a:endParaRPr lang="en-US" sz="20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문제를 기술로 해결한다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어떤 지표를 쓸지가 이미 가치 판단이다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사후 배상</a:t>
                      </a:r>
                      <a:endParaRPr lang="en-US" sz="20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손해가 나면 책임을 묻는다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인과관계 입증이 어렵고 회복이 불가능하다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2"/>
          <p:cNvSpPr txBox="1"/>
          <p:nvPr/>
        </p:nvSpPr>
        <p:spPr>
          <a:xfrm>
            <a:off x="11544300" y="3029407"/>
            <a:ext cx="54864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규제의 정당성 논거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11544300" y="4000500"/>
            <a:ext cx="54864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효율성 논거 (법경제학)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11544300" y="4464101"/>
            <a:ext cx="54864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"시장이 스스로 최적을 찾지 못하므로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개입이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총후생을 높인다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."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11544300" y="5296205"/>
            <a:ext cx="54864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비용관 편익을 계산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1544300" y="6096305"/>
            <a:ext cx="54864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권리 논거 (기본권론)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11544300" y="6559906"/>
            <a:ext cx="6348679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"효율과 무관하게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침해되면 안 되는 가치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있다."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11544300" y="7023506"/>
            <a:ext cx="54864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인간 존엄, 차별 금지, 프라이버시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410005" y="8419795"/>
            <a:ext cx="15621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법의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대안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대한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실패하는 조건이 존재한다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경제학은 이를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시장실패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부른다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규제의 정당성은 여기서 나온다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1410005" y="8896198"/>
            <a:ext cx="15621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AI Act는 효율성 논거와 권리 논거를 결합.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3/24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5266944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733495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57300" y="6858000"/>
            <a:ext cx="4657954" cy="952805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7" name="Shape 3"/>
          <p:cNvSpPr/>
          <p:nvPr/>
        </p:nvSpPr>
        <p:spPr>
          <a:xfrm>
            <a:off x="1257300" y="6858000"/>
            <a:ext cx="75895" cy="9528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505956" y="2667305"/>
            <a:ext cx="5266944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05956" y="266730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0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733495"/>
            <a:ext cx="4657954" cy="914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810451" y="6858000"/>
            <a:ext cx="4657954" cy="952805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12" name="Shape 7"/>
          <p:cNvSpPr/>
          <p:nvPr/>
        </p:nvSpPr>
        <p:spPr>
          <a:xfrm>
            <a:off x="6810451" y="6858000"/>
            <a:ext cx="75895" cy="9528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2059107" y="2667305"/>
            <a:ext cx="5277002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2059107" y="2667305"/>
            <a:ext cx="5277002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5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733495"/>
            <a:ext cx="4667098" cy="91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2363602" y="6858000"/>
            <a:ext cx="4667098" cy="952805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17" name="Shape 11"/>
          <p:cNvSpPr/>
          <p:nvPr/>
        </p:nvSpPr>
        <p:spPr>
          <a:xfrm>
            <a:off x="12363602" y="6858000"/>
            <a:ext cx="75895" cy="95280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52805" y="8096098"/>
            <a:ext cx="16383305" cy="1429207"/>
          </a:xfrm>
          <a:prstGeom prst="rect">
            <a:avLst/>
          </a:prstGeom>
          <a:solidFill>
            <a:srgbClr val="FAF5E8"/>
          </a:solidFill>
          <a:ln/>
        </p:spPr>
      </p:sp>
      <p:sp>
        <p:nvSpPr>
          <p:cNvPr id="19" name="Shape 13"/>
          <p:cNvSpPr/>
          <p:nvPr/>
        </p:nvSpPr>
        <p:spPr>
          <a:xfrm>
            <a:off x="952805" y="8096098"/>
            <a:ext cx="75895" cy="1429207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(1) 시장실패의 유형</a:t>
            </a:r>
            <a:endParaRPr lang="en-US" sz="5000" dirty="0"/>
          </a:p>
        </p:txBody>
      </p:sp>
      <p:sp>
        <p:nvSpPr>
          <p:cNvPr id="26" name="Text 2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자유로운 거래에 맡겨두면 사회적으로 바람직한 결과가 나오지 않는 시장실패 → AI는 세 유형을 동시에 보유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257300" y="3029407"/>
            <a:ext cx="4657954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(1-1) 정보 비대칭</a:t>
            </a:r>
            <a:endParaRPr lang="en-US" sz="2500" dirty="0">
              <a:solidFill>
                <a:srgbClr val="0033CC"/>
              </a:solidFill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295247" y="3810441"/>
            <a:ext cx="4657954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당사자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한쪽이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훨씬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많이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있다.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1256386" y="4867730"/>
            <a:ext cx="4657954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AI에서 개발자는 학습 데이터와 오류율과 한계를 인지하나, 이용자는 결과만 본다.</a:t>
            </a:r>
            <a:endParaRPr lang="en-US" sz="2000" dirty="0"/>
          </a:p>
        </p:txBody>
      </p:sp>
      <p:sp>
        <p:nvSpPr>
          <p:cNvPr id="30" name="Text 24"/>
          <p:cNvSpPr txBox="1"/>
          <p:nvPr/>
        </p:nvSpPr>
        <p:spPr>
          <a:xfrm>
            <a:off x="1256386" y="5724523"/>
            <a:ext cx="4657954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본질적으로 블랙박스인 딥러닝 모델이 이 격차를 구조적으로 만든다.</a:t>
            </a:r>
            <a:endParaRPr lang="en-US" sz="2000" dirty="0"/>
          </a:p>
        </p:txBody>
      </p:sp>
      <p:sp>
        <p:nvSpPr>
          <p:cNvPr id="31" name="Text 25"/>
          <p:cNvSpPr txBox="1"/>
          <p:nvPr/>
        </p:nvSpPr>
        <p:spPr>
          <a:xfrm>
            <a:off x="1485900" y="6979024"/>
            <a:ext cx="42007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</a:t>
            </a:r>
            <a:endParaRPr lang="en-US" sz="2000" b="1" dirty="0">
              <a:solidFill>
                <a:srgbClr val="2C2C2C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표시, 고지, 문서화, 설명 의무</a:t>
            </a:r>
            <a:endParaRPr lang="en-US" sz="2000" dirty="0"/>
          </a:p>
        </p:txBody>
      </p:sp>
      <p:sp>
        <p:nvSpPr>
          <p:cNvPr id="32" name="Text 26"/>
          <p:cNvSpPr txBox="1"/>
          <p:nvPr/>
        </p:nvSpPr>
        <p:spPr>
          <a:xfrm>
            <a:off x="6810451" y="3029407"/>
            <a:ext cx="4657954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(1-2) 외부성</a:t>
            </a:r>
            <a:endParaRPr lang="en-US" sz="2500" dirty="0">
              <a:solidFill>
                <a:srgbClr val="0033CC"/>
              </a:solidFill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6985263" y="3779833"/>
            <a:ext cx="4657954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당사자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아닌 제3자가 비용을 떠안는다.</a:t>
            </a:r>
            <a:endParaRPr lang="en-US" sz="2000" dirty="0"/>
          </a:p>
        </p:txBody>
      </p:sp>
      <p:sp>
        <p:nvSpPr>
          <p:cNvPr id="35" name="Text 29"/>
          <p:cNvSpPr txBox="1"/>
          <p:nvPr/>
        </p:nvSpPr>
        <p:spPr>
          <a:xfrm>
            <a:off x="6848398" y="5041870"/>
            <a:ext cx="46579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AI에서 딥페이크 피해자, 채용 탈락자, 학습 데이터 원권리자들은 계약 관계에 없으므로 그 비용은 가격에서 제외된다.</a:t>
            </a:r>
            <a:endParaRPr lang="en-US" sz="2000" dirty="0"/>
          </a:p>
        </p:txBody>
      </p:sp>
      <p:sp>
        <p:nvSpPr>
          <p:cNvPr id="36" name="Text 30"/>
          <p:cNvSpPr txBox="1"/>
          <p:nvPr/>
        </p:nvSpPr>
        <p:spPr>
          <a:xfrm>
            <a:off x="7039051" y="6979024"/>
            <a:ext cx="42007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요건과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</a:t>
            </a:r>
            <a:endParaRPr lang="en-US" sz="2000" b="1" dirty="0">
              <a:solidFill>
                <a:srgbClr val="2C2C2C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영향평가/위험관리, 배상</a:t>
            </a:r>
            <a:endParaRPr lang="en-US" sz="2000" dirty="0"/>
          </a:p>
        </p:txBody>
      </p:sp>
      <p:sp>
        <p:nvSpPr>
          <p:cNvPr id="37" name="Text 31"/>
          <p:cNvSpPr txBox="1"/>
          <p:nvPr/>
        </p:nvSpPr>
        <p:spPr>
          <a:xfrm>
            <a:off x="12363602" y="3029407"/>
            <a:ext cx="466801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(1-3) 공공재</a:t>
            </a:r>
            <a:endParaRPr lang="en-US" sz="2500" dirty="0">
              <a:solidFill>
                <a:srgbClr val="0033CC"/>
              </a:solidFill>
            </a:endParaRPr>
          </a:p>
        </p:txBody>
      </p:sp>
      <p:sp>
        <p:nvSpPr>
          <p:cNvPr id="38" name="Text 32"/>
          <p:cNvSpPr txBox="1"/>
          <p:nvPr/>
        </p:nvSpPr>
        <p:spPr>
          <a:xfrm>
            <a:off x="12268047" y="3733495"/>
            <a:ext cx="4971594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모두가 이득을 보지만 누구도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비용을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회피한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다.</a:t>
            </a:r>
            <a:endParaRPr lang="en-US" sz="2000" dirty="0"/>
          </a:p>
        </p:txBody>
      </p:sp>
      <p:sp>
        <p:nvSpPr>
          <p:cNvPr id="39" name="Text 33"/>
          <p:cNvSpPr txBox="1"/>
          <p:nvPr/>
        </p:nvSpPr>
        <p:spPr>
          <a:xfrm>
            <a:off x="12268047" y="4987786"/>
            <a:ext cx="4668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AI에서 안전 연구, 평가 벤치마크, 사고 데이터베이스, 국제표준(SC42 표준화활동) 등으로 개별 기업에는 투자 유인이 없다.</a:t>
            </a:r>
            <a:endParaRPr lang="en-US" sz="2000" dirty="0"/>
          </a:p>
        </p:txBody>
      </p:sp>
      <p:sp>
        <p:nvSpPr>
          <p:cNvPr id="40" name="Text 34"/>
          <p:cNvSpPr txBox="1"/>
          <p:nvPr/>
        </p:nvSpPr>
        <p:spPr>
          <a:xfrm>
            <a:off x="12592202" y="6979024"/>
            <a:ext cx="42108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공적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</a:t>
            </a:r>
            <a:endParaRPr lang="en-US" sz="2000" b="1" dirty="0">
              <a:solidFill>
                <a:srgbClr val="2C2C2C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AI안전연구소, 표준, 공공데이터</a:t>
            </a:r>
            <a:endParaRPr lang="en-US" sz="2000" dirty="0"/>
          </a:p>
        </p:txBody>
      </p:sp>
      <p:sp>
        <p:nvSpPr>
          <p:cNvPr id="41" name="Text 35"/>
          <p:cNvSpPr txBox="1"/>
          <p:nvPr/>
        </p:nvSpPr>
        <p:spPr>
          <a:xfrm>
            <a:off x="1410005" y="8572500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비대칭은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AI기본법 제31조와 EU 제50조,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외부성은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AI기본법 제34조와 제35조,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공공재는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AI기본법 제12조와 제14조에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</a:t>
            </a:r>
            <a:endParaRPr lang="en-US" sz="2000" dirty="0"/>
          </a:p>
        </p:txBody>
      </p:sp>
      <p:sp>
        <p:nvSpPr>
          <p:cNvPr id="42" name="Text 36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4/24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8058607" cy="3781043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8058607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26c6b0906ceb21d4b1b187ddabf25760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696005"/>
            <a:ext cx="7448702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91802" y="2667305"/>
            <a:ext cx="7925105" cy="3781043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91802" y="2667305"/>
            <a:ext cx="7925105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8" name="Image 2" descr="gen-dedup-8438476575097037c068832093f9b59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696298" y="3696005"/>
            <a:ext cx="7315200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391802" y="7115178"/>
            <a:ext cx="7925105" cy="2381098"/>
          </a:xfrm>
          <a:prstGeom prst="rect">
            <a:avLst/>
          </a:prstGeom>
          <a:solidFill>
            <a:srgbClr val="FCE8FC"/>
          </a:solidFill>
          <a:ln/>
        </p:spPr>
      </p:sp>
      <p:sp>
        <p:nvSpPr>
          <p:cNvPr id="10" name="Shape 5"/>
          <p:cNvSpPr/>
          <p:nvPr/>
        </p:nvSpPr>
        <p:spPr>
          <a:xfrm>
            <a:off x="9391802" y="7115178"/>
            <a:ext cx="75895" cy="2381098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0033C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(1-1) 정보 비대칭</a:t>
            </a:r>
            <a:endParaRPr lang="en-US" sz="5000" dirty="0">
              <a:solidFill>
                <a:srgbClr val="0033CC"/>
              </a:solidFill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257300" y="2991002"/>
            <a:ext cx="744870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중고차 시장의 교훈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" y="3943807"/>
            <a:ext cx="7448702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판매자는 차의 결함을 알지만 구매자는 모름. 구매자는 속을 위험을 감안해 평균 품질만 가정해 값을 매기고, 좋은 차를 가진 판매자는 시장을 떠남. </a:t>
            </a:r>
          </a:p>
          <a:p>
            <a:pPr marL="0" indent="0" algn="l">
              <a:lnSpc>
                <a:spcPts val="2610"/>
              </a:lnSpc>
              <a:buNone/>
            </a:pPr>
            <a:r>
              <a:rPr lang="en-US" sz="18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남는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것은 불량품(lemon)뿐임.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28495" y="5287769"/>
            <a:ext cx="82012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— 정보 격차는 단순히 불공정이 아니라 시장 자체를 붕괴시키는 문제.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9696298" y="2991002"/>
            <a:ext cx="7315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심각성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9696298" y="3943807"/>
            <a:ext cx="73152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2A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</a:t>
            </a:r>
            <a:r>
              <a:rPr lang="en-US" sz="18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불가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중고차는 정비소 확인 가능, AI 모델 편향은 외부 확인 방법 없음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683273" y="4465096"/>
            <a:ext cx="73152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2A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</a:t>
            </a:r>
            <a:r>
              <a:rPr lang="en-US" sz="18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개발자도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모름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판매자조차 그 결과가 나온 이유를 모르는 </a:t>
            </a:r>
            <a:r>
              <a:rPr lang="en-US" sz="18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경우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있음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696298" y="5123880"/>
            <a:ext cx="765261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2A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</a:t>
            </a:r>
            <a:r>
              <a:rPr lang="en-US" sz="18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발현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채용 AI의 성별 편향은 수년 누적 후에야 통계로 확인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696298" y="5606901"/>
            <a:ext cx="73152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2A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</a:t>
            </a:r>
            <a:r>
              <a:rPr lang="en-US" sz="18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반복·확산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한 번의 결함이 수백만 건 결정에 동일 적용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52805" y="6505581"/>
            <a:ext cx="80586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격차를 줄이는 4단계 방법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454666"/>
              </p:ext>
            </p:extLst>
          </p:nvPr>
        </p:nvGraphicFramePr>
        <p:xfrm>
          <a:off x="952805" y="7038676"/>
          <a:ext cx="8049463" cy="2524660"/>
        </p:xfrm>
        <a:graphic>
          <a:graphicData uri="http://schemas.openxmlformats.org/drawingml/2006/table">
            <a:tbl>
              <a:tblPr/>
              <a:tblGrid>
                <a:gridCol w="1047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5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수단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근거 조항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1단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존재 고지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AI기본법 제31조 제1항 · EU 제50조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2단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생성물 표시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AI기본법 제31조 제2항 및 제3항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3단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기술문서 작성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제11조 · 부속서 4 · 제53조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4단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 설명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AI기본법 제34조 · EU 제13조 및 제86조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1"/>
          <p:cNvSpPr txBox="1"/>
          <p:nvPr/>
        </p:nvSpPr>
        <p:spPr>
          <a:xfrm>
            <a:off x="9773107" y="7362066"/>
            <a:ext cx="72009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 · 단계가 올라갈수록 난이도 상승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9773107" y="7838469"/>
            <a:ext cx="72009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1~2단은 표시만으로 가능하나 3~4단은 내부 공개 필요. </a:t>
            </a:r>
          </a:p>
          <a:p>
            <a:pPr marL="0" indent="0" algn="l">
              <a:lnSpc>
                <a:spcPts val="2610"/>
              </a:lnSpc>
              <a:buNone/>
            </a:pPr>
            <a:r>
              <a:rPr lang="en-US" sz="18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저항이 크고 기술적 구현 필요.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9773107" y="8596506"/>
            <a:ext cx="72009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논점 — 4단(설명)에서 충실성과 이해가능성은 상충. </a:t>
            </a:r>
          </a:p>
          <a:p>
            <a:pPr marL="0" indent="0" algn="l">
              <a:lnSpc>
                <a:spcPts val="2610"/>
              </a:lnSpc>
              <a:buNone/>
            </a:pPr>
            <a:r>
              <a:rPr lang="en-US" sz="1800" dirty="0" err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</a:t>
            </a:r>
            <a:r>
              <a:rPr lang="en-US" sz="18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설명은 어렵고 쉬운 설명은 부정확.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5/24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8058607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8058607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26c6b0906ceb21d4b1b187ddabf25760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696005"/>
            <a:ext cx="7448702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57300" y="7699409"/>
            <a:ext cx="7448702" cy="1714500"/>
          </a:xfrm>
          <a:prstGeom prst="rect">
            <a:avLst/>
          </a:prstGeom>
          <a:solidFill>
            <a:srgbClr val="FCE8FC"/>
          </a:solidFill>
          <a:ln/>
        </p:spPr>
      </p:sp>
      <p:sp>
        <p:nvSpPr>
          <p:cNvPr id="7" name="Shape 3"/>
          <p:cNvSpPr/>
          <p:nvPr/>
        </p:nvSpPr>
        <p:spPr>
          <a:xfrm>
            <a:off x="1257300" y="7699409"/>
            <a:ext cx="75895" cy="1714500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91802" y="2667305"/>
            <a:ext cx="792510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391802" y="2667305"/>
            <a:ext cx="79251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10" name="Image 2" descr="gen-dedup-8438476575097037c068832093f9b59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696298" y="3696005"/>
            <a:ext cx="7315200" cy="914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696298" y="7699409"/>
            <a:ext cx="7315200" cy="1714500"/>
          </a:xfrm>
          <a:prstGeom prst="rect">
            <a:avLst/>
          </a:prstGeom>
          <a:solidFill>
            <a:srgbClr val="FCE8FC"/>
          </a:solidFill>
          <a:ln/>
        </p:spPr>
      </p:sp>
      <p:sp>
        <p:nvSpPr>
          <p:cNvPr id="12" name="Shape 7"/>
          <p:cNvSpPr/>
          <p:nvPr/>
        </p:nvSpPr>
        <p:spPr>
          <a:xfrm>
            <a:off x="9696298" y="7699409"/>
            <a:ext cx="75895" cy="1714500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0033C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(1-2) 외부성, (1-3) 공공재</a:t>
            </a:r>
            <a:endParaRPr lang="en-US" sz="5000" dirty="0">
              <a:solidFill>
                <a:srgbClr val="0033CC"/>
              </a:solidFill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257300" y="2991002"/>
            <a:ext cx="744870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외부성 — 계약 밖의 피해자</a:t>
            </a:r>
            <a:endParaRPr lang="en-US" sz="25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3943807"/>
            <a:ext cx="74487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거래는 양 당사자가 이득을 볼 때 성립한다. 그런데 그 거래로 제3자가 비용을 떠안으면 그 비용은 가격에 반영되지 않고, 시장은 과잉 생산한다.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161173"/>
              </p:ext>
            </p:extLst>
          </p:nvPr>
        </p:nvGraphicFramePr>
        <p:xfrm>
          <a:off x="1257300" y="4762195"/>
          <a:ext cx="7439559" cy="2820010"/>
        </p:xfrm>
        <a:graphic>
          <a:graphicData uri="http://schemas.openxmlformats.org/drawingml/2006/table">
            <a:tbl>
              <a:tblPr/>
              <a:tblGrid>
                <a:gridCol w="22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0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40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 밖의 제3자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왜 </a:t>
                      </a:r>
                      <a:r>
                        <a:rPr lang="en-US" sz="1725" b="1" dirty="0" err="1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당사자가</a:t>
                      </a: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725" b="1" dirty="0" err="1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아닌가</a:t>
                      </a: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?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딥페이크 피해자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서비스를 이용한 적조차 없다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채용 탈락자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고객은 기업이고 지원자는 당사자가 아니다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 데이터 권리자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기사와 이미지가 쓰였으나 계약이 없다(저작권 이슈)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정보환경 전체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허위정보 확산은 사회 전체의 비용이다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6"/>
          <p:cNvSpPr txBox="1"/>
          <p:nvPr/>
        </p:nvSpPr>
        <p:spPr>
          <a:xfrm>
            <a:off x="1600200" y="7928009"/>
            <a:ext cx="68205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해결책은 2개의 방향.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1600200" y="8404411"/>
            <a:ext cx="68205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에는 영향평가와 위험관리로 비용을 내부화한다(AI기본법 제34조와 제35조, EU 고위험 요건). </a:t>
            </a: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에는 책임 귀속으로 배상한다.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696298" y="2991002"/>
            <a:ext cx="7315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공공재 — 아무도 안 만드는 것</a:t>
            </a:r>
            <a:endParaRPr lang="en-US" sz="2500" dirty="0"/>
          </a:p>
        </p:txBody>
      </p:sp>
      <p:sp>
        <p:nvSpPr>
          <p:cNvPr id="25" name="Text 19"/>
          <p:cNvSpPr txBox="1"/>
          <p:nvPr/>
        </p:nvSpPr>
        <p:spPr>
          <a:xfrm>
            <a:off x="9696298" y="3943807"/>
            <a:ext cx="7315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비배재성으로 막을 수 없고 같이 써도 줄지 않는 재화인 공공재는 모두가 이득을 보지만, 누구도 비용을 내려 하지 않고, 시장은 과소 공급한다.</a:t>
            </a:r>
            <a:endParaRPr lang="en-US" sz="1800" dirty="0"/>
          </a:p>
        </p:txBody>
      </p:sp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405988"/>
              </p:ext>
            </p:extLst>
          </p:nvPr>
        </p:nvGraphicFramePr>
        <p:xfrm>
          <a:off x="9696298" y="4762195"/>
          <a:ext cx="7306056" cy="302026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8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3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분야의 공공재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왜 </a:t>
                      </a:r>
                      <a:r>
                        <a:rPr lang="en-US" sz="1725" b="1" dirty="0" err="1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유인이</a:t>
                      </a: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725" b="1" dirty="0" err="1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없는가</a:t>
                      </a: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?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안전 연구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공개되면 모든 기업이 무료로 쓴다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 벤치마크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산업 전체에 이득이나 개별 유인이 없다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사고 데이터베이스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사고 공유는 경쟁상 불리하다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국제표준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참여는 비용이고 성과는 공유된다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학습용 공공데이터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초기구축비 과중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 20"/>
          <p:cNvSpPr txBox="1"/>
          <p:nvPr/>
        </p:nvSpPr>
        <p:spPr>
          <a:xfrm>
            <a:off x="10039198" y="7928009"/>
            <a:ext cx="66870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해결책은 공적 공급.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10039198" y="8404411"/>
            <a:ext cx="6687007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AI기본법 제11조 정책센터, 제12조 AI안전연구소, 제14조 표준화, 제15조 학습용데이터 시책이 여기에 해당한다. 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진흥 조항이 실은 공공재 공급의 경제 논리다.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6/24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8058607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8058607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26c6b0906ceb21d4b1b187ddabf25760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810305"/>
            <a:ext cx="7448702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57300" y="8096098"/>
            <a:ext cx="7448702" cy="1143000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7" name="Shape 3"/>
          <p:cNvSpPr/>
          <p:nvPr/>
        </p:nvSpPr>
        <p:spPr>
          <a:xfrm>
            <a:off x="1257300" y="8096098"/>
            <a:ext cx="75895" cy="1143000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91802" y="2667305"/>
            <a:ext cx="792510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391802" y="2667305"/>
            <a:ext cx="79251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10" name="Image 2" descr="gen-dedup-8438476575097037c068832093f9b59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696298" y="3696005"/>
            <a:ext cx="7315200" cy="91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(2) 예방원칙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78747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시장실패는 이미 일어난 실패를 근거로 하지만, AI의 피해는 아직 일어나지 않았고 언제 어떻게 일어날지도 모르는 바, 이 공백을 메우는 논리가 예방원칙.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3047695"/>
            <a:ext cx="744870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"과학적 불확실성은 조치를 미루는 이유가 아니다"</a:t>
            </a:r>
            <a:endParaRPr lang="en-US" sz="225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4058107"/>
            <a:ext cx="744870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심각하거나 되돌릴 수 없는 피해의 우려가 있을 때, 인과관계가 과학적으로 완전히 입증되지 않았더라도 예방적 조치를 취할 수 있다는 원칙.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5105095"/>
            <a:ext cx="74487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남용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방지 </a:t>
            </a:r>
            <a:r>
              <a:rPr lang="en-US" altLang="ko-KR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요건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5581498"/>
            <a:ext cx="74487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중대성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사소한 불편이 아니라 생명과 신체와 기본권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수준의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피해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6452006"/>
            <a:ext cx="74487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비가역성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사후 배상으로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원상회복이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불가능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6953098"/>
            <a:ext cx="74487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비례성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조치는 위험 수준에 비례해야 하며 전면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금지가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기본값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님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1542592" y="8096098"/>
            <a:ext cx="6839712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예방법은 독일 환경법의 사전배려원칙에서 </a:t>
            </a:r>
            <a:r>
              <a:rPr lang="en-US" sz="20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출발해서</a:t>
            </a: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리우선언</a:t>
            </a: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(1992년) 제15원칙을 </a:t>
            </a:r>
            <a:r>
              <a:rPr lang="en-US" sz="20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거쳐</a:t>
            </a: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EU의</a:t>
            </a: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환경정책 조약 제191조 제2항으로 성문화.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9696298" y="2991002"/>
            <a:ext cx="7315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조문에서의 예방원칙</a:t>
            </a:r>
            <a:endParaRPr lang="en-US" sz="2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96298" y="3943807"/>
          <a:ext cx="7305142" cy="4124860"/>
        </p:xfrm>
        <a:graphic>
          <a:graphicData uri="http://schemas.openxmlformats.org/drawingml/2006/table">
            <a:tbl>
              <a:tblPr/>
              <a:tblGrid>
                <a:gridCol w="2381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4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4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조항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예방원칙이 드러나는 방식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4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제5조 금지 AI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피해 입증 없이 유형 자체를 금지한다. 예방원칙의 가장 강한 형태다.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4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제3장 고위험 요건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사고 발생 전에 위험관리와 데이터 품질과 문서화를 미리 요구한다.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4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AI기본법 제2조 및 제33조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생명과 신체와 기본권에 중대한 영향을 미칠 우려가 기준이다. 피해 발생이 아니라 우려가 요건이다.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4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AI기본법 제35조 영향평가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사업 개시 전에 기본권 영향을 스스로 평가한다.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 25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7/24</a:t>
            </a:r>
            <a:endParaRPr lang="en-US" sz="18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122EBCC8-4040-4C06-94D1-84739DE52076}"/>
              </a:ext>
            </a:extLst>
          </p:cNvPr>
          <p:cNvSpPr/>
          <p:nvPr/>
        </p:nvSpPr>
        <p:spPr>
          <a:xfrm>
            <a:off x="9696298" y="7991857"/>
            <a:ext cx="7305142" cy="1343254"/>
          </a:xfrm>
          <a:prstGeom prst="rect">
            <a:avLst/>
          </a:prstGeom>
          <a:solidFill>
            <a:srgbClr val="FCE8FC"/>
          </a:solidFill>
          <a:ln/>
        </p:spPr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AC31E2EE-6072-4641-93E1-EC8A59A863CE}"/>
              </a:ext>
            </a:extLst>
          </p:cNvPr>
          <p:cNvSpPr/>
          <p:nvPr/>
        </p:nvSpPr>
        <p:spPr>
          <a:xfrm>
            <a:off x="9692219" y="7970911"/>
            <a:ext cx="75895" cy="1364200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0BAE6529-5E8B-47F6-B48E-DF9B7173D5C3}"/>
              </a:ext>
            </a:extLst>
          </p:cNvPr>
          <p:cNvSpPr txBox="1"/>
          <p:nvPr/>
        </p:nvSpPr>
        <p:spPr>
          <a:xfrm>
            <a:off x="10448847" y="8124444"/>
            <a:ext cx="6529275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    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불확실성을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근거로 하므로 범위가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무한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</a:t>
            </a:r>
            <a:endParaRPr lang="en-US" sz="2000" dirty="0">
              <a:solidFill>
                <a:srgbClr val="33333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될 수 있고,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예방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조치 자체의 비용과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기회손실은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계산되지</a:t>
            </a:r>
            <a:endParaRPr lang="en-US" sz="2000" dirty="0">
              <a:solidFill>
                <a:srgbClr val="33333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않으며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규제하지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않는 것의 위험은 평가되지 않는다.</a:t>
            </a:r>
            <a:endParaRPr lang="en-US" sz="200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8C2E0D5-E4BC-4203-9C62-2FE926C630F7}"/>
              </a:ext>
            </a:extLst>
          </p:cNvPr>
          <p:cNvSpPr txBox="1"/>
          <p:nvPr/>
        </p:nvSpPr>
        <p:spPr>
          <a:xfrm>
            <a:off x="9844009" y="8145158"/>
            <a:ext cx="7186691" cy="384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 학계의 주된 반론.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287707" y="2667305"/>
            <a:ext cx="5029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287707" y="2667305"/>
            <a:ext cx="5029200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2a424d54188422f052e9b6d2afc98329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12592202" y="3696005"/>
            <a:ext cx="44192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592202" y="8382305"/>
            <a:ext cx="4419295" cy="952805"/>
          </a:xfrm>
          <a:prstGeom prst="rect">
            <a:avLst/>
          </a:prstGeom>
          <a:solidFill>
            <a:srgbClr val="FCE8FC"/>
          </a:solidFill>
          <a:ln/>
        </p:spPr>
      </p:sp>
      <p:sp>
        <p:nvSpPr>
          <p:cNvPr id="7" name="Shape 3"/>
          <p:cNvSpPr/>
          <p:nvPr/>
        </p:nvSpPr>
        <p:spPr>
          <a:xfrm>
            <a:off x="12592202" y="8382305"/>
            <a:ext cx="75895" cy="952805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(3) 규제 실패</a:t>
            </a:r>
            <a:endParaRPr lang="en-US" sz="5000" dirty="0"/>
          </a:p>
        </p:txBody>
      </p:sp>
      <p:sp>
        <p:nvSpPr>
          <p:cNvPr id="14" name="Text 10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시장실패는 규제의 필요성을 말할 뿐 규제의 성공을 보장하지 않는다. 두 실패를 비교해서 더 작은 실패를 고르는 것이 실제 정책 판단이다.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952805" y="2857500"/>
            <a:ext cx="10954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규제가 실패하는 다섯 가지 유형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901923"/>
              </p:ext>
            </p:extLst>
          </p:nvPr>
        </p:nvGraphicFramePr>
        <p:xfrm>
          <a:off x="952805" y="3372307"/>
          <a:ext cx="10944454" cy="4638750"/>
        </p:xfrm>
        <a:graphic>
          <a:graphicData uri="http://schemas.openxmlformats.org/drawingml/2006/table">
            <a:tbl>
              <a:tblPr/>
              <a:tblGrid>
                <a:gridCol w="2225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8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1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실패 유형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내용과 처방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정보 부족</a:t>
                      </a:r>
                      <a:endParaRPr lang="en-US" sz="18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규제자가 기술을 기업만큼 이해하지 못한다. 규제자도 정보 비대칭의 약자다. AI기본법 제12조 AI안전연구소나 EU의 AI Office가 그 처방이다.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 포획</a:t>
                      </a:r>
                      <a:endParaRPr lang="en-US" sz="18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규제받는 산업이 규제 설계에 영향력을 행사한다. 전문성이 산업에 몰려 있어 구조적으로 불가피한 면이 있다.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속도 불일치</a:t>
                      </a:r>
                      <a:endParaRPr lang="en-US" sz="18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입법은 수년, 기술은 수개월이다. EU초안(2021.4)은 범용 AI 조항을 뒤늦게 삽입해야 했다. 성과 기반 규제의 논거다.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준수 비용의 비대칭</a:t>
                      </a:r>
                      <a:endParaRPr lang="en-US" sz="18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대기업은 전담팀으로 흡수하고 스타트업은 감당하지 못한다. 규제가 진입장벽이 된다. EU 제62조 특례의 이유다.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3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 회피</a:t>
                      </a:r>
                      <a:endParaRPr lang="en-US" sz="18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규제가 약한 관할로 개발과 서비스를 옮긴다. EU 제2조 역외적용이 필요해진 이유다.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12592202" y="2991002"/>
            <a:ext cx="44202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판단 질문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12592202" y="3943807"/>
            <a:ext cx="44202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여부는 이념이 아니라 비교의 문제다. 세 가지를 순서대로 묻는다.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12592202" y="4858207"/>
            <a:ext cx="44202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첫째, 시장실패가 실재하는가?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2592202" y="5183925"/>
            <a:ext cx="44202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정보비대칭</a:t>
            </a:r>
            <a:r>
              <a:rPr lang="en-US" altLang="ko-KR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외부성</a:t>
            </a:r>
            <a:r>
              <a:rPr lang="en-US" altLang="ko-KR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공공재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 어느 것인지 특정할 수 있어야 한다.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12592202" y="6144768"/>
            <a:ext cx="485455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둘째, 규제실패가 시장실패보다 작은가?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12592202" y="6496812"/>
            <a:ext cx="500725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어느 실패가 발생할지 그 크기를 따진다.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2592202" y="7144207"/>
            <a:ext cx="44202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셋째, 다른 수단은 없는가?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12574452" y="7500038"/>
            <a:ext cx="44202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공개, 표준, 인증, 보험과 사후책임법이 있다.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12841457" y="8521051"/>
            <a:ext cx="38862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세 질문에 답하는 규제 찬반 주장이 논증이 된다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8/24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3047695"/>
            <a:ext cx="3905402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3047695"/>
            <a:ext cx="3905402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5" name="Image 1" descr="gen-dedup-4586811e9b8a71d94bcb5a94c5ec7673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924605"/>
            <a:ext cx="3295498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57300" y="8382305"/>
            <a:ext cx="3295498" cy="1030636"/>
          </a:xfrm>
          <a:prstGeom prst="rect">
            <a:avLst/>
          </a:prstGeom>
          <a:solidFill>
            <a:srgbClr val="F2E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953305" y="3047695"/>
            <a:ext cx="3905402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953305" y="3047695"/>
            <a:ext cx="3905402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9" name="Image 2" descr="gen-dedup-4586811e9b8a71d94bcb5a94c5ec7673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257800" y="3924605"/>
            <a:ext cx="3295498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257800" y="8382305"/>
            <a:ext cx="3295498" cy="1030636"/>
          </a:xfrm>
          <a:prstGeom prst="rect">
            <a:avLst/>
          </a:prstGeom>
          <a:solidFill>
            <a:srgbClr val="F2E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953805" y="3047695"/>
            <a:ext cx="3905402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953805" y="3047695"/>
            <a:ext cx="3905402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13" name="Image 3" descr="gen-dedup-4586811e9b8a71d94bcb5a94c5ec7673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258300" y="3924605"/>
            <a:ext cx="3295498" cy="91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258300" y="8382305"/>
            <a:ext cx="3295498" cy="1030636"/>
          </a:xfrm>
          <a:prstGeom prst="rect">
            <a:avLst/>
          </a:prstGeom>
          <a:solidFill>
            <a:srgbClr val="F2E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2954305" y="3047695"/>
            <a:ext cx="4381805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2954305" y="3047695"/>
            <a:ext cx="4381805" cy="47549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pic>
        <p:nvPicPr>
          <p:cNvPr id="17" name="Image 4" descr="gen-dedup-6c45952a124cbe67d55509a75213e621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3258800" y="3924605"/>
            <a:ext cx="3771900" cy="914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13258800" y="8382305"/>
            <a:ext cx="3771900" cy="1030636"/>
          </a:xfrm>
          <a:prstGeom prst="rect">
            <a:avLst/>
          </a:prstGeom>
          <a:solidFill>
            <a:srgbClr val="F2E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(1) 규제의 유형</a:t>
            </a:r>
            <a:endParaRPr lang="en-US" sz="5000" dirty="0"/>
          </a:p>
        </p:txBody>
      </p:sp>
      <p:sp>
        <p:nvSpPr>
          <p:cNvPr id="25" name="Text 18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"규제할 것인가?"는 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예/아니오</a:t>
            </a: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딱 떨어지는 것이 아니고, 국가의 개입 강도에 따라 최소 네 가지 방식이 있고, 실제 법은 이 4개의 유형이 혼합됨.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952805" y="2553005"/>
            <a:ext cx="6667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◀ 국가 개입이 강하고 예측가능성이 높다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0668305" y="2553005"/>
            <a:ext cx="6667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 자율이 강하고 유연성이 높다 ▶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1257300" y="3390595"/>
            <a:ext cx="32964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(1-1) 명령·통제 규제</a:t>
            </a: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1257300" y="4153205"/>
            <a:ext cx="329641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국가가 수단까지 지정하고 위반 시 제재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1257300" y="5048402"/>
            <a:ext cx="3788359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 :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해야 한다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또는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1257300" y="5499202"/>
            <a:ext cx="32964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하지 말아야 한다.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1257300" y="6096305"/>
            <a:ext cx="32964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1257300" y="6534302"/>
            <a:ext cx="32964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제5조 금지 AI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1257300" y="6985102"/>
            <a:ext cx="32964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고위험 마킹 의무</a:t>
            </a:r>
            <a:endParaRPr lang="en-US" sz="2000" dirty="0"/>
          </a:p>
        </p:txBody>
      </p:sp>
      <p:sp>
        <p:nvSpPr>
          <p:cNvPr id="35" name="Text 28"/>
          <p:cNvSpPr txBox="1"/>
          <p:nvPr/>
        </p:nvSpPr>
        <p:spPr>
          <a:xfrm>
            <a:off x="1257300" y="7435901"/>
            <a:ext cx="32964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AI기본법 제31조 표시 의무</a:t>
            </a:r>
            <a:endParaRPr lang="en-US" sz="2000" dirty="0"/>
          </a:p>
        </p:txBody>
      </p:sp>
      <p:sp>
        <p:nvSpPr>
          <p:cNvPr id="36" name="Text 29"/>
          <p:cNvSpPr txBox="1"/>
          <p:nvPr/>
        </p:nvSpPr>
        <p:spPr>
          <a:xfrm>
            <a:off x="1447495" y="8572500"/>
            <a:ext cx="29151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: 명확성</a:t>
            </a:r>
            <a:endParaRPr lang="en-US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1447495" y="8976665"/>
            <a:ext cx="29151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약점 : 경직성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5257800" y="3390595"/>
            <a:ext cx="32964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(1-2) 성과 기반 규제</a:t>
            </a: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39" name="Text 32"/>
          <p:cNvSpPr txBox="1"/>
          <p:nvPr/>
        </p:nvSpPr>
        <p:spPr>
          <a:xfrm>
            <a:off x="5257800" y="4153205"/>
            <a:ext cx="329641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국가는 목표만 정하고 방법은 사업자 선택</a:t>
            </a:r>
            <a:endParaRPr lang="en-US" sz="2000" dirty="0"/>
          </a:p>
        </p:txBody>
      </p:sp>
      <p:sp>
        <p:nvSpPr>
          <p:cNvPr id="40" name="Text 33"/>
          <p:cNvSpPr txBox="1"/>
          <p:nvPr/>
        </p:nvSpPr>
        <p:spPr>
          <a:xfrm>
            <a:off x="5257800" y="5048402"/>
            <a:ext cx="3788359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 :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수준을 달성한다.</a:t>
            </a:r>
            <a:endParaRPr lang="en-US" sz="2000" dirty="0"/>
          </a:p>
        </p:txBody>
      </p:sp>
      <p:sp>
        <p:nvSpPr>
          <p:cNvPr id="41" name="Text 34"/>
          <p:cNvSpPr txBox="1"/>
          <p:nvPr/>
        </p:nvSpPr>
        <p:spPr>
          <a:xfrm>
            <a:off x="5257800" y="6096305"/>
            <a:ext cx="32964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2000" dirty="0"/>
          </a:p>
        </p:txBody>
      </p:sp>
      <p:sp>
        <p:nvSpPr>
          <p:cNvPr id="42" name="Text 35"/>
          <p:cNvSpPr txBox="1"/>
          <p:nvPr/>
        </p:nvSpPr>
        <p:spPr>
          <a:xfrm>
            <a:off x="5257800" y="6534302"/>
            <a:ext cx="32964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제9조 위험관리체계</a:t>
            </a:r>
            <a:endParaRPr lang="en-US" sz="2000" dirty="0"/>
          </a:p>
        </p:txBody>
      </p:sp>
      <p:sp>
        <p:nvSpPr>
          <p:cNvPr id="43" name="Text 36"/>
          <p:cNvSpPr txBox="1"/>
          <p:nvPr/>
        </p:nvSpPr>
        <p:spPr>
          <a:xfrm>
            <a:off x="5257800" y="6985102"/>
            <a:ext cx="32964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제15조 정확성과 견고성</a:t>
            </a:r>
            <a:endParaRPr lang="en-US" sz="2000" dirty="0"/>
          </a:p>
        </p:txBody>
      </p:sp>
      <p:sp>
        <p:nvSpPr>
          <p:cNvPr id="44" name="Text 37"/>
          <p:cNvSpPr txBox="1"/>
          <p:nvPr/>
        </p:nvSpPr>
        <p:spPr>
          <a:xfrm>
            <a:off x="5257800" y="7435901"/>
            <a:ext cx="3696919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AI기본법 제32조 안전성 확보</a:t>
            </a:r>
            <a:endParaRPr lang="en-US" sz="2000" dirty="0"/>
          </a:p>
        </p:txBody>
      </p:sp>
      <p:sp>
        <p:nvSpPr>
          <p:cNvPr id="45" name="Text 38"/>
          <p:cNvSpPr txBox="1"/>
          <p:nvPr/>
        </p:nvSpPr>
        <p:spPr>
          <a:xfrm>
            <a:off x="5447995" y="8572500"/>
            <a:ext cx="29151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: 기술 중립성</a:t>
            </a:r>
            <a:endParaRPr lang="en-US" sz="1800" dirty="0"/>
          </a:p>
        </p:txBody>
      </p:sp>
      <p:sp>
        <p:nvSpPr>
          <p:cNvPr id="46" name="Text 39"/>
          <p:cNvSpPr txBox="1"/>
          <p:nvPr/>
        </p:nvSpPr>
        <p:spPr>
          <a:xfrm>
            <a:off x="5447995" y="8976665"/>
            <a:ext cx="29151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약점 : 준수 판정의 어려움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9258300" y="3390595"/>
            <a:ext cx="32964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(1-3) 공동 규제</a:t>
            </a: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48" name="Text 41"/>
          <p:cNvSpPr txBox="1"/>
          <p:nvPr/>
        </p:nvSpPr>
        <p:spPr>
          <a:xfrm>
            <a:off x="9258300" y="4153205"/>
            <a:ext cx="329641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법이 목표를 정하고 기준은 민간 표준 위임</a:t>
            </a:r>
            <a:endParaRPr lang="en-US" sz="2000" dirty="0"/>
          </a:p>
        </p:txBody>
      </p:sp>
      <p:sp>
        <p:nvSpPr>
          <p:cNvPr id="49" name="Text 42"/>
          <p:cNvSpPr txBox="1"/>
          <p:nvPr/>
        </p:nvSpPr>
        <p:spPr>
          <a:xfrm>
            <a:off x="9258300" y="5048402"/>
            <a:ext cx="329641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 :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표준을 따르면 적합으로 추정.</a:t>
            </a:r>
            <a:endParaRPr lang="en-US" sz="2000" dirty="0"/>
          </a:p>
        </p:txBody>
      </p:sp>
      <p:sp>
        <p:nvSpPr>
          <p:cNvPr id="50" name="Text 43"/>
          <p:cNvSpPr txBox="1"/>
          <p:nvPr/>
        </p:nvSpPr>
        <p:spPr>
          <a:xfrm>
            <a:off x="9258300" y="6096305"/>
            <a:ext cx="32964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2000" dirty="0"/>
          </a:p>
        </p:txBody>
      </p:sp>
      <p:sp>
        <p:nvSpPr>
          <p:cNvPr id="51" name="Text 44"/>
          <p:cNvSpPr txBox="1"/>
          <p:nvPr/>
        </p:nvSpPr>
        <p:spPr>
          <a:xfrm>
            <a:off x="9258300" y="6534302"/>
            <a:ext cx="32964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제40조 적합성 추정</a:t>
            </a:r>
            <a:endParaRPr lang="en-US" sz="2000" dirty="0"/>
          </a:p>
        </p:txBody>
      </p:sp>
      <p:sp>
        <p:nvSpPr>
          <p:cNvPr id="52" name="Text 45"/>
          <p:cNvSpPr txBox="1"/>
          <p:nvPr/>
        </p:nvSpPr>
        <p:spPr>
          <a:xfrm>
            <a:off x="9258300" y="6985102"/>
            <a:ext cx="32964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제56조 행동규약</a:t>
            </a:r>
            <a:endParaRPr lang="en-US" sz="2000" dirty="0"/>
          </a:p>
        </p:txBody>
      </p:sp>
      <p:sp>
        <p:nvSpPr>
          <p:cNvPr id="53" name="Text 46"/>
          <p:cNvSpPr txBox="1"/>
          <p:nvPr/>
        </p:nvSpPr>
        <p:spPr>
          <a:xfrm>
            <a:off x="9258300" y="7435901"/>
            <a:ext cx="32964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 인증</a:t>
            </a:r>
            <a:endParaRPr lang="en-US" sz="2000" dirty="0"/>
          </a:p>
        </p:txBody>
      </p:sp>
      <p:sp>
        <p:nvSpPr>
          <p:cNvPr id="54" name="Text 47"/>
          <p:cNvSpPr txBox="1"/>
          <p:nvPr/>
        </p:nvSpPr>
        <p:spPr>
          <a:xfrm>
            <a:off x="9448495" y="8572500"/>
            <a:ext cx="29151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: 전문성 활용</a:t>
            </a:r>
            <a:endParaRPr lang="en-US" sz="1800" dirty="0"/>
          </a:p>
        </p:txBody>
      </p:sp>
      <p:sp>
        <p:nvSpPr>
          <p:cNvPr id="55" name="Text 48"/>
          <p:cNvSpPr txBox="1"/>
          <p:nvPr/>
        </p:nvSpPr>
        <p:spPr>
          <a:xfrm>
            <a:off x="9448495" y="8976665"/>
            <a:ext cx="29151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약점 : 규제 포획</a:t>
            </a:r>
            <a:endParaRPr lang="en-US" sz="1800" dirty="0"/>
          </a:p>
        </p:txBody>
      </p:sp>
      <p:sp>
        <p:nvSpPr>
          <p:cNvPr id="56" name="Text 49"/>
          <p:cNvSpPr txBox="1"/>
          <p:nvPr/>
        </p:nvSpPr>
        <p:spPr>
          <a:xfrm>
            <a:off x="13258800" y="3390595"/>
            <a:ext cx="37719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33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(1-4) 자율 규제</a:t>
            </a: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57" name="Text 50"/>
          <p:cNvSpPr txBox="1"/>
          <p:nvPr/>
        </p:nvSpPr>
        <p:spPr>
          <a:xfrm>
            <a:off x="13258800" y="4153205"/>
            <a:ext cx="37719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강제력은 없이 민간 스스로 기준수립</a:t>
            </a:r>
            <a:endParaRPr lang="en-US" sz="2000" dirty="0"/>
          </a:p>
        </p:txBody>
      </p:sp>
      <p:sp>
        <p:nvSpPr>
          <p:cNvPr id="58" name="Text 51"/>
          <p:cNvSpPr txBox="1"/>
          <p:nvPr/>
        </p:nvSpPr>
        <p:spPr>
          <a:xfrm>
            <a:off x="13258800" y="5048402"/>
            <a:ext cx="37719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 :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우리는 이렇게 하겠다.</a:t>
            </a:r>
            <a:endParaRPr lang="en-US" sz="2000" dirty="0"/>
          </a:p>
        </p:txBody>
      </p:sp>
      <p:sp>
        <p:nvSpPr>
          <p:cNvPr id="59" name="Text 52"/>
          <p:cNvSpPr txBox="1"/>
          <p:nvPr/>
        </p:nvSpPr>
        <p:spPr>
          <a:xfrm>
            <a:off x="13258800" y="6096305"/>
            <a:ext cx="37719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2000" dirty="0"/>
          </a:p>
        </p:txBody>
      </p:sp>
      <p:sp>
        <p:nvSpPr>
          <p:cNvPr id="60" name="Text 53"/>
          <p:cNvSpPr txBox="1"/>
          <p:nvPr/>
        </p:nvSpPr>
        <p:spPr>
          <a:xfrm>
            <a:off x="13258800" y="6534302"/>
            <a:ext cx="37719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AI 윤리원칙</a:t>
            </a:r>
            <a:endParaRPr lang="en-US" sz="2000" dirty="0"/>
          </a:p>
        </p:txBody>
      </p:sp>
      <p:sp>
        <p:nvSpPr>
          <p:cNvPr id="61" name="Text 54"/>
          <p:cNvSpPr txBox="1"/>
          <p:nvPr/>
        </p:nvSpPr>
        <p:spPr>
          <a:xfrm>
            <a:off x="13258800" y="6985102"/>
            <a:ext cx="37719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레드팀과 모델 카드</a:t>
            </a:r>
            <a:endParaRPr lang="en-US" sz="2000" dirty="0"/>
          </a:p>
        </p:txBody>
      </p:sp>
      <p:sp>
        <p:nvSpPr>
          <p:cNvPr id="62" name="Text 55"/>
          <p:cNvSpPr txBox="1"/>
          <p:nvPr/>
        </p:nvSpPr>
        <p:spPr>
          <a:xfrm>
            <a:off x="13258800" y="7435901"/>
            <a:ext cx="37719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가이드라인</a:t>
            </a:r>
            <a:endParaRPr lang="en-US" sz="2000" dirty="0"/>
          </a:p>
        </p:txBody>
      </p:sp>
      <p:sp>
        <p:nvSpPr>
          <p:cNvPr id="63" name="Text 56"/>
          <p:cNvSpPr txBox="1"/>
          <p:nvPr/>
        </p:nvSpPr>
        <p:spPr>
          <a:xfrm>
            <a:off x="13448995" y="8572500"/>
            <a:ext cx="33915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: 유연성</a:t>
            </a:r>
            <a:endParaRPr lang="en-US" sz="1800" dirty="0"/>
          </a:p>
        </p:txBody>
      </p:sp>
      <p:sp>
        <p:nvSpPr>
          <p:cNvPr id="64" name="Text 57"/>
          <p:cNvSpPr txBox="1"/>
          <p:nvPr/>
        </p:nvSpPr>
        <p:spPr>
          <a:xfrm>
            <a:off x="13448995" y="8976665"/>
            <a:ext cx="33915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약점 : 무임승차와 윤리 워싱</a:t>
            </a:r>
            <a:endParaRPr lang="en-US" sz="1800" dirty="0"/>
          </a:p>
        </p:txBody>
      </p:sp>
      <p:sp>
        <p:nvSpPr>
          <p:cNvPr id="65" name="Text 58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9/24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8096098"/>
            <a:ext cx="16383305" cy="1429207"/>
          </a:xfrm>
          <a:prstGeom prst="rect">
            <a:avLst/>
          </a:prstGeom>
          <a:solidFill>
            <a:srgbClr val="FCE8FC"/>
          </a:solidFill>
          <a:ln/>
        </p:spPr>
      </p:sp>
      <p:sp>
        <p:nvSpPr>
          <p:cNvPr id="4" name="Shape 1"/>
          <p:cNvSpPr/>
          <p:nvPr/>
        </p:nvSpPr>
        <p:spPr>
          <a:xfrm>
            <a:off x="952805" y="8096098"/>
            <a:ext cx="75895" cy="1429207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0033C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(1-1) 명령·통제, (1-2) 성과 기반</a:t>
            </a:r>
            <a:endParaRPr lang="en-US" sz="5000" dirty="0">
              <a:solidFill>
                <a:srgbClr val="0033CC"/>
              </a:solidFill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조문의 동사로 유형 판별 : "표시한다 · 금지한다"는 명령·통제, "확보한다 · 적절한 수준을 유지한다"는 성과 기반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62402"/>
          <a:ext cx="16374160" cy="5210254"/>
        </p:xfrm>
        <a:graphic>
          <a:graphicData uri="http://schemas.openxmlformats.org/drawingml/2006/table">
            <a:tbl>
              <a:tblPr/>
              <a:tblGrid>
                <a:gridCol w="2190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9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3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비교 항목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명령·통제 규제 (Command-and-Control)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성과 기반 규제 (Performance-Based)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실무 판별 신호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규범의 형식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수단·행위를 특정한다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"~을 하여야 한다 / ~해서는 아니 된다"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달성해야 할 상태를 특정한다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"~을 확보하여야 한다 / 적절한 수준을 유지"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조문의 목적어가 행위인가 상태인가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조항 예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제5조 금지 AI · 제50조 투명성 표시 의무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제49조 EU 데이터베이스 등록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제9조 위험관리체계 · 제10조 데이터 거버넌스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제15조 정확성·견고성·사이버보안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별표(Annex)에 구체 목록이 딸려 있는가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한국법 조항 예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제31조 투명성 확보 의무(표시·고지)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제32조 안전성 확보 의무 · 제33·34조 사업자 책무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제35조 영향평가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이행 방법을 시행령에 위임했는가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준수 입증 방법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했다 / 안 했다의 사실 확인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화면 캡처 · 표시 문구 · 등록번호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과정의 문서화가 곧 준수 증거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위험대장 · 테스트 리포트 · 회의록 · 개선 이력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감독기관이 요구할 산출물의 성격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기업의 실패 지점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조문을 몰라서 누락한다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→ 대응: 의무 목록 체크리스트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했지만 증명하지 못한다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→ 대응: 관리체계 구축·기록 보존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ISO/IEC 42001이 필요해지는 지점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4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기술 변화 대응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취약 — 조문 개정이 필요하다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기술이 문언에 포섭되지 않는다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강함 — 문언이 기술 중립적이다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다만 해석 부담이 사업자에게 이전된다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블록 1의 속도 불일치 문제와 연결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410005" y="8363102"/>
            <a:ext cx="15621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EU는 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별표로 구체 목록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붙여 명령·통제 비중이 높다. 한국 AI기본법은 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 방법을 시행령·가이드라인에 위임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 성과 기반 비중이 높다.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410005" y="8789213"/>
            <a:ext cx="15621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같은 사업자라도 EU에서는 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대조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한국에서는 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증명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방어의 핵심이 된다.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10/24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6953098"/>
            <a:ext cx="9810598" cy="2572207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4" name="Shape 1"/>
          <p:cNvSpPr/>
          <p:nvPr/>
        </p:nvSpPr>
        <p:spPr>
          <a:xfrm>
            <a:off x="952805" y="6953098"/>
            <a:ext cx="75895" cy="25722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144707" y="2667305"/>
            <a:ext cx="619140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44707" y="2667305"/>
            <a:ext cx="6191402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7" name="Image 1" descr="gen-dedup-8b04ad1c7b28b82f1d99d81cc6cef77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49202" y="3696005"/>
            <a:ext cx="5581498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448288" y="8477402"/>
            <a:ext cx="5582412" cy="922092"/>
          </a:xfrm>
          <a:prstGeom prst="rect">
            <a:avLst/>
          </a:prstGeom>
          <a:solidFill>
            <a:srgbClr val="FCE8FC"/>
          </a:solidFill>
          <a:ln/>
        </p:spPr>
      </p:sp>
      <p:sp>
        <p:nvSpPr>
          <p:cNvPr id="9" name="Shape 5"/>
          <p:cNvSpPr/>
          <p:nvPr/>
        </p:nvSpPr>
        <p:spPr>
          <a:xfrm>
            <a:off x="11449202" y="8477402"/>
            <a:ext cx="75895" cy="922092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0033C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(1-3) 공동 규제, (1-4) 자율 규제</a:t>
            </a:r>
            <a:endParaRPr lang="en-US" sz="5000" dirty="0">
              <a:solidFill>
                <a:srgbClr val="0033CC"/>
              </a:solidFill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952805" y="2762402"/>
            <a:ext cx="981151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공동규제의 법적 효력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3429000"/>
          <a:ext cx="9801454" cy="3618832"/>
        </p:xfrm>
        <a:graphic>
          <a:graphicData uri="http://schemas.openxmlformats.org/drawingml/2006/table">
            <a:tbl>
              <a:tblPr/>
              <a:tblGrid>
                <a:gridCol w="1809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9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무엇이 일어나는가?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구체적 내용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1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1단계 : 법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목표만 규정한다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제15조는 적절한 수준의 정확성과 견고성만 요구한다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1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2단계 : 위임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표준화를 요청한다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집행위원회가 유럽 표준화 기구에 표준 개발을 위임한다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1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3단계 : 개발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민간이 기준을 작성한다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ISO/IEC SC 42의 성과물을 참조하고 정합시킨다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1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4단계 : 효력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적합성을 추정한다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관보에 게재된 조화표준을 준수하면 법 요건을 충족한 것으로 추정한다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1333195" y="7220102"/>
            <a:ext cx="9144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공동규제의 효과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1333195" y="7696505"/>
            <a:ext cx="9144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 참여가 곧 규범 형성 참여가 된다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333195" y="8160106"/>
            <a:ext cx="9144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입증 부담이 역전되어 감독기관이 부적합을 입증해야 한다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1333195" y="8623706"/>
            <a:ext cx="9144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포획의 통로가 열린다(민주적 정당성)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11449202" y="2991002"/>
            <a:ext cx="558241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 규제와 한계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1448288" y="3729381"/>
            <a:ext cx="5582412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강제력 없이 민간이 스스로 기준을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만들고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공표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국내 주요 기업의 AI 원칙과 레드팀과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표시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11449202" y="4953305"/>
            <a:ext cx="55824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기업이 자발적으로 하는 이유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11448288" y="4917616"/>
            <a:ext cx="5886907" cy="778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                          : 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평판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향후 규제 선점,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투자자와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조달의 요구, 소송 위험 완화다.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11449202" y="6096305"/>
            <a:ext cx="55824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첫째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한계는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무임승차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11487149" y="6093482"/>
            <a:ext cx="55824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             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성실한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기업만 비용을 부담하고, 준수하지 않은 기업이 가격 우위를 얻는다.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11449202" y="7239305"/>
            <a:ext cx="55824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둘째 한계는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워싱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11487149" y="7219645"/>
            <a:ext cx="55824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              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선언은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화려하나 검증 수단이 없다. 측정할 수 없는 원칙은 준수를 확인할 수 없다.</a:t>
            </a:r>
            <a:endParaRPr lang="en-US" sz="2000" dirty="0"/>
          </a:p>
        </p:txBody>
      </p:sp>
      <p:sp>
        <p:nvSpPr>
          <p:cNvPr id="30" name="Text 25"/>
          <p:cNvSpPr txBox="1"/>
          <p:nvPr/>
        </p:nvSpPr>
        <p:spPr>
          <a:xfrm>
            <a:off x="11792102" y="8725205"/>
            <a:ext cx="573877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이러한 한계 보완을 위한 측정지표 연구가 진행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11/24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(2) 국가별 규제</a:t>
            </a:r>
            <a:endParaRPr lang="en-US" sz="50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수평적 규제는 전 분야를 하나의 법으로 규율하고, 수직적 규제는 의료와 금융과 고용 등 분야별로 개별 규율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62402"/>
          <a:ext cx="16373246" cy="4684998"/>
        </p:xfrm>
        <a:graphic>
          <a:graphicData uri="http://schemas.openxmlformats.org/drawingml/2006/table">
            <a:tbl>
              <a:tblPr/>
              <a:tblGrid>
                <a:gridCol w="1429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3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8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관할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접근 방식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주된 규제 유형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규범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특징과 한계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수평적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명령·통제와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공동 규제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Regulation (EU) 2024/1689. 위험 기반 네 단계에 의료, 금융, 고용, 교육 등 범용 AI를 별도 축으로 둔다.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세계 최초 포괄 규제로 한계는 규제 복잡성(불명확성)이다.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미국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수직적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성과 기반과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자율 규제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연방 포괄 규제가 없다. 위험관리 프레임워크는 자발적이며 주 단위 규제가 확산된다.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혁신 친화적이나 관할별 파편화가 한계다.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영국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수직적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성과 기반과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기관 활용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단일 법률 대신 기존 부문 규제기관에 원칙 적용을 위임한다.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유연(저비용)하나 규제 공백이 가능하다.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중국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수직적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강한 명령·통제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알고리즘 추천과 딥합성(Deep Synthesis)과 생성형 AI에 개별 관리규정을 순차 시행한다.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집행력이 강하나 목적이 상이하다.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캐나다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수평적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명령·통제 지향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및 데이터법을 추진하며 EU식 포괄 접근을 참조한다.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모델을 따르나 입법이 지연되고 있다.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8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대한민국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혼합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(형식은 수평적)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성과 기반과 공동 규제에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진흥 조항이 병존한다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「인공지능 발전과 신뢰 기반 조성 등에 관한 기본법」이며 6장 43조로 구성된다. 2026년 1월 22일 시행, 7월 21일 개정법 시행.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포괄 형식에 낮은 규제 강도를 결합했다. 쟁점은 고영향 AI 개념의 명확성이다.</a:t>
                      </a:r>
                      <a:endParaRPr lang="en-US" sz="15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12/24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85725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8572500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5515033fa669f06d7ba37f614c969859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696005"/>
            <a:ext cx="79625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57300" y="8001000"/>
            <a:ext cx="7962595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905695" y="2667305"/>
            <a:ext cx="74295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905695" y="2667305"/>
            <a:ext cx="7429500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9" name="Image 2" descr="gen-dedup-84a3cd8811d303bc7a26f0c7fe293b19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211105" y="3696005"/>
            <a:ext cx="6819595" cy="91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(3) 브뤼셀 효과 (1/2)</a:t>
            </a:r>
            <a:endParaRPr lang="en-US" sz="5000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Anu Bradford의 『The Brussels Effect』(2020)의 명제 : EU는 군사력도 통상 압박도 쓰지 않고 전 세계 규범을 바꾼다.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257300" y="2991002"/>
            <a:ext cx="79635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기업이 스스로 EU 기준을 전 세계에 적용한다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" y="3943807"/>
            <a:ext cx="79635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EU가 다른 나라에 우리 법을 따르라고 요구하는 것이 아니다. 기업이 비용 계산을 하고 스스로 따른다.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4762195"/>
            <a:ext cx="887882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시장은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포기할 수 없을 만큼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크다 — 진출을 안 하는 선택지가 없다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5251399"/>
            <a:ext cx="8451799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제품·서비스를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지역별로 두 벌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만들면 개발·운영비가 이중으로 든다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5740603"/>
            <a:ext cx="8574329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엄격한 기준(EU)에 맞춘 하나의 제품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전 세계에 낸다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6229807"/>
            <a:ext cx="79635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결과적으로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EU 기준이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사실상의 글로벌 표준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된다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—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사실상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 facto)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브뤼셀 효과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7074713"/>
            <a:ext cx="79635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각국 정부가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입법으로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모방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한다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— </a:t>
            </a:r>
            <a:r>
              <a:rPr lang="en-US" sz="20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법률상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 jure)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브뤼셀 효과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10211105" y="2991002"/>
            <a:ext cx="68205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법 적용의 근거</a:t>
            </a:r>
            <a:endParaRPr lang="en-US" sz="2500" dirty="0"/>
          </a:p>
        </p:txBody>
      </p:sp>
      <p:sp>
        <p:nvSpPr>
          <p:cNvPr id="26" name="Text 21"/>
          <p:cNvSpPr txBox="1"/>
          <p:nvPr/>
        </p:nvSpPr>
        <p:spPr>
          <a:xfrm>
            <a:off x="10211105" y="4000500"/>
            <a:ext cx="68205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첫째, 우리 기업이 실제로 적용받는다.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10211105" y="4464101"/>
            <a:ext cx="68205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제2조 역외적용에 따라 EU 시장에 서비스하면 적용된다.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10211105" y="5429707"/>
            <a:ext cx="68205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둘째, AI기본법 해석의 참조점이 된다.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10211105" y="5663795"/>
            <a:ext cx="700113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고영향 AI와 영향평가와 투명성 의무는 EU 개념과 계보를 공유한다.</a:t>
            </a:r>
            <a:endParaRPr lang="en-US" sz="2000" dirty="0"/>
          </a:p>
        </p:txBody>
      </p:sp>
      <p:sp>
        <p:nvSpPr>
          <p:cNvPr id="30" name="Text 25"/>
          <p:cNvSpPr txBox="1"/>
          <p:nvPr/>
        </p:nvSpPr>
        <p:spPr>
          <a:xfrm>
            <a:off x="10211105" y="6858000"/>
            <a:ext cx="68205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셋째, 표준을 통해 다시 들어온다.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10211105" y="7093002"/>
            <a:ext cx="68205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조화표준은 ISO/IEC와 정합되고 국내 기업이 그 표준을 채택한다.</a:t>
            </a:r>
            <a:endParaRPr lang="en-US" sz="2000" dirty="0"/>
          </a:p>
        </p:txBody>
      </p:sp>
      <p:sp>
        <p:nvSpPr>
          <p:cNvPr id="32" name="Text 27"/>
          <p:cNvSpPr txBox="1"/>
          <p:nvPr/>
        </p:nvSpPr>
        <p:spPr>
          <a:xfrm>
            <a:off x="10211105" y="8287207"/>
            <a:ext cx="68205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넷째, 연구의 언어가 된다.</a:t>
            </a:r>
            <a:endParaRPr lang="en-US" sz="2000" dirty="0"/>
          </a:p>
        </p:txBody>
      </p:sp>
      <p:sp>
        <p:nvSpPr>
          <p:cNvPr id="33" name="Text 28"/>
          <p:cNvSpPr txBox="1"/>
          <p:nvPr/>
        </p:nvSpPr>
        <p:spPr>
          <a:xfrm>
            <a:off x="10211105" y="8749894"/>
            <a:ext cx="68205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선행연구 다수가 EU AI Act를 기준점으로 삼는다.</a:t>
            </a:r>
            <a:endParaRPr lang="en-US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13/24</a:t>
            </a:r>
            <a:endParaRPr lang="en-US" sz="180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85317BDD-CB81-4D4F-8151-0D1587DF736A}"/>
              </a:ext>
            </a:extLst>
          </p:cNvPr>
          <p:cNvSpPr/>
          <p:nvPr/>
        </p:nvSpPr>
        <p:spPr>
          <a:xfrm>
            <a:off x="998525" y="7905445"/>
            <a:ext cx="8451800" cy="1429207"/>
          </a:xfrm>
          <a:prstGeom prst="rect">
            <a:avLst/>
          </a:prstGeom>
          <a:solidFill>
            <a:srgbClr val="FCE8FC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57BBC4F5-E18B-4FD6-9447-955746281F43}"/>
              </a:ext>
            </a:extLst>
          </p:cNvPr>
          <p:cNvSpPr/>
          <p:nvPr/>
        </p:nvSpPr>
        <p:spPr>
          <a:xfrm>
            <a:off x="998525" y="7905445"/>
            <a:ext cx="45719" cy="1429207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6A79211C-7B76-4AF3-A155-F66AA819B67A}"/>
              </a:ext>
            </a:extLst>
          </p:cNvPr>
          <p:cNvSpPr txBox="1"/>
          <p:nvPr/>
        </p:nvSpPr>
        <p:spPr>
          <a:xfrm>
            <a:off x="1561795" y="8229600"/>
            <a:ext cx="73536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선례 · GDPR(개인정보 규범)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이미 전 세계 기업이 EU 기준의 동의·삭제권·DPO 체계를 도입했고, 각국 개인정보법이 그 구조를 따라갔다. </a:t>
            </a:r>
          </a:p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AI Act는 이 경로를 AI에서 </a:t>
            </a:r>
            <a:r>
              <a:rPr lang="en-US" sz="18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반복하려는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시도</a:t>
            </a:r>
            <a:r>
              <a:rPr lang="ko-KR" alt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이나 현황은 확인할 필요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8096098"/>
            <a:ext cx="16383305" cy="1429207"/>
          </a:xfrm>
          <a:prstGeom prst="rect">
            <a:avLst/>
          </a:prstGeom>
          <a:solidFill>
            <a:srgbClr val="FCE8FC"/>
          </a:solidFill>
          <a:ln/>
        </p:spPr>
      </p:sp>
      <p:sp>
        <p:nvSpPr>
          <p:cNvPr id="4" name="Shape 1"/>
          <p:cNvSpPr/>
          <p:nvPr/>
        </p:nvSpPr>
        <p:spPr>
          <a:xfrm>
            <a:off x="952805" y="8096098"/>
            <a:ext cx="75895" cy="1429207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(3) 브뤼셀 효과의 조건 (2/2)</a:t>
            </a:r>
            <a:endParaRPr lang="en-US" sz="50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브뤼셀 효과가 실현되는 5개 조건에 대한 적용 검토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62402"/>
          <a:ext cx="16374160" cy="4799992"/>
        </p:xfrm>
        <a:graphic>
          <a:graphicData uri="http://schemas.openxmlformats.org/drawingml/2006/table">
            <a:tbl>
              <a:tblPr/>
              <a:tblGrid>
                <a:gridCol w="2190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00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Bradford의 정의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분야 대입 · 검증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충족 정도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근거 조항 · 사실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① 시장 규모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Market size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규제국 시장이 기업이 포기할 수 없을 만큼 커야 한다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EU는 인구·소득 기준 세계 최대 단일 시장 중 하나. 주요 AI 서비스가 EU 철수를 선택하지 않는다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충족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기업의 실제 진출 행태로 확인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② 규제 역량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Regulatory capacity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규제를 설계·집행할 전문 조직과 제재 수단이 있어야 한다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AI Office 설치 · 회원국 감독기관 지정 · 과징금 상한이 매출 기준으로 설정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부분 충족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신설 조직의 실집행 실적은 축적 중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제64조 이하 거버넌스 · 제99조 과징금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③ 엄격한 기준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Stringent standards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규제국 기준이 다른 곳보다 엄격해야 한다 — 그래야 상향 수렴한다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금지 유형을 명시하고 고위험에 사전 요건을 부과. 미국 연방 차원에는 대응 규범이 없다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충족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제5조 금지 · 제III장 고위험 요건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④ 비탄력적 대상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Inelastic targets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규제 대상이 다른 곳으로 옮길 수 없어야 한다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여기가 쟁점이다. 소비자·시장은 옮길 수 없지만 모델 개발·학습은 어디서든 가능하다. 그래서 EU는 역외적용으로 대응했다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조건이 약하다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법으로 보완한 형태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제2조 역외적용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⑤ 비분할성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Non-divisibility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제품·서비스를 지역별로 나눌 수 없어야 한다 — 나눌 수 있으면 EU만 준수하면 된다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가장 취약한 조건. 소프트웨어는 지역별 분기가 물리적 제품보다 쉽다. 다만 단일 모델을 지역별로 다르게 학습·운영하면 비용·품질 관리 부담이 커진다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약함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기업별 판단이 갈린다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GDPR 사례와 결과가 달라질 수 있는 지점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410005" y="8363102"/>
            <a:ext cx="15621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결과 — "AI에서 브뤼셀 효과는 GDPR만큼 강하지 않을 수 있다"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1410005" y="8839505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①③은 충족, ②는 부분 충족, ④⑤가 약하다. 즉 결론이 정해진 문제가 아니다 → 이것이 연구할 가치가 있는 질문이라는 뜻이다.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14/24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8058607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8058607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26c6b0906ceb21d4b1b187ddabf25760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696005"/>
            <a:ext cx="7448702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57300" y="5296205"/>
            <a:ext cx="7448702" cy="1429207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7" name="Shape 3"/>
          <p:cNvSpPr/>
          <p:nvPr/>
        </p:nvSpPr>
        <p:spPr>
          <a:xfrm>
            <a:off x="1257300" y="5296205"/>
            <a:ext cx="75895" cy="14292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91802" y="2667305"/>
            <a:ext cx="7925105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391802" y="2667305"/>
            <a:ext cx="79251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10" name="Image 2" descr="gen-dedup-8438476575097037c068832093f9b59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696298" y="3696005"/>
            <a:ext cx="7315200" cy="91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(4) 캘리포니아 효과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규범 확산은 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국제기구·EU에서 내려오는 것만</a:t>
            </a: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아니고, 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지방정부에서 위로</a:t>
            </a: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올라오기도 한다.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2991002"/>
            <a:ext cx="744870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주(州)의 기준이 전국 기준이 된다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3943807"/>
            <a:ext cx="7448702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캘리포니아는 미국 최대 소비 시장이다. 캘리포니아 기준을 못 맞추면 그 시장을 잃는다. 그런데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주별로 다른 제품을 만드는 것도 비싸다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그래서 기업은 캘리포니아 기준으로 통일한다.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1440772" y="5337540"/>
            <a:ext cx="68397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고전적 사례 · 자동차 배출가스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40772" y="5756336"/>
            <a:ext cx="7255172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캘리포니아가 연방보다 엄격한 배출 기준을 도입 → 제조사가 주별 사양 분리 비용을 피해 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모델을 상향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사실상 전국 기준화 → 이후 다른 주와 </a:t>
            </a:r>
            <a:r>
              <a:rPr lang="en-US" sz="18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연방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52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규제가</a:t>
            </a: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 수준으로 수렴</a:t>
            </a: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22371"/>
              </p:ext>
            </p:extLst>
          </p:nvPr>
        </p:nvGraphicFramePr>
        <p:xfrm>
          <a:off x="1262329" y="6937460"/>
          <a:ext cx="7438644" cy="2317276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4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 조건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큰 시장 + 엄격한 기준 + 지역별 분할 비용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브뤼셀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국가 </a:t>
                      </a:r>
                      <a:r>
                        <a:rPr lang="en-US" sz="1725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</a:t>
                      </a: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(초국가 연합) → 아래로 확산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캘리포니아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국가 </a:t>
                      </a:r>
                      <a:r>
                        <a:rPr lang="en-US" sz="1725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아래</a:t>
                      </a: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(지방정부) → 위로 확산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 함의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규범 형성의 주체가 </a:t>
                      </a:r>
                      <a:r>
                        <a:rPr lang="en-US" sz="1725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중앙정부만이 아니다</a:t>
                      </a:r>
                      <a:endParaRPr lang="en-US" sz="1200" dirty="0"/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0"/>
          <p:cNvSpPr txBox="1"/>
          <p:nvPr/>
        </p:nvSpPr>
        <p:spPr>
          <a:xfrm>
            <a:off x="9696298" y="2991002"/>
            <a:ext cx="7315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분야의 사례</a:t>
            </a:r>
            <a:endParaRPr lang="en-US" sz="2500" dirty="0"/>
          </a:p>
        </p:txBody>
      </p:sp>
      <p:sp>
        <p:nvSpPr>
          <p:cNvPr id="27" name="Text 21"/>
          <p:cNvSpPr txBox="1"/>
          <p:nvPr/>
        </p:nvSpPr>
        <p:spPr>
          <a:xfrm>
            <a:off x="9696298" y="3943807"/>
            <a:ext cx="73152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 장에서 미국의 특징을 연방 포괄 규제 부재와 주 단위 규제 확산으로 정리했다. 이 구조가 캘리포니아 효과의 전제 조건이다.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9696298" y="4914900"/>
            <a:ext cx="73152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연방 공백이 주를 규범 주체로 만든다. 포괄 AI 법이 없으므로 실질적 규범은 주 법률에서 먼저 형성된다.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9696298" y="5740603"/>
            <a:ext cx="73152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캘리포니아와 콜로라도 등이 선행한다.</a:t>
            </a:r>
            <a:endParaRPr lang="en-US" sz="2000" dirty="0"/>
          </a:p>
        </p:txBody>
      </p:sp>
      <p:sp>
        <p:nvSpPr>
          <p:cNvPr id="30" name="Text 24"/>
          <p:cNvSpPr txBox="1"/>
          <p:nvPr/>
        </p:nvSpPr>
        <p:spPr>
          <a:xfrm>
            <a:off x="9696298" y="6210605"/>
            <a:ext cx="73152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기업은 최고 수준으로 통일한다. 50개 관할별 대응은 비현실적이므로 가장 엄격한 주 기준이 사내 기준이 된다.</a:t>
            </a:r>
            <a:endParaRPr lang="en-US" sz="2000" dirty="0"/>
          </a:p>
        </p:txBody>
      </p:sp>
      <p:sp>
        <p:nvSpPr>
          <p:cNvPr id="31" name="Text 25"/>
          <p:cNvSpPr txBox="1"/>
          <p:nvPr/>
        </p:nvSpPr>
        <p:spPr>
          <a:xfrm>
            <a:off x="9696298" y="7036308"/>
            <a:ext cx="73152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결과적으로 두 방향의 압력이 겹친다. 위에서는 EU, 아래에서는 주 정부다.</a:t>
            </a:r>
            <a:endParaRPr lang="en-US" sz="2000" dirty="0"/>
          </a:p>
        </p:txBody>
      </p:sp>
      <p:sp>
        <p:nvSpPr>
          <p:cNvPr id="34" name="Text 28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15/24</a:t>
            </a:r>
            <a:endParaRPr lang="en-US" sz="180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EFE8F528-A792-4723-ACE1-82BFB6E915EF}"/>
              </a:ext>
            </a:extLst>
          </p:cNvPr>
          <p:cNvSpPr/>
          <p:nvPr/>
        </p:nvSpPr>
        <p:spPr>
          <a:xfrm>
            <a:off x="9276590" y="7905445"/>
            <a:ext cx="8059520" cy="1429207"/>
          </a:xfrm>
          <a:prstGeom prst="rect">
            <a:avLst/>
          </a:prstGeom>
          <a:solidFill>
            <a:srgbClr val="FCE8FC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AC28DD67-43BB-485E-96A8-898771749CFA}"/>
              </a:ext>
            </a:extLst>
          </p:cNvPr>
          <p:cNvSpPr/>
          <p:nvPr/>
        </p:nvSpPr>
        <p:spPr>
          <a:xfrm>
            <a:off x="9276590" y="7905445"/>
            <a:ext cx="45719" cy="1429207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A3ACB926-B277-45F8-8A0E-8BD461C4B041}"/>
              </a:ext>
            </a:extLst>
          </p:cNvPr>
          <p:cNvSpPr txBox="1"/>
          <p:nvPr/>
        </p:nvSpPr>
        <p:spPr>
          <a:xfrm>
            <a:off x="9696298" y="8305495"/>
            <a:ext cx="727770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A82A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반대 현상도 있다 · Race to the Bottom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규제가 약한 관할로 이동하는 </a:t>
            </a:r>
            <a:r>
              <a:rPr lang="en-US" sz="165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하향 경쟁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650" dirty="0"/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CE7AFD0C-DEE1-43B2-8665-616D12709603}"/>
              </a:ext>
            </a:extLst>
          </p:cNvPr>
          <p:cNvSpPr txBox="1"/>
          <p:nvPr/>
        </p:nvSpPr>
        <p:spPr>
          <a:xfrm>
            <a:off x="9696298" y="8624620"/>
            <a:ext cx="798637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회피와 같은 논리다. 상향·하향 중 어느 쪽이 우세한지는 </a:t>
            </a:r>
            <a:r>
              <a:rPr lang="en-US" sz="165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실증의 문제</a:t>
            </a:r>
            <a:r>
              <a:rPr lang="en-US" sz="16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8096098"/>
            <a:ext cx="8191195" cy="1429207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4" name="Shape 1"/>
          <p:cNvSpPr/>
          <p:nvPr/>
        </p:nvSpPr>
        <p:spPr>
          <a:xfrm>
            <a:off x="952805" y="8096098"/>
            <a:ext cx="75895" cy="14292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(1) </a:t>
            </a:r>
            <a:r>
              <a:rPr lang="en-US" sz="5000" b="1" kern="0" spc="-112" dirty="0" err="1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인공지능법</a:t>
            </a: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제정</a:t>
            </a:r>
            <a:endParaRPr lang="en-US" sz="5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62402"/>
          <a:ext cx="8181136" cy="4914899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8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번호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법안명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발의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노선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산업 육성 및 신뢰 확보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안철수(국민의힘)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발전과 신뢰 기반 조성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정점식(국민의힘)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산업 육성 및 신뢰 확보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조인철(민주당)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산업 육성 및 신뢰 확보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김성원(국민의힘)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기술 기본법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민형배(민주당)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개발 및 이용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권칠승(민주당)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기본법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한민수(민주당)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책임법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황희(민주당)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6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발전 진흥과 사회적 책임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배준영(국민의힘)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6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인공지능의 발전과 안전성 확보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이훈기(민주당)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1333195" y="8382305"/>
            <a:ext cx="7429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A는 진흥과 육성 중심으로 7건, B는 책임과 안전 중심으로 3건,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333195" y="8808415"/>
            <a:ext cx="7429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C는 육성과 신뢰를 함께 담아 9건이다. C가 최종 채택 노선이다.</a:t>
            </a:r>
            <a:endParaRPr lang="en-US" sz="18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305" y="2762402"/>
          <a:ext cx="7801660" cy="4963360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번호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법안명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발의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노선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산업 진흥 및 신뢰 확보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김우영(민주당)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산업 육성 및 신뢰 기반 조성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이정헌(민주당)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발전 및 신뢰 보장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황정아(민주당)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산업 진흥 및 이용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이해민(조국혁신당)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산업 진흥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정동영(민주당)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산업 육성 및 신뢰 기반 조성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최민희(민주당)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산업 육성 및 발전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정희용(국민의힘)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 진흥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조승래·이인선(민주당·국민의힘)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6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인공지능의 안전 및 신뢰 기반 조성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조승래·이인선(민주당·국민의힘)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</a:t>
                      </a:r>
                      <a:endParaRPr lang="en-US" sz="14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16/24</a:t>
            </a:r>
            <a:endParaRPr lang="en-US" sz="18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1A8306E1-10BD-4C23-A963-C4CCF6DF5787}"/>
              </a:ext>
            </a:extLst>
          </p:cNvPr>
          <p:cNvSpPr/>
          <p:nvPr/>
        </p:nvSpPr>
        <p:spPr>
          <a:xfrm>
            <a:off x="9520835" y="8053576"/>
            <a:ext cx="7815275" cy="1429207"/>
          </a:xfrm>
          <a:prstGeom prst="rect">
            <a:avLst/>
          </a:prstGeom>
          <a:solidFill>
            <a:srgbClr val="FCE8FC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7EAF109C-A88A-48E7-96E1-079A147EAC59}"/>
              </a:ext>
            </a:extLst>
          </p:cNvPr>
          <p:cNvSpPr/>
          <p:nvPr/>
        </p:nvSpPr>
        <p:spPr>
          <a:xfrm>
            <a:off x="9520835" y="8053576"/>
            <a:ext cx="45719" cy="1429207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FAC0BCF0-2C6C-45F5-9A89-E67E31A0D236}"/>
              </a:ext>
            </a:extLst>
          </p:cNvPr>
          <p:cNvSpPr txBox="1"/>
          <p:nvPr/>
        </p:nvSpPr>
        <p:spPr>
          <a:xfrm>
            <a:off x="9829800" y="8305495"/>
            <a:ext cx="72009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 이름에 신뢰가 들어간 이유</a:t>
            </a:r>
            <a:endParaRPr lang="en-US" sz="20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2B54BE6D-2FDB-4DC5-83A3-035E6F44EFD0}"/>
              </a:ext>
            </a:extLst>
          </p:cNvPr>
          <p:cNvSpPr txBox="1"/>
          <p:nvPr/>
        </p:nvSpPr>
        <p:spPr>
          <a:xfrm>
            <a:off x="9829800" y="8686800"/>
            <a:ext cx="72009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 보호 : 신뢰 확보가 선행 / 산업 육성 : 신뢰 없으면 규제 강화 / 국제 경쟁력 : EU·OECD·유네스코 핵심어 / 사회적 합의 · 정치적 합의</a:t>
            </a:r>
            <a:endParaRPr lang="en-US" sz="15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8058607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8058607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5" name="Image 1" descr="gen-dedup-26c6b0906ceb21d4b1b187ddabf25760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696005"/>
            <a:ext cx="7448702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57300" y="7353605"/>
            <a:ext cx="7448702" cy="1427324"/>
          </a:xfrm>
          <a:prstGeom prst="rect">
            <a:avLst/>
          </a:prstGeom>
          <a:solidFill>
            <a:srgbClr val="F2E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91802" y="2667305"/>
            <a:ext cx="792510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91802" y="2667305"/>
            <a:ext cx="79251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9" name="Image 2" descr="gen-dedup-8438476575097037c068832093f9b59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696298" y="3696005"/>
            <a:ext cx="73152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696298" y="7353605"/>
            <a:ext cx="7315200" cy="1427324"/>
          </a:xfrm>
          <a:prstGeom prst="rect">
            <a:avLst/>
          </a:prstGeom>
          <a:solidFill>
            <a:srgbClr val="F2E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(2) </a:t>
            </a:r>
            <a:r>
              <a:rPr lang="en-US" sz="5000" b="1" kern="0" spc="-112" dirty="0" err="1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윤리와</a:t>
            </a: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5000" b="1" kern="0" spc="-112" dirty="0" err="1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신뢰</a:t>
            </a:r>
            <a:endParaRPr lang="en-US" sz="50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윤리는</a:t>
            </a: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이상(理想)이고, 신뢰는 그 이상이 지켜지고 있음을 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보증하는 장치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257300" y="2991002"/>
            <a:ext cx="744870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</a:t>
            </a: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(Why) · 무엇이 옳은 AI인가?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3943807"/>
            <a:ext cx="74487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가치에 따라야 하는가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정의하는 영역.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4406494"/>
            <a:ext cx="74487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옳은 AI가 무엇인지 고민한다. 윤리는 AI의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이상(理想)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1257300" y="4953305"/>
            <a:ext cx="1714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en-US" sz="15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Purpose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3047695" y="4953305"/>
            <a:ext cx="56583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AI가 인간에게 해를 주지 않아야 하는가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5676595"/>
            <a:ext cx="204094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r>
              <a:rPr lang="en-US" sz="15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Principles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3047695" y="5676595"/>
            <a:ext cx="56583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공정성 · 인권 · 책임성 · 비차별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6400800"/>
            <a:ext cx="1714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</a:t>
            </a:r>
            <a:r>
              <a:rPr lang="en-US" sz="15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Values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3047695" y="6400800"/>
            <a:ext cx="56583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 중심의 우선순위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1485900" y="7524598"/>
            <a:ext cx="69915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규범 형식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선언 · 헌장 · 원칙 · 권고</a:t>
            </a:r>
            <a:endParaRPr lang="en-US" sz="1575" dirty="0"/>
          </a:p>
        </p:txBody>
      </p:sp>
      <p:sp>
        <p:nvSpPr>
          <p:cNvPr id="28" name="Text 23"/>
          <p:cNvSpPr txBox="1"/>
          <p:nvPr/>
        </p:nvSpPr>
        <p:spPr>
          <a:xfrm>
            <a:off x="1485900" y="7890358"/>
            <a:ext cx="69915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주체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철학자 · 학계 · 국제기구 · 기업 윤리위원회</a:t>
            </a:r>
            <a:endParaRPr lang="en-US" sz="1575" dirty="0"/>
          </a:p>
        </p:txBody>
      </p:sp>
      <p:sp>
        <p:nvSpPr>
          <p:cNvPr id="29" name="Text 24"/>
          <p:cNvSpPr txBox="1"/>
          <p:nvPr/>
        </p:nvSpPr>
        <p:spPr>
          <a:xfrm>
            <a:off x="1485900" y="8255203"/>
            <a:ext cx="69915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강제력없음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위반해도 제재가 없다</a:t>
            </a:r>
            <a:endParaRPr lang="en-US" sz="1575" dirty="0"/>
          </a:p>
        </p:txBody>
      </p:sp>
      <p:sp>
        <p:nvSpPr>
          <p:cNvPr id="30" name="Text 25"/>
          <p:cNvSpPr txBox="1"/>
          <p:nvPr/>
        </p:nvSpPr>
        <p:spPr>
          <a:xfrm>
            <a:off x="9696298" y="2991002"/>
            <a:ext cx="7315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</a:t>
            </a: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2500" b="1" kern="0" spc="-37" dirty="0" err="1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Hwo</a:t>
            </a: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· 그 이상을 어떻게 보증하는가?</a:t>
            </a:r>
            <a:endParaRPr lang="en-US" sz="2500" dirty="0"/>
          </a:p>
        </p:txBody>
      </p:sp>
      <p:sp>
        <p:nvSpPr>
          <p:cNvPr id="31" name="Text 26"/>
          <p:cNvSpPr txBox="1"/>
          <p:nvPr/>
        </p:nvSpPr>
        <p:spPr>
          <a:xfrm>
            <a:off x="9696298" y="3943807"/>
            <a:ext cx="73152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 원칙이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현장에서 실제로 어떻게 구현되는가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대한 것.</a:t>
            </a:r>
            <a:endParaRPr lang="en-US" sz="2000" dirty="0"/>
          </a:p>
        </p:txBody>
      </p:sp>
      <p:sp>
        <p:nvSpPr>
          <p:cNvPr id="32" name="Text 27"/>
          <p:cNvSpPr txBox="1"/>
          <p:nvPr/>
        </p:nvSpPr>
        <p:spPr>
          <a:xfrm>
            <a:off x="9696298" y="4406494"/>
            <a:ext cx="73152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윤리가 지켜지고 있음을 </a:t>
            </a: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증명하는가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문제다.</a:t>
            </a:r>
            <a:endParaRPr lang="en-US" sz="2000" dirty="0"/>
          </a:p>
        </p:txBody>
      </p:sp>
      <p:sp>
        <p:nvSpPr>
          <p:cNvPr id="33" name="Text 28"/>
          <p:cNvSpPr txBox="1"/>
          <p:nvPr/>
        </p:nvSpPr>
        <p:spPr>
          <a:xfrm>
            <a:off x="9696298" y="4953305"/>
            <a:ext cx="1714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수단</a:t>
            </a:r>
            <a:r>
              <a:rPr lang="en-US" sz="15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Means</a:t>
            </a:r>
            <a:endParaRPr lang="en-US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11487607" y="4953305"/>
            <a:ext cx="5524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 · 제도 · 인증 · 규제</a:t>
            </a:r>
            <a:endParaRPr lang="en-US" sz="2000" dirty="0"/>
          </a:p>
        </p:txBody>
      </p:sp>
      <p:sp>
        <p:nvSpPr>
          <p:cNvPr id="35" name="Text 30"/>
          <p:cNvSpPr txBox="1"/>
          <p:nvPr/>
        </p:nvSpPr>
        <p:spPr>
          <a:xfrm>
            <a:off x="9696298" y="5676595"/>
            <a:ext cx="204094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r>
              <a:rPr lang="en-US" sz="15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Operation</a:t>
            </a:r>
            <a:endParaRPr lang="en-US" sz="2000" dirty="0"/>
          </a:p>
        </p:txBody>
      </p:sp>
      <p:sp>
        <p:nvSpPr>
          <p:cNvPr id="36" name="Text 31"/>
          <p:cNvSpPr txBox="1"/>
          <p:nvPr/>
        </p:nvSpPr>
        <p:spPr>
          <a:xfrm>
            <a:off x="11487607" y="5676595"/>
            <a:ext cx="5524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위험관리 · 감시 · 테스트 · 책임 부여</a:t>
            </a:r>
            <a:endParaRPr lang="en-US" sz="2000" dirty="0"/>
          </a:p>
        </p:txBody>
      </p:sp>
      <p:sp>
        <p:nvSpPr>
          <p:cNvPr id="37" name="Text 32"/>
          <p:cNvSpPr txBox="1"/>
          <p:nvPr/>
        </p:nvSpPr>
        <p:spPr>
          <a:xfrm>
            <a:off x="9696298" y="6400800"/>
            <a:ext cx="204094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</a:t>
            </a:r>
            <a:r>
              <a:rPr lang="en-US" sz="15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Procedures</a:t>
            </a:r>
            <a:endParaRPr lang="en-US" sz="2000" dirty="0"/>
          </a:p>
        </p:txBody>
      </p:sp>
      <p:sp>
        <p:nvSpPr>
          <p:cNvPr id="38" name="Text 33"/>
          <p:cNvSpPr txBox="1"/>
          <p:nvPr/>
        </p:nvSpPr>
        <p:spPr>
          <a:xfrm>
            <a:off x="11487607" y="6257696"/>
            <a:ext cx="58293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설명가능성 절차 · 데이터 관리 절차 · 안전성 검증 절차</a:t>
            </a:r>
            <a:endParaRPr lang="en-US" sz="2000" dirty="0"/>
          </a:p>
        </p:txBody>
      </p:sp>
      <p:sp>
        <p:nvSpPr>
          <p:cNvPr id="39" name="Text 34"/>
          <p:cNvSpPr txBox="1"/>
          <p:nvPr/>
        </p:nvSpPr>
        <p:spPr>
          <a:xfrm>
            <a:off x="9924898" y="7524598"/>
            <a:ext cx="6858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규범 형식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법률 · 시행령 · 표준 · 인증 기준</a:t>
            </a:r>
            <a:endParaRPr lang="en-US" sz="1575" dirty="0"/>
          </a:p>
        </p:txBody>
      </p:sp>
      <p:sp>
        <p:nvSpPr>
          <p:cNvPr id="40" name="Text 35"/>
          <p:cNvSpPr txBox="1"/>
          <p:nvPr/>
        </p:nvSpPr>
        <p:spPr>
          <a:xfrm>
            <a:off x="9924898" y="7890358"/>
            <a:ext cx="6858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주체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입법부 · 감독기관 · 표준화 기구 · 인증기관</a:t>
            </a:r>
            <a:endParaRPr lang="en-US" sz="1575" dirty="0"/>
          </a:p>
        </p:txBody>
      </p:sp>
      <p:sp>
        <p:nvSpPr>
          <p:cNvPr id="41" name="Text 36"/>
          <p:cNvSpPr txBox="1"/>
          <p:nvPr/>
        </p:nvSpPr>
        <p:spPr>
          <a:xfrm>
            <a:off x="9924898" y="8255203"/>
            <a:ext cx="6858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강제력있음</a:t>
            </a:r>
            <a:r>
              <a:rPr lang="en-US" sz="15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과징금 · 시정명령 · 시장 배제</a:t>
            </a:r>
            <a:endParaRPr lang="en-US" sz="1575" dirty="0"/>
          </a:p>
        </p:txBody>
      </p:sp>
      <p:sp>
        <p:nvSpPr>
          <p:cNvPr id="42" name="Text 37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17/24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10001707" cy="636058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10001707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57300" y="3010205"/>
            <a:ext cx="418795" cy="418795"/>
          </a:xfrm>
          <a:prstGeom prst="rect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67206" y="2952598"/>
            <a:ext cx="4867424" cy="647395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7" name="Shape 4"/>
          <p:cNvSpPr/>
          <p:nvPr/>
        </p:nvSpPr>
        <p:spPr>
          <a:xfrm>
            <a:off x="1867205" y="2952598"/>
            <a:ext cx="38405" cy="647395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4058107"/>
            <a:ext cx="418795" cy="418795"/>
          </a:xfrm>
          <a:prstGeom prst="rect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67206" y="4000500"/>
            <a:ext cx="4867424" cy="647395"/>
          </a:xfrm>
          <a:prstGeom prst="rect">
            <a:avLst/>
          </a:prstGeom>
          <a:solidFill>
            <a:srgbClr val="F2EEE6"/>
          </a:solidFill>
          <a:ln/>
        </p:spPr>
      </p:sp>
      <p:sp>
        <p:nvSpPr>
          <p:cNvPr id="10" name="Shape 7"/>
          <p:cNvSpPr/>
          <p:nvPr/>
        </p:nvSpPr>
        <p:spPr>
          <a:xfrm>
            <a:off x="1867205" y="4000500"/>
            <a:ext cx="38405" cy="647395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57300" y="5105095"/>
            <a:ext cx="418795" cy="418795"/>
          </a:xfrm>
          <a:prstGeom prst="rect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67206" y="5048402"/>
            <a:ext cx="4867424" cy="64739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13" name="Shape 10"/>
          <p:cNvSpPr/>
          <p:nvPr/>
        </p:nvSpPr>
        <p:spPr>
          <a:xfrm>
            <a:off x="1867205" y="5048402"/>
            <a:ext cx="38405" cy="64739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57300" y="6152998"/>
            <a:ext cx="418795" cy="418795"/>
          </a:xfrm>
          <a:prstGeom prst="rect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67206" y="6096305"/>
            <a:ext cx="4867424" cy="64739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16" name="Shape 13"/>
          <p:cNvSpPr/>
          <p:nvPr/>
        </p:nvSpPr>
        <p:spPr>
          <a:xfrm>
            <a:off x="1867205" y="6096305"/>
            <a:ext cx="38405" cy="64739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57300" y="7200900"/>
            <a:ext cx="418795" cy="418795"/>
          </a:xfrm>
          <a:prstGeom prst="rect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67206" y="7144207"/>
            <a:ext cx="4867424" cy="647395"/>
          </a:xfrm>
          <a:prstGeom prst="rect">
            <a:avLst/>
          </a:prstGeom>
          <a:solidFill>
            <a:srgbClr val="E6F1EA"/>
          </a:solidFill>
          <a:ln/>
        </p:spPr>
      </p:sp>
      <p:sp>
        <p:nvSpPr>
          <p:cNvPr id="19" name="Shape 16"/>
          <p:cNvSpPr/>
          <p:nvPr/>
        </p:nvSpPr>
        <p:spPr>
          <a:xfrm>
            <a:off x="1867205" y="7144207"/>
            <a:ext cx="38405" cy="647395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57300" y="8248802"/>
            <a:ext cx="418795" cy="418795"/>
          </a:xfrm>
          <a:prstGeom prst="rect">
            <a:avLst/>
          </a:prstGeom>
          <a:solidFill>
            <a:srgbClr val="C9A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67206" y="8191195"/>
            <a:ext cx="4867424" cy="6473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</p:sp>
      <p:sp>
        <p:nvSpPr>
          <p:cNvPr id="22" name="Shape 19"/>
          <p:cNvSpPr/>
          <p:nvPr/>
        </p:nvSpPr>
        <p:spPr>
          <a:xfrm>
            <a:off x="1867205" y="8191195"/>
            <a:ext cx="38405" cy="647395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334902" y="2667305"/>
            <a:ext cx="6001207" cy="636058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334902" y="2667305"/>
            <a:ext cx="6001207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(2) 윤리 → 신뢰</a:t>
            </a:r>
            <a:endParaRPr lang="en-US" sz="5000" dirty="0"/>
          </a:p>
        </p:txBody>
      </p:sp>
      <p:sp>
        <p:nvSpPr>
          <p:cNvPr id="32" name="Text 28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윤리는 무엇이 옳은 AI인지 정의하는 기준이고, 신뢰는 그 기준이 실제 실현되고 있다는 사회의 확신.</a:t>
            </a:r>
            <a:endParaRPr lang="en-US" sz="1800" dirty="0"/>
          </a:p>
        </p:txBody>
      </p:sp>
      <p:sp>
        <p:nvSpPr>
          <p:cNvPr id="33" name="Text 29"/>
          <p:cNvSpPr txBox="1"/>
          <p:nvPr/>
        </p:nvSpPr>
        <p:spPr>
          <a:xfrm>
            <a:off x="1257300" y="3010205"/>
            <a:ext cx="4197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0"/>
          <p:cNvSpPr txBox="1"/>
          <p:nvPr/>
        </p:nvSpPr>
        <p:spPr>
          <a:xfrm>
            <a:off x="2057400" y="2991002"/>
            <a:ext cx="533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 원칙</a:t>
            </a: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Ethical Principles</a:t>
            </a:r>
            <a:endParaRPr lang="en-US" sz="1725" dirty="0"/>
          </a:p>
        </p:txBody>
      </p:sp>
      <p:sp>
        <p:nvSpPr>
          <p:cNvPr id="35" name="Text 31"/>
          <p:cNvSpPr txBox="1"/>
          <p:nvPr/>
        </p:nvSpPr>
        <p:spPr>
          <a:xfrm>
            <a:off x="2057400" y="3258007"/>
            <a:ext cx="6286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공정성·투명성·책임성 — 무엇이 옳은가</a:t>
            </a:r>
            <a:endParaRPr lang="en-US" sz="1425" dirty="0"/>
          </a:p>
        </p:txBody>
      </p:sp>
      <p:sp>
        <p:nvSpPr>
          <p:cNvPr id="37" name="Text 33"/>
          <p:cNvSpPr txBox="1"/>
          <p:nvPr/>
        </p:nvSpPr>
        <p:spPr>
          <a:xfrm>
            <a:off x="7028311" y="3644798"/>
            <a:ext cx="3242126" cy="284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원칙이 사회의 </a:t>
            </a:r>
            <a:r>
              <a:rPr lang="en-US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번역된다</a:t>
            </a:r>
            <a:endParaRPr lang="en-US" dirty="0"/>
          </a:p>
        </p:txBody>
      </p:sp>
      <p:sp>
        <p:nvSpPr>
          <p:cNvPr id="38" name="Text 34"/>
          <p:cNvSpPr txBox="1"/>
          <p:nvPr/>
        </p:nvSpPr>
        <p:spPr>
          <a:xfrm>
            <a:off x="1257300" y="4058107"/>
            <a:ext cx="4197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39" name="Text 35"/>
          <p:cNvSpPr txBox="1"/>
          <p:nvPr/>
        </p:nvSpPr>
        <p:spPr>
          <a:xfrm>
            <a:off x="2057400" y="4038905"/>
            <a:ext cx="533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요구</a:t>
            </a: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Social Expectations</a:t>
            </a:r>
            <a:endParaRPr lang="en-US" sz="1725" dirty="0"/>
          </a:p>
        </p:txBody>
      </p:sp>
      <p:sp>
        <p:nvSpPr>
          <p:cNvPr id="40" name="Text 36"/>
          <p:cNvSpPr txBox="1"/>
          <p:nvPr/>
        </p:nvSpPr>
        <p:spPr>
          <a:xfrm>
            <a:off x="2057400" y="4304995"/>
            <a:ext cx="6286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사고·여론·시민사회 압력이 요구를 형성한다</a:t>
            </a:r>
            <a:endParaRPr lang="en-US" sz="1425" dirty="0"/>
          </a:p>
        </p:txBody>
      </p:sp>
      <p:sp>
        <p:nvSpPr>
          <p:cNvPr id="42" name="Text 38"/>
          <p:cNvSpPr txBox="1"/>
          <p:nvPr/>
        </p:nvSpPr>
        <p:spPr>
          <a:xfrm>
            <a:off x="7039127" y="4764024"/>
            <a:ext cx="3242126" cy="284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요구가 </a:t>
            </a:r>
            <a:r>
              <a:rPr lang="en-US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 요건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정리된다</a:t>
            </a:r>
            <a:endParaRPr lang="en-US" dirty="0"/>
          </a:p>
        </p:txBody>
      </p:sp>
      <p:sp>
        <p:nvSpPr>
          <p:cNvPr id="43" name="Text 39"/>
          <p:cNvSpPr txBox="1"/>
          <p:nvPr/>
        </p:nvSpPr>
        <p:spPr>
          <a:xfrm>
            <a:off x="1257300" y="5105095"/>
            <a:ext cx="4197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2057400" y="5086807"/>
            <a:ext cx="533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AI 요건</a:t>
            </a: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Trustworthiness Req.</a:t>
            </a:r>
            <a:endParaRPr lang="en-US" sz="1725" dirty="0"/>
          </a:p>
        </p:txBody>
      </p:sp>
      <p:sp>
        <p:nvSpPr>
          <p:cNvPr id="45" name="Text 41"/>
          <p:cNvSpPr txBox="1"/>
          <p:nvPr/>
        </p:nvSpPr>
        <p:spPr>
          <a:xfrm>
            <a:off x="2057400" y="5352898"/>
            <a:ext cx="6286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안전성·투명성·책임성·공정성·보안성·인간중심성</a:t>
            </a:r>
            <a:endParaRPr lang="en-US" sz="1425" dirty="0"/>
          </a:p>
        </p:txBody>
      </p:sp>
      <p:sp>
        <p:nvSpPr>
          <p:cNvPr id="47" name="Text 43"/>
          <p:cNvSpPr txBox="1"/>
          <p:nvPr/>
        </p:nvSpPr>
        <p:spPr>
          <a:xfrm>
            <a:off x="7039127" y="5811927"/>
            <a:ext cx="3242126" cy="284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요건이 </a:t>
            </a:r>
            <a:r>
              <a:rPr lang="en-US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강제력 있는 </a:t>
            </a:r>
            <a:r>
              <a:rPr lang="en-US" b="1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규범</a:t>
            </a:r>
            <a:r>
              <a:rPr lang="en-US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된다</a:t>
            </a:r>
            <a:endParaRPr lang="en-US" dirty="0"/>
          </a:p>
        </p:txBody>
      </p:sp>
      <p:sp>
        <p:nvSpPr>
          <p:cNvPr id="48" name="Text 44"/>
          <p:cNvSpPr txBox="1"/>
          <p:nvPr/>
        </p:nvSpPr>
        <p:spPr>
          <a:xfrm>
            <a:off x="1257300" y="6152998"/>
            <a:ext cx="4197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49" name="Text 45"/>
          <p:cNvSpPr txBox="1"/>
          <p:nvPr/>
        </p:nvSpPr>
        <p:spPr>
          <a:xfrm>
            <a:off x="2057400" y="6133795"/>
            <a:ext cx="533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법·제도·표준</a:t>
            </a: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Regulation / Standards</a:t>
            </a:r>
            <a:endParaRPr lang="en-US" sz="1725" dirty="0"/>
          </a:p>
        </p:txBody>
      </p:sp>
      <p:sp>
        <p:nvSpPr>
          <p:cNvPr id="50" name="Text 46"/>
          <p:cNvSpPr txBox="1"/>
          <p:nvPr/>
        </p:nvSpPr>
        <p:spPr>
          <a:xfrm>
            <a:off x="2057400" y="6400800"/>
            <a:ext cx="6286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AI Act · 한국 AI 기본법 · ISO/IEC 42001</a:t>
            </a:r>
            <a:endParaRPr lang="en-US" sz="1425" dirty="0"/>
          </a:p>
        </p:txBody>
      </p:sp>
      <p:sp>
        <p:nvSpPr>
          <p:cNvPr id="52" name="Text 48"/>
          <p:cNvSpPr txBox="1"/>
          <p:nvPr/>
        </p:nvSpPr>
        <p:spPr>
          <a:xfrm>
            <a:off x="7039127" y="6859829"/>
            <a:ext cx="3242126" cy="284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규범이 </a:t>
            </a:r>
            <a:r>
              <a:rPr lang="en-US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내부 절차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내려온다</a:t>
            </a:r>
            <a:endParaRPr lang="en-US" dirty="0"/>
          </a:p>
        </p:txBody>
      </p:sp>
      <p:sp>
        <p:nvSpPr>
          <p:cNvPr id="53" name="Text 49"/>
          <p:cNvSpPr txBox="1"/>
          <p:nvPr/>
        </p:nvSpPr>
        <p:spPr>
          <a:xfrm>
            <a:off x="1257300" y="7200900"/>
            <a:ext cx="4197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800" dirty="0"/>
          </a:p>
        </p:txBody>
      </p:sp>
      <p:sp>
        <p:nvSpPr>
          <p:cNvPr id="54" name="Text 50"/>
          <p:cNvSpPr txBox="1"/>
          <p:nvPr/>
        </p:nvSpPr>
        <p:spPr>
          <a:xfrm>
            <a:off x="2057400" y="7181698"/>
            <a:ext cx="533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실행</a:t>
            </a: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Compliance &amp; Governance</a:t>
            </a:r>
            <a:endParaRPr lang="en-US" sz="1725" dirty="0"/>
          </a:p>
        </p:txBody>
      </p:sp>
      <p:sp>
        <p:nvSpPr>
          <p:cNvPr id="55" name="Text 51"/>
          <p:cNvSpPr txBox="1"/>
          <p:nvPr/>
        </p:nvSpPr>
        <p:spPr>
          <a:xfrm>
            <a:off x="2057400" y="7448702"/>
            <a:ext cx="6286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위험관리·문서화·인증·감사 — 실제로 수행하고 증명한다</a:t>
            </a:r>
            <a:endParaRPr lang="en-US" sz="1425" dirty="0"/>
          </a:p>
        </p:txBody>
      </p:sp>
      <p:sp>
        <p:nvSpPr>
          <p:cNvPr id="57" name="Text 53"/>
          <p:cNvSpPr txBox="1"/>
          <p:nvPr/>
        </p:nvSpPr>
        <p:spPr>
          <a:xfrm>
            <a:off x="7039127" y="7906817"/>
            <a:ext cx="3242126" cy="284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실행이 축적되어 </a:t>
            </a:r>
            <a:r>
              <a:rPr lang="en-US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확신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된다</a:t>
            </a:r>
            <a:endParaRPr lang="en-US" dirty="0"/>
          </a:p>
        </p:txBody>
      </p:sp>
      <p:sp>
        <p:nvSpPr>
          <p:cNvPr id="58" name="Text 54"/>
          <p:cNvSpPr txBox="1"/>
          <p:nvPr/>
        </p:nvSpPr>
        <p:spPr>
          <a:xfrm>
            <a:off x="1257300" y="8248802"/>
            <a:ext cx="4197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800" dirty="0"/>
          </a:p>
        </p:txBody>
      </p:sp>
      <p:sp>
        <p:nvSpPr>
          <p:cNvPr id="59" name="Text 55"/>
          <p:cNvSpPr txBox="1"/>
          <p:nvPr/>
        </p:nvSpPr>
        <p:spPr>
          <a:xfrm>
            <a:off x="2057400" y="8229600"/>
            <a:ext cx="533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신뢰 형성</a:t>
            </a:r>
            <a:r>
              <a:rPr lang="en-US" sz="13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Trust</a:t>
            </a:r>
            <a:endParaRPr lang="en-US" sz="1725" dirty="0"/>
          </a:p>
        </p:txBody>
      </p:sp>
      <p:sp>
        <p:nvSpPr>
          <p:cNvPr id="60" name="Text 56"/>
          <p:cNvSpPr txBox="1"/>
          <p:nvPr/>
        </p:nvSpPr>
        <p:spPr>
          <a:xfrm>
            <a:off x="2057400" y="8496605"/>
            <a:ext cx="6286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기준이 실현되고 있다는 </a:t>
            </a:r>
            <a:r>
              <a:rPr lang="en-US" sz="1425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사회의 확신</a:t>
            </a:r>
            <a:r>
              <a:rPr lang="en-US" sz="14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목표 상태</a:t>
            </a:r>
            <a:endParaRPr lang="en-US" sz="1425" dirty="0"/>
          </a:p>
        </p:txBody>
      </p:sp>
      <p:sp>
        <p:nvSpPr>
          <p:cNvPr id="63" name="Text 59"/>
          <p:cNvSpPr txBox="1"/>
          <p:nvPr/>
        </p:nvSpPr>
        <p:spPr>
          <a:xfrm>
            <a:off x="11639398" y="4000500"/>
            <a:ext cx="53913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구분</a:t>
            </a:r>
            <a:endParaRPr lang="en-US" sz="2000" dirty="0"/>
          </a:p>
        </p:txBody>
      </p:sp>
      <p:sp>
        <p:nvSpPr>
          <p:cNvPr id="64" name="Text 60"/>
          <p:cNvSpPr txBox="1"/>
          <p:nvPr/>
        </p:nvSpPr>
        <p:spPr>
          <a:xfrm>
            <a:off x="11639398" y="4464101"/>
            <a:ext cx="53913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1단계와 2단계만 있으면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워싱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4단계에서 5단계로 못 내려가면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서류상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준수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  <p:sp>
        <p:nvSpPr>
          <p:cNvPr id="65" name="Text 61"/>
          <p:cNvSpPr txBox="1"/>
          <p:nvPr/>
        </p:nvSpPr>
        <p:spPr>
          <a:xfrm>
            <a:off x="11639398" y="5619902"/>
            <a:ext cx="53913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학제간 연구</a:t>
            </a:r>
            <a:endParaRPr lang="en-US" sz="2000" dirty="0"/>
          </a:p>
        </p:txBody>
      </p:sp>
      <p:sp>
        <p:nvSpPr>
          <p:cNvPr id="66" name="Text 62"/>
          <p:cNvSpPr txBox="1"/>
          <p:nvPr/>
        </p:nvSpPr>
        <p:spPr>
          <a:xfrm>
            <a:off x="11649532" y="6039430"/>
            <a:ext cx="5391302" cy="477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철학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정책학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법학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</a:t>
            </a:r>
            <a:r>
              <a:rPr lang="en-US" altLang="ko-KR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통계학</a:t>
            </a:r>
            <a:r>
              <a:rPr lang="en-US" altLang="ko-KR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endParaRPr lang="en-US" sz="2000" dirty="0">
              <a:solidFill>
                <a:srgbClr val="33333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67" name="Text 63"/>
          <p:cNvSpPr txBox="1"/>
          <p:nvPr/>
        </p:nvSpPr>
        <p:spPr>
          <a:xfrm>
            <a:off x="11672206" y="6968439"/>
            <a:ext cx="53913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특성</a:t>
            </a:r>
            <a:endParaRPr lang="en-US" sz="2000" dirty="0"/>
          </a:p>
        </p:txBody>
      </p:sp>
      <p:sp>
        <p:nvSpPr>
          <p:cNvPr id="68" name="Text 64"/>
          <p:cNvSpPr txBox="1"/>
          <p:nvPr/>
        </p:nvSpPr>
        <p:spPr>
          <a:xfrm>
            <a:off x="11672206" y="7432040"/>
            <a:ext cx="5982919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연구방법론 다양화</a:t>
            </a:r>
            <a:endParaRPr lang="en-US" sz="2000" dirty="0"/>
          </a:p>
        </p:txBody>
      </p:sp>
      <p:sp>
        <p:nvSpPr>
          <p:cNvPr id="69" name="Text 65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18/24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8096098"/>
            <a:ext cx="9810598" cy="1429207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4" name="Shape 1"/>
          <p:cNvSpPr/>
          <p:nvPr/>
        </p:nvSpPr>
        <p:spPr>
          <a:xfrm>
            <a:off x="952805" y="8096098"/>
            <a:ext cx="75895" cy="14292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144707" y="2667305"/>
            <a:ext cx="6191402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44707" y="2667305"/>
            <a:ext cx="6191402" cy="47549"/>
          </a:xfrm>
          <a:prstGeom prst="rect">
            <a:avLst/>
          </a:prstGeom>
          <a:solidFill>
            <a:srgbClr val="A82A24"/>
          </a:solidFill>
          <a:ln w="12700">
            <a:solidFill>
              <a:srgbClr val="A82A24">
                <a:alpha val="0"/>
              </a:srgbClr>
            </a:solidFill>
            <a:prstDash val="solid"/>
          </a:ln>
        </p:spPr>
      </p:sp>
      <p:pic>
        <p:nvPicPr>
          <p:cNvPr id="7" name="Image 1" descr="gen-dedup-8b04ad1c7b28b82f1d99d81cc6cef77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49202" y="3524098"/>
            <a:ext cx="5581498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144707" y="6191402"/>
            <a:ext cx="6191402" cy="33339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144707" y="6191402"/>
            <a:ext cx="6191402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10" name="Image 2" descr="gen-dedup-8b04ad1c7b28b82f1d99d81cc6cef77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49202" y="7048195"/>
            <a:ext cx="5581498" cy="914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449202" y="8382305"/>
            <a:ext cx="5581498" cy="952805"/>
          </a:xfrm>
          <a:prstGeom prst="rect">
            <a:avLst/>
          </a:prstGeom>
          <a:solidFill>
            <a:srgbClr val="FCE8FC"/>
          </a:solidFill>
          <a:ln/>
        </p:spPr>
      </p:sp>
      <p:sp>
        <p:nvSpPr>
          <p:cNvPr id="12" name="Shape 7"/>
          <p:cNvSpPr/>
          <p:nvPr/>
        </p:nvSpPr>
        <p:spPr>
          <a:xfrm>
            <a:off x="11449202" y="8382305"/>
            <a:ext cx="75895" cy="952805"/>
          </a:xfrm>
          <a:prstGeom prst="rect">
            <a:avLst/>
          </a:prstGeom>
          <a:solidFill>
            <a:srgbClr val="C86FC8"/>
          </a:solidFill>
          <a:ln w="12700">
            <a:solidFill>
              <a:srgbClr val="C86FC8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(3) 윤리 원칙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세계에서 잘표하는 AI </a:t>
            </a:r>
            <a:r>
              <a:rPr lang="en-US" sz="1800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윤리원칙</a:t>
            </a: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84개 </a:t>
            </a:r>
            <a:r>
              <a:rPr lang="en-US" sz="1800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지침</a:t>
            </a:r>
            <a:r>
              <a:rPr lang="ko-KR" alt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주요 원칙</a:t>
            </a:r>
            <a:r>
              <a:rPr lang="en-US" sz="1800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952805" y="2857500"/>
            <a:ext cx="9811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강하게 수렴한 다섯 원칙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3372307"/>
          <a:ext cx="9801454" cy="3296412"/>
        </p:xfrm>
        <a:graphic>
          <a:graphicData uri="http://schemas.openxmlformats.org/drawingml/2006/table">
            <a:tbl>
              <a:tblPr/>
              <a:tblGrid>
                <a:gridCol w="2667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4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94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원칙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투명성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설명가능성과 공개와 추적가능성이며 가장 빈번하게 등장한다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정의와 공정성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편향 제거와 차별 금지와 형평성이다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비악의성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해를 끼치지 않을 것이며 안전과 보안을 포괄한다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책임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책임 귀속과 감사가능성과 구제 절차다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개인정보 보호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보호와 최소 수집과 목적 제한이다</a:t>
                      </a:r>
                      <a:endParaRPr lang="en-US" sz="2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6"/>
          <p:cNvSpPr txBox="1"/>
          <p:nvPr/>
        </p:nvSpPr>
        <p:spPr>
          <a:xfrm>
            <a:off x="1333195" y="8324698"/>
            <a:ext cx="9144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다섯이 국제 규범의 공통 기반이 되었다.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1333195" y="8744407"/>
            <a:ext cx="9144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장의 신뢰 여섯 구성요소, ISO/IEC 42001의 통제 항목, AI기본법 제31조와 제32조의 의무 구조가 모두 이 다섯에서 파생된다.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11449202" y="2991002"/>
            <a:ext cx="55824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간 편차가 큰 원칙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11449202" y="3771900"/>
            <a:ext cx="55824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altLang="ko-KR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84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 윤리지침 </a:t>
            </a:r>
            <a:r>
              <a:rPr lang="en-US" altLang="ko-KR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세계 주요 기관 및 국가에서 발표한 인공지능</a:t>
            </a:r>
            <a:r>
              <a:rPr lang="en-US" altLang="ko-KR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(AI) 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 가이드라인 </a:t>
            </a:r>
            <a:r>
              <a:rPr lang="en-US" altLang="ko-KR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84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개를 종합 분석하여 도출된 글로벌 </a:t>
            </a:r>
            <a:r>
              <a:rPr lang="en-US" altLang="ko-KR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 기준 및 원칙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11449202" y="4604004"/>
            <a:ext cx="5582412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en-US" sz="2000" b="1" dirty="0" err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</a:t>
            </a:r>
            <a:r>
              <a:rPr lang="ko-KR" altLang="en-US" sz="2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원칙은 </a:t>
            </a:r>
            <a:r>
              <a:rPr lang="en-US" sz="2000" b="1" dirty="0" err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국제적으로</a:t>
            </a:r>
            <a:r>
              <a:rPr lang="en-US" sz="2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</a:t>
            </a:r>
            <a:r>
              <a:rPr lang="ko-KR" altLang="en-US" sz="2000" b="1" dirty="0" err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개까지만</a:t>
            </a:r>
            <a:r>
              <a:rPr lang="ko-KR" altLang="en-US" sz="2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합의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11449202" y="6515100"/>
            <a:ext cx="55824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방법론으로서의 가치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11449202" y="7295998"/>
            <a:ext cx="55824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원상철</a:t>
            </a:r>
            <a:r>
              <a:rPr lang="en-US" altLang="ko-KR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(2024)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84개 문서를 수집해 원칙을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코딩하고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빈도</a:t>
            </a:r>
            <a:r>
              <a:rPr lang="ko-KR" alt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내용을 분석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11753698" y="8610905"/>
            <a:ext cx="49725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기업 윤리원칙을 같은 </a:t>
            </a:r>
            <a:r>
              <a:rPr lang="en-US" sz="18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방식으로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코딩하면</a:t>
            </a:r>
            <a:endParaRPr lang="en-US" sz="1800" b="1" dirty="0">
              <a:solidFill>
                <a:srgbClr val="2C2C2C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</a:t>
            </a:r>
            <a:r>
              <a:rPr lang="en-US" sz="18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자체로</a:t>
            </a:r>
            <a:r>
              <a:rPr 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b="1" dirty="0" err="1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소논문</a:t>
            </a:r>
            <a:r>
              <a:rPr lang="ko-KR" altLang="en-US" sz="1800" b="1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가능성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19/24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(4) 신뢰 구성요소</a:t>
            </a:r>
            <a:endParaRPr lang="en-US" sz="50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2C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신뢰를 확보하라는 의무가 집행 가능해지려면 신뢰가 항목으로 분해되어야 한다.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62402"/>
          <a:ext cx="16373246" cy="4876628"/>
        </p:xfrm>
        <a:graphic>
          <a:graphicData uri="http://schemas.openxmlformats.org/drawingml/2006/table">
            <a:tbl>
              <a:tblPr/>
              <a:tblGrid>
                <a:gridCol w="1904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4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9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구성요소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요구되는 상태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근거 조항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대응 실무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안전성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예측 가능한 방식으로 동작하며 위해를 야기하지 않아야 한다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AI기본법 제32조 안전성 확보 · EU 제9조 위험관리 · EU 제15조 견고성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위험 식별과 평가와 완화, 사고 대응 절차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투명성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작동 정보와 위험 수준을 공개해야 한다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AI기본법 제31조 투명성 확보 · EU 제50조 투명성 의무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이용 고지, 생성물 표시, 모델 문서화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책임성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개발자와 제공자와 이용자 간 법적 책임이 분담되어야 한다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AI기본법 제33조와 제34조 사업자 책무 · 제36조 국내대리인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역할과 책임 정의, 계약상 책임 배분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공정성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차별을 방지하고 데이터 편향을 관리해야 한다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AI기본법 제35조 영향평가 · EU 제10조 데이터 거버넌스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편향 평가, 데이터 품질 검증, 집단별 성능 검토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악의적 이용과 공격 가능성에 대해 방어해야 한다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제15조 사이버보안 · ISO/IEC 42001 부속서 A 통제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레드팀, 적대적 입력 테스트, 접근 통제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인간 중심성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인간이 최종 통제권을 가져야 한다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 제14조 인간 감독 · OECD AI 원칙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사람의 개입 지점 설계, 비상 정지, 이의제기 절차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20/24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8058607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8058607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26c6b0906ceb21d4b1b187ddabf25760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696005"/>
            <a:ext cx="7448702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57300" y="8382305"/>
            <a:ext cx="7448702" cy="857707"/>
          </a:xfrm>
          <a:prstGeom prst="rect">
            <a:avLst/>
          </a:prstGeom>
          <a:solidFill>
            <a:srgbClr val="EAF2ED"/>
          </a:solidFill>
          <a:ln/>
        </p:spPr>
      </p:sp>
      <p:sp>
        <p:nvSpPr>
          <p:cNvPr id="7" name="Shape 3"/>
          <p:cNvSpPr/>
          <p:nvPr/>
        </p:nvSpPr>
        <p:spPr>
          <a:xfrm>
            <a:off x="1257300" y="8382305"/>
            <a:ext cx="75895" cy="857707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91802" y="2667305"/>
            <a:ext cx="792510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391802" y="2667305"/>
            <a:ext cx="79251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10" name="Image 2" descr="gen-dedup-8438476575097037c068832093f9b59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696298" y="3696005"/>
            <a:ext cx="7315200" cy="914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696298" y="8382305"/>
            <a:ext cx="7315200" cy="857707"/>
          </a:xfrm>
          <a:prstGeom prst="rect">
            <a:avLst/>
          </a:prstGeom>
          <a:solidFill>
            <a:srgbClr val="FAF5E8"/>
          </a:solidFill>
          <a:ln/>
        </p:spPr>
      </p:sp>
      <p:sp>
        <p:nvSpPr>
          <p:cNvPr id="12" name="Shape 7"/>
          <p:cNvSpPr/>
          <p:nvPr/>
        </p:nvSpPr>
        <p:spPr>
          <a:xfrm>
            <a:off x="9696298" y="8382305"/>
            <a:ext cx="75895" cy="857707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(5) 신뢰의 법률적 구현 (1/3)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1257300" y="2991002"/>
            <a:ext cx="744870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신뢰 구성요소의 법제화</a:t>
            </a:r>
            <a:endParaRPr lang="en-US" sz="2500" dirty="0"/>
          </a:p>
        </p:txBody>
      </p:sp>
      <p:sp>
        <p:nvSpPr>
          <p:cNvPr id="20" name="Text 15"/>
          <p:cNvSpPr txBox="1"/>
          <p:nvPr/>
        </p:nvSpPr>
        <p:spPr>
          <a:xfrm>
            <a:off x="1257300" y="3943807"/>
            <a:ext cx="74487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ISO/IEC 42001과 OECD AI 원칙과 EU AI Act와 동일한 축으로 신뢰 요소를 법에 명시해 사회적 수용성을 확보한다.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57300" y="4914900"/>
          <a:ext cx="7439559" cy="3020262"/>
        </p:xfrm>
        <a:graphic>
          <a:graphicData uri="http://schemas.openxmlformats.org/drawingml/2006/table">
            <a:tbl>
              <a:tblPr/>
              <a:tblGrid>
                <a:gridCol w="2667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3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법에 명시된 요소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요구되는 상태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안전성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예측 가능하게 동작하며 위해를 야기하지 않을 것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투명성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작동 정보와 위험 수준을 공개할 것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책임성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주체 간 법적 책임을 분담할 것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공정성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차별을 방지하고 데이터 편향을 관리할 것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보안성과 인간 중심성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악의적 이용을 방어하고 인간이 통제권을 가질 것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6"/>
          <p:cNvSpPr txBox="1"/>
          <p:nvPr/>
        </p:nvSpPr>
        <p:spPr>
          <a:xfrm>
            <a:off x="1561795" y="8548160"/>
            <a:ext cx="68397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국제표준과 같은 축을 쓰면 이중 대응 비용이 줄고 인증과 조달에서 상호 인정이 가능해진다.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9696298" y="2991002"/>
            <a:ext cx="73152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위험 기반 등급별 규제</a:t>
            </a:r>
            <a:endParaRPr lang="en-US" sz="2500" dirty="0"/>
          </a:p>
        </p:txBody>
      </p:sp>
      <p:sp>
        <p:nvSpPr>
          <p:cNvPr id="24" name="Text 18"/>
          <p:cNvSpPr txBox="1"/>
          <p:nvPr/>
        </p:nvSpPr>
        <p:spPr>
          <a:xfrm>
            <a:off x="9696298" y="3943807"/>
            <a:ext cx="73152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AI에 같은 의무를 부과하지 않는다. 고위험 이상에 대해서만 사전 인증과 품질관리와 데이터 검증과 로그 의무를 강제한다.</a:t>
            </a:r>
            <a:endParaRPr lang="en-US" sz="20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183521"/>
              </p:ext>
            </p:extLst>
          </p:nvPr>
        </p:nvGraphicFramePr>
        <p:xfrm>
          <a:off x="9696298" y="4914900"/>
          <a:ext cx="7305141" cy="3444544"/>
        </p:xfrm>
        <a:graphic>
          <a:graphicData uri="http://schemas.openxmlformats.org/drawingml/2006/table">
            <a:tbl>
              <a:tblPr/>
              <a:tblGrid>
                <a:gridCol w="1189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1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등급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규율 방식과 근거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금지 AI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생체인식 감시와 사회적 신용 점수화 등이고 EU 제5조가 근거다.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고위험 AI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의료와 고용과 금융의 결정 지원이고 EU 제3장과 AI기본법 제33조 이하가 근거다.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중위험 AI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챗봇과 생성형 AI이고 EU 제50조와 AI기본법 제31조가 근거다.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저위험 AI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단순 자동화이며 원칙적으로 자율에 맡긴다.</a:t>
                      </a:r>
                      <a:endParaRPr lang="en-US" sz="17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19"/>
          <p:cNvSpPr txBox="1"/>
          <p:nvPr/>
        </p:nvSpPr>
        <p:spPr>
          <a:xfrm>
            <a:off x="10001707" y="8548160"/>
            <a:ext cx="67062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예방원칙의 비례성 요건이 구현된 형태다. 범용 AI는 이 네 등급과 별도의 축에 놓인다.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21/24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5266944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696005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57300" y="8477402"/>
            <a:ext cx="4657954" cy="819302"/>
          </a:xfrm>
          <a:prstGeom prst="rect">
            <a:avLst/>
          </a:prstGeom>
          <a:solidFill>
            <a:srgbClr val="F2E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667305"/>
            <a:ext cx="5266944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505956" y="266730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9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696005"/>
            <a:ext cx="465795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810451" y="8477402"/>
            <a:ext cx="4657954" cy="819302"/>
          </a:xfrm>
          <a:prstGeom prst="rect">
            <a:avLst/>
          </a:prstGeom>
          <a:solidFill>
            <a:srgbClr val="F2EE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2059107" y="2667305"/>
            <a:ext cx="527700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2059107" y="2667305"/>
            <a:ext cx="5277002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13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696005"/>
            <a:ext cx="4667098" cy="91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2363602" y="8382305"/>
            <a:ext cx="4667098" cy="857707"/>
          </a:xfrm>
          <a:prstGeom prst="rect">
            <a:avLst/>
          </a:prstGeom>
          <a:solidFill>
            <a:srgbClr val="FAF5E8"/>
          </a:solidFill>
          <a:ln/>
        </p:spPr>
      </p:sp>
      <p:sp>
        <p:nvSpPr>
          <p:cNvPr id="15" name="Shape 9"/>
          <p:cNvSpPr/>
          <p:nvPr/>
        </p:nvSpPr>
        <p:spPr>
          <a:xfrm>
            <a:off x="12363602" y="8382305"/>
            <a:ext cx="75895" cy="857707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(5) 신뢰의 법률적 구현 (2/3)</a:t>
            </a:r>
            <a:endParaRPr lang="en-US" sz="5000" dirty="0"/>
          </a:p>
        </p:txBody>
      </p:sp>
      <p:sp>
        <p:nvSpPr>
          <p:cNvPr id="22" name="Text 16"/>
          <p:cNvSpPr txBox="1"/>
          <p:nvPr/>
        </p:nvSpPr>
        <p:spPr>
          <a:xfrm>
            <a:off x="1257300" y="2991002"/>
            <a:ext cx="4657954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책임구조의 설계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1257300" y="3943807"/>
            <a:ext cx="46579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개발자와 제공자와 이용자, 그리고 정부까지 역할별로 책임을 분담하고 표준화한다.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968825"/>
              </p:ext>
            </p:extLst>
          </p:nvPr>
        </p:nvGraphicFramePr>
        <p:xfrm>
          <a:off x="1257300" y="4914900"/>
          <a:ext cx="4647896" cy="3109328"/>
        </p:xfrm>
        <a:graphic>
          <a:graphicData uri="http://schemas.openxmlformats.org/drawingml/2006/table">
            <a:tbl>
              <a:tblPr/>
              <a:tblGrid>
                <a:gridCol w="890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7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0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주체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책임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개발자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편향과 모델 오류 관리, 고위험 시스템 품질 보증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제공자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서비스 단계의 안정성 확보와 보안 유지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이용자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오용 금지와 허위 데이터 입력 금지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정부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 제정과 사고 조사와 제재 집행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18"/>
          <p:cNvSpPr txBox="1"/>
          <p:nvPr/>
        </p:nvSpPr>
        <p:spPr>
          <a:xfrm>
            <a:off x="1485900" y="8648395"/>
            <a:ext cx="4200754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AI기본법 제33조와 제34조 사업자 책무, 제36조 국내대리인, EU 제3장 제3절 주체별 의무.</a:t>
            </a:r>
            <a:endParaRPr lang="en-US" sz="1575" dirty="0"/>
          </a:p>
        </p:txBody>
      </p:sp>
      <p:sp>
        <p:nvSpPr>
          <p:cNvPr id="26" name="Text 19"/>
          <p:cNvSpPr txBox="1"/>
          <p:nvPr/>
        </p:nvSpPr>
        <p:spPr>
          <a:xfrm>
            <a:off x="6810451" y="2991002"/>
            <a:ext cx="4657954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투명성 의무 강화</a:t>
            </a:r>
            <a:endParaRPr lang="en-US" sz="2500" dirty="0"/>
          </a:p>
        </p:txBody>
      </p:sp>
      <p:sp>
        <p:nvSpPr>
          <p:cNvPr id="27" name="Text 20"/>
          <p:cNvSpPr txBox="1"/>
          <p:nvPr/>
        </p:nvSpPr>
        <p:spPr>
          <a:xfrm>
            <a:off x="6810451" y="3943807"/>
            <a:ext cx="465795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투명성은 개별 결정을 설명하는 설명성과 체계 정보를 공개하는 공시라는 두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축으로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6810451" y="4961318"/>
            <a:ext cx="465795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사용 고지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의무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상대가 AI임을 알 권리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6810451" y="5809998"/>
            <a:ext cx="465795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결정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요구권</a:t>
            </a:r>
            <a:endParaRPr lang="en-US" sz="2000" dirty="0">
              <a:solidFill>
                <a:srgbClr val="33333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불리한 결정의 근거를 물을 권리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6810451" y="6862221"/>
            <a:ext cx="522122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</a:t>
            </a:r>
            <a:endParaRPr lang="en-US" sz="2000" dirty="0">
              <a:solidFill>
                <a:srgbClr val="33333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— 저작권 쟁점과 직결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6810451" y="7486739"/>
            <a:ext cx="465795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 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생성물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표시</a:t>
            </a:r>
            <a:endParaRPr lang="en-US" sz="2000" dirty="0">
              <a:solidFill>
                <a:srgbClr val="33333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서비스 내 표시와 외부 반출 표시를 구분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7039051" y="8520199"/>
            <a:ext cx="4200754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AI기본법</a:t>
            </a:r>
            <a:r>
              <a:rPr lang="en-US" sz="1575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제31조 투명성 확보 의무, EU 제13조 정보제공과 제50조 투명성, 제53조 범용 AI 문서화.</a:t>
            </a:r>
            <a:endParaRPr lang="en-US" sz="1575" dirty="0"/>
          </a:p>
        </p:txBody>
      </p:sp>
      <p:sp>
        <p:nvSpPr>
          <p:cNvPr id="33" name="Text 26"/>
          <p:cNvSpPr txBox="1"/>
          <p:nvPr/>
        </p:nvSpPr>
        <p:spPr>
          <a:xfrm>
            <a:off x="12363602" y="2991002"/>
            <a:ext cx="466801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테스트와 인증 체계</a:t>
            </a:r>
            <a:endParaRPr lang="en-US" sz="2500" dirty="0"/>
          </a:p>
        </p:txBody>
      </p:sp>
      <p:sp>
        <p:nvSpPr>
          <p:cNvPr id="34" name="Text 27"/>
          <p:cNvSpPr txBox="1"/>
          <p:nvPr/>
        </p:nvSpPr>
        <p:spPr>
          <a:xfrm>
            <a:off x="12363602" y="3943807"/>
            <a:ext cx="46680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품질과 안전과 보안과 편향을 인증으로 제도화한다. 성과 기반 의무를 증명하는 장치다.</a:t>
            </a:r>
            <a:endParaRPr lang="en-US" sz="2000" dirty="0"/>
          </a:p>
        </p:txBody>
      </p:sp>
      <p:sp>
        <p:nvSpPr>
          <p:cNvPr id="35" name="Text 28"/>
          <p:cNvSpPr txBox="1"/>
          <p:nvPr/>
        </p:nvSpPr>
        <p:spPr>
          <a:xfrm>
            <a:off x="12363602" y="4961318"/>
            <a:ext cx="466801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경영시스템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ISO/IEC 42001 기반으로 조직 인증</a:t>
            </a:r>
            <a:endParaRPr lang="en-US" sz="2000" dirty="0"/>
          </a:p>
        </p:txBody>
      </p:sp>
      <p:sp>
        <p:nvSpPr>
          <p:cNvPr id="36" name="Text 29"/>
          <p:cNvSpPr txBox="1"/>
          <p:nvPr/>
        </p:nvSpPr>
        <p:spPr>
          <a:xfrm>
            <a:off x="12363602" y="5809998"/>
            <a:ext cx="466801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단위 적합성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제품 인증하며 EU 마킹의 전제</a:t>
            </a:r>
            <a:endParaRPr lang="en-US" sz="2000" dirty="0"/>
          </a:p>
        </p:txBody>
      </p:sp>
      <p:sp>
        <p:nvSpPr>
          <p:cNvPr id="37" name="Text 30"/>
          <p:cNvSpPr txBox="1"/>
          <p:nvPr/>
        </p:nvSpPr>
        <p:spPr>
          <a:xfrm>
            <a:off x="12363602" y="6775704"/>
            <a:ext cx="466801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분야별 특수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의료용 AI 등 기존 분야 규제와 결합</a:t>
            </a:r>
            <a:endParaRPr lang="en-US" sz="2000" dirty="0"/>
          </a:p>
        </p:txBody>
      </p:sp>
      <p:sp>
        <p:nvSpPr>
          <p:cNvPr id="38" name="Text 31"/>
          <p:cNvSpPr txBox="1"/>
          <p:nvPr/>
        </p:nvSpPr>
        <p:spPr>
          <a:xfrm>
            <a:off x="12363602" y="7639812"/>
            <a:ext cx="466801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공공조달 우선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인증 제품을 우선 구매해 시장으로 유인</a:t>
            </a:r>
            <a:endParaRPr lang="en-US" sz="2000" dirty="0"/>
          </a:p>
        </p:txBody>
      </p:sp>
      <p:sp>
        <p:nvSpPr>
          <p:cNvPr id="39" name="Text 32"/>
          <p:cNvSpPr txBox="1"/>
          <p:nvPr/>
        </p:nvSpPr>
        <p:spPr>
          <a:xfrm>
            <a:off x="12668097" y="8504930"/>
            <a:ext cx="40581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조달은 제재가 아니라 유인이다. 규제 아닌 수단으로 규제 목적을 달성.</a:t>
            </a:r>
            <a:endParaRPr lang="en-US" sz="1725" dirty="0"/>
          </a:p>
        </p:txBody>
      </p:sp>
      <p:sp>
        <p:nvSpPr>
          <p:cNvPr id="40" name="Text 33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22/24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5266944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57300" y="3696005"/>
            <a:ext cx="465795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05956" y="2667305"/>
            <a:ext cx="5266944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505956" y="2667305"/>
            <a:ext cx="5266944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8" name="Image 2" descr="gen-dedup-ecf24681c8a913dc2f6d75d5c759c67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810451" y="3696005"/>
            <a:ext cx="4657954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059107" y="2667305"/>
            <a:ext cx="527700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2059107" y="2667305"/>
            <a:ext cx="5277002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11" name="Image 3" descr="gen-dedup-871f3dfe2e6d510d81c0b0c2273c4c8e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2363602" y="3696005"/>
            <a:ext cx="4667098" cy="91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(5) 신뢰의 법률적 구현 (3/3)</a:t>
            </a:r>
            <a:endParaRPr lang="en-US" sz="5000" dirty="0"/>
          </a:p>
        </p:txBody>
      </p:sp>
      <p:sp>
        <p:nvSpPr>
          <p:cNvPr id="18" name="Text 12"/>
          <p:cNvSpPr txBox="1"/>
          <p:nvPr/>
        </p:nvSpPr>
        <p:spPr>
          <a:xfrm>
            <a:off x="1257300" y="2991002"/>
            <a:ext cx="4657954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데이터 품질과 편향 관리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1257300" y="3943807"/>
            <a:ext cx="46579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문제는 대개 데이터의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문제로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규제는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모델이 아니라 입력을 규율.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1257300" y="5438777"/>
            <a:ext cx="465795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관리 기준을 둔다.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판별형과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생성형 AI 모두에 적용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1257300" y="6321173"/>
            <a:ext cx="465795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편향의 측정과 개선을 절차로 의무화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1257300" y="6847868"/>
            <a:ext cx="540410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목적과 정보주체 권리의 균형을 유지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1257300" y="7375476"/>
            <a:ext cx="465795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적법한 출처의 데이터를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썼는지에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</a:t>
            </a:r>
            <a:endParaRPr lang="en-US" sz="2000" dirty="0">
              <a:solidFill>
                <a:srgbClr val="33333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책임을 진다. 저작권 면책 논의와 직결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6810451" y="2991002"/>
            <a:ext cx="4657954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⑦ 안전성 검증과 사고 보고</a:t>
            </a:r>
            <a:endParaRPr lang="en-US" sz="2500" dirty="0"/>
          </a:p>
        </p:txBody>
      </p:sp>
      <p:sp>
        <p:nvSpPr>
          <p:cNvPr id="25" name="Text 19"/>
          <p:cNvSpPr txBox="1"/>
          <p:nvPr/>
        </p:nvSpPr>
        <p:spPr>
          <a:xfrm>
            <a:off x="6828739" y="3752239"/>
            <a:ext cx="4944161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사고를 공유하지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않으면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산업전체가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같은 실수를 반복하나 자발적 공유는 일어나지 않는다.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6810451" y="5628972"/>
            <a:ext cx="5251399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중대한 사고와 오작동을 감독기관에 보고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6810451" y="6155667"/>
            <a:ext cx="546445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고위험 AI는 사전에 신고하고 사후에 평가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6810451" y="6683276"/>
            <a:ext cx="465795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차원의 AI 안전 전담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조직이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조사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6810451" y="7565672"/>
            <a:ext cx="465795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사례를 축적한 위험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데이터베이스를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운영해</a:t>
            </a:r>
            <a:endParaRPr lang="en-US" sz="2000" dirty="0">
              <a:solidFill>
                <a:srgbClr val="33333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산업 전체가 참조</a:t>
            </a:r>
            <a:endParaRPr lang="en-US" sz="2000" dirty="0"/>
          </a:p>
        </p:txBody>
      </p:sp>
      <p:sp>
        <p:nvSpPr>
          <p:cNvPr id="30" name="Text 24"/>
          <p:cNvSpPr txBox="1"/>
          <p:nvPr/>
        </p:nvSpPr>
        <p:spPr>
          <a:xfrm>
            <a:off x="12363602" y="2991002"/>
            <a:ext cx="466801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⑧ 공공영역의 모범 의무</a:t>
            </a:r>
            <a:endParaRPr lang="en-US" sz="2500" dirty="0"/>
          </a:p>
        </p:txBody>
      </p:sp>
      <p:sp>
        <p:nvSpPr>
          <p:cNvPr id="31" name="Text 25"/>
          <p:cNvSpPr txBox="1"/>
          <p:nvPr/>
        </p:nvSpPr>
        <p:spPr>
          <a:xfrm>
            <a:off x="12363602" y="3943807"/>
            <a:ext cx="46680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국가가 민간에 요구하는 것을 스스로 먼저 지킨다. 규제의 정당성은 여기서 나온다.</a:t>
            </a:r>
            <a:endParaRPr lang="en-US" sz="2000" dirty="0"/>
          </a:p>
        </p:txBody>
      </p:sp>
      <p:sp>
        <p:nvSpPr>
          <p:cNvPr id="32" name="Text 26"/>
          <p:cNvSpPr txBox="1"/>
          <p:nvPr/>
        </p:nvSpPr>
        <p:spPr>
          <a:xfrm>
            <a:off x="12363602" y="5628972"/>
            <a:ext cx="466801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결정에 쓰이는 공공 AI는 더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투명성과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설명가능성 기준을 적용</a:t>
            </a:r>
            <a:endParaRPr lang="en-US" sz="2000" dirty="0"/>
          </a:p>
        </p:txBody>
      </p:sp>
      <p:sp>
        <p:nvSpPr>
          <p:cNvPr id="33" name="Text 27"/>
          <p:cNvSpPr txBox="1"/>
          <p:nvPr/>
        </p:nvSpPr>
        <p:spPr>
          <a:xfrm>
            <a:off x="12363602" y="6511368"/>
            <a:ext cx="466801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공공조달에서 인증받은 AI만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허용하면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조달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기준이 사실상의 시장 기준</a:t>
            </a:r>
            <a:endParaRPr lang="en-US" sz="2000" dirty="0"/>
          </a:p>
        </p:txBody>
      </p:sp>
      <p:sp>
        <p:nvSpPr>
          <p:cNvPr id="34" name="Text 28"/>
          <p:cNvSpPr txBox="1"/>
          <p:nvPr/>
        </p:nvSpPr>
        <p:spPr>
          <a:xfrm>
            <a:off x="12363602" y="7394679"/>
            <a:ext cx="466801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9A76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 도입 전에 알고리즘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영향평가를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의무화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r>
              <a:rPr lang="en-US" sz="20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</a:t>
            </a:r>
            <a:r>
              <a:rPr lang="en-US" sz="2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AI기본법 제35조의 공공 적용</a:t>
            </a:r>
            <a:endParaRPr lang="en-US" sz="2000" dirty="0"/>
          </a:p>
        </p:txBody>
      </p:sp>
      <p:sp>
        <p:nvSpPr>
          <p:cNvPr id="35" name="Text 29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23/24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67305"/>
            <a:ext cx="16383305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667305"/>
            <a:ext cx="16383305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805" y="6191402"/>
            <a:ext cx="16383305" cy="3333902"/>
          </a:xfrm>
          <a:prstGeom prst="rect">
            <a:avLst/>
          </a:prstGeom>
          <a:solidFill>
            <a:srgbClr val="EAF2ED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805" y="6191402"/>
            <a:ext cx="16383305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19995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· 법경제학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867998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규제 유형론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0" y="304495"/>
            <a:ext cx="17721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· 윤리와 신뢰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564002" y="304495"/>
            <a:ext cx="1772107" cy="381305"/>
          </a:xfrm>
          <a:prstGeom prst="rect">
            <a:avLst/>
          </a:prstGeom>
          <a:solidFill>
            <a:srgbClr val="036B3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선행연구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1104595"/>
            <a:ext cx="16383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선행연구 7+7</a:t>
            </a:r>
            <a:endParaRPr lang="en-US" sz="5000" dirty="0"/>
          </a:p>
        </p:txBody>
      </p:sp>
      <p:sp>
        <p:nvSpPr>
          <p:cNvPr id="13" name="Text 10"/>
          <p:cNvSpPr txBox="1"/>
          <p:nvPr/>
        </p:nvSpPr>
        <p:spPr>
          <a:xfrm>
            <a:off x="1333195" y="282665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01. 인공지능 거버넌스와 정책형성과정 연구, 김지원, 2024, 서울대학교 대학원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33195" y="3276542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02. 인공지능 윤리와 저작권의 규제체계 연구, 신용우, 2024, 국회입법조사처 정책연구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3725512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03. 인공지능(AI)시대, 인공지능기본법과 윤리, 김경동, 2025, 한국법학회 법학연구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417539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 인공지능의 윤리와 법의 접점, 원상철, 2024, 한국법이론실무학회 법이론실무연구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4625282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05. 인공지능기술 윤리성 인식 척도개발 연구, 김도연·고영화, 2022, 한국디지털정책학회 디지털융복합연구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33195" y="5074252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06. AI 윤리원칙 분류 모형 및 윤리 측정지표(EMI-AI) 개발, 소순주, 2023, 성균관대학교 대학원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552413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07. AI 로봇의 위험성 유형별 측정지표 개발과 윤리원칙 관계성, 송현경, 2024, 성균관대학교 대학원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333195" y="6495898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08. 인공지능기본법상 '고영향 인공지능'과 관련된 기본권 논의 - EU AI규제법과 비교를 겸하여, 백수원, 2025, 유럽헌법연구</a:t>
            </a:r>
            <a:endParaRPr lang="en-US" sz="1725" dirty="0"/>
          </a:p>
        </p:txBody>
      </p:sp>
      <p:sp>
        <p:nvSpPr>
          <p:cNvPr id="21" name="Text 18"/>
          <p:cNvSpPr txBox="1"/>
          <p:nvPr/>
        </p:nvSpPr>
        <p:spPr>
          <a:xfrm>
            <a:off x="1333195" y="693115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09. 인공지능 거버넌스에서 신뢰 개념에 대한 고찰 및 정책 유형화 연구, 우지숙·김수지, 2024, 경제규제와 법</a:t>
            </a:r>
            <a:endParaRPr lang="en-US" sz="1725" dirty="0"/>
          </a:p>
        </p:txBody>
      </p:sp>
      <p:sp>
        <p:nvSpPr>
          <p:cNvPr id="22" name="Text 19"/>
          <p:cNvSpPr txBox="1"/>
          <p:nvPr/>
        </p:nvSpPr>
        <p:spPr>
          <a:xfrm>
            <a:off x="1333195" y="7365492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10. 대학생의 인공지능 윤리의식에 관한 실증연구, 백현기, 2024, 산업융합연구</a:t>
            </a:r>
            <a:endParaRPr lang="en-US" sz="1725" dirty="0"/>
          </a:p>
        </p:txBody>
      </p:sp>
      <p:sp>
        <p:nvSpPr>
          <p:cNvPr id="23" name="Text 20"/>
          <p:cNvSpPr txBox="1"/>
          <p:nvPr/>
        </p:nvSpPr>
        <p:spPr>
          <a:xfrm>
            <a:off x="1333195" y="7800746"/>
            <a:ext cx="163074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 The emergence of artificial intelligence ethics auditing(인공지능 윤리 감사의 부상), Schiff, D. S., 2024, Big Data &amp; Society</a:t>
            </a:r>
            <a:endParaRPr lang="en-US" sz="1725" dirty="0"/>
          </a:p>
        </p:txBody>
      </p:sp>
      <p:sp>
        <p:nvSpPr>
          <p:cNvPr id="24" name="Text 21"/>
          <p:cNvSpPr txBox="1"/>
          <p:nvPr/>
        </p:nvSpPr>
        <p:spPr>
          <a:xfrm>
            <a:off x="1333195" y="823600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 Auditing large language models: a three-layered approach(LLM 감사: 3계층 접근), Mökander, J., 2024, AI and Ethics</a:t>
            </a:r>
            <a:endParaRPr lang="en-US" sz="1725" dirty="0"/>
          </a:p>
        </p:txBody>
      </p:sp>
      <p:sp>
        <p:nvSpPr>
          <p:cNvPr id="25" name="Text 22"/>
          <p:cNvSpPr txBox="1"/>
          <p:nvPr/>
        </p:nvSpPr>
        <p:spPr>
          <a:xfrm>
            <a:off x="1333195" y="867034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13. 직업규제 영역의 인공지능 기능대체와 고위험성 판단기준 - 직업의 자유 제한 법리에 기초한 기능적 등가성 기준의 제안, 김민규, 2026, 법조</a:t>
            </a:r>
            <a:endParaRPr lang="en-US" sz="1725" dirty="0"/>
          </a:p>
        </p:txBody>
      </p:sp>
      <p:sp>
        <p:nvSpPr>
          <p:cNvPr id="26" name="Text 23"/>
          <p:cNvSpPr txBox="1"/>
          <p:nvPr/>
        </p:nvSpPr>
        <p:spPr>
          <a:xfrm>
            <a:off x="1333195" y="91055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14. 인공지능 시대의 '손해'에 대한 관견(管見) - '정서적 의존' 등의 비재산적 손해를 중심으로, 이수경, 2026, 민사법의 이론과 실무</a:t>
            </a:r>
            <a:endParaRPr lang="en-US" sz="1725" dirty="0"/>
          </a:p>
        </p:txBody>
      </p:sp>
      <p:sp>
        <p:nvSpPr>
          <p:cNvPr id="27" name="Text 24"/>
          <p:cNvSpPr txBox="1"/>
          <p:nvPr/>
        </p:nvSpPr>
        <p:spPr>
          <a:xfrm>
            <a:off x="15430500" y="98105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24/24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5762</Words>
  <Application>Microsoft Office PowerPoint</Application>
  <PresentationFormat>사용자 지정</PresentationFormat>
  <Paragraphs>937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Noto Sans KR</vt:lpstr>
      <vt:lpstr>Noto Serif KR</vt:lpstr>
      <vt:lpstr>맑은 고딕</vt:lpstr>
      <vt:lpstr>Arial</vt:lpstr>
      <vt:lpstr>Calibri</vt:lpstr>
      <vt:lpstr>IBM Plex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양희정</cp:lastModifiedBy>
  <cp:revision>13</cp:revision>
  <dcterms:created xsi:type="dcterms:W3CDTF">2026-09-10T06:38:33Z</dcterms:created>
  <dcterms:modified xsi:type="dcterms:W3CDTF">2026-09-10T09:38:59Z</dcterms:modified>
</cp:coreProperties>
</file>