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5"/>
  </p:notesMasterIdLst>
  <p:sldIdLst>
    <p:sldId id="256" r:id="rId2"/>
    <p:sldId id="257" r:id="rId3"/>
    <p:sldId id="258" r:id="rId4"/>
    <p:sldId id="259" r:id="rId5"/>
    <p:sldId id="260" r:id="rId6"/>
    <p:sldId id="302" r:id="rId7"/>
    <p:sldId id="262" r:id="rId8"/>
    <p:sldId id="263" r:id="rId9"/>
    <p:sldId id="293" r:id="rId10"/>
    <p:sldId id="308" r:id="rId11"/>
    <p:sldId id="417" r:id="rId12"/>
    <p:sldId id="309" r:id="rId13"/>
    <p:sldId id="418" r:id="rId14"/>
    <p:sldId id="310" r:id="rId15"/>
    <p:sldId id="419" r:id="rId16"/>
    <p:sldId id="311" r:id="rId17"/>
    <p:sldId id="420" r:id="rId18"/>
    <p:sldId id="312" r:id="rId19"/>
    <p:sldId id="421" r:id="rId20"/>
    <p:sldId id="313" r:id="rId21"/>
    <p:sldId id="284" r:id="rId22"/>
    <p:sldId id="422" r:id="rId23"/>
    <p:sldId id="314" r:id="rId24"/>
    <p:sldId id="423" r:id="rId25"/>
    <p:sldId id="315" r:id="rId26"/>
    <p:sldId id="424" r:id="rId27"/>
    <p:sldId id="316" r:id="rId28"/>
    <p:sldId id="425" r:id="rId29"/>
    <p:sldId id="317" r:id="rId30"/>
    <p:sldId id="426" r:id="rId31"/>
    <p:sldId id="318" r:id="rId32"/>
    <p:sldId id="427" r:id="rId33"/>
    <p:sldId id="319" r:id="rId34"/>
    <p:sldId id="428" r:id="rId35"/>
    <p:sldId id="320" r:id="rId36"/>
    <p:sldId id="429" r:id="rId37"/>
    <p:sldId id="321" r:id="rId38"/>
    <p:sldId id="430" r:id="rId39"/>
    <p:sldId id="322" r:id="rId40"/>
    <p:sldId id="431" r:id="rId41"/>
    <p:sldId id="323" r:id="rId42"/>
    <p:sldId id="432" r:id="rId43"/>
    <p:sldId id="324" r:id="rId44"/>
    <p:sldId id="433" r:id="rId45"/>
    <p:sldId id="325" r:id="rId46"/>
    <p:sldId id="434" r:id="rId47"/>
    <p:sldId id="326" r:id="rId48"/>
    <p:sldId id="435" r:id="rId49"/>
    <p:sldId id="327" r:id="rId50"/>
    <p:sldId id="436" r:id="rId51"/>
    <p:sldId id="328" r:id="rId52"/>
    <p:sldId id="437" r:id="rId53"/>
    <p:sldId id="329" r:id="rId54"/>
    <p:sldId id="438" r:id="rId55"/>
    <p:sldId id="330" r:id="rId56"/>
    <p:sldId id="439" r:id="rId57"/>
    <p:sldId id="331" r:id="rId58"/>
    <p:sldId id="440" r:id="rId59"/>
    <p:sldId id="332" r:id="rId60"/>
    <p:sldId id="441" r:id="rId61"/>
    <p:sldId id="333" r:id="rId62"/>
    <p:sldId id="442" r:id="rId63"/>
    <p:sldId id="287" r:id="rId64"/>
    <p:sldId id="334" r:id="rId65"/>
    <p:sldId id="443" r:id="rId66"/>
    <p:sldId id="335" r:id="rId67"/>
    <p:sldId id="444" r:id="rId68"/>
    <p:sldId id="268" r:id="rId69"/>
    <p:sldId id="336" r:id="rId70"/>
    <p:sldId id="445" r:id="rId71"/>
    <p:sldId id="337" r:id="rId72"/>
    <p:sldId id="446" r:id="rId73"/>
    <p:sldId id="338" r:id="rId74"/>
    <p:sldId id="447" r:id="rId75"/>
    <p:sldId id="339" r:id="rId76"/>
    <p:sldId id="448" r:id="rId77"/>
    <p:sldId id="340" r:id="rId78"/>
    <p:sldId id="449" r:id="rId79"/>
    <p:sldId id="264" r:id="rId80"/>
    <p:sldId id="265" r:id="rId81"/>
    <p:sldId id="266" r:id="rId82"/>
    <p:sldId id="267" r:id="rId83"/>
    <p:sldId id="269" r:id="rId84"/>
    <p:sldId id="278" r:id="rId85"/>
    <p:sldId id="279" r:id="rId86"/>
    <p:sldId id="280" r:id="rId87"/>
    <p:sldId id="281" r:id="rId88"/>
    <p:sldId id="282" r:id="rId89"/>
    <p:sldId id="283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285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2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270" r:id="rId151"/>
    <p:sldId id="272" r:id="rId152"/>
    <p:sldId id="399" r:id="rId153"/>
    <p:sldId id="460" r:id="rId154"/>
    <p:sldId id="271" r:id="rId155"/>
    <p:sldId id="400" r:id="rId156"/>
    <p:sldId id="461" r:id="rId157"/>
    <p:sldId id="273" r:id="rId158"/>
    <p:sldId id="401" r:id="rId159"/>
    <p:sldId id="462" r:id="rId160"/>
    <p:sldId id="402" r:id="rId161"/>
    <p:sldId id="463" r:id="rId162"/>
    <p:sldId id="403" r:id="rId163"/>
    <p:sldId id="464" r:id="rId164"/>
    <p:sldId id="404" r:id="rId165"/>
    <p:sldId id="465" r:id="rId166"/>
    <p:sldId id="405" r:id="rId167"/>
    <p:sldId id="466" r:id="rId168"/>
    <p:sldId id="274" r:id="rId169"/>
    <p:sldId id="275" r:id="rId170"/>
    <p:sldId id="406" r:id="rId171"/>
    <p:sldId id="467" r:id="rId172"/>
    <p:sldId id="407" r:id="rId173"/>
    <p:sldId id="468" r:id="rId174"/>
    <p:sldId id="276" r:id="rId175"/>
    <p:sldId id="277" r:id="rId176"/>
    <p:sldId id="408" r:id="rId177"/>
    <p:sldId id="453" r:id="rId178"/>
    <p:sldId id="454" r:id="rId179"/>
    <p:sldId id="290" r:id="rId180"/>
    <p:sldId id="409" r:id="rId181"/>
    <p:sldId id="455" r:id="rId182"/>
    <p:sldId id="410" r:id="rId183"/>
    <p:sldId id="456" r:id="rId184"/>
    <p:sldId id="411" r:id="rId185"/>
    <p:sldId id="457" r:id="rId186"/>
    <p:sldId id="412" r:id="rId187"/>
    <p:sldId id="458" r:id="rId188"/>
    <p:sldId id="413" r:id="rId189"/>
    <p:sldId id="459" r:id="rId190"/>
    <p:sldId id="288" r:id="rId191"/>
    <p:sldId id="291" r:id="rId192"/>
    <p:sldId id="292" r:id="rId193"/>
    <p:sldId id="414" r:id="rId194"/>
    <p:sldId id="450" r:id="rId195"/>
    <p:sldId id="415" r:id="rId196"/>
    <p:sldId id="451" r:id="rId197"/>
    <p:sldId id="416" r:id="rId198"/>
    <p:sldId id="452" r:id="rId199"/>
    <p:sldId id="303" r:id="rId200"/>
    <p:sldId id="304" r:id="rId201"/>
    <p:sldId id="305" r:id="rId202"/>
    <p:sldId id="306" r:id="rId203"/>
    <p:sldId id="307" r:id="rId20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841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00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686507"/>
            <a:ext cx="1076249" cy="418795"/>
          </a:xfrm>
          <a:prstGeom prst="rect">
            <a:avLst/>
          </a:prstGeom>
          <a:noFill/>
          <a:ln w="38100">
            <a:solidFill>
              <a:srgbClr val="036B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pic>
        <p:nvPicPr>
          <p:cNvPr id="5" name="Image 1" descr="gen-dedup-0910a5b411fb34e33cd2c50d3f9d186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7200900"/>
            <a:ext cx="1714500" cy="4754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52805" y="433426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KONKUK UNIVERSITY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60450"/>
            <a:ext cx="8572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751430"/>
            <a:ext cx="10771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강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471062"/>
            <a:ext cx="1639336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AI 관련 법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93285"/>
            <a:ext cx="163933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인공지능기본법과</a:t>
            </a: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 </a:t>
            </a:r>
            <a:r>
              <a:rPr lang="en-US" sz="24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109개 </a:t>
            </a:r>
            <a:r>
              <a:rPr lang="ko-KR" alt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47358"/>
            <a:ext cx="95353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https://github.com/YangGuiBee/AIG2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91349"/>
            <a:ext cx="11430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 · 담당교수 </a:t>
            </a: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양희정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https://yangguibee.github.io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52805" y="8301838"/>
            <a:ext cx="11430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guibee@konkuk.ac.kr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285378"/>
            <a:ext cx="2257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· 2026-2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4783105" y="8635594"/>
            <a:ext cx="22576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16강 목차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8주차(10.22) · 기말 보고서 16주차(12.17) · 오늘은 6주차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7705648" cy="4772250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소개, AI 거버넌스 개론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법규제의 기초 이론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9.17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(1)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9.24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(2), 추석 휴강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인공지능기본법, 시행령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AI 관련 법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1, AI 법규제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10.22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743200"/>
          <a:ext cx="7705648" cy="4772250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10.29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가이드라인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기술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11.12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국제표준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11.19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연구방법론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11.26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선행연구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실무사례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12.10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2, 적용 계획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2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12.17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기말고사, 종합 평가 보고</a:t>
                      </a:r>
                      <a:endParaRPr lang="en-US" sz="1200" dirty="0"/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1/202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pic>
        <p:nvPicPr>
          <p:cNvPr id="8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37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39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1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43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45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47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49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1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53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국내 법령 109개를 9개 분류로 — 장마다 법령 1장씩, 핵심 법은 심화 슬라이드 포함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1~5장 — 정책·안전·공공·데이터·분야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1·AI 거버넌스·정책 (6)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2·AI 안전·보안·신뢰 (12)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3·공공·행정 (8)</a:t>
            </a:r>
            <a:endParaRPr lang="en-US" sz="1200" dirty="0"/>
          </a:p>
        </p:txBody>
      </p:sp>
      <p:sp>
        <p:nvSpPr>
          <p:cNvPr id="55" name="AgendaLine 55"/>
          <p:cNvSpPr txBox="1"/>
          <p:nvPr/>
        </p:nvSpPr>
        <p:spPr>
          <a:xfrm>
            <a:off x="1257300" y="6023152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4·데이터·개인정보 (7)</a:t>
            </a:r>
            <a:endParaRPr lang="en-US" sz="1200" dirty="0"/>
          </a:p>
        </p:txBody>
      </p:sp>
      <p:sp>
        <p:nvSpPr>
          <p:cNvPr id="56" name="AgendaLine 56"/>
          <p:cNvSpPr txBox="1"/>
          <p:nvPr/>
        </p:nvSpPr>
        <p:spPr>
          <a:xfrm>
            <a:off x="1257300" y="6522414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5·분야별 AI 규제 (38)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6~9장 — 산업·지식재산·책임·인권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6·산업·시장·경쟁 (20)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7·지식재산·콘텐츠 (9)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8·책임·구제·제재 (6)</a:t>
            </a:r>
            <a:endParaRPr lang="en-US" sz="1200" dirty="0"/>
          </a:p>
        </p:txBody>
      </p:sp>
      <p:sp>
        <p:nvSpPr>
          <p:cNvPr id="57" name="AgendaLine 57"/>
          <p:cNvSpPr txBox="1"/>
          <p:nvPr/>
        </p:nvSpPr>
        <p:spPr>
          <a:xfrm>
            <a:off x="9592056" y="6023152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9·투명성·공정성·인권 (3)</a:t>
            </a:r>
            <a:endParaRPr lang="en-US" sz="1200" dirty="0"/>
          </a:p>
        </p:txBody>
      </p:sp>
      <p:sp>
        <p:nvSpPr>
          <p:cNvPr id="58" name="AgendaLine 58"/>
          <p:cNvSpPr txBox="1"/>
          <p:nvPr/>
        </p:nvSpPr>
        <p:spPr>
          <a:xfrm>
            <a:off x="9592056" y="6522414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종합: 개정 동향·한계와 과제·소논문 주제·요약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법과의 관계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원칙을 정의하고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개념·대상·절차를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적용하는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ko-KR" alt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성</a:t>
            </a: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915329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인공지능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,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인공지능기술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,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인공지능산업 및 인공지능사회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(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이하 “</a:t>
            </a:r>
            <a:r>
              <a:rPr lang="ko-KR" altLang="en-US" b="0" i="0" dirty="0" err="1">
                <a:solidFill>
                  <a:srgbClr val="444444"/>
                </a:solidFill>
                <a:effectLst/>
                <a:latin typeface="+mn-ea"/>
              </a:rPr>
              <a:t>인공지능등”이라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 한다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)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에 관하여 다른 법률에 특별한 규정이 있는 경우를 제외하고는 이 법에서 정하는 바에 따른다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257300" y="606198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b="0" i="0" dirty="0" err="1">
                <a:solidFill>
                  <a:srgbClr val="444444"/>
                </a:solidFill>
                <a:effectLst/>
                <a:latin typeface="+mn-ea"/>
              </a:rPr>
              <a:t>인공지능등에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+mn-ea"/>
              </a:rPr>
              <a:t> 관하여 다른 법률을 제정하거나 개정하는 경우에는 이 법의 목적에 부합하도록 하여야 한다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+mn-ea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AI기본법이 다른 </a:t>
            </a:r>
            <a:r>
              <a:rPr lang="en-US" sz="25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법에서</a:t>
            </a: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차용하</a:t>
            </a: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9개 영역, 생성형 AI의 '데이터'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중소기업·벤처기업·소상공인의 범위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기본계획·임시허가·실태조사·사실조사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공무원 의제(형법), 법인 준용(민법)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49493" y="821975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기본법이 개념을 다른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법에서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차용하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면, 그 법이 개정될 때 AI기본법의 적용 범위도 함께 바뀐다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49493" y="877366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개념 차용 조문을 전수 조사해 개정 연쇄효과를 추적하는 법제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3/202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2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3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3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3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4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AILawMap으로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보는 국내 AI 법령 지도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4222" y="200436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법령 109개(9개 분류) + 국제규범 14개 + 가이드라인 5종 + 행정규칙 24종을 하나의 관계도로 표현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4/202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91613" y="9835286"/>
            <a:ext cx="163933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AILawMap(yangguibee.github.io/AILawMap) · 2026-10-07 기준 · 국내 법령 상자는 법률·시행령 페이지로 연결</a:t>
            </a:r>
            <a:endParaRPr 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9E9310-7777-4C67-AFD0-73199ADA5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31" y="2345893"/>
            <a:ext cx="16773400" cy="7467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1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2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2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2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3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109개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5/202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10292"/>
              </p:ext>
            </p:extLst>
          </p:nvPr>
        </p:nvGraphicFramePr>
        <p:xfrm>
          <a:off x="685800" y="2606040"/>
          <a:ext cx="16916400" cy="6372450"/>
        </p:xfrm>
        <a:graphic>
          <a:graphicData uri="http://schemas.openxmlformats.org/drawingml/2006/table">
            <a:tbl>
              <a:tblPr/>
              <a:tblGrid>
                <a:gridCol w="133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코드·장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수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기준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분야별 AI 규제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의료·금융·교통·에너지·교육·고용·선거·국방 등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 (6장)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산업·시장·경쟁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산업진흥, 창업·투자, 경쟁, 플랫폼, 기업지원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(2장)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안전·보안·신뢰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안전성, 위험관리, 정보보호, 인증, 인프라 신뢰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(7장)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지식재산·콘텐츠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저작권, 특허, 상표, 디자인, 영업비밀, AI 생성물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 (3장)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공공·행정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공공부문 AI, 행정 의사결정, 공공서비스, 정보공개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(4장)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데이터·개인정보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수집·공유·보호, 개인정보, 정보주체 권리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 (1장)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거버넌스·정책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기본원칙, 국가정책, R&amp;D, 전략기술, 거버넌스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 (8장)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책임·구제·제재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민사·형사·행정책임, 손해배상, 분쟁·사후구제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72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(9장)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투명성·공정성·인권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설명·투명성, 차별금지, 접근성, 취약계층, 기본권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AI기본법이 인용 — 22개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차용 10: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9개 법 + 데이터산업법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시책·절차 연계 12: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지능정보화·공공데이터 등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조문에 법명을 직접 적은 '실제 인용관계'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'⇄ 조문 비교' 페이지로 원문 대조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역인용 1개 · ③ 주제 연결 16개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산업디지털전환법이 AI 정의를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연결: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 10, 개인정보·금융 3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연결: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행정기본법·행정절차법·제조물 책임법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인용은 없지만 AI 때문에 쟁점이 생긴 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인용관계는 '법이 스스로 말한 연결', 주제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매핑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연결 16개 중 무엇이 다음 개정 때 인용관계로 바뀔까? (예: 개인정보보호법 자동화된 결정)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역인용은 AI기본법의 정의가 다른 법의 기준이 되기 시작했다는 신호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인용 방향과 밀도로 국내 AI 법체계의 '중심성'을 측정하는 네트워크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6/202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1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2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2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2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3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'관련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" y="2031797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인용·위임은 '조문 비교', 인용 없는 주제 연결은 '연결설명'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7/202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16916400" cy="696315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법령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근거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유형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인공지능기본법 시행령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법의 위임에 따른 하위법령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비교(위임)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지능정보화 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제6조③④⑤ 종합계획 고려·공공기관 정의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데이터산업법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제2조5호 생성형 AI의 '데이터' 정의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생체인식정보(바목)·자동화된 결정과 연계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비교(ai-note)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지식재산 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지식재산 체계와의 주제 연결(인용 없음)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연결설명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제2조4호가목 에너지의 공급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의료기기법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제2조4호라목 의료기기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교통안전법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제2조4호아목 교통수단·시설·체계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제6조②4의2·③ 공공데이터 학습용데이터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제16조②3호 '중소기업등'의 범위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벤처투자법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제18조③ 벤처투자모태조합 활용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금융소비자보호법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제2조4호사목 대출 심사 — 적합성·설명의무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비교(ai-note)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신용정보법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제3조② 설명 원칙 ↔ 제36조의2 자동화평가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비교(ai-note)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산업디지털전환법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제2조3의2호가 AI기본법의 AI 정의를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 비교(역인용)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5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제조물 책임법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제품 사고의 손해배상 근거(인용 없음)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연결설명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1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2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2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2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3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조문 × 관련 법령 매핑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" y="2031797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「」로 인용된 법령 중 AILawMap 수록 법령 — law.go.kr 원문 기준(2026.10)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8/202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298660"/>
              </p:ext>
            </p:extLst>
          </p:nvPr>
        </p:nvGraphicFramePr>
        <p:xfrm>
          <a:off x="685800" y="2606040"/>
          <a:ext cx="16916400" cy="7003845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AI기본법 조문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70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22</a:t>
                      </a:r>
                      <a:r>
                        <a:rPr lang="ko-KR" alt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빌리는 것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제2조4호 가~차목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에너지법·먹는물관리법·보건의료기본법·의료기기법·디지털의료제품법·원자력시설방호법·교통안전법·공공기관운영법·교육기본법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고영향 영역의 개념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제2조5호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데이터산업법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'데이터'의 정의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제6조②③④⑤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공공데이터법, 지능정보화 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학습용데이터, 계획·공공기관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제8조①·제13조②·제21조①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지능정보화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7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기본법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</a:t>
                      </a:r>
                      <a:r>
                        <a:rPr lang="en-US" altLang="ko-KR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데이터센터·안전기술·인력 시책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제9조①·제22조의2⑨·제26조⑦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 범위, 재단·사단법인 준용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제16조②3호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중소기업기본법·벤처기업법·소상공인기본법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대상의 범위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제18조③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벤처투자법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벤처투자모태조합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제19조②③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국가연구개발혁신법, 정보통신융합법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R&amp;D·임시허가·실증특례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제38조①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과학기술기본법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 연계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제40조②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행정조사기본법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절차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2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제41조①②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공무원 의제(벌칙)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1/6 · 인공지능기본법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건전한 발전 + 신뢰 기반 조성(제1조)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기본계획(제6조)·전략위원회(제7조)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학습용데이터·도입·창업·집적단지·데이터센터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윤리원칙(제27조)~영향평가(제35조)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제2조4호 가~카목 11개 영역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생성형·딥페이크 결과물 고지(제31조)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책무: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위험관리·설명·이용자 보호(제34조)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고지 의무 위반 등 3천만원 이하 과태료(제43조)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전 생애주기  ·  주요 주제: 기본원칙, 안전, 투명성, 고영향AI, 산업진흥, 영향평가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108개 법은 모두 이 법의 정의·시책·의무와 '인용' 또는 '주제'로 연결된다 — 지도의 중심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제4조②: 국방·국가안보 목적 전용 AI는 적용 제외, 제5조①: 다른 법의 특별규정 우선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개념은 빌려 쓰고 의무는 새로 만든 기본법 — 집행력은 충분한가?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9/202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10/202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49FAE1F-F475-4146-A50C-9326CA8F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3280"/>
            <a:ext cx="18288000" cy="745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3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과학기술기본법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2/6 · 과학기술기본법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과학기술 혁신·국가경쟁력 강화의 상위 기본법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과학기술기본계획·국가연구개발 중장기 투자전략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국가연구개발사업 추진·조사·분석·평가·예산배분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과학기술통계·지표(제26조의2), 출연연 설립 근거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제38조 통계·지표가 이 체계를 참조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R&amp;D는 국가연구개발사업의 한 갈래로 추진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제30조: 과학기술문화 창달과 창의적 인재 육성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과학기술정보통신부장관과 교육부장관은 과학기술에 대한 국민의 이해와 지식 수준을 높이고 과학기술이 국민생활 및 사회전반에 널리 이용되며 국민이 창의성을 발휘할 수 있도록 과학기술문화를 창달하고 창의적 인재를 육성하기 위한 시책을 세우고 추진하여야 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정책은 과학기술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</a:t>
            </a:r>
            <a:r>
              <a:rPr lang="ko-KR" altLang="en-US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상위 개념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8332" y="80323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기본계획(제6조)과 과학기술기본계획 — 두 계획의 우선순위가 충돌하면?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8332" y="84346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'전략기술'이자 '범용기술' — 과학기술 거버넌스로 다 담을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8332" y="88342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R&amp;D 예산이 과학기술 통계에서 어떻게 분류·집계되는지 추적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과학기술기본법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19FD8A2-B7E1-4985-AE43-C2E06E0E3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6708"/>
            <a:ext cx="18288000" cy="759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6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양자기술산업법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3/6 · 양자과학기술 및 양자산업 육성에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양자과학기술·양자산업의 체계적 육성(제1조)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국무총리 소속 양자전략위원회, 5년 양자종합계획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 특례·상용화·규제개선 신청·양자클러스터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양자보안체계와 기술 유출 방지(제18조의2)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'양자인공지능'을 직접 정의(제2조8호)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종합계획에 양자AI 안전·신뢰성 확보(제5조②9호)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제14조의3: 양자AI 활성화와 윤리 가이드라인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양자인공지능의 활성화와 촉진을 위하여 다음 각 호의 사업을 할 수 있다. 1. 양자과학기술과 인공지능의 융합 관련 개발 추진 2. 양자인공지능 기반의 사업 활성화 추진 3. 양자인공지능의 윤리적인 활용을 위한 가이드라인 수립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제19조 융합·제27조 윤리원칙과 연결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323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AI기본법보다 먼저 '양자인공지능'이라는 하위 개념을 법률 용어로 만든 사례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346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양자컴퓨팅이 현행 암호를 무력화할 때 — AI 시스템 보안 체계는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342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양자AI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윤리 가이드라인과 AI기본법 윤리원칙(제27조)은 따로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13/202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양자기술산업법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14/202</a:t>
            </a:r>
            <a:endParaRPr lang="en-US" sz="12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0BDCD683-5C94-4528-A918-100CAA681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9475"/>
            <a:ext cx="18288000" cy="752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74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국가전략기술육성법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4/6 · 국가전략기술 육성에 관한 특별법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외교·안보·경제에 중요한 전략기술 육성(제1조)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국가과학기술자문회의 심의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국가전략기술 선정·확인(제8·9조), 전략연구사업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 특례·공공구매·특화연구소·인력양성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12대 국가전략기술에 인공지능 포함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선정 ↔ AI기본법 제13조 기술개발 지원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전략연구사업은 국가연구개발혁신법상 특례 적용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4240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제27조: 국가전략기술 보호(정보보호·보안)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국가, 지방자치단체 및 기술육성주체는 국가전략기술에 관하여 보유하고 있는 정보의 유출로 인하여 국가안전보장 및 국민경제에 악영향을 미치지 아니하도록 정보보호에 필요한 인력확보 및 설비구축, 정보의 유출 예방 등에 필요한 조치를 하여야 한다.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9946" y="802568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'전략기술'로 지정되면 연구개발 절차·보호 수준이 일반 R&amp;D와 달라진다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9946" y="842802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보호(유출 방지)와 개방형 AI 생태계(오픈소스)는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양립하나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9946" y="882761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국가전략기술 지정이 AI 분야 예산·인력에 준 효과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15/202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국가전략기술육성법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67E804D-B3F5-459A-AF61-6A8EAF6F1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1214"/>
            <a:ext cx="18288000" cy="721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02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(1-5) 국가연구개발혁신법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5/6 · 국가연구개발혁신법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국가R&amp;D 공통 기준·절차로 자율성·책임성 확보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예고·공모, 과제·수행기관 선정(제9·10조)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연구개발성과 소유·관리·활용(제16·17조)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연구윤리·부정행위 제재, R&amp;D 보안(제21조)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제19조 융합 R&amp;D가 이 체계를 참조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연구과제도 같은 공모·평가·정산 절차를 따름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연구성과(모델·데이터)의 귀속과 기술이전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4240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제4조: 국가R&amp;D에 관해 다른 법률보다 우선 적용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법은 국가연구개발사업의 추진에 관하여 다른 법률에 우선하여 적용한다. 다만, 다른 법률에 따라 직접 설립된 기관의 기본사업(정부가 직접 출연한 예산으로 수행하는 연구개발사업)에는 제9조~제12조, 제14조·제15조의 적용에 예외를 둔다.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1104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모델·학습데이터는 '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연구개발성과’인가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— 소유와 공개의 기준이 필요하다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5127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AI 기술 변화와 1년 단위 과제 평가 체계의 시차 문제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9123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AI로 작성한 연구보고서 — 연구윤리 규정은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17/202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(1-5) 국가연구개발혁신법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10AB665-ED20-4191-9692-F424AB426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2362"/>
            <a:ext cx="18288000" cy="698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6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지능정보화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거버넌스·정책 6/6 · 지능정보화 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지능정보사회 실현의 종합계획·추진체계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전부개정(국가정보화기본법 → 지능정보화)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지능정보기술·초연결지능정보통신망 정의(제2조)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데이터·표준화·정보보호·디지털포용 기반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제6·8·13·21조가 직접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종합계획·공공기관·데이터센터·인력양성 조항 연결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제56조: 지능정보서비스의 사회적 영향평가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및 지방자치단체는 국민 생활에 파급력이 큰 지능정보서비스 등의 활용·확산이 사회·경제·문화 및 국민의 일상생활 등에 미치는 영향을 조사·평가(사회적 영향평가)할 수 있다. 다만, 지능정보기술은 「과학기술기본법」 제14조제1항의 기술영향평가로 대체할 수 있다.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'지능정보기술'은 여러 개별법이 빌려 쓰는 개념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9946" y="81104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이전의 AI 근거법 — 지금은 '정보화 기반법'으로 역할이 나뉘었다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9946" y="85127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제56조 사회적 영향평가와 AI기본법 제35조 영향평가 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9946" y="89123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개별법에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남은 '지능정보기술' 용어를 'AI'로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19/202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지능정보화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AI기본법이 가장 여러 조문에서 인용하는 정보화 기본법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지점(원문 확인)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394097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제6조③④⑤: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종합계획 고려, 공공기관 정의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기본계획은 「지능정보화 기본법」 종합계획을 고려해 수립한다.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124771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제8조①6호: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데이터센터 정의(제40조①)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데이터센터는 「지능정보화 기본법」 제40조①을 따른다.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85544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비상정지·사생활보호·영향평가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비상정지·사생활 보호·영향평가 등 안전 이용 사업을 추진한다.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58612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전문인력 양성 시책(제23조①)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과기정통부장관은 AI 발전을 위한 전문인력 양성 시책을 추진한다.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기본법의 관계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전부개정(국가정보화기본법 →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제6조⑤: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기본계획 = 부문별 추진계획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기본계획은 「지능정보화 기본법」 제13조제1항에 따른 인공지능 및 인공지능산업 분야의 부문별 추진계획으로 본다.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지능정보기술·지능형 로봇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정의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비상정지(제60조)·사회적 영향평가(제56조)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제정 후에도 지능정보화 기본법의 '지능정보기술' 정의는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두 정의의 관계는?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비상정지(제60조③)·사회적 영향평가(제56조)가 이미 있었는데 AI기본법 의무와 무엇이 다른가?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제13조②는 지능정보화 기본법의 안전 조항을 'AI 기술로 구현'하는 사업으로 연결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지능정보화 기본법의 AI 관련 조항이 AI기본법으로 옮겨지거나 겹친 현황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20/202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(1-6)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지능정보화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0AE514B-1806-418A-A911-613710CA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65465"/>
            <a:ext cx="18288000" cy="750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99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정보보호산업법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1/12 · 정보보호산업의 진흥에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정보보호산업 기반 조성·경쟁력 강화(제1조)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정보보호 구매수요·계약·적정대가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기술개발·표준화·인력양성(제11~15조)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성능평가(제17조)·우수기술 지정·정보보호 공시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제11조 융합형 정보보호기술 ↔ AI기본법 제19조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 성능평가 ↔ 제30조 검·인증등 지원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보안 제품·서비스 시장의 기반법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9701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시스템을 공격·방어하는 보안 기술 — AI 보안과 보안을 위한 AI 두 방향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9934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제품의 '보안 성능평가' 기준은 누가 정하나 — 과기정통부 고시와 국제표준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9894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정보보호 공시 항목에 AI 보안 위험을 넣는 방안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22/202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정보보호산업법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96D517-33B3-4A68-8CA5-BD6484A8A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4559"/>
            <a:ext cx="18288000" cy="76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5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정보통신공사업법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2/12 · 정보통신공사업법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정보통신공사의 적정 시공과 공사업 발전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설계·감리 발주, 공사업 등록, 분리·하도급 제한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정보통신기술자 배치, 착공 전 확인·사용전검사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하자담보, 정보통신설비 유지보수·관리기준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데이터센터·지능형 건축물의 통신설비 시공 근거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제37조의2 관리기준 ↔ AI기본법 제25조 데이터센터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인프라 품질이 AI 서비스 가용성을 좌우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3483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소프트웨어지만 GPU·네트워크·전력 설비 위에서만 동작한다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3716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데이터센터 급증 — 설계·감리 기준이 고밀도 설비를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따라가고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3676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법을 'AI 안전' 분류에 넣는 이유 — 가용성도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24/202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정보통신공사업법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19474D-AE22-44BB-9F0D-61E5EEA47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3458"/>
            <a:ext cx="18288000" cy="78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70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정보통신망법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3/12 · 정보통신망 이용촉진 및 정보보호 등에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망 이용 촉진·이용자 보호·안전한 환경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본인확인·연계정보, 청소년 보호, 불법정보 대응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ISMS 인증, 침해사고 대응, 광고성 정보 규제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권리침해 정보 삭제·임시조치(제44조의2)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거짓 음향·영상 식별기술(제4조②)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1496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제4조의2: AI 합성영상등 피해 예방 시책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과기정통부장관과 방송미디어통신위원회는 AI로 사람의 얼굴·신체·음성을 합성한 촬영물·영상물·음성물로 인한 피해를 예방하는 시책을 마련한다.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89354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제44조의8: 대화형서비스의 14세 미만 아동 보호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정보통신서비스 제공자는 만 14세 미만 아동에게 사람과 대화하는 방식의 AI 서비스를 제공할 때 아동 보호 조치를 하여야 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 딥페이크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323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AI기본법은 '사업자 고지 의무', 이 법은 '유통 단계 피해 대응' — 역할 분담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346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챗봇(대화형정보통신서비스)에 아동 보호 의무 — 연령 확인은 어떻게?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342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합성영상 피해 예방 시책의 실효성 — 삭제 요청 처리 데이터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26/202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정보통신망법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127270-C1FC-45E4-B44A-9238151C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0544"/>
            <a:ext cx="18288000" cy="76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90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클라우드컴퓨팅법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4/12 · 클라우드컴퓨팅 발전 및 이용자 보호에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클라우드 발전·이용 촉진과 안전한 이용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기본계획·실태조사·연구개발 등 발전 기반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국가기관등의 클라우드 도입·이용 촉진(제12조)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보안인증, 침해사고 통지, 이용자 정보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학습·추론의 연산 인프라와 직결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 집적정보통신시설 ↔ AI기본법 제25조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AI 서비스 = 대부분 클라우드 위에서 제공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15964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클라우드 보안인증(CSAP)이 공공부문 AI 도입 속도를 좌우한다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56198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 대형 클라우드 의존과 'AI 주권' — 데이터센터 입지 정책의 쟁점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96157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사업자는 AI기본법상 '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인공지능사업자’인가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28/202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클라우드컴퓨팅법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29/202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EEE012-1EF7-464D-9C98-8BBAC00C5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2728"/>
            <a:ext cx="18288000" cy="78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81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(2-5) 재난안전산업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5/12 · 재난안전산업 진흥법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재난안전산업 기반 조성·경쟁력 강화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분류체계·실태조사·종합정보시스템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기술개발 사업(제11조)·전문인력 양성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재난안전신기술 지정·제품 인증·우선활용 권고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재난 예측·감지 기술이 신기술 지정 주요 대상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제11조 ↔ AI기본법 제13조 기술개발·안전 지원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재난관리책임기관의 인증제품 우선 구매(제19조)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11045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재난안전법(대응)과 짝을 이루는 '산업' 법 — AI 안전기술의 시장을 만든다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51279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인증받은 AI 감지 제품이 오작동하면 — 우선활용 권고와 책임의 문제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91238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재난안전신기술 지정 목록에서 AI 기술 비중 변화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30/202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(2-5) 재난안전산업 진흥법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7BF4946-49A4-4E9D-B459-EDBC5A57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6787"/>
            <a:ext cx="18288000" cy="755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6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초고성능컴퓨터법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6/12 · 국가초고성능컴퓨터 활용 및 육성에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국가초고성능컴퓨터 구축·관리·육성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기본계획·시행계획, 국가초고성능컴퓨팅위원회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국가센터·분야별 전문센터, 첨단연구망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수준 자원 확보(제11조)·공동활용(제17조)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AI 학습에 필요한 연산자원 정책의 근거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제11조·제17조 ↔ AI기본법 제24·25조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'대용량 데이터를 초고속 처리'(제2조) 정의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12764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시대의 국가 연산자원 — 슈퍼컴퓨터와 AI 데이터센터는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5299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공동활용 체계로 대학·스타트업의 GPU 접근성을 높일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92957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연산자원 배분 기준(연구 vs 산업)을 법에서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32/202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(2-6) 초고성능컴퓨터법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73B641E-DA4C-4F77-B675-A25D796BB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8631"/>
            <a:ext cx="18288000" cy="769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30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(2-7) 전기통신기본법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7/12 · 전기통신기본법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전기통신의 효율적 관리와 발전 촉진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전기통신·설비·역무 등 기본 개념 정의(제2조)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전자정부법 등 여러 법이 이 정의를 인용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71개 조 중 8개 조만 현행 — 대부분 삭제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제47조②: 공연히 허위의 통신을 한 자 처벌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또는 타인에게 이익을 주거나 타인에게 손해를 가할 목적으로 전기통신설비에 의하여 공연히 허위의 통신을 한 자는 3년이하의 징역 또는 3천만원이하의 벌금에 처한다.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75184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허위정보 유포와 '허위통신'의 관계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제31조(결과물 표시)와 주제 연결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작동시키는 기본적인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통신망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2111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허위통신죄는 2010 헌재 결정 이후 범위가 좁혀졌다 — AI 딥페이크에 쓸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추상적인 구성요건에서 특정한 대상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특정한 행위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특정한 법익침해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구성요건으로 변화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개념만 남은 '빈 껍데기' 기본법 — 정의 조항의 역할은 여전히 크다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간 통신도 '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전기통신’인가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34/202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(2-7) 전기통신기본법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9FE31B-8D86-4CBB-A825-11E3829AB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6319"/>
            <a:ext cx="18288000" cy="750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32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(2-8) 전자서명법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8/12 · 전자서명법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전자문서 안전성·신뢰성 확보(제1조)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전부개정 — 공인인증서 제도 폐지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전자서명 효력을 수단과 관계없이 인정(제3조)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운영기준 고시, 평가기관 평가·인정기관 인정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 위조·변조 방지대책 ↔ AI기본법 제31조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AI로 위조가 쉬워질수록 '진위 증명'이 중요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에이전트의 서명·계약 — 서명자 확인 문제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9701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출처증명(C2PA)·워터마크와 전자서명 — 'AI 생성물 표시'의 기술적 기반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9934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사람 대신 전자서명하면 효력은? 대리·위임 법리의 확장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9894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전자서명 기반 AI 생성물 진위 확인 체계 설계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36/202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(2-8) 전자서명법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286AFB-7E63-4B10-BA60-6B41CFB19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5677"/>
            <a:ext cx="18288000" cy="772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94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(2-9) 인터넷주소법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9/12 · 인터넷주소자원에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인터넷주소자원의 합리적 개발·이용(제1조)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인터넷주소 기본계획, 주소정책위원회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주소 할당·도메인이름 등록·관리준칙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인터넷주소분쟁조정위원회(제16조 이하)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제12조: 부정한 목적의 도메인 등록·사용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누구든지 정당한 권원이 있는 자의 도메인이름등의 등록을 방해하거나 정당한 권원이 있는 자로부터 부당한 이득을 얻는 등 부정한 목적으로 도메인이름등을 등록ㆍ보유 또는 사용하여서는 아니 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75184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사칭·혼동 방지 ↔ AI기본법 제31조③(약한 연결)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서비스·에이전트가 접속하는 주소 체계의 기반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피싱 사이트 대응과도 관련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4123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대량 생성한 유사 도메인·피싱 사이트 — 도메인 분쟁조정으로 충분한가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4357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에이전트의 식별자(주소·인증) 체계가 새로 필요할 수 있다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431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강도가 약한 법을 지도에 넣는 기준은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38/202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(2-9) 인터넷주소법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870F1C8-4945-41FA-A4FF-67C8D80B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6925"/>
            <a:ext cx="18288000" cy="746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40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(2-10) 전파법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10/12 · 전파법 · 소관 과기정통부, 방통위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전파의 효율적·안전한 이용과 진흥(제1조)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분배·할당(가격경쟁·심사), 회수·재배치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무선국 개설허가·검사, 기술기준·전자파 인체보호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방송통신기자재 적합성평가(제58조의2)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 AI 기기·자율주행·드론·IoT는 적합성평가 필수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제58조의2 ↔ AI기본법 제30조 검·인증등 지원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제29조③: 공공안전 위한 드론 전파차단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제1항 및 제2항에도 불구하고 공공안전을 위하여 불가피한 경우로서 각 호의 어느 하나에 해당하면, 그 범위에서 드론 및 폭발물 등 공공안전 위협 수단을 대상으로 전파이용을 방해 또는 차단하는 장치를 운용할 수 있다.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11419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로봇·드론의 '전파 적합성'과 'AI 안전성'은 서로 다른 인증 — 이중 부담?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51653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131개 조의 거대 법 — AI 관련은 기자재 인증과 주파수 공급에 집중된다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91612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기기 인증을 하나의 창구로 묶는 원스톱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40/202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(2-10) 전파법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E6B30F-E6B2-4BD3-94EE-A2E71EA8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5098"/>
            <a:ext cx="18288000" cy="765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396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(2-11) 정보통신기반 보호법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11/12 · 정보통신기반 보호법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전자적 침해행위로부터 기반시설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국무총리 소속 정보통신기반보호위원회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주요정보통신기반시설 지정, 보호대책·보호계획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침해사고 통지·복구, 대책본부 구성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 취약점 분석·평가 ↔ AI기본법 제32조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에너지·교통·금융 제어시스템의 AI 도입과 직결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기반시설형(가·나·마목)과 맞닿음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14730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기반시설에 AI를 넣으면 '새로운 공격 표면'이 생긴다 — 적대적 공격·데이터 오염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54964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안전성 의무(제32조)와 기반시설 보호대책 — 감독기관이 다르다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94923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취약점 분석·평가 항목에 AI 모델 위험을 추가하는 방안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42/202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(2-11) 정보통신기반 보호법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01A4AC-2D56-4723-B233-AD72C42E6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7619"/>
            <a:ext cx="18288000" cy="794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85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(2-12) 재난안전법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안전·보안·신뢰 12/12 · 재난 및 안전관리 기본법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재난으로부터 국민의 생명·재산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중앙안전관리위원회·중앙재난안전대책본부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예방·대비·대응·복구 단계별 체계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재난안전데이터 수집·통합관리(제74조의4)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통합관제센터 AI 영상분석(제74조의5②)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제83조의6②: AI 활용 시 보안성 검증·인증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지방자치단체의 장은 법 제74조의5제2항에 따라 인공지능 기술 등을 활용하는 경우에는 시스템 보안성 등에 대한 검증ㆍ인증 체계를 구축하고 개인정보 오남용 방지 대책을 수립하는 등 인공지능 기술 등을 안전하고 신뢰성 있게 활용하기 위하여 노력해야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오남용 방지 대책 수립 요구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제32조 안전성 확보와 연결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7011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영상을 AI로 분석하는 근거 조문 — 공공 감시와 사생활의 긴장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7245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시행령이 먼저 '검증·인증 체계'를 요구 — AI기본법 제30조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안전성ㆍ신뢰성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검ㆍ인증등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지원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어떻게 맞출까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7204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대응 AI의 오탐(誤探)으로 생긴 피해는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책임지나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44/202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(2-12) 재난안전법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8D8B2D-76FB-4CEE-A7F8-7BC3B6CD2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8363"/>
            <a:ext cx="18288000" cy="763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48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교육기본법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1/8 · 교육기본법 · 소관 교육부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학습권·교육받을 권리 보장, 교육제도 기본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국가·지자체의 교육 책임, 교육의 중립성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유아·초중등·고등·평생·특수교육의 기본 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교육의 정보화(제23조), 학생정보 보호원칙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제2조4호차목이 제9조①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평가 = 고영향 AI 영역(차목)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제22조의6: 인공지능교육 시책 수립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국가와 지방자치단체는 모든 국민이 인공지능기술 활용 능력을 증진하고 건전한 인공지능 윤리를 확립할 수 있도록 필요한 시책을 수립ㆍ실시하여야 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교육(가르치기)과 AI 활용(평가) 두 측면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15453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디지털교과서·학습분석 — 학생 평가에 쓰이면 고영향 AI 의무가 걸린다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55687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학생정보 보호원칙(제23조의3)과 에듀테크 데이터 활용의 균형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95646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'평가'의 범위 — 맞춤 문제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46/202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교육기본법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FFF3232-AE5D-4FE0-B820-800A8A2A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4006"/>
            <a:ext cx="18288000" cy="746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37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전자정부법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2/8 · 전자정부법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행정의 전자적 처리 원칙·절차(제1조)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전자정부서비스, 전자문서·행정전자서명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행정정보 공동이용, 정보기술아키텍처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장애관리·감리, 보안대책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제18조의2 AI 활용 전자정부서비스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제15조의2: 지능형 전자정부서비스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제18조의2제1항에 따라 전자정부서비스 제공에 활용할 수 있는 인공지능 등의 기술은 1. 자연어 처리 2. 음성인식 3. 영상인식 4. 그 밖에 학습·추론·판단 등을 구현하는 기술로서 지능형 전자정부서비스에 필요한 기술이다.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시행령 제2조2호아목이 제56조③ 인용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국정원 보안조치만 하는 AI는 AI기본법 적용 제외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9946" y="804123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시행령이 '거꾸로' 이 법을 인용하는 몇 안 되는 사례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9946" y="844357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민원상담·자동 안내 — 공공서비스 품질과 책임 소재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9946" y="88431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전자정부서비스의 오류 — 행정소송으로 다툴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48/202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전자정부법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4F7FE8A-1D5C-4B9B-86A8-345E54432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5014"/>
            <a:ext cx="18288000" cy="793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48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AI데이터행정법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3/8 · 인공지능 및 데이터 기반 행정 활성화에 관한 법률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AI·데이터 기반 행정 활성화와 신뢰 기반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2026.2.27 제명 변경(구 데이터기반행정법)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제5장 신설: AI 활용 촉진 및 신뢰 기반 확보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공공데이터전략위원회, 데이터 공동활용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321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제2조1·6호가 AI기본법 정의를 직접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87686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제31조: 공공 AI 윤리기준(AI기본법 제27조 반영)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행정안전부장관은 공공기관의 안전하고 효율적인 AI 도입·활용을 위해 공정성·투명성·책임성·안전성 등 신뢰 기반 조성에 필요한 기준을 마련한다.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85544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제32조: 공공분야 AI 영향평가·위험관리방안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공공기관은 AI 도입 전 국민 영향을 평가하고 위험관리방안을 마련한다.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58612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제30조: AI 활용 서비스 목록 매년 공표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공공기관은 AI 활용 서비스 목록을 매년 공표하여야 한다.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590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공공부문 AI의 '실행법' — AI기본법이 노력의무로 둔 영향평가를 공공에는 의무화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6139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 목록 공표는 국민의 '알 권리'와 설명 요구의 출발점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6099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공공분야 AI 영향평가 결과 공표 사례 분석(시행 초기)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50/202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AI데이터행정법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3552032-0699-40F6-849E-8511A3058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2822"/>
            <a:ext cx="18288000" cy="78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10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공공기관운영법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4/8 · 공공기관의 운영에 관한 법률 · 소관 기획재정부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공공기관 지정·운영의 기본사항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공기업·준정부기관·기타공공기관 지정(제4조)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이사회·임원 임명, 경영실적 보고·평가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예산·회계 원칙, 감사원 감사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제2조4호자목이 공공기관 범위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국가기관등의 결정 = 고영향 AI 영역(자목)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공공기관의 AI 채용·심사도 고영향 판단 대상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경영평가에 AI 활용 실적이 반영되는 흐름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2568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지정이 바뀌면 고영향 AI 적용 범위도 함께 바뀐다(개념 차용의 효과)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2802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AI 면접 — 공정채용 원칙과 고영향 의무의 이중 적용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2761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기타공공기관까지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범위에 넣는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52/202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공공기관운영법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2B16A54-3087-4052-B08C-CEAFD65C0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5585"/>
            <a:ext cx="18288000" cy="793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359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정보공개법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5/8 · 공공기관의 정보공개에 관한 법률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국민의 알권리 보장과 국정 투명성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사전적 공개·원문공개, 10일 내 공개 여부 결정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대상 정보(제9조), 정보공개심의회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이의신청·행정심판·행정소송, 정보공개위원회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 비공개 사유 ↔ AI기본법 제34조①2호 설명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AI의 판단 근거·학습데이터 청구 가능성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영업비밀·개인정보 비공개와 알고리즘 공개 충돌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590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공공기관이 쓴 AI 모델의 소스·가중치·학습데이터는 '정보'로 공개 청구 대상인가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6139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위탁 AI는 업체 영업비밀(제9조①7호)로 비공개될 가능성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6099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해외 알고리즘 공개 청구 판례와 국내 정보공개 결정 비교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54/202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정보공개법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1731F3-C0C6-4E30-BF85-1C0ABA47A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8000"/>
            <a:ext cx="18288000" cy="755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369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(3-6) 행정기본법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6/8 · 행정기본법 · 소관 법제처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행정의 원칙과 기본사항(2021 제정)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법치행정·평등·비례·신뢰보호 등 행정법 원칙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처분·인허가의제·공법상 계약·과징금 통칙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이의신청(제36조)·재심사(제37조)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제20조 자동적 처분 — AI 포함 시스템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근거 필요, 재량이 있는 처분은 자동화 불가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제37조의2(자동화 결정)에서 제외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행정의 일반법적 근거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590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'재량 없는 처분만 자동화' — 생성형 AI의 판단 보조는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6139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자동적 처분에 대한 설명 요구권이 없다 — 개인정보보호법과의 공백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6099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초안을 쓰고 공무원이 결재하면 '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자동적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처분’인가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56/202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(3-6) 행정기본법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24A4A64-F095-4865-B337-5858244BA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9822"/>
            <a:ext cx="18288000" cy="76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60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(3-7) 행정조사기본법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7/8 · 행정조사기본법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행정조사의 원칙·절차·방법(제1조)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조사의 근거·최소화·중복 금지 원칙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출석·보고·자료제출 요구, 현장조사 절차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결과 통지, 행정조사의 점검·평가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제40조 사실조사 등의 절차 기준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제38조 실태조사도 이 법의 원칙 위에서 진행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사업자 조사 시 자료제출 범위의 기준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5937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제3조: 다른 법률에 특별규정이 없으면 이 법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행정조사에 관하여 다른 법률에 특별한 규정이 있는 경우를 제외하고는 이 법으로 정하는 바에 따른다.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9946" y="808614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사업자에게 모델·학습데이터 자료를 요구할 때 — 영업비밀 보호와 조사 권한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9946" y="848848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사실조사는 이 법의 '조사 최소화 원칙'과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9946" y="888807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사업자(국내대리인, 제36조)에 대한 조사는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실효성이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58/202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(3-7) 행정조사기본법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C32CD9E-FABE-405E-948A-CB9CBD9B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6453"/>
            <a:ext cx="18288000" cy="73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835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(3-8) 행정절차법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공공·행정 8/8 · 행정절차법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행정의 공정성·투명성·신뢰성 확보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처분의 사전통지(제21조)·의견청취·이유제시(제23조)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처분기준 공표, 행정예고·입법예고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확약·행정계획·행정지도 절차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처분에도 사전통지·이유제시가 적용된다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'이유제시' = AI 판단의 설명 가능성 문제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행정처분 이의신청 절차 정비 논의의 기준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4240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제3조②: 행정조사는 행정조사기본법 우선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법은 국회·지방의회의 의결·동의·승인 사항, 법원·군사법원의 재판 및 그 집행, 헌법재판소의 심판, 각급 선거관리위원회의 의결 사항 등 각 호의 사항에는 적용하지 아니한다.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05465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내린 처분의 '이유'를 사람이 이해할 수 있게 쓸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0780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의견청취 단계에서 AI 판단 근거를 다툴 수 있어야 실질적 절차권이 된다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0739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처분기준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공표(제20조)에 AI 판단 기준도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60/202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(3-8) 행정절차법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5574BB-E541-4C56-97FD-5677E10C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9548"/>
            <a:ext cx="18288000" cy="792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948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자동적 처분과 조사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행정기본법 · 행정절차법 · 행정조사기본법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행정기본법 제20조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자동화된 시스템(AI 포함)으로 처분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근거 필요 · 재량이 있는 처분은 불가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제37조의2 적용에서 제외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행정의 일반법적 근거(2021 제정)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절차와 조사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행정절차법: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처분 이의신청·구제 정비 논의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행정조사기본법: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제40조② 사실조사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내용·방법·절차는 행정조사기본법에 따름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59377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제40조③: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위반 시 중지·시정명령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과학기술정보통신부장관은 제1항 및 제2항에 따른 조사 결과 인공지능사업자가 이 법을 위반한 사실이 있다고 인정되면 인공지능사업자에게 해당 위반행위의 중지나 시정을 위하여 필요한 조치를 명할 수 있다.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재량 처분은 자동화할 수 없다 — AI가 재량 판단을 '보조'만 하는 경우는 어떻게 볼 것인가?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자동적 처분은 개인정보보호법 설명 요구권에서 빠졌다 — 행정법에서 따로 보장되는가?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사실조사(제40조)는 AI 사업자의 영업비밀과 어떻게 조화되는가?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국내 행정 분야 자동적 처분 운영 사례와 이의신청·소송 현황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62/202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데이터산업법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1/7 · 데이터 산업진흥 및 이용촉진에 관한 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생산·거래·활용 촉진, 산업 기반 조성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2021.10 제정·2022.4 시행 — 민간 데이터 기본법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데이터자산 보호(제12조)·가치평가·거래사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분쟁조정위원회, 공공·민간 데이터 결합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제2조5호가 '데이터' 정의를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= 이 법의 데이터를 학습해 결과물 생성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 시책(AI기본법 제15조)의 기반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저작물 이용은 저작권법, 개인정보는 개인정보보호법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99946" y="803483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'데이터' 정의가 바뀌면 '생성형 AI'의 범위도 바뀐다 — 개념 차용의 연쇄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99946" y="843716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데이터자산 부정사용 금지(제12조) — 웹 크롤링 학습과의 경계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99946" y="883676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데이터 거래 시장이 AI 학습데이터 확보의 정답인가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63/202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데이터산업법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2D8845A-B476-4CF5-BD07-F8361772D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6131"/>
            <a:ext cx="18288000" cy="75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199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공공데이터법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2/7 · 공공데이터의 제공 및 이용 활성화에 관한 법률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공공기관 보유 데이터의 개방·이용 활성화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제공 원칙, 이용 제한 금지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공공데이터포털, 제공 신청·분쟁조정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공공데이터전략위원회(AI데이터행정법과 연계)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학습용데이터의 대표 공급원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제15조 학습용데이터 시책과 직결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포함 데이터는 개인정보보호법 우선(제4조)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AI허브 등 공공 학습데이터 구축 사업의 근거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9701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개방된 공공데이터를 상업 AI가 학습하면 — 공익과 이익의 배분 문제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9934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품질(오류·편향)이 그대로 AI로 전이된다 — 제공자의 책임은?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9894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공공데이터 개방 목록 중 AI 학습 활용도가 높은 분야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65/202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공공데이터법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E5B186C-F936-4E4B-9A5B-1D7483CEF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039"/>
            <a:ext cx="18288000" cy="763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807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데이터산업법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공공데이터법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AI의 '데이터' 정의와 학습용데이터의 공급원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데이터산업법 — 정의 차용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0839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제2조5호: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생성형 인공지능의 정의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"생성형 인공지능"이란 입력한 데이터(「데이터 산업진흥 및 이용촉진에 관한 기본법」 제2조제1호에 따른 데이터를 말한다. 이하 같다)의 구조와 특성을 모방하여 글, 소리, 그림, 영상, 그 밖의 다양한 결과물을 생성하는 인공지능시스템을 말한다.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982783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'데이터'는 데이터산업법 제2조1호를 그대로 인용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2021.10 제정 · 2022.4 시행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거래·가치평가·분쟁조정의 기본법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공공데이터법 — 학습용데이터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제6조②4의2호: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기본계획 포함 사항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「공공데이터의 제공 및 이용 활성화에 관한 법률」에 따른 공공데이터를 이용한 학습용데이터 생성, 공공데이터 제공 등의 범위와 기준 및 그 활성화에 관한 사항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공공데이터로 학습용데이터 생성·제공 기준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89354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부분은 행정안전부장관과 협의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과기정통부장관은 기본계획 수립 시 「지능정보화 기본법」의 종합계획·실행계획을 고려하고, 공공 부문 사항은 행정안전부장관과 협의한다.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제6조는 2026.1.20 개정 조항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데이터산업법의 '데이터' 정의가 바뀌면 생성형 AI의 범위도 바뀐다 — 개념 차용의 연쇄효과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공공데이터를 AI 학습용으로 제공할 때 개인정보·저작권이 담긴 데이터는 어떻게 걸러내는가?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3법 개정(2020) 이후 가명정보 결합·활용은 AI 학습에 얼마나 쓰였는가?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공공 학습용데이터 개방 정책(제6조②4의2)의 이행 실태와 품질 기준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67/202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국가지식정보법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3/7 · 국가지식정보 연계 및 활용 촉진에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국가지식정보의 연계·활용 촉진(제1조)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과학기술·교육·문화 지식정보의 디지털화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통합플랫폼(제14조)·지식정보센터 지정(제12조)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국가지식정보위원회, 전담기관 NIA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지식정보 개방 = AI 학습용데이터 확충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제13·14조 ↔ AI기본법 제15조 학습용데이터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저작권·개인정보 특별규정이 있으면 조정 제외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28623" y="801380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논문·문화유산 디지털 자료는 한국어 AI 모델의 핵심 학습원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28623" y="841613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지식정보의 저작권 처리 — 개방과 권리 보호의 접점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28623" y="881573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국가가 '한국어 학습 말뭉치'를 직접 구축·배포해야 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68/202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국가지식정보법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CC9B608-6A19-427E-BEEB-208E6C1B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4631"/>
            <a:ext cx="18288000" cy="740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182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국가공간정보 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4/7 · 국가공간정보 기본법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국가공간정보체계 구축·활용·관리(제1조)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국가공간정보위원회, 5년 정책 기본계획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기본공간정보·표준화, 국가공간정보센터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공간정보 공개·복제·판매(제33·34조), 보안심사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자율주행·디지털트윈 AI의 핵심 데이터원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제33·34조 ↔ AI기본법 제15조 학습용데이터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보안관리: 국가안보와 공간정보 개방의 균형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59063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정밀지도 국외 반출 논쟁 — 공간정보 보안과 글로벌 AI 서비스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6139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디지털트윈 국토 — 공간정보 품질이 AI 시뮬레이션의 신뢰도를 정한다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6099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공간정보 '보안심사'와 AI 학습데이터 개방은 어떻게 조정되나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70/202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국가공간정보 기본법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71/202</a:t>
            </a:r>
            <a:endParaRPr lang="en-US" sz="12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864A0CD-6840-4A10-9804-E82FAD341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2166"/>
            <a:ext cx="18288000" cy="75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51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위치정보법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5/7 · 위치정보의 보호 및 이용 등에 관한 법률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위치정보 오남용 방지와 안전한 이용환경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개인위치정보사업 등록·위치기반서비스 신고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수집·이용·제공, 보호조치·파기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긴급구조를 위한 위치정보 이용(제29조)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위치정보 = 자율주행·추천·돌봄 AI의 핵심 입력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제21조2호: 비식별 가공 시 통계·연구 제공 허용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통계작성, 학술연구 또는 시장조사를 위하여 특정 개인을 알아볼 수 없는 형태로 가공하여 제공하는 경우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 ↔ AI기본법 제15조 학습용데이터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257300" y="801380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경로 데이터는 비식별 처리해도 재식별 위험이 높다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257300" y="841613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개인정보보호법과 위치정보법의 이중 규율 — AI 서비스 사업자의 부담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257300" y="881573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AI가 '추론한' 위치(예측 동선)도 위치정보인가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72/202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위치정보법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73/202</a:t>
            </a:r>
            <a:endParaRPr lang="en-US" sz="12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D126B288-A285-4205-9A46-C3A11804E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031" y="2084245"/>
            <a:ext cx="18288000" cy="750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213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(4-6) 통신비밀보호법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6/7 · 통신비밀보호법 · 소관 법무부,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통신·대화 비밀 제한의 엄격한 절차(제1조)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감청(통신제한조치) — 법원 허가·대통령 승인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41470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통신사실확인자료 제공, 사후 통지·국회 통제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585937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제14조: 타인 간 대화 녹음·전자장치 청취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누구든지 공개되지 아니한 타인간의 대화를 녹음하거나 전자장치 또는 기계적 수단을 이용하여 청취할 수 없다.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회의록·통화 요약 서비스가 지켜야 할 경계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제14조 ↔ AI기본법 제31조①(AI 운용 사전 고지)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당사자 녹음은 허용, 제3자 청취는 금지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9701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비서가 회의에 '참석'해 녹음·요약하면 — 대화 당사자인가 제3자인가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99348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 학습을 위한 통화 녹음 데이터 수집의 적법성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98941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회의 서비스의 통신비밀보호법 적용 판단 기준 정리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74/202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(4-6) 통신비밀보호법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75/202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86FF5F6-C201-432B-9347-D596DEB64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1651"/>
            <a:ext cx="18288000" cy="755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980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41832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(1/6)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데이터·개인정보 7/7 · 개인정보보호법 · 소관 개인정보위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 처리·보호로 개인의 자유·권리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원칙, 수집·이용·제공(제15·17조), 가명정보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민감·고유식별정보 처리 제한(제23·24조)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개인정보보호위원회, 분쟁조정·단체소송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제37조의2: 자동화된 결정 거부·설명 요구권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정보주체는 완전히 자동화된 시스템(인공지능 기술을 적용한 시스템 포함)으로 개인정보를 처리하여 이루어지는 결정(행정청의 자동적 처분 제외)이 자신의 권리 또는 의무에 중대한 영향을 미치는 경우 그 결정을 거부하거나 설명 등을 요구할 수 있다.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982783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정보 학습 — 정당한 이익(제15조①6호)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생체인식정보 ↔ AI기본법 고영향 바목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영향평가(제33조) ↔ AI기본법 영향평가(제35조)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07270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규율의 실질적 '선발대' — AI기본법보다 먼저 AI에 구체적 의무를 부과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47503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자동화된 결정 대응권 — 행정청의 자동적 처분(행정기본법 제20조)은 제외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887462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개인정보위와 과기정통부, AI 감독 권한은 어떻게 나뉘어야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76/202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41832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(1/6)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D0633DC-01A7-4BAA-AE28-75CCA4302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9384"/>
            <a:ext cx="18288000" cy="77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78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개인정보의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r>
              <a:rPr lang="en-US" altLang="ko-KR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류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(2/6) 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학습데이터의 상당 부분은 '살아 있는 개인에 관한 정보'에서 출발한다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개인정보(제2조1호)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성명·주민번호·영상 등으로 알아볼 수 있음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정보와 쉽게 결합해 알아볼 수 있음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가명정보 — 추가 정보 없이 식별 불가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정보주체는 자연인 — 법인·단체 정보는 제외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맞닿는 정보 유형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민감정보(제23조):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건강·사상 등, 별도 동의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고유식별정보(제24조):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법령상 식별번호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생체인식정보: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 식별 목적이면 민감정보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가명정보(제28조의2):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등 동의 없이 처리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학습데이터에서 '쉽게 결합하여 알아볼 수 있는가'(나목)의 판단은 모델이 강해질수록 넓어지는가?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가명정보로 학습한 모델이 원 데이터를 그대로 재현(암기)한다면 가명처리의 전제가 유지되는가?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생체인식정보는 개인정보보호법의 민감정보이자 AI기본법 고영향 영역(바목)의 대상 — 이중 규율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모델 역추출·멤버십 추론 공격과 '식별가능성' 법리의 정합성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78/202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보호위원</a:t>
            </a:r>
            <a:r>
              <a:rPr lang="en-US" altLang="ko-KR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(3/6) 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장 76조(제6장 삭제) — 처리 원칙부터 분쟁조정·단체소송까지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장별 골격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제1·2장: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총칙, 보호위원회·기본계획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제3·4장: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처리(수집·제공·가명), 안전관리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정보주체 권리 — 자동화된 결정 대응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제7~10장: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분쟁조정·단체소송·보칙·벌칙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2020.8.5 중앙행정기관으로 출범(감독 일원화)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 9명 — 위원장·부위원장 포함(제7조의2)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조사·처분, 분쟁조정, 법령 해석·정책 수립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분야 안내서 발간 — 상세는 9강에서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서비스의 개인정보 감독은 과기정통부가 아니라 개인정보위 — AI 감독기관이 사실상 둘로 나뉜다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영향평가(제33조)는 공공기관 의무, AI기본법 영향평가(제35조)는 노력의무 — 어떻게 만날까?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개인정보위의 AI 정책이 안내서(연성규범)에 머무는 이유와 그 한계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개인정보위 AI 관련 처분·권고 사례의 유형화와 AI기본법 시행 후 변화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79/202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AI 학습과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(4/6)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공개된 정보로 학습해도 되는가 — '정당한 이익'의 세 요건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근거 — 정당한 이익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제15조①6호: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처리자의 정당한 이익에 필요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개인정보처리자의 정당한 이익을 달성하기 위하여 필요한 경우로서 명백하게 정보주체의 권리보다 우선하는 경우. 이 경우 개인정보처리자의 정당한 이익과 상당한 관련이 있고 합리적인 범위를 초과하지 아니하는 경우에 한한다.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75184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목적의 정당성: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개발 목적의 구체화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처리의 필요성: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정보 이용의 합리성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이익형량: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정보주체 권리보다 명백히 우선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요구되는 보호조치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수집 출처 검증, 학습데이터 비식별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 기준 공개, 위험 평가·점검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정보주체: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학습데이터 투명성, 권리행사 지원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개인정보위 안내서 — 상세는 9강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'공개된 정보'라는 사실만으로 처리가 정당화되지는 않는다 — 공개 목적과 AI 학습 목적은 다르다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크롤링으로 학습한 모델에서 정보주체의 삭제 요구는 기술적으로 이행 가능한가?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GDPR의 정당한 이익(제6조①f) 해석과 국내 안내서의 기준은 얼마나 같은가?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이익형량 판단 요소를 모델 유형(범용·특화)별로 구체화하는 기준 설계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80/202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AI기본법 ×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(5/6)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법명 인용은 없지만 두 지점에서 정면으로 만난다(AILawMap ai-note 기반 비교)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생체인식정보 — 고영향 바목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321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제2조4호바목: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범죄수사·체포용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범죄 수사나 체포 업무를 위해 생체인식정보(얼굴·지문·홍채·손바닥 정맥 등)를 분석·활용하는 인공지능은 고영향 AI에 해당한다.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41077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생체인식정보 분석·활용 = 고영향 AI 영역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85544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제23조: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민감정보 처리 제한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사상·신념, 정치적 견해 등 민감정보는 원칙적으로 처리 금지한다.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58612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제24조: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고유식별정보 처리 제한·암호화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고유식별정보는 법령 근거 등 없이 처리 금지, 암호화 의무를 진다.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자동화된 결정 — 설명받을 권리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영향받는 자에 대한 설명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영향받는 자는 AI 최종결과 도출에 활용된 주요 기준·원리 등을 기술적·합리적으로 가능한 범위에서 명확하고 의미 있게 설명받을 수 있어야 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제37조의2: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거부·설명 요구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정보주체는 권리·의무에 중대한 영향을 미치는 완전 자동화 결정(AI 포함)을 거부하거나 설명을 요구할 수 있다.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2024.3.15 시행, 행정청 자동적 처분은 제외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AI기본법은 원칙, 개인정보보호법은 권리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'설명'을 AI기본법은 기본원칙(제3조②)으로, 개인정보보호법은 구체적 권리(제37조의2)로 규정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개인정보가 들어가지 않은 자동화 결정은 제37조의2 밖 — AI기본법 제3조②만 남는 공백은?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행정기본법 제20조의 자동적 처분이 제37조의2에서 빠진 이유와 그 정당성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AI기본법·개인정보보호법·신용정보법의 '설명 요구' 3중 구조 비교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81/202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사례 — 이루다와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(6/6)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서비스에 대한 개인정보보호위원회의 첫 제재 사례(2021.4.28 의결)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연애 분석 앱의 카카오톡 대화로 챗봇 학습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개선 동의 범위를 넘은 목적 외 이용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데이터의 개인정보 삭제·가명처리 미흡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 아동 정보 법정대리인 동의 누락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처분과 시사점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과징금 5,550만원 + 과태료 4,780만원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1억 330만원 — AI 기업 첫 제재 사례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목적 재이용은 '새로운 목적'으로 판단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개인정보위 AI 안내서 정비로 이어짐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'서비스 개선' 동의 문구로 AI 학습까지 포괄할 수 있는가 — 개인정보위는 부정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시행 이후라면 이 사건은 고영향 AI인가, 아니면 투명성 의무(제31조)의 문제인가?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제재와 AI기본법 시정명령(제40조③)이 동시에 걸릴 때 이중 제재 문제는?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이루다 이후 국내 AI 개인정보 처분 사례의 쟁점 변화 추적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82/202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25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7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9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31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33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35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7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9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41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11개 영역과 근거법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" y="2031797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제2조4호 가~카목 — 영역의 경계를 다른 법이 정한다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83/202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16916400" cy="696315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근거법(인용 조문)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에너지의 공급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에너지법 제2조1호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먹는물의 생산 공정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먹는물관리법 제3조1호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보건의료 제공·이용체계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보건의료기본법 제3조1호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의료기기·디지털의료기기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의료기기법 제2조①, 디지털의료제품법 제2조2호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핵물질·원자력시설 관리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원자력시설방호법 제2조①1·2호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범죄수사·체포용 생체인식정보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(개인정보보호법 민감정보와 연계)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없음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채용·대출 심사 등 판단·평가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(금융소비자보호법·신용정보법과 연계)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없음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교통수단·시설·체계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교통안전법 제2조1~3호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국가기관등의 의사결정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공공기관운영법 제4조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유아·초등·중등 학생 평가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교육기본법 제9조①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법명 인용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밖에 대통령령으로 정하는 영역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시행령에 위임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기반시설형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에너지 · 먹는물 · 원자력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멈추면 사회가 멈추는 영역(가·나·마목)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근거법의 정의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에너지법 제2조1호: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연료·열 및 전기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먹는물관리법 제3조1호: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수돗물·먹는샘물 등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원자력시설방호법 제2조①: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핵물질·원자력시설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법 모두 AI기본법이 법명·조항을 직접 인용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활용과 쟁점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수요예측·계통 제어, 정수 공정 자동화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원전 설비 진단·물리적 방호 감시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안전법령의 기술기준과 AI 의무 중첩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오작동이 곧 물리적 사고로 이어지는 영역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'공급'만 고영향 — 에너지 '수요관리' AI(스마트홈 등)는 왜 빠졌는가?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원자력 분야는 원자력안전법의 별도 규제가 촘촘하다 — AI기본법 의무가 더하는 의미는?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기반시설 AI의 사이버보안 — 정보통신기반 보호법 제9조 ↔ AI기본법 제32조(주제 연결, 6-5)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기반시설형 고영향 AI의 안전성 확보 의무와 기존 기술기준의 매핑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84/202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보건의료 · 의료기기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상용화된 고영향 AI 영역(다·라목)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근거법의 연결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보건의료기본법 제3조1호: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보건의료 정의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의료기기법 제2조①: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의료기기 정의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디지털의료제품법 제2조2호: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디지털의료기기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의료기기는 이미 식약처 허가 대상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규율의 쟁점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허가(안전·유효성) + AI기본법 의무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디지털의료제품법(2025.1 시행) — AI 특성 반영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 보조 AI 사고 — 의사인가, 제조사인가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데이터는 민감정보 — 개인정보보호법 중첩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허가받은 AI 의료기기는 AI기본법상 '안전성 확보 의무'를 이미 충족했다고 볼 수 있는가?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학습으로 성능이 바뀌는 AI 의료기기의 '변경허가' 기준은 어떻게 설계되어 있는가?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진단 오류 사고에서 의료법(의사의 주의의무)과 제조물 책임법은 어떻게 나뉘는가?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디지털의료제품법의 AI 조항과 AI기본법 고영향 의무의 비교 매핑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85/202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금융소비자보호법 · 신용정보법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채용·대출 심사(사목) — 법명 인용 없이 연결되는 영역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금융소비자보호법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적합성원칙 — 소비자 정보 파악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금융상품판매업자등은 계약 체결·자문 시 일반금융소비자인지 확인하고 재산상황·거래목적 등을 파악해야 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제19조: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설명의무 — 중요사항 설명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금융상품판매업자등은 일반금융소비자에게 계약 체결을 권유하거나 요청을 받으면 상품의 중요사항을 이해할 수 있도록 설명해야 한다.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대출심사·로보어드바이저에도 그대로 적용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사목 '대출 심사'의 의무 이행 근거(ai-note)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신용정보법 제36조의2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자동화평가 여부·결과·주요 기준 설명 요구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유리한 정보 제출, 기초정보 정정·재산출 요구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데이터 3법 개정으로 도입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제3조② 설명 원칙과 연결(ai-note)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사목은 '채용'도 포함한다 — 그런데 채용 AI의 근거법(채용절차법 등)은 AILawMap에 아직 없다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AI 설명: 금소법(판매), 신용정보법(평가), AI기본법(원칙) — 3중 구조의 중복과 공백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신용평가 모델의 '주요 기준' 설명은 영업비밀과 어디서 균형을 잡는가?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금융권 AI 가이드라인과 AI기본법 의무의 정합성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86/202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공공 · 교육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생활과 공적 결정에 닿는 영역(아·자·차목)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근거법의 연결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교통안전법 제2조1~3호: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교통수단·시설·체계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공공기관운영법 제4조: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공공기관 지정 기준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교육기본법 제9조①: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유아·초등·중등교육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자목 = 국가·지자체·공공기관(국가기관등)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활용과 쟁점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자율주행·교통신호 제어 — 자동차 관련법 별도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 수급 자격 결정·비용징수의 AI 활용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평가 AI — 학습 추천·상담은 제외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AI 결정은 행정기본법 제20조와 맞물림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자목은 '공공서비스 자격 확인·결정·비용징수' — 행정청의 AI 처분이 곧 고영향 AI가 되는 구조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'평가'만 고영향 — 학습 추천·진로 상담 AI는 왜 빠졌는가?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자율주행차는 교통안전법(아목)과 자동차관리법·제조물 책임법이 동시에 걸리는 대표 사례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공공부문 고영향 AI 목록화와 사전 영향평가 적용 실태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87/202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분야는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개별법, 의무는 AI기본법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AI의 이중 구조가 만드는 효과와 문제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구조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정의: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개별법의 개념을 그대로 차용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부과: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제33·34·35조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과기정통부(AI) + 소관부처(개별법)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지원: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고영향 AI 판단 가이드라인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생기는 쟁점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개별법 개정 → 고영향 범위의 자동 변동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행위에 허가·의무·제재가 중복될 위험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없는 바·사목 — 해석으로 경계 설정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카목(대통령령) — 시행령으로 영역 확장 가능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에너지법의 '에너지' 정의가 바뀌면 고영향 AI 범위가 AI기본법 개정 없이 바뀐다 — 정당성 문제는?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소관부처 규제와 AI기본법 의무가 부딪칠 때 제5조①(다른 법률 우선)은 어떻게 작동하는가?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부속서 III(고위험 목록)과 국내 11개 영역 — 무엇이 빠지고 무엇이 더해졌나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고영향 영역별 소관부처 규제와 AI기본법 의무의 중복도 측정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88/202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(5-1) 의료기기법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1/38 · 의료기기법 · 소관 식약처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의료기기 제조·수입·판매·임상 규율(제1조)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제조·수입업 허가, 품목 허가·인증·신고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임상시험계획 승인(제10조), 사후관리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체외진단의료기기는 별도 법률 적용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제2조4호라목이 정의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영상진단 SW = 의료기기 허가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디지털의료제품법과 경계·연계(SaMD)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허가 + 고영향 AI 의무의 이중 구조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개발→검증→배포  ·  주요 주제: 의료AI, 제품안전, 인증  ·  고영향AI 분야: 의료기기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상용화된 고영향 AI 영역 — 허가 사례가 이미 쌓여 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학습으로 성능이 바뀌는 AI 의료기기 — '변경허가'를 언제 받아야 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식약처 허가를 받으면 AI기본법 영향평가는 면제되어야 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89/202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(5-2) 디지털의료제품법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2/38 · 디지털의료제품법 · 소관 식약처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AI·SW 기반 디지털의료제품의 안전·품질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디지털의료기기·융합의약품·건강지원기기 구분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관리체계 인증(제17조), SW 품질관리기준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의료기기법보다 우선 적용(제5조)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기반 디지털의료기기를 직접 규율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고영향 라목의 핵심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제조업허가·품질관리기준 적합판정 체계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업데이트·사이버보안까지 관리 대상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개발→검증→이용  ·  주요 주제: 디지털의료, AI의료제품, 안전  ·  고영향AI 분야: 의료기기, 보건의료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세계적으로도 드문 'AI 의료제품 전용 법' — 2025년 시행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건강지원기기(웰니스)와 의료기기의 경계가 AI 서비스 사업모델을 가른다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디지털의료제품법과 EU AI Act 고위험 의료AI 의무 비교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90/202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지능형로봇법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3/38 · 지능형 로봇 개발 및 보급 촉진법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스스로 인식·판단·동작하는 로봇 개발·보급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기본계획·로봇산업정책심의회, 보급 촉진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손해보장사업(제19조의2), 로봇랜드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실외이동로봇 운행안전인증(제40조의2)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몸을 갖춘 형태 — 물리적 AI의 법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로봇윤리헌장(제18조) ↔ AI기본법 제27조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운행안전인증 ↔ AI기본법 제30조 검·인증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배송로봇 보도 운행을 허용한 2023 개정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개발→검증→이용  ·  주요 주제: 로봇, 물리적AI, 안전  ·  고영향AI 분야: 산업·교통 등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휴머노이드·물리적 AI 확산 — 로봇 사고의 책임은 제조물책임법으로 충분한가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로봇윤리헌장은 선언적 규범 — AI기본법 윤리원칙과 통합 필요성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지능형 로봇의 '자율성' 수준에 따라 규제를 달리해야 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91/202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(5-4) 자율운항선박법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4/38 · 자율운항선박 개발 및 상용화 촉진에 관한 법률 · 소관 해양수산부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선원 판단 없이 운항하는 선박 상용화(제1조)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산업부·해수부 공동 기본계획, 정책위원회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운항해역·성능실증, 해상물류체계 구축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규제특례·익명처리 위치정보 활용, 신속확인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자율운항 = AI의 대표 응용 분야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평가(제19조) ↔ AI기본법 제30조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시범운항 승인 — 조건·책임보험 부과(제20조)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산업데이터 플랫폼은 산업디지털전환법 인용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개발→검증→이용  ·  주요 주제: 자율운항, 선박AI, 안전  ·  고영향AI 분야: 교통·해상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국제해사기구(IMO) 자율운항선박 협약 논의와 국내법의 정합성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원격운항·완전자율 단계별로 선장의 법적 책임은 어떻게 바뀌나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해상 사고 시 AI 판단 기록(블랙박스)을 누가 보관·공개해야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92/202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(5-5) 건축법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5/38 · 건축법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건축물의 안전·기능·환경·미관 향상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건축허가·신고, 안전영향평가, 착공·사용승인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구조내력·내진·피난, 건축설비 기준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위반건축물 이행강제금, 건축분쟁 조정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제65조의2: 지능형건축물 인증제도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국토교통부장관은 지능형건축물[Intelligent Building]의 건축을 활성화하기 위하여 지능형건축물 인증제도를 실시한다.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0394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빌딩 자동화·지능형 홈네트워크 결합 건축물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↔ AI기본법 제30조 검·인증(주제 연결)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설계·구조검토 도구의 활용 확대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개발→검증→이용  ·  주요 주제: 건축, 안전, AI설계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분류상 고영향 분야 '직접 연관 없음' — AI는 설계·관리 도구로 쓰인다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구조계산을 했을 때 건축사·구조기술사의 책임은 그대로인가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153개 조의 거대 법에서 AI 관련 조문은 왜 인증 하나뿐일까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93/202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(5-6) 자율주행자동차법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6/38 · 자율주행자동차 상용화 촉진 및 지원에 관한 법률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자율주행차 도입·확산과 안전운행 기반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교통물류 기본계획, 시범운행지구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유상운송 등 규제특례, 보험 가입 의무(제19조)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성능인증·적합성 승인(제40·41조), 결함 시정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운행가능영역 검증 포함 성능인증 ↔ AI기본법 제30조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제20조의2: 시스템 개선 목적 영상 수집 특례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자율주행자동차 임시운행허가를 받은 자는 제20조에도 불구하고 자율주행시스템의 성능 및 안전성 향상을 위해 개인정보가 포함된 영상정보를 촬영·수집할 수 있으며, 수집한 영상정보는 익명·가명처리 등 안전조치를 거쳐 활용한다.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특례 ↔ AI기본법 제15조 학습용데이터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교통(아목)의 대표 사례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개발→실증→이용  ·  주요 주제: 자율주행, 모빌리티, 안전  ·  고영향AI 분야: 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학습을 위한 보행자 영상 수집 — 개인정보보호법의 예외를 법률로 만들었다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레벨3 이상 사고의 책임 주체 — 운전자·제조사·시스템 공급자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시범운행지구 사고·이탈 데이터 공개 범위의 국제 비교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94/202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(5-7) 모빌리티혁신법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7/38 · 모빌리티 혁신 및 활성화 지원에 관한 법률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첨단기술 결합 모빌리티 혁신 지원(제1조)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첨단모빌리티 현황조사, 시·군·구 개선계획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모빌리티 특화도시, 기반시설·도로환경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신속확인·실증특례(제12조), 혁신위원회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모빌리티 혁신 = 자율주행·AI 결합(제2조5호)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실증특례 ↔ AI기본법 제24조 실증기반 조성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실증특례는 다른 법률보다 우선 적용(제4조)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데이터 제출 의무 — 제도 개선의 근거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개발→실증→이용  ·  주요 주제: 모빌리티, 규제특례, 실증  ·  고영향AI 분야: 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샌드박스형 법 — AI 신서비스는 '허가 후 규제'가 아니라 '실증 후 제도화'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기간 종료 후 법령 미정비 시 연장(제14조) — 실증이 사실상 상시화될 위험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실증특례 중 사고는 책임보험으로 충분한가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95/202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(5-8) 이러닝산업법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8/38 · 이러닝(전자학습)산업 발전 및 이러닝 활용 촉진에 관한 법률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이러닝산업 발전과 활용 촉진(제1조)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기본계획·시행계획, 인력·기술·표준화·창업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개인·기업·교육기관·공공기관 이러닝 지원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이러닝센터, 사업자 신고, 소비자 보호(제25조)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이러닝 = AI·가상현실 등 활용 학습(제2조1호)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튜터·맞춤형 학습이 이 법의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제2조1호 ↔ AI기본법 제16조 도입·활용 시책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5859377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제3조: 이러닝이라는 이유로 차별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이러닝이라는 이유로 다른 형태의 학습과 차별하여서는 아니 된다.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에듀테크, AI교육  ·  고영향AI 분야: 교육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에듀테크 산업법 — 교육법(초중등교육법)과 산업법의 경계에 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 서비스의 소비자 보호 — 효과 과장 광고와 환불 기준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튜터가 평가까지 하면 고영향 AI(차목) 의무가 생기나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96/202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(5-9) 분산에너지법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9/38 · 분산에너지 활성화 특별법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수요지 인근 생산·소비 분산에너지 활성화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분산에너지사업 등록, 설치의무, 배전망 관리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전력계통영향평가(제23조), 분산에너지특화지역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전기요금, 종합정보관리시스템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전력 사용자(데이터센터) 계통영향평가 대상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제23조 ↔ AI기본법 제25조 AI 데이터센터 시책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공급 = 고영향 AI 가목 영역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분산에너지, 에너지관리, 데이터  ·  고영향AI 분야: 에너지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데이터센터의 수도권 집중 — 전력계통영향평가가 입지를 분산시키는 수단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전력 수요를 늘리고, 동시에 AI가 전력 수급을 최적화한다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데이터센터 전력 수요 전망과 분산에너지 정책의 정합성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97/202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(5-10) 스마트농업법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10/38 · 스마트농업 육성 및 지원에 관한 법률 · 소관 농식품부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ICT 접목 스마트농업·연관산업 육성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스마트농업 지원센터, 실태조사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전문인력·스마트농업관리사, 기술개발·표준화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플랫폼(제13조), 육성지구·거점단지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생육환경·생육상태 데이터 → AI 재배 모델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제13조 ↔ AI기본법 제15조 학습용데이터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= 엑셀 분류상 고영향 분야 '농업'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스마트농업, 자동화, 데이터  ·  고영향AI 분야: 농업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데이터의 소유권 — 플랫폼에 모인 데이터의 수익은 누구에게 가나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제어 온실의 오작동 피해 — 제품책임과 서비스책임의 경계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고령 농업인에게 AI 기술 격차는 디지털포용 문제이기도 하다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98/202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(5-11) 농촌진흥법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11/38 · 농촌진흥법 · 소관 농촌진흥청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농업과학기술 연구개발·지도·교육훈련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농촌진흥청 5년 기본계획, 심의위원회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연구개발사업(공동연구·평가·성과 이전)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농촌지도사업·시범사업, 국제협력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접목 농업 융복합기술 연구개발(제2조)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↔ AI기본법 제19조 AI 융합 촉진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스마트농업법의 기술개발·보급 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 부정행위 제재(제8조)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농업R&amp;D, 기술보급  ·  고영향AI 분야: 농업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농업 R&amp;D가 AI 기술을 '보급'까지 책임지는 구조 — 지도사업의 디지털화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AI 모델의 공공 개방 — 민간 스마트팜 기업과의 역할 분담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기후변화 대응 농업 AI는 공공재로 다뤄야 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99/202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(5-12) 원격교육법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12/38 · 디지털 기반의 원격교육 활성화 기본법 · 소관 교육부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지능정보기술 활용 원격교육 활성화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학교등·대학등 원격교육 운영 기준·인프라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대체학습·디지털 미디어 문해 교육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원격교육 데이터 처리(제19조)·개인정보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원격교육 데이터 → AI 학습분석·맞춤형 학습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제19조 ↔ AI기본법 차목(학생 평가)·제15조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'지능정보기술' 활용을 정의에 포함(제2조3호)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원격교육, 에듀테크, 접근성  ·  고영향AI 분야: 교육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코로나19 원격수업 경험이 만든 법 — 이제 AI 교실의 기반법이 되었다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행동 데이터의 장기 보관과 학생 프로파일링 위험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원격교육 데이터를 민간 에듀테크 AI 학습에 제공해도 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100/202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(5-13) 과학·수학·정보교육법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13/38 · 과학ㆍ수학ㆍ정보 교육 진흥법 · 소관 교육부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과학·수학·정보 교육 진흥(제1조)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국가·지자체 시책: 종합계획·교원·교재(SW 포함)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교육부장관 소속 교육융합위원회(제7조)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연구기관 지정, 재정지원, 국제협력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정보·AI 교육의 법적 근거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↔ AI기본법 제21조 전문인력 확보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교과 확대·AI 교육과정 논의의 근거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AI·정보교육, 교육과정  ·  고영향AI 분야: 교육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인재 양성은 대학원이 아니라 초·중등 정보 교육에서 시작된다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교사 부족 — 법은 '교원 전문성 시책'을 정했지만 현실은?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리터러시는 정보 교과인가, 모든 교과의 공통 역량인가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101/202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(5-14) 평생직업능력법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14/38 · 국민 평생 직업능력 개발법 · 소관 고용노동부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국민 평생 직업능력개발 촉진·지원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직업능력개발정보망(제6조)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국민내일배움카드(계좌)·사업주 훈련 지원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직무능력정보·인정, 훈련기관 평가·부정수급 제재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직무수행능력에 '지능정보화' 포함(제2조1호)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제3조⑦: 지능정보화 등 직무기초역량 지원 원칙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직업능력개발훈련은 직업에 필요한 직무능력뿐만 아니라 지능정보화 및 포괄적 직업ㆍ직무기초능력 등 직무 수행과 관련되는 직무기초역량을 함께 지원하여야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전환기 재교육(리스킬링)의 근거법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제3조⑦ ↔ AI기본법 제21조(주제 연결)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직업훈련, AI역량, 고용  ·  고영향AI 분야: 고용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사라지는 직무와 생겨나는 직무 — 훈련 수요 예측이 정책의 핵심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직업훈련 과정을 추천·매칭하면 공정성(차별) 문제도 생긴다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중장년 재직자의 AI 역량 훈련을 사업주 의무로 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102/202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(5-15) 전자금융거래법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15/38 · 전자금융거래법 · 소관 금융위원회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전자금융거래 법률관계·안전성·신뢰성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접근매체 관리, 오류 정정, 사고 시 금융회사 책임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확보·CISO·취약점 평가·침해사고 대응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전자금융업 허가·등록, 선불충전금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시행령 제22조의2 — 지능정보기술 활용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소액후불결제(BNPL) 이용한도 대안신용평가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심사 = AI기본법 고영향 사목 영역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이상거래탐지(FDS)의 법적 배경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금융, 전자금융, 보안  ·  고영향AI 분야: 금융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법률이 아닌 '시행령'에서 AI 활용을 먼저 허용한 사례 — 혁신금융 규제특례의 제도화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대안신용평가가 금융 이력 부족자(thin filer)의 기회를 넓히는가, 차별을 만드는가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신용평가의 설명 의무 — 신용정보법 제36조의2와 어떻게 연결되나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103/202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(5-16) 국방정보화법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16/38 · 국방정보화 기반조성 및 국방정보자원관리에 관한 법률 · 소관 국방부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국방정보화 기반 조성·정보자원 관리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기본원칙·기본계획, 국방정보화책임관(제7조)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국방정보기술아키텍처, 국방정보통신망 고도화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침해 대응·사이버보안 위험관리(제21조의2)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364002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제4조②: 국방·안보 전용 AI 적용 제외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법은 국방 또는 국가안보 목적으로만 개발ㆍ이용되는 인공지능으로서 대통령령으로 정하는 인공지능에 대하여는 적용하지 아니한다.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34258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 AI는 이 법의 신기술 도입(제14·15조)에서 관리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3"/>
            <a:ext cx="7448702" cy="71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제18조: 진화적 획득 — 기술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600" dirty="0"/>
              <a:t>법 제22조제5항의 진화적 획득 대상: 1. 기술 변화가 예상되는 사업 2. 신속한 전력화가 요구되는 사업 3. 예산 제한으로 장기 추진할 사업 등이다.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24167"/>
            <a:ext cx="7448702" cy="17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제7조가 지능정보화 기본법 제8조를 인용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국방AI, 정보자원, 보안  ·  고영향AI 분야: 국방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밖에 놓인 국방 AI — 윤리·안전 기준은 어디서 오나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민군 겸용(dual-use) AI는 국방 '전용'이 아니므로 AI기본법 적용 대상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자율무기체계(LAWS) 국제 논의를 국내법은 어떻게 반영해야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104/202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(5-17) 에너지법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17/38 · 에너지법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에너지 수급 안정·효율·환경친화적 공급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에너지기본계획의 근거, 지역에너지계획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에너지기술 개발, 에너지복지(바우처)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에너지·에너지공급자·신재생에너지 정의(제2조)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제2조4호가목이 정의를 그대로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공급에 쓰이는 AI = 고영향 AI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수요예측·계통 제어 AI가 대표 사례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정의가 바뀌면 고영향 범위도 함께 바뀜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개발→평가→이용  ·  주요 주제: 에너지, 고영향AI, 안전  ·  고영향AI 분야: 에너지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가목 '에너지의 공급' — 소비 쪽 AI(가정 에너지 관리)는 고영향이 아니다?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에너지법 자체에는 AI 조문이 없다 — 의무는 모두 AI기본법에서 온다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기반시설형 고영향 AI에는 사전 인증까지 요구해야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105/202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(5-18) 스마트도시법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18/38 · 스마트도시 조성 및 산업진흥 등에 관한 법률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스마트도시 조성·관리·운영과 산업진흥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스마트도시종합계획·계획, 건설사업, 기반시설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국가스마트도시위원회, 인증·특화단지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국가시범도시, 스마트혁신·실증사업 규제특례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제37조: 익명처리 개인정보 활용 — 학습용데이터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국가시범도시 관계 기관·사업시행자·스마트도시서비스 제공자 등은 익명처리한 개인정보를 학습용 데이터 등으로 활용할 수 있다.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제49조 규제특례 ↔ AI기본법 제24조 실증기반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89354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제39조: 국가시범도시 자율주행 운행 특례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국가시범도시에서 연구·개발 목적으로 자율주행자동차를 운행하려는 경우, 교통상 위험이 없는 범위에서 운행 특례를 받을 수 있다.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데이터 기반 AI 서비스의 실험장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데이터→개발→이용  ·  주요 주제: 스마트시티, 도시AI, 데이터  ·  고영향AI 분야: 공공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통합운영센터 — CCTV·센서 데이터와 AI 분석이 만나는 곳(재난안전법과 연결)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시민의 동의 없는 도시 데이터 수집 — 익명처리만으로 정당화되는가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스마트도시 서비스의 알고리즘은 시민에게 설명되어야 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106/202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(5-19) 지능형해상교통정보법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19/38 · 지능형 해상교통정보서비스의 제공 및 이용 활성화에 관한 법률 · 소관 해양수산부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한국형 e-Navigation 제공·이용 활성화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해상무선통신망(LTE-M)·정보시스템 구축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항로·충돌 예방·전자해도 서비스(제15조)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단말기 설치 의무, 보호조치·방해 금지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해상교통 데이터 분석으로 충돌 예측·예방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제15조 ↔ AI기본법 제16조 도입·활용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자율운항선박 해상물류체계의 통신 기반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데이터→이용  ·  주요 주제: 해상교통, 데이터, AI서비스  ·  고영향AI 분야: 교통·해상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경고가 틀리면 — 항해사의 판단과 시스템 정보 중 무엇이 우선인가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 데이터의 민간 제공 — 해운·물류 AI 서비스 산업의 기반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국가가 제공하는 '권고 항로'의 오류에 국가배상책임이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107/202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(5-20) 통합교통체계법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20/38 · 국가통합교통체계효율화법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육상·해상·항공 교통체계 통합 효율화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국가기간교통망계획, 국가교통조사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교통빅데이터플랫폼(제17조의2)·복합환승센터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지능형교통체계(ITS) 기본계획·성능평가(제86조)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교통빅데이터 ↔ AI기본법 제15조 학습용데이터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성능평가 ↔ AI기본법 제30조 검·인증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신호제어·교통량 예측의 제도 기반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= 고영향 AI 아목 영역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데이터→이용  ·  주요 주제: 교통체계, 데이터, 지능형교통  ·  고영향AI 분야: 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 장비 '성능·신뢰도 평가'는 AI 시스템 평가의 선례가 될 수 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데이터 통합은 편리하지만 이동 감시의 위험도 키운다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신호제어로 특정 지역의 통행이 불리해지면 형평성 문제는?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108/202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(5-21) 지능형전력망법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21/38 · 지능형전력망의 구축 및 이용촉진에 관한 법률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스마트그리드 구축·이용 촉진(제1조)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기본계획·시행계획, 지능형전력망 사업자 등록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인증·표준화·거점지구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전력망 정보 수집·공동활용, 전력망개인정보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수요예측·수급 최적화에 AI 활용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공급 = 고영향 AI 가목 영역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제21·23조 ↔ AI기본법 제15조 학습용데이터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보호대책·침해행위 금지 — 기반시설 보안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데이터→이용  ·  주요 주제: 스마트그리드, 에너지데이터, 안전  ·  고영향AI 분야: 에너지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스마트미터 데이터는 생활 패턴을 드러낸다 — 전력망개인정보(제22조)의 의미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수요반응(DR) — 소비자 기기 원격 제어의 동의 문제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전력망 AI의 사이버 공격 위험은 누가 평가·인증해야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109/202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(5-22) 신용정보법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22/38 · 신용정보의 이용 및 보호에 관한 법률 · 소관 금융위원회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신용정보 산업 육성·이용·주체 권리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신용정보회사 허가, 개인신용평가·마이데이터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가명정보 결합(제17조), 정보활용 동의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신용정보주체의 열람·정정·삭제 요구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제36조의2: 자동화평가 설명·이의제기권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개인인 신용정보주체는 개인신용평가회사 및 대통령령으로 정하는 신용정보제공ㆍ이용자(이하 이 조에서 "개인신용평가회사등"이라 한다)에 대하여 다음 각 호의 사항을 설명하여 줄 것을 요구할 수 있다. 1. 다음 각 목의 행위에 자동화평가를 하는지 여부 2. 자동화평가를 하는 경우 다음 각 목의 사항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982783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신용평가의 설명 의무 — 고영향 사목의 핵심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 제37조의2보다 앞선 규정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개인정보보호법의 특별법(제3조의2)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데이터→평가→이용  ·  주요 주제: 신용평가, 개인정보, 금융데이터, 공정성  ·  고영향AI 분야: 금융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설명 요구권의 3중 구조 — AI기본법·개인정보보호법·신용정보법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데이터(통신·쇼핑)로 신용평가하면 차별적 영향은?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'자동화평가 결과의 설명'은 어느 수준이어야 실효적인가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110/202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(5-23) IPTV법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23/38 · 인터넷 멀티미디어 방송사업법 · 소관 방통위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양방향 인터넷 멀티미디어 방송사업 운영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IPTV 제공사업 허가·재허가, 겸영·외국인 소유 제한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시장점유율 제한·설비 동등제공·금지행위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콘텐츠사업 신고·등록, 이용자 보호·장애인 접근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전송망 = 지능정보화 기본법 초연결지능정보통신망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방송 내용심의는 방송법 준용(제21조②)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추천·AI 생성 콘텐츠 유통의 플랫폼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 투명성과 주제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IPTV, 플랫폼, AI콘텐츠  ·  고영향AI 분야: 미디어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IPTV의 AI 추천 알고리즘 — 편성권인가, 단순 큐레이션인가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VOD 콘텐츠의 표시 의무 — 방송 심의와 AI기본법 중 무엇이 적용되나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OTT는 이 법 밖에 있다 — 플랫폼 간 규제 형평 문제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111/202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(5-24) 방송법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24/38 · 방송법 · 소관 방통위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방송의 자유·독립, 공적 책임, 시청자 권익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방송사업 허가·승인·등록·재허가, 소유제한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공정성·공공성 심의(제32·33조)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편성·광고·재송신, 시청자위원회, 분쟁조정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생성·합성 영상·음성의 방송 활용 확대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심의 ↔ AI기본법 제31조 결과물 표시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앵커·가상인간 출연과 시청자 오인 방지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생성→배포→이용  ·  주요 주제: 방송, AI콘텐츠, 미디어  ·  고영향AI 분야: 미디어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방송사는 AI기본법상 '이용사업자' — 생성형 AI 결과물 고지 의무를 진다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합성 인터뷰·재연 장면 — 객관성·공정성 심의 기준의 재해석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방송심의규정에 'AI 생성물 표시' 조항을 따로 둘 필요가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112/202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(5-25) 공직선거법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25/38 · 공직선거법 · 소관 중앙선관위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자유로운 의사와 민주적 절차의 공정 선거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선거권·피선거권, 후보자 등록, 선거운동·비용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정보통신망 선거운동, 허위사실·비방 금지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투표·개표, 선거쟁송, 벌칙(400여 개 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제82조의8 딥페이크영상등 선거운동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선거일 전 90일부터 금지, 그 밖 기간엔 표시 의무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7년 이하 징역 등 형사처벌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제31조③의 선거 분야 특칙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생성→배포→이용  ·  주요 주제: 선거, 딥페이크, 정보조작  ·  고영향AI 분야: 선거·민주주의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AI기본법보다 1년 먼저(2023.12 개정) 딥페이크를 규율한 법 — 2024 총선에 첫 적용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표시만 하면 허용되는 기간의 딥페이크 — 표시의 실효성(크기·위치·지속)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시행령이 없다 — 세부 기준은 중앙선관위 규칙으로 정한다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113/202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(5-26) 국민투표법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26/38 · 국민투표법 · 소관 중앙선관위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헌법 제72·130조 국민투표의 절차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투표권·투표인명부, 국민투표공보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국민투표운동의 원칙과 제한(제37조)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투표·개표·결과 확정, 무효소송, 벌칙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제37조12호 딥페이크 투표운동 금지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제한 없이 금지 — 공직선거법보다 엄격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41470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제114조①: 7년 이하 징역 등 처벌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제37조제12호를 위반하여 딥페이크영상등을 제작ㆍ편집ㆍ유포ㆍ상영 또는 게시한 사람은 7년 이하의 징역 또는 1천만원 이상 5천만원 이하의 벌금에 처한다.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제31조③(딥페이크 고지)과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생성→배포→이용  ·  주요 주제: 민주적 의사결정, 정보환경  ·  고영향AI 분야: 선거·민주주의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'딥페이크'인데 선거와 국민투표의 규제 수준이 다르다 — 입법 일관성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개헌 국민투표가 실시되면 AI 생성 정보 대응이 실제 시험대에 오른다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표시 의무 없는 전면 금지는 표현의 자유를 과도하게 제한하나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114/202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(5-27) 초·중등교육법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27/38 · 초ㆍ중등교육법 · 소관 교육부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초·중등교육의 기본 사항(제1조)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종류·평가, 교육과정·학교생활기록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교과용 도서·교육 자료, 교육정보시스템(나이스)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학교운영위원회, 교내 스마트기기 사용 제한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제29조의2 지능정보기술 학습지원 SW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개인정보위 협의 기준·학교운영위 심의로 선정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디지털교과서 논쟁 이후 '교육 자료'로 정리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평가 = 고영향 AI 차목과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  ·  주요 주제: 교육, 학생권리, AI교육  ·  고영향AI 분야: 교육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교과서가 '교과서'에서 '교육 자료'로 지위가 바뀐 과정 — 입법 논쟁의 사례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학교가 선정하는 AI 학습 SW — 학교운영위원회가 위험을 판단할 역량이 있나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학습 데이터가 학교생활기록과 연결되면 고영향 AI가 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115/202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(5-28) 돌봄통합지원법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28/38 · 의료ㆍ요양 등 지역 돌봄의 통합지원에 관한 법률 · 소관 보건복지부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살던 곳에서 의료·요양·돌봄 통합 지원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기본계획·지역계획, 실태조사, 신청·발굴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종합판정·개인별지원계획, 통합지원협의체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통합지원정보시스템, 정보 제공·활용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제18조5호 AI·IoT 안전·건강 확인 서비스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돌봄 로봇·안부 확인 서비스의 법적 근거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제16조 도입·활용과 연결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 = 고영향 AI 다목 영역과 인접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  ·  주요 주제: 돌봄, 보건복지, 취약계층  ·  고영향AI 분야: 보건의료·복지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초고령사회의 돌봄 인력 부족 — AI 돌봄은 보조인가 대체인가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독거노인의 생활 데이터 수집 — 안전 확인과 사생활 보호의 균형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안부 확인이 응급 상황을 놓쳤다면 책임은 지자체인가 업체인가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116/202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(5-29) 도로교통법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29/38 · 도로교통법 · 소관 경찰청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교통상 위험·장해 방지, 안전·원활한 교통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교통안전시설·무인단속장비, 통행방법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운전자 의무, 자율주행차 운전자 의무(제4장의2)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운전면허, 벌칙·범칙금(192개 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자율주행시스템·실외이동로봇이 법에 편입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제56조의2: 직접 운전 요구에 즉시 대응 의무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행정안전부령으로 정하는 완전 자율주행시스템에 해당하지 아니하는 자율주행시스템을 갖춘 자동차의 운전자는 자율주행시스템의 직접 운전 요구에 지체 없이 대응하여 조향장치, 제동장치 및 그 밖의 장치를 직접 조작하여 운전하여야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제34조①4호 사람의 관리·감독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교통(아목) 영역의 운행 규칙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이용→사고  ·  주요 주제: 교통안전, 자율주행, 운전자  ·  고영향AI 분야: 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레벨3 자율주행 — '시스템이 운전 중'이어도 운전자는 깨어 있어야 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 요구에 늦게 반응해 난 사고 — 인간·시스템 책임 배분의 기준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무인 교통단속 AI의 오판독 — 범칙금 처분의 다툼 방법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117/202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(5-30) 학교폭력예방법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30/38 · 학교폭력예방 및 대책에 관한 법률 · 소관 교육부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학교폭력 예방·피해학생 보호·분쟁조정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대책위원회·지역위원회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교육지원청 학교폭력대책심의위원회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피해학생 보호·가해학생 조치, 행정심판·소송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제2조1호의3 딥페이크 영상 = 사이버폭력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얼굴·신체·음성을 AI로 합성한 영상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제16조의4: 국가의 촬영물 삭제 지원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국가는 사이버폭력에 해당하는 촬영물, 영상물, 음성물, 복제물, 편집물, 합성물, 가공물, 개인정보, 허위사실 등(이하 이 조에서 "촬영물등"이라 한다)이 정보통신망에 유포되어 피해(촬영물등의 대상자가 되어 입은 피해를 말한다)를 입은 학생에 대하여 촬영물등의 삭제를 위한 지원을 할 수 있다.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제31조③ 딥페이크 표시와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이용→사고  ·  주요 주제: 학생보호, 온라인폭력  ·  고영향AI 분야: 교육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학교 딥페이크 성범죄 확산이 만든 개정 — 형법·성폭력처벌법과 함께 보기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가해학생이 '장난'으로 만든 합성물 — 교육적 조치와 형사처벌의 경계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딥페이크 탐지 AI를 학교에 도입하면 학생 감시 문제는 없나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118/202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(5-31) 금융소비자보호법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31/38 · 금융소비자 보호에 관한 법률 · 소관 금융위원회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금융상품판매업자 영업행위·소비자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판매원칙 — 적합성·적정성·설명의무 등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청약철회·위법계약해지, 분쟁조정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징벌적 과징금, 손해배상 입증책임 전환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대출심사·로보어드바이저에도 그대로 적용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제17·19조 이행 = 고영향 사목 의무 이행 연계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상담 챗봇의 설명의무 충족 여부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사목 '대출 심사'의 근거법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이용→사후관리  ·  주요 주제: 금융, 소비자보호, 설명·공정성  ·  고영향AI 분야: 금융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상품을 추천하면 '적합성 원칙' 위반 책임은 판매업자에게 그대로 남는다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설명의무를 AI 챗봇으로 이행할 수 있는가 — 금융당국 가이드라인의 쟁점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고영향 AI 의무와 금소법 의무가 겹칠 때 하나로 갈음할 수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119/202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(5-32) 산업전환고용안정법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32/38 · 산업전환에 따른 고용안정 지원 등에 관한 법률 · 소관 고용노동부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산업전환기 근로자 고용안정·일자리 이동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디지털전환 = 지능정보기술의 산업 적용(제2조2호)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고용영향 사전평가(제8조)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발굴·컨설팅, 전직·재취업, 지자체 지원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확산이 일자리에 미치는 영향의 사전평가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↔ AI기본법 제35조 영향평가(주제 연결)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산업·지역·직무별 인력 수요 전망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평생직업능력법의 직무전환 훈련과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이용→사후관리  ·  주요 주제: 산업전환, 고용, 재교육  ·  고영향AI 분야: 고용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'고용 영향'은 AI기본법 영향평가 항목에 없다 — 이 법이 그 공백을 메운다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탄소중립과 디지털전환을 한 법에 — 두 전환의 정책 수단은 같은가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도입으로 감원하는 기업에 사전 협의 의무를 지워야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120/202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(5-33) 먹는물관리법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33/38 · 먹는물관리법 · 소관 환경부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먹는물 수질·위생 관리로 국민건강 증진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먹는물·샘물·먹는샘물 정의(제3조)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 허가·시설기준, 수질검사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정수기·냉온수기 관리, 지하수 연계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제2조4호나목이 정의를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먹는물 생산 공정의 AI = 고영향 AI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수질 예측·공정 제어가 대표 사례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자체에는 AI 조문 없음 — 의무는 AI기본법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  ·  주요 주제: 물관리, 안전, 고영향AI  ·  고영향AI 분야: 먹는물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'먹는물의 생산 공정'만 고영향 — 수돗물 공급망 전체가 아니라는 점에 주의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정수장 자동화 AI의 오작동은 공중보건 사고 — 사람의 개입 체계가 핵심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수도법(수돗물)은 왜 지도에 없을까 — 개념 차용 범위의 한계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121/202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(5-34) 보건의료기본법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34/38 · 보건의료기본법 · 소관 보건복지부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보건의료 권리·의무와 국가 책임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 정의(제3조), 보건의료발전계획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 제공·이용체계(제30조)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환자의 권리, 보건의료 위기상황 대응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제2조4호다목이 정의를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보건의료 제공·이용체계 구축·운영의 AI = 고영향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 AI(라목)와 구분되는 '체계' 영역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지원·병상 배분 AI 등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  ·  주요 주제: 보건의료, 환자권리, 고영향AI  ·  고영향AI 분야: 보건의료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다목(보건의료 체계)과 라목(의료기기)의 경계 — 진단 AI와 병원 운영 AI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환자의 자기결정권 — AI 진료 보조 사실을 환자에게 알려야 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의료 AI 오진의 책임 — 의사·병원·개발사 중 누구인가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122/202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(5-35) 항공안전법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35/38 · 항공안전법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국제민간항공협약에 따른 안전한 항행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항공기 등록·형식증명·감항증명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항공종사자 자격, 운항·항공교통관리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등 초경량비행장치 신고·인증·비행승인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자율비행 드론 확산 — 제124조 안전성인증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제124조 ↔ AI기본법 제30조 검·인증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무인비행장치 개인정보·위치정보 수집(제129조)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= 고영향 AI 아목 영역(항공)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  ·  주요 주제: 항공안전, 자동화, 자율비행  ·  고영향AI 분야: 교통·항공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자동조종과 조종사 책임 — 항공은 자동화 책임 논의의 오래된 선례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도심항공교통(UAM) 상용화 — 자율비행 인증 기준이 아직 없다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드론 군집 비행의 AI 제어 — 조종자 증명은 누구에게 요구하나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123/202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(5-36) 온투법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36/38 · 온라인투자연계금융업 및 이용자 보호에 관한 법률 · 소관 금융위원회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P2P 금융(온라인투자연계금융) 제도화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등록, 정보공시·수수료·내부통제·광고 규칙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차입자 정보확인·변제능력 평가(제20조)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투자금 분리 예치, 대출·투자한도, 중앙기록관리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플랫폼의 자동화 심사모형으로 변제능력 평가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제20조③ ↔ 고영향 AI 사목(대출 심사)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신용정보·개인정보 보호(제30조)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  ·  주요 주제: 핀테크, 투자, 이용자보호  ·  고영향AI 분야: 금융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최초 P2P 금융 단독법(2020) — 핀테크 AI 심사의 규율 출발점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심사 모형의 부실이 투자자 손실로 이어질 때 플랫폼의 책임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투자자에게 AI 평가 등급의 산정 근거를 공시해야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124/202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(5-37) 원자력시설방호법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37/38 · 원자력시설 등의 방호 및 방사능 방재 대책법 · 소관 원안위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핵물질·원자력시설 방호, 방사능 방재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물리적방호 정의(제2조), 방호체제·핵물질 분류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물리적방호협의회, 방호 이행 점검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방사능방재대책본부·비상계획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제2조4호마목이 정의를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핵물질·원자력시설 관련 AI = 고영향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출입통제·감시 AI, 사이버 방호와 직결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기반시설형 고영향(가·나·마목) 중 하나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평가→이용→사고  ·  주요 주제: 원자력, 시설안전, 보안  ·  고영향AI 분야: 에너지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원자력은 국제원자력기구(IAEA) 기준이 함께 적용되는 영역 — 국내 AI 규제와의 정합성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 목적 AI는 국가안보 목적으로 AI기본법 적용 제외(제4조②)될 여지는?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원전 운전 보조 AI의 안전성 입증 책임은 누구에게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125/202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(5-38) 교통안전법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AI 규제 38/38 · 교통안전법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교통안전 의무와 정책의 기본(제1조)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교통안전 기본계획, 교통안전관리자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운행기록장치·차로이탈경고장치 장착(제55조)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교통사고 조사·교통안전 진단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제2조4호아목이 정의를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교통수단·교통시설·교통체계의 AI = 고영향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운행기록(블랙박스) — AI 사고 분석의 데이터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ADAS 장착기준 — 운전 보조 AI의 제도화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평가→이용→사고  ·  주요 주제: 교통안전, 자율주행, 고영향AI  ·  고영향AI 분야: 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아목이 이 법의 '교통수단·시설·체계' 정의를 빌린다 — 도로교통법이 아니다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자율주행·ITS·드론까지 아목 범위에 들어가는가 — 해석의 폭이 넓다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운행기록장치 데이터를 AI 사고원인 분석에 쓰려면 무엇이 필요한가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126/202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산업진흥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대상과 수단을 다른 법에서 가져오는 조문들(제16·18·19·38조)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대상·재원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321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제16조②3호: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'중소기업등'의 범위를 인용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「중소기업기본법」 제2조제1항에 따른 중소기업, 「벤처기업육성에 관한 특별법」에 따른 벤처기업 및 「소상공인기본법」에 따른 소상공인을 말한다.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41077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중소기업기본법·벤처기업법·소상공인기본법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85544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벤처투자법 제70조 모태조합 활용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창업 활성화를 위해 모태조합 등을 활용할 수 있다.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58612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제16조④: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공공구매 담당자 면책(신설)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제품 구매 담당자는 고의·중과실 없으면 면책한다.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융합·연구·통계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321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제19조②: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국가연구개발혁신법 R&amp;D 우선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AI 융합 제품·서비스 개발 지원을 위해 「국가연구개발혁신법」에 따른 국가연구개발사업에 우선 반영할 수 있다.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10775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제19조③: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정보통신융합법 임시허가·실증특례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융합 제품·서비스에 임시허가·실증특례를 부여할 수 있다.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4145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제38조①: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과학기술기본법 통계와 연계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통계는 국가데이터처장과 협의해 작성한다.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 조문은 대부분 '할 수 있다' 재량 규정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제16조④ — AI 제품을 공공 구매해 손해가 나도 고의·중과실이 없으면 담당자는 배상 책임이 없다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임시허가·실증특례(규제샌드박스)를 통과한 AI 서비스는 AI기본법 의무에서도 특례를 받는가?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 조문 대부분이 재량 규정 — 예산과 연결되지 않으면 실효성은?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분야 규제샌드박스 승인 사례와 이후 정식 제도화 경로 추적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127/202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(6-1) 가상융합산업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1/20 · 가상융합산업 진흥법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메타버스 등 가상융합산업 진흥·규제개선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제정, 우선허용·사후규제 원칙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기본계획, 가상융합 플랫폼 사업 신고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자율규제, 임시기준(제28조), 이용자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가상세계 속 AI 아바타·생성 콘텐츠와 직결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임시기준 → 법령 정비 구조 ↔ AI기본법 제20조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중대한 위해 시 적용 중지·공동 관리감독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개발→배포  ·  주요 주제: XR, AI융합, 콘텐츠  ·  고영향AI 분야: 콘텐츠·공공 등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'임시기준'은 법이 기술을 못 따라갈 때의 대안 — AI 규제에도 쓸 수 있는 모델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가상공간의 AI 캐릭터와 사용자 상호작용 — 이용자 보호의 새 쟁점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우선허용·사후규제 원칙은 고영향 AI에도 적용 가능한가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128/202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(6-2) 중소기업기본법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2/20 · 중소기업기본법 · 소관 중기부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중소기업의 범위와 육성 시책의 기본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중소기업자 범위(제2조), 주된 업종 기준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정부·지자체의 중소기업 육성 책무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지원 관련 다른 법률보다 우선(제4조의3)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제16조 '중소기업등' 범위 차용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 중소기업 특별지원의 대상 확정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바우처·도입 지원사업의 수혜 범위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바뀌면 AI 지원 대상도 함께 바뀜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중소기업, AI전환, 지원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진흥의 핵심 수혜자 — 그런데 중소기업은 AI 규제 대응 역량이 가장 약하다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의무가 중소 AI 기업에 주는 부담 — 규제 차등 필요성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'AI 스타트업'을 중소기업 범위와 별도로 정의해야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129/202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(6-3) 벤처기업법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3/20 · 벤처기업육성에 관한 특별법 · 소관 중기부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벤처기업 창업·성장 촉진(특별법)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벤처기업 요건(제2조의2)·확인 제도(제25조)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벤처기업집적시설·창업 지원·스톡옵션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벤처투자 실적과 기술성 평가 연계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제16조 지원 대상에 벤처기업 포함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스타트업 = 대부분 벤처기업 확인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기술평가 기준에 AI 기술력 반영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제18조 창업 활성화와 함께 작동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AI벤처, 창업, 지원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기업의 성장 경로 — 벤처 확인 → 투자 → 규모 확대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스타트업의 '기술성' 평가는 누가 어떻게 하는가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벤처기업 확인 업종에서 AI 기업 비중 추이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130/202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(6-4) 벤처투자법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4/20 · 벤처투자 촉진에 관한 법률 · 소관 중기부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민간 주도 벤처투자 생태계 조성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벤처투자조합·벤처투자회사·창업기획자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한국벤처투자 설립(제66조), 모태조합(제70조)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개인투자조합, 공모벤처투자조합 특례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제18조③이 제70조 모태조합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출자 모태펀드 → AI 전용 펀드 결성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스타트업 투자 자금의 제도적 통로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 활성화 시책의 재원 수단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벤처투자, AI기업, 자금조달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산업 육성 예산의 상당 부분이 모태펀드를 통해 흐른다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기업 가치평가의 거품과 정책 펀드의 투자 기준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정책 펀드는 AI '신뢰성'(윤리·안전)도 투자 기준에 넣어야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131/202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(6-5) 소프트웨어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5/20 · 소프트웨어 진흥법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국가 소프트웨어 역량 강화·산업 기반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전부개정(구 소프트웨어산업 진흥법)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진흥시책·품질인증·인력양성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SW사업 발주·계약·하도급 규율(제5장)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AI기술 = '하드웨어·소프트웨어 기술'(AI기본법 제2조3호)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제30조 SW안전 지침 ↔ AI기본법 제32조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제28조 SW융합 촉진 ↔ AI기본법 제19조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AI 사업도 공공 SW사업 규율을 받는다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소프트웨어, AI개발, 산업지원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시스템은 SW다 — SW안전 확보 지침(위험분석~운영)이 AI 안전의 출발점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AI 사업의 과업 변경·대가 산정 — 데이터 구축 비용은 SW 대가에 포함되나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'AI 모델'은 SW 품질인증(GS인증) 대상이 될 수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132/202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(6-6) 정보통신산업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6/20 · 정보통신산업 진흥법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정보통신산업 진흥 기반·경쟁력 강화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진흥계획·통계, 연구개발·사업화(제8·9조)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정보통신표준화·인증(제12·14조), 진흥단지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정보통신산업진흥원(NIPA), 정보통신진흥기금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연구과제 ↔ AI기본법 제13조 기술개발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제12조 표준화 ↔ AI기본법 제14조 표준화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NIPA가 AI 지원사업의 주요 수행기관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ICT산업, AI산업, 융합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지원사업 예산의 실제 집행 통로 — 진흥기관 체계(NIPA·NIA·IITP)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정보통신진흥기금 재원(통신사 부담금)으로 AI를 지원하는 구조의 타당성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진흥 전담기관을 따로 두어야 하나, 기존 기관을 활용해야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133/202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(6-7) 공간정보산업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7/20 · 공간정보산업 진흥법 · 소관 국토교통부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공간정보산업 경쟁력 강화·진흥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진흥 기본계획, 공공수요 공개·통계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가공공간정보 생산·유통, 융·복합산업(제9조)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품질인증(제12조)·표준화, 공간정보산업진흥원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데이터 + AI 융·복합 서비스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 ↔ AI기본법 제19조 융합 촉진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제12조 품질인증 ↔ AI기본법 제30조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  ·  주요 주제: 공간정보, AI산업, 데이터  ·  고영향AI 분야: 공공·교통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 기본법(데이터)과 짝 — 데이터는 공공이, 서비스는 산업이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디지털트윈·자율주행 정밀지도 시장 — 공간정보 산업의 AI 전환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가공공간정보의 품질 오류가 AI 서비스 사고로 이어지면 책임은?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134/202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(6-8)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산업디지털전환법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8/20 · 산업 디지털 전환 및 인공지능 활용 촉진법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산업데이터·지능정보기술·AI의 산업 활용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2025.12.30 개정 — 제명에 'AI 활용' 추가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산업데이터 활용·표준화(제10·12조)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산업데이터 품질관리·플랫폼(제13·14조)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제2조3의2호가 AI기본법 '인공지능'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AI기본법의 정의가 다른 법의 기준이 된 사례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산업통상부 소관 — 제조·산업 AI 진흥법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법령후보 자동탐지로 발견·추가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개발→사업화→이용  ·  주요 주제: 산업AI, 디지털전환, 기업지원  ·  고영향AI 분야: 산업 전반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진흥 법이 과기정통부(AI기본법)·산업부(이 법)로 이원화 — 중복과 경쟁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산업데이터 '활용권'(공동 생성 데이터의 권리) — 데이터 소유 논쟁의 대안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AI기본법을 인용하는 법이 늘어나면 AI기본법은 '정의 법'이 되는가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135/202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(6-8) 산업디지털전환법 —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디지털 전환 및 인공지능 활용 촉진법(산업통상부, 2026.7.1 시행)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역인용 구조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제2조3의2호: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'인공지능'은 AI기본법 제2조1호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"인공지능"이란 「인공지능 발전과 신뢰 기반 조성 등에 관한 기본법」 제2조제1호에 따른 인공지능을 말한다.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50394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AI기본법의 정의가 다른 법의 기준이 됨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2025.12.30 개정으로 제명에 'AI 활용' 추가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법령후보 자동탐지로 발견·추가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내용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산업데이터 활용·보호, 산업 AI 확산 지원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전환기업·공급기업 지원, 전담기관 지정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AI기본법(범용) + 이 법(산업 특화)의 이원 구조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2026.9.18 타법개정 — 최근까지 계속 변동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'인공지능'이라도 AI기본법은 정의를 만들고 이 법은 그 정의를 빌린다 — 정의의 표준화 효과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AI 진흥이 두 법으로 나뉠 때 지원사업 중복과 부처 간 조정은?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개별법도 AI기본법 정의를 인용하게 될까? — AILawMap 법령후보 탐지로 매주 추적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AI기본법 정의를 인용하는 개별법의 증가 추세와 입법 패턴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136/202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(6-9) 삼차원프린팅산업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9/20 · 삼차원프린팅산업 진흥법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3D프린팅산업 진흥 기반·이용자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기본계획, 전담기관·종합지원센터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품질인증(제10조), 서비스사업 신고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위해물품 제조 금지, 제조물책임 면책(제17조)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설계 + 3D 출력 = AI 제조 공정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제10조 품질인증 ↔ AI기본법 제30조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397738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제17조: 이용자 제공 도면 결함 시 면책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삼차원프린팅서비스사업자는 이용자가 제공한 도면의 결함 등 각 호의 사실을 입증하면 「제조물 책임법」 제3조의 손해배상책임을 면한다. 다만, 공급 후 결함을 알거나 알 수 있었음에도 손해 방지 조치를 하지 않았다면 면책되지 않는다.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산출물 책임 논의와 맞닿음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개발→생산  ·  주요 주제: 3D프린팅, AI제조  ·  고영향AI 분야: 제조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제17조는 '설계를 준 자'와 '제작한 자'의 책임 배분 — AI 생성 설계에 적용하면?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위해물품(총기 부품) 도면을 생성하는 위험 — 제조 금지 규정의 확장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생성형 AI 설계 도구 제공자는 제조물 책임의 주체가 될 수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137/202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(6-10) 정보통신융합법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10/20 · 정보통신 진흥 및 융합 활성화 등에 관한 특별법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정보통신 진흥·융합 신산업 육성(특별법)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신속처리(제36조)·임시허가(제37조)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실증을 위한 규제특례(제38조의2)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정보통신 전략위원회, 다른 법률보다 우선(제4조)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제19조가 임시허가 체계를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융합 제품·서비스의 규제 샌드박스 통로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임시허가 유효기간·연장 절차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후 법령 정비로 이어지는 구조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개발→실증→배포  ·  주요 주제: ICT융합, 실증, 규제특례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 규제 샌드박스의 원형 — 지역특구법·모빌리티법이 이 모델을 따랐다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서비스는 실증특례를 거쳐 실제 시장에 나온 사례가 많다(원격의료·자율주행 등)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샌드박스 승인 후 법 개정이 지연되면 기업은 어떻게 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138/202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(6-11) 지역특구법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11/20 · 규제자유특구 및 지역특화발전특구에 관한 규제특례법 · 소관 행안부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특구 규제특례로 지역 혁신성장·균형발전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우선허용·사후규제, 특화특구·규제자유특구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국무총리 소속 규제자유특구위원회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실증특례(제86조)·임시허가, 책임보험(154개 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법령 없는 AI 신서비스의 실제 출시 경로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제86조 ↔ AI기본법 제24조 실증기반 조성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위치정보·의료기기·항공안전법 특례(제115조 이하)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개발→실증→사업화  ·  주요 주제: 규제샌드박스, 실증, 규제특례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비수도권 한정 — AI 실증의 지역 분산 효과와 수도권 기업의 소외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특구 실증 데이터가 전국 제도화로 이어진 비율은 얼마나 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규제자유특구 실증 사업 중 AI 관련 과제의 성과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139/202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(6-12) 스마트제조혁신법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12/20 · 중소기업 스마트제조혁신 촉진에 관한 법률 · 소관 중기부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중소기업 스마트제조혁신 촉진(2023 제정)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실태조사·스마트공장 수준 확인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제조데이터 활용·플랫폼·전문기관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클러스터, 보안, 인력양성, 사업비 환수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스마트제조혁신 = ICT·AI 융합(제2조2호)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제8조2호: AI 활용 지원사업 명시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스마트제조혁신 기술경쟁력 제고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70071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제16조 도입·제17조 중소기업 지원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145381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제조데이터의 개인정보·영업비밀·저작물 처리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스마트제조, 제조AI, 중소기업  ·  고영향AI 분야: 제조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스마트공장 보급 사업(양적 확대)에서 제조 AI(질적 고도화)로의 전환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 제조기업의 제조데이터 — 플랫폼에 올리면 영업비밀은 지켜지나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제조 AI 도입 실패 시 사업비 환수 — 혁신 시도를 위축시키지 않나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140/202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(6-13) 엔지니어링산업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13/20 · 엔지니어링산업 진흥법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설계·감리·타당성조사 등 엔지니어링 진흥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진흥계획, 엔지니어링데이터플랫폼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기술개발·사업화·표준화, 기술지원센터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사업수행능력 평가·낙찰자 결정·대가 기준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명시: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제9조④ IoT·빅데이터·AI 융합 기술 지원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개정으로 AI 융합 엔지니어링 근거 마련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제9조④ ↔ AI기본법 제19조 융합 촉진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 자동화 도구의 확산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엔지니어링, AI설계  ·  고영향AI 분야: 산업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설계 초안을 만들면 '엔지니어링 대가'는 어떻게 산정하나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엔지니어링 데이터(설계·시공 기록)는 건설 AI의 학습원 — 데이터 공유의 유인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설계 오류의 책임은 기술사 서명으로 모두 귀속되나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141/202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(6-14) 뿌리산업법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14/20 · 뿌리산업 진흥과 첨단화에 관한 법률 · 소관 산업부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주조·금형·용접 등 뿌리산업 진흥·첨단화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기본계획, 뿌리산업발전위원회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확보·전문인력 양성, 핵심 뿌리기술 지정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뿌리기업 명가, 특화단지·진흥센터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제18조: 자동화·지능화·친환경 전환 지원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산업통상부장관은 뿌리기업의 자동화, 지능화 및 환경친화적 기업으로의 전환 촉진을 위한 재정적 지원을 할 수 있다.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0394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인력난 공정에 AI·로봇 도입의 근거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 ↔ AI기본법 제16조 도입·활용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개발→이용  ·  주요 주제: 제조, 자동화, AI  ·  고영향AI 분야: 제조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숙련공의 암묵지를 AI로 — 뿌리기술 데이터화의 가치와 어려움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전환이 외국인 근로자 의존 문제를 해결할 수 있는가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지능화 전환 지원에 '고용 영향' 고려를 넣어야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142/202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(6-15) 소상공인기본법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15/20 · 소상공인기본법 · 소관 중기부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소상공인 지속성장 지원·경쟁력 강화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정의(제2조), 기본계획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전문연구평가기관·지원기관 설치(제32·35조)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폐업·재기 지원, 중소기업기본법과의 관계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제16조 '중소기업등'에 포함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AI 도입(키오스크·AI 상담) 지원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전환 격차 — 지원 필요성이 가장 큼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제17조의2 이용비용 지원과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도입→이용  ·  주요 주제: 소상공인, 디지털전환, 지원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소상공인에게 AI는 '도입'보다 '이용' 문제 — 구독형 AI 서비스 비용 지원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배달·예약 플랫폼의 AI 알고리즘에 종속되는 소상공인 — 공정거래 문제와 연결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바우처 사업이 실제 매출 개선으로 이어졌는가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143/202</a:t>
            </a:r>
            <a:endParaRPr lang="en-US" sz="1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(6-16) 전기통신사업법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16/20 · 전기통신사업법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전기통신사업의 건전한 발전·이용자 편의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기간통신 등록·부가통신 신고, 이용약관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제공·도매제공·상호접속, 금지행위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재정·조정, 통신비밀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제22조의5: AI 성적 합성물 유통방지 의무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부가통신사업자 등은 AI 성적 합성물(딥페이크) 등 불법촬영물등의 유통을 방지하기 위한 기술적·관리적 조치를 하여야 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제22조의8: 국외 대규모 사업자 국내대리인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주소·영업소가 없는 일정 규모 이상의 부가통신사업자는 이용자 보호 업무 등을 대리하는 국내대리인을 지정해야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제31조 표시·제36조 국내대리인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서비스 = 대부분 부가통신사업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통신사업, 플랫폼, 이용자보호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챗봇·생성 서비스 제공자는 부가통신사업자 — 이 법의 이용자 보호 의무도 진다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 제도가 두 법에 따로 있다 — 해외 AI 기업 규율의 실효성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망 이용대가 논쟁은 대형 AI 서비스 트래픽에도 적용되나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144/202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(6-17) 방송통신발전 기본법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17/20 · 방송통신발전 기본법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방송통신 공익성·진흥·기술기준·재난관리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497003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방송통신기본계획, 방송통신발전기금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41470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기술기준·표준화, 방송통신재난관리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585937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제4조: 이용자 차별 금지·권리침해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방송통신사업자는 방송통신서비스 제공과 관련하여 정당한 사유 없이 시청자나 이용자를 차별하여서는 아니 된다.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 ↔ AI기본법 제27조 윤리·제31조 표시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콘텐츠의 명예훼손·권리침해 금지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집적정보통신시설(데이터센터)도 재난관리 대상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방송통신, 미디어, 산업정책  ·  고영향AI 분야: 미디어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화재(2022) 이후 재난관리 강화 — AI 서비스 가용성의 법적 기반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방송통신발전기금의 AI 콘텐츠 지원 — 기금 용도 확대의 쟁점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방송·통신·AI가 융합되는데 기본법은 여전히 둘로 나뉘어 있다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145/202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(6-18) 전자문서법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18/20 · 전자문서 및 전자거래 기본법 · 소관 과기정통부, 법무부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전자문서·전자거래 법률관계와 신뢰성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전자문서 효력·서면요건·보관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시기, 의사표시 귀속(제7조)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공인전자주소, 분쟁조정위원회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제7조①2호: 자동 송수신 프로그램의 의사표시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전자문서를 송신ㆍ수신하도록 구성된 컴퓨터프로그램이나 그 밖의 전자적 수단에 의하여 송신된 전자문서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0394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작성자가 보낸 것으로 봄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거래의 현행법상 출발점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제31조 AI 운용 사실 고지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전자거래, 전자문서, 신뢰  ·  고영향AI 분야: 금융·상거래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사람 대신 계약을 체결하면 — 착오·오작동의 책임은 이용자인가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'자동으로 송수신하도록 구성된 프로그램'은 생성형 AI를 예정한 조문이 아니다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에이전트 거래에 별도의 '확인 단계' 의무를 두어야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146/202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(6-19) 공정거래법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19/20 · 독점규제 및 공정거래에 관한 법률 · 소관 공정위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시장지배적지위 남용·경제력 집중 방지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부당한 공동행위(담합)·불공정거래행위 금지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기업결합 심사, 동의의결·과징금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손해배상(담합 3배), 공정위 전속고발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가격결정 알고리즘 담합 — 정보 교환 합의 추정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제40조⑤2호 ↔ AI 시장의 경쟁 질서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알고리즘 자사우대 = 남용행위(제5조)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시장지배력, 플랫폼, 경쟁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AI끼리 '학습해서' 가격을 맞추면 합의가 없어도 담합인가 — 알고리즘 담합 논쟁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AI 기업의 스타트업 인수·제휴 — 기업결합 심사의 새 쟁점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모델·데이터·컴퓨팅의 집중을 경쟁법으로 다룰 수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147/202</a:t>
            </a:r>
            <a:endParaRPr lang="en-US" sz="1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(6-20) 콘텐츠산업 진흥법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산업·시장·경쟁 20/20 · 콘텐츠산업 진흥법 · 소관 문화체육관광부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콘텐츠산업 기반 조성·경쟁력 강화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기술을 활용한 콘텐츠 제작 지원(제9조)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지식재산권 보호 시책(제10조)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무단복제 금지(제37조), 이용자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콘텐츠 제작 활성화와 보호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5306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제37조: 상당한 노력으로 제작한 콘텐츠 보호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누구든지 정당한 권한 없이 콘텐츠제작자가 상당한 노력으로 제작하고 제작연월일·제작자명 등을 표시한 콘텐츠의 전부 또는 상당한 부분을 복제·배포·방송·전송하여 콘텐츠제작자의 영업에 관한 이익을 침해해서는 안 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학습용 크롤링과 무단 복제의 경계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용어는 저작권법을 따름(제2조②)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생성→배포  ·  주요 주제: 콘텐츠, 생성AI, 산업진흥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보호 밖의 DB·콘텐츠도 '상당한 노력' 요건으로 보호 — AI 학습과 충돌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웹툰·AI 음악 등 생성 콘텐츠 산업 — 진흥 지원 대상인가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엑셀 분류상 '산업'에 둔 이유 — 진흥법 성격이 IP 성격보다 강하다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148/202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지식재산권의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체계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산업재산권 · 저작권 · 신지식재산 — AI는 세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포괄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산업재산권: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특허·실용신안·디자인·상표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저작인격권·저작재산권·저작인접권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신지식재산: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프로그램·DB·배치설계·영업비밀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헌법 제22조②: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저작자·발명가의 권리 보호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권리의 성격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무형재산권: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형태는 없지만 양도·거래 가능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독점·배타권: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일정 기간 독점 이용·금지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제한: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특허 20년, 저작권 사후 70년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특허 등은 등록, 저작권은 창작과 동시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모델은 특허(알고리즘)·저작권(코드)·영업비밀(가중치) 중 무엇으로 보호하는 것이 유리한가?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등록주의인 특허와 무방식주의인 저작권 — AI 산출물은 어느 쪽에서 먼저 문제가 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지식재산권 vs 지적재산권 — 지식재산 기본법(2011) 이후 법령 용어는 '지식재산권'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기업의 IP 포트폴리오(특허·영업비밀 비중) 실증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149/202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1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2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2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2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2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2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3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3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3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 — AI 쟁점 요약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" y="2031797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지식재산 범주 · 모두 조문 인용 없는 주제 연결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150/202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74798"/>
              </p:ext>
            </p:extLst>
          </p:nvPr>
        </p:nvGraphicFramePr>
        <p:xfrm>
          <a:off x="685800" y="2606040"/>
          <a:ext cx="16916400" cy="6963154"/>
        </p:xfrm>
        <a:graphic>
          <a:graphicData uri="http://schemas.openxmlformats.org/drawingml/2006/table">
            <a:tbl>
              <a:tblPr/>
              <a:tblGrid>
                <a:gridCol w="510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 대상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쟁점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지식재산 기본법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지식재산 정책 전반(상위 원칙)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신지식재산 창출, 공정한 이용 질서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특허법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발명(기술적 사상의 창작)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발명자 적격성(DABUS)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실용신안법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물품의 형상·구조 고안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장치 개량의 신속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상표법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상품·서비스 식별표지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생성 로고, AI 상표검색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디자인보호법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물품·화상의 외관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생성한 디자인·GUI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저작권법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인간의 사상·감정 표현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학습데이터 이용, 산출물의 저작물성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부정경쟁방지법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영업비밀·성과·데이터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가중치·데이터셋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관세법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국경 단계 지식재산권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위조품·침해물품 통관 단속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반도체배치설계법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집적회로 배치설계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반도체(NPU) 설계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30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콘텐츠산업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진흥법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(→ 6.</a:t>
                      </a:r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산업경쟁</a:t>
                      </a:r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콘텐츠·DB 제작자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생성 콘텐츠의 표시와 보호</a:t>
                      </a:r>
                      <a:endParaRPr lang="en-US" sz="1200" dirty="0"/>
                    </a:p>
                  </a:txBody>
                  <a:tcPr marL="75895" marR="75895" marT="38405" marB="38405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1/9 · 지식재산 기본법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 창출·보호·활용의 상위 원칙법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지식재산·지식재산권·신지식재산 정의(제3조)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국가지식재산위원회, 국가지식재산기본계획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법 제·개정 시 이 법 취지에 부합(제5조)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제18조: 신지식재산 창출 지원 — AI 산출물 논의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신지식재산의 창출ㆍ보호 및 활용을 촉진하여야 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25604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AI기본법에는 지식재산 조항이 전혀 없다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70071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IP 정책은 이 법의 체계에서 조정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145381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AI기본법과는 '연결설명' 관계(인용 없음)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개발→생성  ·  주요 주제: IP정책, 산업재산, 저작권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생성물·학습데이터의 권리 문제를 다루는 정책 조정의 최상위 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'신지식재산' 개념이 AI 산출물을 포섭할 수 있는가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AI기본법에 지식재산 조항을 두지 않은 입법 선택은 타당했나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151/202</a:t>
            </a:r>
            <a:endParaRPr lang="en-US" sz="1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152/202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AD53E15-E68D-4E53-97D2-5C66BE4C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1503"/>
            <a:ext cx="18288000" cy="748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030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 법체계의 상위 원칙법 — AI기본법과는 '연결설명' 관계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역할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지식재산·지식재산권·신지식재산 정의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"지식재산"은 인간의 창조적 활동·경험으로 창출·발견된 지식·정보·기술 등으로 재산적 가치가 실현될 수 있는 것, "신지식재산"은 새로운 분야의 지식재산이다.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법 제·개정 시 이 법 취지에 부합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지식재산과 관련되는 다른 법률을 제정하거나 개정하는 경우에는 이 법의 목적과 기본이념에 맞도록 하여야 한다.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국가지식재산위원회 — 지식재산 정책 조정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2026.9.15 일부개정 시행(법률 제21954호)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AI기본법과의 관계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원문에 지식재산 언급 없음(0회)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7003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신지식재산 창출 — AI 산출물 논의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신지식재산의 창출ㆍ보호 및 활용을 촉진하여야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700710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제28조: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공정한 이용 질서 — 학습데이터 논의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정부는 지식재산의 공정한 이용을 촉진하고, 지식재산권의 남용을 방지하기 위하여 노력 하여야 한다.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792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인용이 아닌 편집자 판단 → '연결설명'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AI기본법(행위 중심)과 지식재산 기본법(자산 중심) — 두 기본법이 서로를 전혀 인용하지 않는 이유는?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제5조의 정합 의무는 AI 산출물 보호 입법이 나올 때 어떤 방향을 요구하는가?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국가지식재산위원회와 국가인공지능전략위원회 — 두 위원회의 역할 조정은?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두 기본법의 기본계획에서 AI·IP 과제가 어떻게 중복·누락되는지 비교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153/202</a:t>
            </a:r>
            <a:endParaRPr lang="en-US" sz="1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(7-2)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2/9 · 특허법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발명 보호·장려로 기술 발전 촉진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특허요건(신규성·진보성), 출원·심사·등록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특허권의 효력·실시권, 침해와 구제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특허심판·특허취소신청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제33조: 특허받을 권리 = '발명을 한 사람'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발명을 한 사람 또는 그 승계인은 이 법에서 정하는 바에 따라 특허를 받을 수 있는 권리를 가진다. 다만, 지식재산처 직원 및 특허심판원 직원은 상속이나 유증(遺贈)의 경우를 제외하고는 재직 중 특허를 받을 수 없다.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75184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발명자는 자연인 — AI는 발명자가 될 수 없음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DABUS 출원 무효처분(2022)·국내외 같은 결론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'도구'로 쓴 인간 발명은 보호 가능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개발→생성  ·  주요 주제: 특허, AI발명, 발명자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기여가 커질수록 '인간 발명자'의 기여 요건이 핵심 쟁점이 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진보성 판단의 '통상의 기술자' 기준을 바꿀까 — 발명이 쉬워진다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생성 발명을 보호하지 않으면 영업비밀로 숨기는 유인이 커지지 않나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154/202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(7-2)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AE4177F-BE36-41F4-918E-2482A3B21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9383"/>
            <a:ext cx="18288000" cy="74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7260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(7-2) 특허법 — AI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발명자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특허를 받을 수 있는 자는 '발명을 한 사람' — 자연인 원칙과 DABUS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법리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제33조①: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발명을 한 사람이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특허받을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발명을 한 사람 또는 그 승계인은 이 법에서 정하는 바에 따라 특허를 받을 수 있는 권리를 가진다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. 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다만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, 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지식재산처 직원 및 특허심판원 직원은 상속이나 유증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(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遺贈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)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의 경우를 제외하고는 재직 중 특허를 받을 수 없다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. &lt;</a:t>
            </a:r>
            <a:r>
              <a:rPr lang="ko-KR" altLang="en-US" b="0" i="0" dirty="0">
                <a:solidFill>
                  <a:srgbClr val="1A2230"/>
                </a:solidFill>
                <a:effectLst/>
                <a:latin typeface="Pretendard"/>
              </a:rPr>
              <a:t>개정 </a:t>
            </a:r>
            <a:r>
              <a:rPr lang="en-US" altLang="ko-KR" b="0" i="0" dirty="0">
                <a:solidFill>
                  <a:srgbClr val="1A2230"/>
                </a:solidFill>
                <a:effectLst/>
                <a:latin typeface="Pretendard"/>
              </a:rPr>
              <a:t>2025.10.1&gt;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47242" y="531837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발명자는 자연인 — AI·법인은 발명자 불가</a:t>
            </a:r>
            <a:endParaRPr lang="en-US" sz="1200" b="1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249937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b="1" dirty="0">
                <a:solidFill>
                  <a:srgbClr val="0000FF"/>
                </a:solidFill>
                <a:latin typeface="+mn-ea"/>
                <a:cs typeface="Malgun Gothic" pitchFamily="34" charset="-120"/>
              </a:rPr>
              <a:t>DABUS 출원:</a:t>
            </a:r>
            <a:r>
              <a:rPr lang="en-US" dirty="0">
                <a:solidFill>
                  <a:srgbClr val="1A1A1A"/>
                </a:solidFill>
                <a:latin typeface="+mn-ea"/>
                <a:cs typeface="Malgun Gothic" pitchFamily="34" charset="-120"/>
              </a:rPr>
              <a:t> 특허청 무효처분(2022)</a:t>
            </a:r>
            <a:r>
              <a:rPr lang="ko-KR" altLang="en-US" b="1" u="none" strike="noStrike" dirty="0">
                <a:effectLst/>
                <a:latin typeface="+mn-ea"/>
              </a:rPr>
              <a:t> </a:t>
            </a:r>
            <a:r>
              <a:rPr lang="ko-KR" altLang="en-US" b="0" u="none" strike="noStrike" dirty="0">
                <a:effectLst/>
                <a:latin typeface="+mn-ea"/>
              </a:rPr>
              <a:t>사건은 미국의 </a:t>
            </a:r>
            <a:r>
              <a:rPr lang="en-US" altLang="ko-KR" b="0" u="none" strike="noStrike" dirty="0">
                <a:effectLst/>
                <a:latin typeface="+mn-ea"/>
              </a:rPr>
              <a:t>AI </a:t>
            </a:r>
            <a:r>
              <a:rPr lang="ko-KR" altLang="en-US" b="0" u="none" strike="noStrike" dirty="0">
                <a:effectLst/>
                <a:latin typeface="+mn-ea"/>
              </a:rPr>
              <a:t>개발자 스티븐 </a:t>
            </a:r>
            <a:r>
              <a:rPr lang="ko-KR" altLang="en-US" b="0" u="none" strike="noStrike" dirty="0" err="1">
                <a:effectLst/>
                <a:latin typeface="+mn-ea"/>
              </a:rPr>
              <a:t>테일러가</a:t>
            </a:r>
            <a:r>
              <a:rPr lang="ko-KR" altLang="en-US" b="0" u="none" strike="noStrike" dirty="0">
                <a:effectLst/>
                <a:latin typeface="+mn-ea"/>
              </a:rPr>
              <a:t> </a:t>
            </a:r>
            <a:r>
              <a:rPr lang="ko-KR" altLang="en-US" u="none" strike="noStrike" dirty="0">
                <a:effectLst/>
                <a:latin typeface="+mn-ea"/>
              </a:rPr>
              <a:t>인공지능</a:t>
            </a:r>
            <a:r>
              <a:rPr lang="en-US" altLang="ko-KR" u="none" strike="noStrike" dirty="0">
                <a:effectLst/>
                <a:latin typeface="+mn-ea"/>
              </a:rPr>
              <a:t>(AI)</a:t>
            </a:r>
            <a:r>
              <a:rPr lang="ko-KR" altLang="en-US" u="none" strike="noStrike" dirty="0">
                <a:effectLst/>
                <a:latin typeface="+mn-ea"/>
              </a:rPr>
              <a:t>을 특허법상 </a:t>
            </a:r>
            <a:r>
              <a:rPr lang="en-US" altLang="ko-KR" u="none" strike="noStrike" dirty="0">
                <a:effectLst/>
                <a:latin typeface="+mn-ea"/>
              </a:rPr>
              <a:t>'</a:t>
            </a:r>
            <a:r>
              <a:rPr lang="ko-KR" altLang="en-US" u="none" strike="noStrike" dirty="0">
                <a:effectLst/>
                <a:latin typeface="+mn-ea"/>
              </a:rPr>
              <a:t>발명자</a:t>
            </a:r>
            <a:r>
              <a:rPr lang="en-US" altLang="ko-KR" u="none" strike="noStrike" dirty="0">
                <a:effectLst/>
                <a:latin typeface="+mn-ea"/>
              </a:rPr>
              <a:t>'</a:t>
            </a:r>
            <a:r>
              <a:rPr lang="ko-KR" altLang="en-US" u="none" strike="noStrike" dirty="0">
                <a:effectLst/>
                <a:latin typeface="+mn-ea"/>
              </a:rPr>
              <a:t>로 </a:t>
            </a:r>
            <a:r>
              <a:rPr lang="ko-KR" altLang="en-US" b="1" u="none" strike="noStrike" dirty="0">
                <a:effectLst/>
                <a:latin typeface="+mn-ea"/>
              </a:rPr>
              <a:t>인정받기 위해</a:t>
            </a:r>
            <a:r>
              <a:rPr lang="ko-KR" altLang="en-US" dirty="0">
                <a:latin typeface="+mn-ea"/>
              </a:rPr>
              <a:t> 전 세계 주요국 특허청에 국제 특허를 출원하고 소송을 제기한 대표적인 지식재산권 분쟁</a:t>
            </a:r>
            <a:endParaRPr lang="en-US" dirty="0">
              <a:latin typeface="+mn-ea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3029029" y="6715809"/>
            <a:ext cx="390524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행정소송·해외</a:t>
            </a: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(영·미)도 같은 결론</a:t>
            </a:r>
            <a:endParaRPr lang="en-US" sz="1200" b="1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 개선 논의(박재일, 2025)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AI를 발명자로: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법인격 문제로 곤란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준비한 사람에 귀속: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영국 CGW 개념 차용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시스템 소유자 귀속: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천연과실 이론 원용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발명자 개념보다 권리 귀속 구조 조정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실질적으로 발명했는데 사람을 발명자로 적는다면 — 허위 기재와 특허 무효의 위험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'상당한 기여' 기준(미국 USPTO 2024 지침)은 국내 심사에 어떻게 반영될 수 있을까?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발명이 늘면 진보성 판단의 '통상의 기술자'는 AI를 쓰는 기술자로 바뀌어야 하는가?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활용 발명의 출원 명세서 기재 실태와 발명자 기재 관행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156/202</a:t>
            </a:r>
            <a:endParaRPr lang="en-US" sz="1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(7-3) 실용신안법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3/9 · 실용신안법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물품의 형상·구조·조합 고안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산업재산권 4법 중 하나 — '소발명' 보호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등록요건·출원 등 대부분 특허법 준용(제11조)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존속기간 10년(특허보다 짧음)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발명자 규정도 특허법 준용 — AI 고안 불인정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장치·구조 개량의 신속 보호 수단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하드웨어 주변 기술의 권리화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특허법 쟁점이 그대로 이어짐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개발→생성  ·  주요 주제: 실용신안, 기술권리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대량 생성한 '고안' 출원 — 심사 부담과 권리 남용 우려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실용신안은 진보성 기준이 낮다 — AI 생성 고안이 쉽게 등록될 위험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실용신안 제도는 AI 시대에도 독자적 의미가 있는가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157/202</a:t>
            </a:r>
            <a:endParaRPr lang="en-US" sz="1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(7-3) 실용신안법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158/202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0D2598F-DF8C-4AA1-9004-959B717F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6281"/>
            <a:ext cx="18288000" cy="72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6322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(7-4) 디자인보호법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4/9 · 디자인보호법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물품·화상 디자인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 개정 — '화상(畵像)' 디자인 정의 추가(제2조)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GUI·아이콘·투영 이미지도 보호 대상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등록요건·심사·디자인권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자율 생성한 디자인의 보호 여부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창작자는 사람 — AI 단독 생성 디자인은 불인정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이미지와 기존 등록디자인의 유사성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디자인 = SW 저작물과의 접점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개발→생성  ·  주요 주제: 디자인, 생성물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AI가 수천 개 디자인 변형을 만들면 — 등록 가능한 '창작'은 어디까지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학습에 등록디자인을 쓰는 것은 디자인권 침해인가(실시 vs 학습)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화상 디자인 보호가 AI 생성 UI 시장에 주는 영향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159/202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(7-4) 디자인보호법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548D205-84CF-42DB-BFD4-57B088DDF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0890"/>
            <a:ext cx="18288000" cy="717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7729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(7-5) 반도체배치설계법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5/9 · 반도체집적회로의 배치설계에 관한 법률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반도체집적회로 배치설계 창작자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배치설계권 발생·존속기간 10년(제6~8조)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선의자 면책·이용료 청구(제9·38조)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통상이용권 재정, 특허법 절차 준용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반도체(NPU·가속기) 설계 보호와 직결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 자동화(EDA)가 만든 배치설계의 권리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신지식재산 하위법(지식재산 기본법)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= AI 연산 경쟁력의 핵심 자산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개발→제조  ·  주요 주제: 반도체IP, AI반도체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칩 배치를 설계하는 시대 — '창작한 자'의 요건은 어떻게 되나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반도체 기술 유출 — 배치설계권과 산업기술보호법의 이중 보호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거의 쓰이지 않던 법이 AI 반도체 경쟁으로 다시 주목받는 이유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161/202</a:t>
            </a:r>
            <a:endParaRPr lang="en-US" sz="1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(7-5) 반도체배치설계법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162/202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9B72F4-C820-43BA-9999-F557D150D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5232"/>
            <a:ext cx="18288000" cy="677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6366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(7-6) 부정경쟁방지법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6/9 · 부정경쟁방지 및 영업비밀보호에 관한 법률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부정경쟁행위·영업비밀 침해 방지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영업비밀: 비공개·경제적 가치·비밀관리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부정사용 행위(부정경쟁행위 유형)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도용 조항(보충적 일반조항)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가중치·학습데이터셋·프롬프트 보호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491496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제9조의8: 영업비밀 훼손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누구든지 정당한 권한 없이 또는 허용된 권한을 넘어 타인의 영업비밀을 훼손ㆍ멸실ㆍ변경하여서는 아니 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89354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제13조: 선의 취득자 특례 — 학습데이터 출처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거래로 영업비밀을 정당하게 취득한 자가 허용된 범위에서 사용·공개하는 행위에는 금지청구·손해배상 등 규정을 적용하지 않는다.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특허·저작권 밖 AI 자산의 주 보호 수단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데이터→개발→이용  ·  주요 주제: 영업비밀, 부정경쟁, 데이터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기업의 핵심 자산은 대부분 '등록하지 않은' 영업비밀이다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AI 출력으로 자사 모델을 학습(증류)하면 — 부정경쟁인가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성과 도용 조항이 AI 모방 산출물 분쟁의 해법이 될 수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163/202</a:t>
            </a:r>
            <a:endParaRPr lang="en-US" sz="1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(7-6) 부정경쟁방지법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15F7F76-58E5-49FA-82FB-AC83FC21D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1213"/>
            <a:ext cx="18288000" cy="695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2498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(7-7)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(1/3)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7/9 · 저작권법 · 소관 문화체육관광부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저작자 권리 보호와 공정한 이용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저작물 = 인간의 사상·감정 표현(제2조1호)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공정이용(제35조의5), DB제작자 권리(제93조)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보호조치, 침해 구제·비밀유지명령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단독 생성물은 저작물이 아님(등록 불가)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과정의 복제 — TDM 면책 규정 없음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사안별 공정이용 판단에 의존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학습데이터셋 = DB로 구성 시 보호 연결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데이터→학습→생성  ·  주요 주제: 학습데이터, TDM, 생성물, 저작권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지식재산의 최대 쟁점 — 학습 허락과 생성물 권리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TDM 면책 입법(2021 전부개정안) 무산 — 해외(EU·일본·영국)와의 격차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학습데이터 이용 보상제도(집중관리)는 현실적인 대안인가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165/202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(7-7)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(1/3)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22EE90-E074-4729-9700-ED03B621D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9384"/>
            <a:ext cx="18288000" cy="778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022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(7-7) 저작권법① — AI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</a:t>
            </a:r>
            <a:r>
              <a:rPr lang="en-US" altLang="ko-KR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(2/3)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저작물 = '인간의 사상 또는 감정을 표현한 창작물'(제2조1호)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해석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인간의 사상·감정 표현만 저작물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"저작물"은 인간의 사상 또는 감정을 표현한 창작물을 말한다.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25604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단독 생성물은 저작권 등록 불가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700710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선택·배열·수정 부분은 보호 가능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145381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문체부 「생성형 AI 저작권 안내서」(2023.12)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입법론의 세 갈래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산업 진흥 위해 별도 보호 필요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인간 창작 위축·권리 독점 우려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짧은 보호기간 등 별도 체계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WIPO 이슈페이퍼(2019.12·2020.5) 국제 논의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정교하게 설계한 사람은 '창작적 기여'를 한 것인가? (미국 Zarya of the Dawn 결정)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생성물임을 숨기고 저작권 등록을 받았다면 — AI기본법 표시 의무(제31조)와의 연결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보호하지 않으면 AI 산출물은 누구나 쓸 수 있다 — 콘텐츠 산업에 미치는 영향은?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국내 저작권 등록 심사에서 AI 활용 저작물 처리 기준의 변화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167/202</a:t>
            </a:r>
            <a:endParaRPr lang="en-US" sz="1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(7-7) 저작권법② —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학습데이터와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공정이용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(3/3)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학습을 위한 복제에 허락이 필요한가 — 국내에는 TDM 면책 규정이 없다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법리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과정의 수집·저장은 '복제'에 해당 가능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497003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제35조의5: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공정이용 — 목적·성격·양·시장영향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제23조부터 제35조의4까지, 제101조의3부터 제101조의5까지의 경우 외에 저작물의 일반적인 이용 방법과 충돌하지 아니하고 저작자의 정당한 이익을 부당하게 해치지 아니하는 경우에는 저작물을 이용할 수 있다.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TDM 면책: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2021 전부개정안에 포함, 미입법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사안별 공정이용 판단에 의존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비교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DSM 지침 TDM 예외 + 권리자 옵트아웃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제53조: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GPAI 저작권 정책 수립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학습데이터 요약 공개 의무(제53조①d)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저작권법 제30조의4 비향유 목적 이용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공정이용의 '시장 영향' 요소 — 생성형 AI가 원저작물 시장을 대체한다면 공정이용이 성립하는가?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옵트아웃(권리 유보) 방식을 국내에 도입한다면 표시 방법과 이행 확인은 누가 하는가?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AI기본법은 학습용데이터(제15조)를 진흥 대상으로만 다룬다 — 저작권과의 조정 장치가 없다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국내 언론사·창작자 단체의 AI 학습 이용 계약·소송 동향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168/202</a:t>
            </a:r>
            <a:endParaRPr lang="en-US" sz="12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(7-8) 관세법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8/9 · 관세법 · 소관 관세청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관세 부과·징수와 수출입 통관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 절차, 원산지 확인(제232조)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지식재산권 침해물품 수출입 금지(제235조)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통관보류·유치·직권보류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생성·침해된 위조품의 국경 단속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상표·저작·특허·디자인권 침해물품 통관 제한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하드웨어(반도체 등) 수출입 원산지 확인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탐지 기술의 세관 활용(X-ray 판독 등)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배포→유통  ·  주요 주제: 통관, IP집행, AI제품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위조 상품 이미지·브랜드 — 온라인 해외직구 국경 단속의 한계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반도체 수출통제(미·중)와 관세·통관 체계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세관의 AI 위험 선별 시스템은 '고영향 AI'로 보아야 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169/202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(7-8) 관세법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F1D8A5-9933-454C-8212-355596E44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6632"/>
            <a:ext cx="18288000" cy="775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9890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(7-9) 상표법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지식재산·콘텐츠 9/9 · 상표법 · 소관 특허청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상표 보호로 업무상 신용 유지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상표등록요건 — 식별력(제33조)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부등록사유, 출원·심사·상표권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타인의 디자인권 등과의 관계(제92조)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생성한 상표·로고의 등록 가능성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상표는 '사용 의사'가 중요 — 창작자 요건은 약함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상표 검색·유사 판단 도구의 확산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콘텐츠의 타인 상표 무단 사용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생성→배포→이용  ·  주요 주제: 상표, 브랜드, 생성콘텐츠  ·  고영향AI 분야: 직접 연관 없음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상표는 창작보다 '식별'을 보호 — AI 생성 로고도 등록될 수 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AI가 유명 브랜드를 흉내 낸 이미지를 만들면 상표 침해인가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에이전트가 쇼핑하는 시대에 '혼동 가능성'은 누구 기준인가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171/202</a:t>
            </a:r>
            <a:endParaRPr lang="en-US" sz="1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(7-9) 상표법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4F6DD73-FD45-4FCB-924A-F808C84D1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5802"/>
            <a:ext cx="18288000" cy="749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9451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디자인 · 상표 · 관세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특허·저작권 밖에서 AI 자산을 지키는 법들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부정경쟁방지법 — AI 자산 보호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영업비밀: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비공개·경제적 가치·비밀관리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가중치·학습 데이터셋·프롬프트 설계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부정사용도 부정경쟁행위로 규율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도용 조항 — AI 모방 산출물 논의 대상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밖의 산업재산·집행 법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디자인보호법: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생성 GUI·제품 외관 보호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생성 로고, 식별력 판단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위조품 국경 단속(침해물품)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반도체배치설계법: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반도체 설계 보호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오픈소스로 공개한 가중치는 영업비밀성을 잃는다 — 그 뒤에는 라이선스로 어디까지 보호할 수 있나?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API로 경쟁 모델의 출력을 대량 수집해 학습(증류)하는 행위는 데이터 부정사용인가?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대량 생성한 디자인·상표 출원이 심사 체계에 주는 부담과 대응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모델 유출 사건에서 영업비밀 요건(비밀관리성) 판단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173/202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3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5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 — 입법 공백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원문에서 지식재산·저작권·특허·발명은 한 번도 나오지 않는다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사실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검색: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지식재산·저작권·특허 모두 0회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학습용데이터(제15조)는 진흥 시책으로만 규정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투명성(제31조)은 '생성물 표시'까지만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문제는 개별 지식재산 법에 전적으로 맡김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공백을 메우는 논의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GPAI에 저작권 준수 의무 부과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저작권법 개정안·안내서로 개별 대응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WIPO: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AI와 IP 이슈페이퍼로 국제 공론화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지식재산 기본법은 '연결설명'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AI기본법에 'AI 생성물 표시'는 있지만 '학습데이터 출처 공개'는 없다 — IP에는 무엇이 더 중요한가?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 쟁점을 AI기본법에 넣는 통합형과 개별법을 고치는 분산형 중 무엇이 바람직한가?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제53조 수준의 의무를 국내 GPAI 사업자에게 부과하면 산업 경쟁력에 미칠 영향은?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AI기본법·저작권법 개정안의 IP 관련 조항 비교와 입법 우선순위 제안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174/202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1/6 · 제조물 책임법 · 소관 공정위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제조물 결함 손해의 무과실 배상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결함: 제조상·설계상·표시상(제2조2호)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 방치 시 손해의 3배 이내(제3조②)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결함·인과관계 추정(제3조의2), 개발위험 항변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AI기본법에는 피해자 손해배상 규정이 없다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제품 사고는 이 법과 민법으로 다뤄짐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SW는 '동산'인가 — 제조물 해당성 쟁점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학습·업데이트되는 제품의 '공급 당시 결함'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배포→사고→구제  ·  주요 주제: 제조물책임, 손해배상, 제품안전  ·  고영향AI 분야: 산업·제품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 2024 개정 제조물책임지침에서 SW·AI를 제조물에 포함 — 국내 입법 과제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추정 조항(제3조의2)은 AI 블랙박스 문제에 대응하는 장치가 될 수 있다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서비스(클라우드형)는 '제조물'이 아니면 무엇으로 책임지나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175/202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176/202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5B036B1-F1C2-4A0D-A0D1-E6A05403B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0550"/>
            <a:ext cx="18288000" cy="666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3192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(8-1)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제조물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(1/2)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177/202</a:t>
            </a:r>
            <a:endParaRPr 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5FE318-5507-4267-856F-1EC591E3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0607"/>
            <a:ext cx="18288000" cy="721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3579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752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752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8955"/>
            <a:ext cx="16392449" cy="1884579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(8-1) 제조물 책임법의 AI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(2/2)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학습하고 업데이트되는 제품에 '공급 당시의 결함'을 묻는 법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현행법을 AI에 적용하면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제2조1호: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제조물 = 동산 — 독립 SW는 불명확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"제조물"이란 제조되거나 가공된 동산(다른 동산이나 부동산의 일부를 구성하는 경우를 포함한다)을 말한다.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44887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설계상 결함: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합리적 대체설계 기준의 적용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893546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표시상 결함: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한계·오류 가능성의 고지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33821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제4조①2호: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개발위험의 항변 — 학습형 AI?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제조업자가 해당 제조물을 공급한 당시의 과학ㆍ기술 수준으로는 결함의 존재를 발견할 수 없었다는 사실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개정 제조물책임지침(2024)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소프트웨어·AI 시스템을 제조물에 명시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업데이트·학습으로 생긴 결함도 책임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공개 명령, 결함·인과관계 추정 확대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 국내법 전환 기한 2026.12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24051" y="7950432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제4조② — 공급 후 결함을 알고도 조치하지 않으면 면책 불가: AI의 '업데이트 의무'로 읽을 수 있는가?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01942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EU 개정 지침을 참고한 제조물 책임법 개정안(소프트웨어 포함) 설계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178/202</a:t>
            </a:r>
            <a:endParaRPr lang="en-US" sz="12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8DDB8261-F625-4F4A-91F0-8279BD350A77}"/>
              </a:ext>
            </a:extLst>
          </p:cNvPr>
          <p:cNvSpPr txBox="1"/>
          <p:nvPr/>
        </p:nvSpPr>
        <p:spPr>
          <a:xfrm>
            <a:off x="1324051" y="827641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결함(제조상·설계상·표시상)이 있으면 과실이 없어도 배상(제3조①) — 알고도 방치하면 3배 이내(제3조②)</a:t>
            </a:r>
            <a:endParaRPr lang="en-US" sz="12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8BF6724E-735B-4D82-9D7C-F988473221E8}"/>
              </a:ext>
            </a:extLst>
          </p:cNvPr>
          <p:cNvSpPr txBox="1"/>
          <p:nvPr/>
        </p:nvSpPr>
        <p:spPr>
          <a:xfrm>
            <a:off x="1328623" y="8652694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피해자가 정상 사용 중 손해 등 세 가지를 증명하면 결함·인과관계 추정(제3조의2) — 블랙박스 대응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(8-2) 민사소송법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2/6 · 민사소송법 · 소관 법무부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민사소송의 공정·신속·경제적 진행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제기~변론~증거~판결의 제1심 절차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화상기일(제287조의2), 전자적 증거(제374조)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항소·상고·재심, 독촉절차(시행령 없음)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08397"/>
            <a:ext cx="7448702" cy="136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제163조의2: 판결서 검색 가능 형태로 공개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제162조에도 불구하고 누구든지 판결이 선고된 사건의 판결서(미확정 판결서 포함, 소액사건 등 일부 제외)를 인터넷 등 전산정보처리시스템을 통하여 검색 가능한 형태로 열람·복사할 수 있으며, 개인정보 보호조치를 거친다.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982783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판결문 데이터 = 리걸테크 AI의 학습원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제15조 학습용데이터(주제 연결)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피해 소송의 입증 — 증거 확보 절차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사고→구제  ·  주요 주제: 민사구제, 증거, 분쟁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손해배상 소송에서 피해자가 알고리즘 자료를 얻을 방법 — 문서제출명령의 한계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AI로 작성한 소장·준비서면 — 허위 판례 인용 문제(해외 사례)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판결문 공개 확대와 개인정보 보호의 균형점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179/202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(8-2) 민사소송법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683C3A7-C71B-4C5A-84DF-8A26E639C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1995"/>
            <a:ext cx="18288000" cy="588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9077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(8-3) 법원조직법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3/6 · 법원조직법 · 소관 법원행정처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헌법에 따른 법원의 조직(제1조)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법원의 종류·심판권, 대법원·대법관회의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재판연구관·사법보좌관·기술심리관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 공개, 양형위원회·양형기준(제81조의2 이하)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양형기준(제81조의6)·비구속성(제81조의7)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양형 예측·판결 분석 AI 활용의 기준점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권리·의무에 중대한 영향 판단 ↔ AI기본법 제2조4호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연결(시행령 없음)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사고→구제  ·  주요 주제: 사법제도, 재판  ·  고영향AI 분야: 사법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판사'는 가능한가 — 헌법상 법관에 의한 재판받을 권리와의 충돌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 보조 AI(판례 검색·쟁점 정리)는 이미 법원 내부에서 도입 중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양형기준 이탈을 AI가 알려주면 법관 독립성에 영향은 없나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181/202</a:t>
            </a:r>
            <a:endParaRPr lang="en-US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(8-3) 법원조직법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304B4B0-AA9A-4E6B-B5CD-00E91B93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9332"/>
            <a:ext cx="18288000" cy="62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629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(8-4) 형사절차전자화법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4/6 · 형사사법절차 전자화 촉진법 · 소관 법무부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형사사법절차 전자화로 신속·공정·투명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형사사법정보시스템(KICS) 저장·유통표준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공동 활용, 형사사법포털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형사사법정보체계 협의회, 유출·위변조 처벌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제6조: 공동 활용 + 업무 외 목적 이용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형사사법업무 처리기관은 형사사법정보가 시스템을 통하여 공동 활용되고 신속히 유통되도록 노력하여야 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0394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수사·재판 지원 AI에 형사사법정보 활용 시 쟁점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94861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범죄 수사 = 고영향 AI 바목(생체인식)과 인접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393285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이용→구제  ·  주요 주제: 형사사법 디지털화, 전자절차  ·  고영향AI 분야: 사법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수사·재판 데이터로 AI를 학습시키면 '업무 외 목적'인가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재범위험 예측(해외 COMPAS 논쟁)을 국내에 도입한다면 근거는?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형사사법 AI의 오류는 무죄추정 원칙과 어떻게 충돌하나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183/202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(8-4) 형사절차전자화법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184/202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24DBD3-714F-4975-9EC8-87965875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4342"/>
            <a:ext cx="18288000" cy="57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526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(8-5) 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5/6 · 형법 · 소관 법무부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범죄와 형벌의 일반원칙·구성요건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 1편 + 각칙 42개 장(시행령 없음)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공무원의 직무에 관한 죄(제129~132조)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사기·명예훼손·업무방해 등 AI 악용 범죄 적용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제41조 공무원 의제가 뇌물죄 인용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전략위원회 등 민간 위원도 뇌물죄 적용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범죄 주체가 아님 — 이용자·개발자 책임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딥페이크 사기·명예훼손은 기존 구성요건으로 처벌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이용→사고  ·  주요 주제: 형사책임, AI악용, 범죄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'도구'로 쓴 범죄는 기존 형법으로 — 자율적 AI의 행위는 누구에게 귀속되나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 딥페이크 성범죄 대응 개정 — 형법·성폭력처벌법·정보통신망법의 분담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개발자에게 과실범(업무상 과실치상) 책임을 물을 수 있는가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185/202</a:t>
            </a:r>
            <a:endParaRPr lang="en-US" sz="12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(8-5) 형법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186/202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2DDEDA6-FCB0-4E1C-A534-90683ADC5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6745"/>
            <a:ext cx="18288000" cy="664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529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(8-6) 민법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책임·구제·제재 6/6 · 민법 · 소관 법무부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사법(私法)의 기본법 — 사람·법인·재산·가족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권리능력·행위능력, 법인(사단·재단)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계약, 불법행위 손해배상(제750조)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사용자책임(제756조)·공작물책임(제758조)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AI기본법이 사단·재단법인 규정을 준용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사고 피해 = 불법행위 손해배상이 기본 경로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법인격 논의의 비교 기준(권리능력·후견)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제조물 책임법의 일반법(제조물 책임법 제8조)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이용→사고  ·  주요 주제: 손해배상, 불법행위, 인격권  ·  고영향AI 분야: 전 분야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사고에서 피해자가 '과실·인과관계'를 증명하기 어렵다 — 입증책임 완화 논의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이용자의 책임을 사용자책임(제756조)에 유추할 수 있는가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AI에 전자인격(EU 2017 결의) 부여 논의는 왜 사라졌나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187/202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(8-6) 민법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6A07911-9D23-426D-BE96-1B8542556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2582"/>
            <a:ext cx="18288000" cy="57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7479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민법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형법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AI기본법이 빌려 쓰는 사법(私法)과 형벌 규정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민법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432197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제9조①2호: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위원 제척 — 민법 제779조 가족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위원의 가족(「민법」 제779조에 따른 가족을 말한다)이 이해관계인인 경우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162871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제22조의2⑨: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인공지능연구소 — 재단법인 준용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인공지능연구소에 관하여 이 법에서 정한 것을 제외하고는 「민법」 중 재단법인에 관한 규정을 준용한다.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141450"/>
            <a:ext cx="7448702" cy="6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제26조⑦: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진흥협회 — 사단법인 준용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협회에는 이 법 외에 「민법」 중 사단법인 규정을 준용한다.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법인격 논의: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권리능력·후견이 비교 기준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형법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제41조①: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비공무원 위원 — 형법 129~132조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위원회의 위원 중 공무원이 아닌 위원은 「형법」 제129조부터 제132조까지에 따른 벌칙을 적용할 때에는 공무원으로 본다.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제41조②: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위탁기관 임직원 — 127·129~132조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위탁받은 업무에 종사하는 기관·단체의 임직원은 「형법」 제127조 및 제129조~제132조의 벌칙을 적용할 때 공무원으로 본다.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뇌물죄·공무상 비밀누설죄 적용 시 공무원 의제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자체의 형사책임은 없음 — 사람의 책임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'전자인격'을 주자는 논의(EU 의회 2017 결의)는 왜 후퇴했는가 — 책임 회피 우려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계약을 체결한다면 그 의사표시는 누구의 것인가? (법제정비 로드맵의 과제)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형사책임은 결국 사람(개발자·운영자)에게 — 업무상 과실의 주의의무 기준은 무엇인가?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협회·연구소 등 AI 관련 법인의 설립·감독 체계와 민법 준용의 한계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189/202</a:t>
            </a:r>
            <a:endParaRPr lang="en-US" sz="12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책임법의 구조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책임법의 전제가 AI 앞에서 흔들리는 지점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전제 vs AI 특성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행위자 식별: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자율성·불투명성으로 흐려짐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가능성: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후 행태 변화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 입증: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개발·배포·이용의 다수 관여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피해자의 입증 부담이 구조적으로 커짐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책임 체계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불법행위(민법 제750조)·계약·제조물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 시정명령(제40조)·과태료(제43조)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사람의 업무상 과실·관리감독 책임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AI기본법에 피해자 손해배상 조항은 없음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개발자·배포자·이용자가 함께 관여한 사고 — 공동불법행위(민법 제760조)로 연대책임을 물을 수 있나?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의무 이행 기록(투명성·안전성 조치)이 소송에서 과실 판단의 증거가 될 수 있는가?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 AI책임지침(AILD) 제안을 철회(2025)하고 개정 제조물책임지침으로 대응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사고 유형별 책임 주체·근거법 매트릭스 설계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190/202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법제정비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로드맵 — 30개 과제의 현재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 「인공지능 법·제도·규제 정비 로드맵」(2020.12)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 현황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입법으로 이어진 과제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데이터산업법(2021 제정)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결정 대응권: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개인정보보호법 제37조의2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행정 근거: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행정기본법 제20조(2021)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인공지능기본법(2025 제정)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남은 과제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TDM(데이터마이닝) 목적 저작물 이용 허용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창작물의 권리관계 정립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법인격·AI에 의한 계약의 효력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사고 손해배상·보험제도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공통기반 17개 + 활용·확산 13개 — 입법된 것은 주로 '데이터·행정', 남은 것은 '권리·책임'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AI기본법은 이 로드맵의 어느 과제를 해결했고, 어느 과제를 남겼는가?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이후 5년 — 미입법 과제가 남은 이유는 기술 불확실성인가, 이해관계 대립인가?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로드맵 30개 과제의 이행률 평가와 차기 로드맵 제안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191/202</a:t>
            </a:r>
            <a:endParaRPr lang="en-US" sz="12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(9-1) 디지털포용법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투명성·공정성·인권 1/3 · 디지털포용법 · 소관 과기정통부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누구나 차별 없이 지능정보서비스 이용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제정·2026.1.22 시행(AI기본법과 같은 날)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디지털역량 교육, 접근성 보장·품질인증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 편의 제공, 디지털포용 영향평가(제12조)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제5조: AI 등 지능정보기술 역기능 예방 책무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국가와 지방자치단체는 지능정보서비스와 지능정보제품의 경제적ㆍ사회적ㆍ문화적ㆍ윤리적ㆍ환경적 역기능을 예방ㆍ해소하기 위하여 필요한 시책을 마련하여야 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75184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제12조 영향평가 ↔ AI기본법 제35조 영향평가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196518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↔ AI기본법 제29조 신뢰 기반 시책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641189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없음 — 주제 연결(편집자 판단)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디지털접근성, 취약계층, 포용  ·  고영향AI 분야: 공공·복지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서비스가 늘수록 고령층·장애인의 배제 위험도 커진다 — 대체수단 제공 의무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디지털포용 영향평가와 AI 영향평가 — 같은 서비스에 두 번의 평가?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음성 상담만 있는 공공 민원창구는 디지털포용법 위반인가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192/202</a:t>
            </a:r>
            <a:endParaRPr lang="en-US" sz="12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(9-1) 디지털포용법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5E4D3E-F556-4DDB-8F7E-57E011DE9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4404"/>
            <a:ext cx="18288000" cy="724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3138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(9-2) 전자상거래법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투명성·공정성·인권 2/3 · 전자상거래 등에서의 소비자보호에 관한 법률 · 소관 공정위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전자상거래·통신판매의 공정거래·소비자 보호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신원·거래조건 정보 제공, 청약철회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통신판매중개자(플랫폼) 의무와 책임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다크패턴 금지(제21조의2), 사용후기 투명성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470297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제21조의2: 소비자를 속이는 화면 설계 금지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 사업자·통신판매업자는 온라인 인터페이스(웹·앱)로 소비자를 속이거나 오인하게 하는 화면 설계(다크패턴)를 해서는 안 된다.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448875"/>
            <a:ext cx="7448702" cy="86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제21조의4: 사용후기 수집·처리 정보 공개</a:t>
            </a:r>
            <a:endParaRPr lang="en-US" sz="12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6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 사업자·통신판매업자는 사용후기를 게시하는 경우 게시기간·등급평가 및 후기의 수집·처리 방법 등 관련 정보를 공개해야 한다.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42745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추천·AI 생성 후기 시대의 투명성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872124"/>
            <a:ext cx="7448702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제31조 투명성(주제 연결)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배포→이용  ·  주요 주제: 소비자보호, 정보제공, 플랫폼  ·  고영향AI 분야: 상거래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개인별로 가격·화면을 다르게 보여주면 — 개인화와 기만의 경계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가짜 후기 — 플랫폼의 탐지·삭제 의무를 법에 넣어야 하나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쇼핑 에이전트가 구매하면 청약철회권은 누구에게 있나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194/202</a:t>
            </a:r>
            <a:endParaRPr lang="en-US" sz="12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(9-2) 전자상거래법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C177D5A-87F5-4902-9DE2-C3E45B20A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5539"/>
            <a:ext cx="18288000" cy="713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2341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(9-3) 장애인차별금지법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투명성·공정성·인권 3/3 · 장애인차별금지 및 권리구제 등에 관한 법률 · 소관 보건복지부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개요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장애 이유 차별 금지와 권리 구제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직접·간접차별, 정당한 편의제공 거부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고용·교육·재화·정보접근 등 영역별 금지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인권위 진정, 법무부 시정명령, 입증책임 배분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AI와의 연결 지점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제20·21조: 정보접근·의사소통 편의제공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서비스도 장애인 접근성 보장 대상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↔ AI기본법 제27조①2호 접근성 원칙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채용 도구의 간접차별 문제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생애주기: 이용→구제  ·  주요 주제: 차별금지, 접근성, 취약계층  ·  고영향AI 분야: 공공·복지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면접이 장애인의 표정·음성을 낮게 평가하면 — 간접차별로 다툴 수 있다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자막·수어 생성은 편의제공의 수단이 될 수 있다 — 기술의 양면성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 차별의 입증 — 차별 의도 없는 알고리즘에 책임을 묻는 법리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196/202</a:t>
            </a:r>
            <a:endParaRPr lang="en-US" sz="1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(9-3) 장애인차별금지법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197/202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DE60A36-AEDA-4D9C-A392-F94672DE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3924"/>
            <a:ext cx="18288000" cy="757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2332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8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(종합-1) 관련 법령은 </a:t>
            </a:r>
            <a:r>
              <a:rPr lang="en-US" sz="50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</a:t>
            </a: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 주간 자동점검 — 2026년 8~10월에 확인된 개정·시행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일부개정(법률)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 기본법: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2026.9.15 시행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2026.9.11 시행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2026.9.15 시행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2026.10.2 시행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타법개정으로 바뀐 법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데이터산업법·공공데이터법: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2026.8.28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에너지법·산업디지털전환법: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2026.9.18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신용정보법: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2026.9.11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국가연구개발혁신법·공공기관운영법: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10.2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AI기본법이 인용하는 법이 개정되면 AI기본법 조문은 그대로여도 의미가 달라질 수 있다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타법개정은 대개 다른 법 제·개정에 따른 자구 수정 — 그래도 인용 조항 번호가 바뀌면 문제가 된다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AILawMap은 매주 law.go.kr을 다시 조회해 개정을 감지하고 자동으로 갱신 요청(PR)을 만든다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아이디어: AI 관련 법령의 개정 빈도와 AI기본법 인용 조항의 안정성 분석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198/202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(종합-2) 한계와 과제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인용으로 연결된 곳보다, 연결되지 않은 곳이 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 공백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AI기본법에 IP 조항 없음, TDM 미도입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피해자 배상 규정 없음 — 민법·제조물법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 AI: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사목 영역이나 근거법 연결 없음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기반시설 보안: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정보통신기반보호법 — 주제 연결뿐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체계상 과제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차용의 연쇄 변동 — 개별법 개정 모니터링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 분산 — 과기정통부·개인정보위·소관부처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요구의 3중 구조 — 원칙·권리·업권별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정의를 인용하는 개별법의 증가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규율(AI기본법 확대)과 분산 규율(개별법 개정) 중 한국은 어느 쪽으로 가고 있는가?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EU는 AI Act(공법) + 개정 제조물책임지침(사법)의 조합 — 한국의 사법(私法) 측 대응은?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 관계 지도는 입법 공백을 '보이게' 만든다 — 지도가 정책 도구가 될 수 있는가?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시간(7강 사례연구)에 실제 사례로 이 공백을 확인해 본다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199/202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52805" y="7647127"/>
            <a:ext cx="16392449" cy="1886407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44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6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8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50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52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54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6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8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60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1" name="Shape 4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(종합-3) 소논문 주제 힌트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 범위에서 출발할 수 있는 주제들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법체계·입법 분석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인용 네트워크의 구조 분석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11개 영역의 소관 규제 중복도 측정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요구권 3중 구조(AI·개인정보·신용) 비교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법제정비 로드맵 30개 과제 이행률 평가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쟁점·사례 연구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학습데이터와 공정이용 — 국내 입법 방향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발명의 권리 귀속 — 특허법 개정 대안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학습형 AI와 제조물 책임 — 결함·면책 재해석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공공부문 자동적 처분의 권리구제 실태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7898587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법령을 AILawMap에서 정하고, 그 법의 '조문 비교·연결설명' 페이지를 1차 자료로 활용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333195" y="8298180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반드시 law.go.kr에서 확인 — 2차 자료의 조문 번호는 법안(초안) 기준인 경우가 많다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333195" y="8700516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비교법 축(EU AI Act·GDPR·개정 제조물책임지침)은 11강 국제표준 강의와 연결해 확장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333195" y="9100109"/>
            <a:ext cx="15630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영역을 하나 골라 '인용관계'인지 '주제 연결'인지부터 분류해 보기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200/202</a:t>
            </a:r>
            <a:endParaRPr lang="en-US" sz="12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pic>
        <p:nvPicPr>
          <p:cNvPr id="8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3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4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4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4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5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 요약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8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39개를 한 장으로 — 109개 전체는 1~9장에서 법별 1장씩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다룬 것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39개 = AI기본법 인용 22 · 역인용 1 · 주제 연결 16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고영향·데이터는 정의 차용, 진흥은 시책 연계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지식재산·피해자 배상은 AI기본법 밖 — 입법 공백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216091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제조물 책임법을 AILawMap에 새로 추가(연결설명)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 예고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7강: 사례연구(Case Study) 1, AI 법규제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9강: AI 가이드라인 — 개인정보위 AI 안내서 등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11강: AI 거버넌스 국제표준 — 국제규범 14종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원문·비교는 HTML 상세자료와 AILawMap에서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201/202</a:t>
            </a:r>
            <a:endParaRPr lang="en-US" sz="12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gen-dedup-ecf26fcad2d97a19e6ec3de7fbab7d58.png"/>
          <p:cNvPicPr>
            <a:picLocks noChangeAspect="1"/>
          </p:cNvPicPr>
          <p:nvPr/>
        </p:nvPicPr>
        <p:blipFill>
          <a:blip r:embed="rId2"/>
          <a:srcRect t="-76" b="-76"/>
          <a:stretch/>
        </p:blipFill>
        <p:spPr>
          <a:xfrm>
            <a:off x="952805" y="2704795"/>
            <a:ext cx="8048549" cy="47549"/>
          </a:xfrm>
          <a:prstGeom prst="rect">
            <a:avLst/>
          </a:prstGeom>
        </p:spPr>
      </p:pic>
      <p:pic>
        <p:nvPicPr>
          <p:cNvPr id="4" name="Image 1" descr="gen-dedup-24dbc3d69a20fcf9d6f9cf759ef063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2" descr="gen-dedup-38c4de9d3cfc40f6ab19111685a764d0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9286646" y="2704795"/>
            <a:ext cx="8048549" cy="47549"/>
          </a:xfrm>
          <a:prstGeom prst="rect">
            <a:avLst/>
          </a:prstGeom>
        </p:spPr>
      </p:pic>
      <p:pic>
        <p:nvPicPr>
          <p:cNvPr id="7" name="Image 3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pic>
        <p:nvPicPr>
          <p:cNvPr id="8" name="Image 4" descr="gen-dedup-b6672d0f06e2999b69a5de4b05e71b2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805" y="366674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200" dirty="0"/>
          </a:p>
        </p:txBody>
      </p:sp>
      <p:sp>
        <p:nvSpPr>
          <p:cNvPr id="39" name="Tab 1"/>
          <p:cNvSpPr/>
          <p:nvPr/>
        </p:nvSpPr>
        <p:spPr>
          <a:xfrm>
            <a:off x="4480560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abText 1"/>
          <p:cNvSpPr txBox="1"/>
          <p:nvPr/>
        </p:nvSpPr>
        <p:spPr>
          <a:xfrm>
            <a:off x="4489704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거버넌스</a:t>
            </a:r>
            <a:endParaRPr lang="en-US" sz="1200" dirty="0"/>
          </a:p>
        </p:txBody>
      </p:sp>
      <p:sp>
        <p:nvSpPr>
          <p:cNvPr id="41" name="Tab 2"/>
          <p:cNvSpPr/>
          <p:nvPr/>
        </p:nvSpPr>
        <p:spPr>
          <a:xfrm>
            <a:off x="5992469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abText 2"/>
          <p:cNvSpPr txBox="1"/>
          <p:nvPr/>
        </p:nvSpPr>
        <p:spPr>
          <a:xfrm>
            <a:off x="6001613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안전·신뢰</a:t>
            </a:r>
            <a:endParaRPr lang="en-US" sz="1200" dirty="0"/>
          </a:p>
        </p:txBody>
      </p:sp>
      <p:sp>
        <p:nvSpPr>
          <p:cNvPr id="43" name="Tab 3"/>
          <p:cNvSpPr/>
          <p:nvPr/>
        </p:nvSpPr>
        <p:spPr>
          <a:xfrm>
            <a:off x="7504378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abText 3"/>
          <p:cNvSpPr txBox="1"/>
          <p:nvPr/>
        </p:nvSpPr>
        <p:spPr>
          <a:xfrm>
            <a:off x="7513522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공공·행정</a:t>
            </a:r>
            <a:endParaRPr lang="en-US" sz="1200" dirty="0"/>
          </a:p>
        </p:txBody>
      </p:sp>
      <p:sp>
        <p:nvSpPr>
          <p:cNvPr id="45" name="Tab 4"/>
          <p:cNvSpPr/>
          <p:nvPr/>
        </p:nvSpPr>
        <p:spPr>
          <a:xfrm>
            <a:off x="9016287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abText 4"/>
          <p:cNvSpPr txBox="1"/>
          <p:nvPr/>
        </p:nvSpPr>
        <p:spPr>
          <a:xfrm>
            <a:off x="9025431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데이터</a:t>
            </a:r>
            <a:endParaRPr lang="en-US" sz="1200" dirty="0"/>
          </a:p>
        </p:txBody>
      </p:sp>
      <p:sp>
        <p:nvSpPr>
          <p:cNvPr id="47" name="Tab 5"/>
          <p:cNvSpPr/>
          <p:nvPr/>
        </p:nvSpPr>
        <p:spPr>
          <a:xfrm>
            <a:off x="10528196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abText 5"/>
          <p:cNvSpPr txBox="1"/>
          <p:nvPr/>
        </p:nvSpPr>
        <p:spPr>
          <a:xfrm>
            <a:off x="10537340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분야별 규제</a:t>
            </a:r>
            <a:endParaRPr lang="en-US" sz="1200" dirty="0"/>
          </a:p>
        </p:txBody>
      </p:sp>
      <p:sp>
        <p:nvSpPr>
          <p:cNvPr id="49" name="Tab 6"/>
          <p:cNvSpPr/>
          <p:nvPr/>
        </p:nvSpPr>
        <p:spPr>
          <a:xfrm>
            <a:off x="12040105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abText 6"/>
          <p:cNvSpPr txBox="1"/>
          <p:nvPr/>
        </p:nvSpPr>
        <p:spPr>
          <a:xfrm>
            <a:off x="12049249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산업·경쟁</a:t>
            </a:r>
            <a:endParaRPr lang="en-US" sz="1200" dirty="0"/>
          </a:p>
        </p:txBody>
      </p:sp>
      <p:sp>
        <p:nvSpPr>
          <p:cNvPr id="51" name="Tab 7"/>
          <p:cNvSpPr/>
          <p:nvPr/>
        </p:nvSpPr>
        <p:spPr>
          <a:xfrm>
            <a:off x="13552014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abText 7"/>
          <p:cNvSpPr txBox="1"/>
          <p:nvPr/>
        </p:nvSpPr>
        <p:spPr>
          <a:xfrm>
            <a:off x="13561158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지식재산</a:t>
            </a:r>
            <a:endParaRPr lang="en-US" sz="1200" dirty="0"/>
          </a:p>
        </p:txBody>
      </p:sp>
      <p:sp>
        <p:nvSpPr>
          <p:cNvPr id="53" name="Tab 8"/>
          <p:cNvSpPr/>
          <p:nvPr/>
        </p:nvSpPr>
        <p:spPr>
          <a:xfrm>
            <a:off x="15063923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abText 8"/>
          <p:cNvSpPr txBox="1"/>
          <p:nvPr/>
        </p:nvSpPr>
        <p:spPr>
          <a:xfrm>
            <a:off x="15073067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책임·구제</a:t>
            </a:r>
            <a:endParaRPr lang="en-US" sz="1200" dirty="0"/>
          </a:p>
        </p:txBody>
      </p:sp>
      <p:sp>
        <p:nvSpPr>
          <p:cNvPr id="55" name="Tab 9"/>
          <p:cNvSpPr/>
          <p:nvPr/>
        </p:nvSpPr>
        <p:spPr>
          <a:xfrm>
            <a:off x="16575832" y="304495"/>
            <a:ext cx="1511909" cy="390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abText 9"/>
          <p:cNvSpPr txBox="1"/>
          <p:nvPr/>
        </p:nvSpPr>
        <p:spPr>
          <a:xfrm>
            <a:off x="16584976" y="380390"/>
            <a:ext cx="14936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투명·인권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/>
          <p:cNvSpPr txBox="1"/>
          <p:nvPr/>
        </p:nvSpPr>
        <p:spPr>
          <a:xfrm>
            <a:off x="952805" y="1166774"/>
            <a:ext cx="163933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상세자료 · 참고자료 안내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8"/>
          <p:cNvSpPr txBox="1"/>
          <p:nvPr/>
        </p:nvSpPr>
        <p:spPr>
          <a:xfrm>
            <a:off x="952805" y="2029968"/>
            <a:ext cx="16393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PPT는 얼개, 원문과 비교는 HTML 상세자료와 AILawMap에서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257300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57300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상세자료에 담을 내용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인용 조문과 대상 법 조문 원문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257300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법령 카드 15개의 조문 비교·연결설명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11개 영역 근거법의 정의 조문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6216091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참고문헌과 소논문 주제 힌트 상세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592056" y="3019349"/>
            <a:ext cx="3337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592056" y="3539642"/>
            <a:ext cx="7448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참고자료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92056" y="4525366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AILawMap: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yangguibee.github.io/AILawMap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592056" y="5024628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 원문: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law.go.kr(국가법령정보센터)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592056" y="5523890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 자료: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github.com/YangGuiBee/AIG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592056" y="6023153"/>
            <a:ext cx="7448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개인정보위 AI 안내서: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pipc.go.kr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5430500" y="9792310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202/202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34239</Words>
  <Application>Microsoft Office PowerPoint</Application>
  <PresentationFormat>사용자 지정</PresentationFormat>
  <Paragraphs>5194</Paragraphs>
  <Slides>203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203</vt:i4>
      </vt:variant>
    </vt:vector>
  </HeadingPairs>
  <TitlesOfParts>
    <vt:vector size="209" baseType="lpstr">
      <vt:lpstr>Pretendard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42</cp:revision>
  <dcterms:created xsi:type="dcterms:W3CDTF">2026-10-07T10:30:39Z</dcterms:created>
  <dcterms:modified xsi:type="dcterms:W3CDTF">2026-10-09T13:15:46Z</dcterms:modified>
</cp:coreProperties>
</file>