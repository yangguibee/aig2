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8"/>
  </p:notesMasterIdLst>
  <p:sldIdLst>
    <p:sldId id="351" r:id="rId2"/>
    <p:sldId id="352" r:id="rId3"/>
    <p:sldId id="355" r:id="rId4"/>
    <p:sldId id="354" r:id="rId5"/>
    <p:sldId id="356" r:id="rId6"/>
    <p:sldId id="447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382" r:id="rId33"/>
    <p:sldId id="383" r:id="rId34"/>
    <p:sldId id="384" r:id="rId35"/>
    <p:sldId id="385" r:id="rId36"/>
    <p:sldId id="386" r:id="rId37"/>
    <p:sldId id="387" r:id="rId38"/>
    <p:sldId id="388" r:id="rId39"/>
    <p:sldId id="389" r:id="rId40"/>
    <p:sldId id="390" r:id="rId41"/>
    <p:sldId id="391" r:id="rId42"/>
    <p:sldId id="392" r:id="rId43"/>
    <p:sldId id="393" r:id="rId44"/>
    <p:sldId id="394" r:id="rId45"/>
    <p:sldId id="395" r:id="rId46"/>
    <p:sldId id="396" r:id="rId47"/>
    <p:sldId id="397" r:id="rId48"/>
    <p:sldId id="398" r:id="rId49"/>
    <p:sldId id="399" r:id="rId50"/>
    <p:sldId id="400" r:id="rId51"/>
    <p:sldId id="401" r:id="rId52"/>
    <p:sldId id="402" r:id="rId53"/>
    <p:sldId id="403" r:id="rId54"/>
    <p:sldId id="404" r:id="rId55"/>
    <p:sldId id="405" r:id="rId56"/>
    <p:sldId id="406" r:id="rId57"/>
    <p:sldId id="407" r:id="rId58"/>
    <p:sldId id="408" r:id="rId59"/>
    <p:sldId id="409" r:id="rId60"/>
    <p:sldId id="410" r:id="rId61"/>
    <p:sldId id="411" r:id="rId62"/>
    <p:sldId id="412" r:id="rId63"/>
    <p:sldId id="413" r:id="rId64"/>
    <p:sldId id="414" r:id="rId65"/>
    <p:sldId id="415" r:id="rId66"/>
    <p:sldId id="416" r:id="rId67"/>
    <p:sldId id="417" r:id="rId68"/>
    <p:sldId id="418" r:id="rId69"/>
    <p:sldId id="419" r:id="rId70"/>
    <p:sldId id="420" r:id="rId71"/>
    <p:sldId id="421" r:id="rId72"/>
    <p:sldId id="422" r:id="rId73"/>
    <p:sldId id="423" r:id="rId74"/>
    <p:sldId id="424" r:id="rId75"/>
    <p:sldId id="425" r:id="rId76"/>
    <p:sldId id="426" r:id="rId77"/>
    <p:sldId id="427" r:id="rId78"/>
    <p:sldId id="428" r:id="rId79"/>
    <p:sldId id="429" r:id="rId80"/>
    <p:sldId id="430" r:id="rId81"/>
    <p:sldId id="431" r:id="rId82"/>
    <p:sldId id="432" r:id="rId83"/>
    <p:sldId id="433" r:id="rId84"/>
    <p:sldId id="434" r:id="rId85"/>
    <p:sldId id="435" r:id="rId86"/>
    <p:sldId id="436" r:id="rId87"/>
    <p:sldId id="437" r:id="rId88"/>
    <p:sldId id="438" r:id="rId89"/>
    <p:sldId id="439" r:id="rId90"/>
    <p:sldId id="440" r:id="rId91"/>
    <p:sldId id="441" r:id="rId92"/>
    <p:sldId id="442" r:id="rId93"/>
    <p:sldId id="443" r:id="rId94"/>
    <p:sldId id="444" r:id="rId95"/>
    <p:sldId id="445" r:id="rId96"/>
    <p:sldId id="446" r:id="rId9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notesMaster" Target="notesMasters/notesMaster1.xml"/><Relationship Id="rId99" Type="http://schemas.openxmlformats.org/officeDocument/2006/relationships/presProps" Target="presProps.xml"/><Relationship Id="rId100" Type="http://schemas.openxmlformats.org/officeDocument/2006/relationships/viewProps" Target="viewProps.xml"/><Relationship Id="rId101" Type="http://schemas.openxmlformats.org/officeDocument/2006/relationships/theme" Target="theme/theme1.xml"/><Relationship Id="rId10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22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sw.or.kr/site/sw/ex/board/View.do?cbIdx=390&amp;bcIdx=64993" TargetMode="External"/><Relationship Id="rId4" Type="http://schemas.openxmlformats.org/officeDocument/2006/relationships/hyperlink" Target="https://www.pipc.go.kr/np/cop/bbs/selectBoardArticle.do?bbsId=BS074&amp;mCode=C020010000&amp;nttId=12084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1%EC%A1%B0" TargetMode="External"/><Relationship Id="rId6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3%EC%A1%B0" TargetMode="External"/><Relationship Id="rId7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2%EC%A1%B0" TargetMode="External"/><Relationship Id="rId8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3%EC%A1%B0" TargetMode="External"/><Relationship Id="rId9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5%EC%A1%B0" TargetMode="External"/><Relationship Id="rId10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4%EC%A1%B0" TargetMode="External"/><Relationship Id="rId11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5%EC%A1%B0" TargetMode="External"/><Relationship Id="rId12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8%EC%A1%B0" TargetMode="External"/><Relationship Id="rId13" Type="http://schemas.openxmlformats.org/officeDocument/2006/relationships/hyperlink" Target="https://www.law.go.kr/%EB%B2%95%EB%A0%B9/%EA%B0%9C%EC%9D%B8%EC%A0%95%EB%B3%B4%20%EB%B3%B4%ED%98%B8%EB%B2%95/%EC%A0%9C4%EC%A1%B0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1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5%EC%A1%B0" TargetMode="External"/><Relationship Id="rId6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3%EC%A1%B0" TargetMode="External"/><Relationship Id="rId7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8%EC%A1%B0" TargetMode="External"/><Relationship Id="rId8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3%EC%A1%B0" TargetMode="External"/><Relationship Id="rId9" Type="http://schemas.openxmlformats.org/officeDocument/2006/relationships/hyperlink" Target="https://www.sw.or.kr/site/sw/ex/board/View.do?cbIdx=390&amp;bcIdx=64993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%EC%A1%B0" TargetMode="External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5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1%EC%A1%B0%EC%9D%982" TargetMode="External"/><Relationship Id="rId6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8%EC%A1%B0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27%EC%A1%B0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1%EC%A1%B0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1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3%EC%A1%B0" TargetMode="External"/><Relationship Id="rId6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43%EC%A1%B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3%EC%A1%B0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3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1%EC%A1%B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3%EC%A1%B0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3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1%EC%A1%B0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sw.or.kr/site/sw/ex/board/View.do?cbIdx=390&amp;bcIdx=64993" TargetMode="External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2%EC%A1%B0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4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2%EC%A1%B0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4%EC%A1%B0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sw.or.kr/site/sw/ex/board/View.do?cbIdx=390&amp;bcIdx=64993" TargetMode="External"/><Relationship Id="rId4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4%EC%A1%B0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2%EC%A1%B0" TargetMode="External"/><Relationship Id="rId4" Type="http://schemas.openxmlformats.org/officeDocument/2006/relationships/hyperlink" Target="https://www.sw.or.kr/site/sw/ex/board/View.do?cbIdx=390&amp;bcIdx=64993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40%EC%A1%B0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3%EC%A1%B0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2%EC%A1%B0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2%EC%A1%B0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3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5%EC%A1%B0" TargetMode="External"/><Relationship Id="rId6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6%EC%A1%B0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7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4%EC%A1%B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4%EC%A1%B0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3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D%96%89%EC%A0%95%EA%B8%B0%EB%B3%B8%EB%B2%95/%EC%A0%9C20%EC%A1%B0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5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4%EC%A1%B0" TargetMode="External"/><Relationship Id="rId6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7%EC%A1%B0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4%EC%A1%B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4%EC%A1%B0" TargetMode="External"/><Relationship Id="rId5" Type="http://schemas.openxmlformats.org/officeDocument/2006/relationships/hyperlink" Target="https://www.sw.or.kr/site/sw/ex/board/View.do?cbIdx=390&amp;bcIdx=64993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Relationship Id="rId5" Type="http://schemas.openxmlformats.org/officeDocument/2006/relationships/hyperlink" Target="https://www.law.go.kr/%EB%B2%95%EB%A0%B9/%EC%A7%80%EB%8A%A5%EC%A0%95%EB%B3%B4%ED%99%94%20%EA%B8%B0%EB%B3%B8%EB%B2%95/%EC%A0%9C60%EC%A1%B0" TargetMode="External"/><Relationship Id="rId6" Type="http://schemas.openxmlformats.org/officeDocument/2006/relationships/hyperlink" Target="https://www.law.go.kr/%EB%B2%95%EB%A0%B9/%EC%86%8C%ED%94%84%ED%8A%B8%EC%9B%A8%EC%96%B4%20%EC%A7%84%ED%9D%A5%EB%B2%95/%EC%A0%9C30%EC%A1%B0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%EC%A1%B0" TargetMode="External"/><Relationship Id="rId6" Type="http://schemas.openxmlformats.org/officeDocument/2006/relationships/hyperlink" Target="https://www.law.go.kr/%EB%B2%95%EB%A0%B9/%EA%B0%9C%EC%9D%B8%EC%A0%95%EB%B3%B4%20%EB%B3%B4%ED%98%B8%EB%B2%95/%EC%A0%9C37%EC%A1%B0%EC%9D%982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7%EC%A1%B0" TargetMode="External"/><Relationship Id="rId5" Type="http://schemas.openxmlformats.org/officeDocument/2006/relationships/hyperlink" Target="https://www.sw.or.kr/site/sw/ex/board/View.do?cbIdx=390&amp;bcIdx=64993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7%EC%A1%B0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4%EC%A1%B0" TargetMode="External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7%EC%A1%B0" TargetMode="External"/><Relationship Id="rId5" Type="http://schemas.openxmlformats.org/officeDocument/2006/relationships/hyperlink" Target="https://www.law.go.kr/%EB%B2%95%EB%A0%B9/%EC%8B%A0%EC%9A%A9%EC%A0%95%EB%B3%B4%EC%9D%98%20%EC%9D%B4%EC%9A%A9%20%EB%B0%8F%20%EB%B3%B4%ED%98%B8%EC%97%90%20%EA%B4%80%ED%95%9C%20%EB%B2%95%EB%A5%A0/%EC%A0%9C36%EC%A1%B0%EC%9D%982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sw.or.kr/site/sw/ex/board/View.do?cbIdx=390&amp;bcIdx=64993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5%EC%A1%B0" TargetMode="External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5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8%EC%A1%B0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5%EC%A1%B0" TargetMode="External"/><Relationship Id="rId6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8%EC%A1%B0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%20%EC%8B%9C%ED%96%89%EB%A0%B9/%EC%A0%9C28%EC%A1%B0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3%EC%A1%B0" TargetMode="Externa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A%B0%9C%EC%9D%B8%EC%A0%95%EB%B3%B4%20%EB%B3%B4%ED%98%B8%EB%B2%95/%EC%A0%9C33%EC%A1%B0" TargetMode="External"/><Relationship Id="rId4" Type="http://schemas.openxmlformats.org/officeDocument/2006/relationships/hyperlink" Target="https://www.law.go.kr/%EB%B2%95%EB%A0%B9/%EB%94%94%EC%A7%80%ED%84%B8%EC%9D%98%EB%A3%8C%EC%A0%9C%ED%92%88%EB%B2%95/%EC%A0%9C37%EC%A1%B0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A%B0%9C%EC%9D%B8%EC%A0%95%EB%B3%B4%20%EB%B3%B4%ED%98%B8%EB%B2%95/%EC%A0%9C4%EC%A1%B0" TargetMode="External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A%B0%9C%EC%9D%B8%EC%A0%95%EB%B3%B4%20%EB%B3%B4%ED%98%B8%EB%B2%95/%EC%A0%9C28%EC%A1%B0%EC%9D%988" TargetMode="Externa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4%EC%A1%B0" TargetMode="Externa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A%B0%9C%EC%9D%B8%EC%A0%95%EB%B3%B4%20%EB%B3%B4%ED%98%B8%EB%B2%95/%EC%A0%9C15%EC%A1%B0" TargetMode="Externa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A%B0%9C%EC%9D%B8%EC%A0%95%EB%B3%B4%20%EB%B3%B4%ED%98%B8%EB%B2%95/%EC%A0%9C37%EC%A1%B0%EC%9D%982" TargetMode="External"/><Relationship Id="rId5" Type="http://schemas.openxmlformats.org/officeDocument/2006/relationships/hyperlink" Target="https://www.law.go.kr/%EB%B2%95%EB%A0%B9/%EA%B0%9C%EC%9D%B8%EC%A0%95%EB%B3%B4%20%EB%B3%B4%ED%98%B8%EB%B2%95/%EC%A0%9C15%EC%A1%B0" TargetMode="Externa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43%EC%A1%B0" TargetMode="Externa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1%EC%A1%B0" TargetMode="External"/><Relationship Id="rId5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34%EC%A1%B0" TargetMode="External"/><Relationship Id="rId6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27%EC%A1%B0" TargetMode="Externa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law.go.kr/%EB%B2%95%EB%A0%B9/%EC%9D%B8%EA%B3%B5%EC%A7%80%EB%8A%A5%20%EB%B0%9C%EC%A0%84%EA%B3%BC%20%EC%8B%A0%EB%A2%B0%20%EA%B8%B0%EB%B0%98%20%EC%A1%B0%EC%84%B1%20%EB%93%B1%EC%97%90%20%EA%B4%80%ED%95%9C%20%EA%B8%B0%EB%B3%B8%EB%B2%95/%EC%A0%9C27%EC%A1%B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86507"/>
            <a:ext cx="1067105" cy="418795"/>
          </a:xfrm>
          <a:prstGeom prst="rect">
            <a:avLst/>
          </a:prstGeom>
          <a:noFill/>
          <a:ln w="25400">
            <a:solidFill>
              <a:srgbClr val="036B3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1" descr="gen-dedup-19c911119b5455341ec56e38170d158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52805" y="7200900"/>
            <a:ext cx="1714500" cy="384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477695" y="8020202"/>
            <a:ext cx="2857500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2"/>
          <p:cNvSpPr txBox="1"/>
          <p:nvPr/>
        </p:nvSpPr>
        <p:spPr>
          <a:xfrm>
            <a:off x="952805" y="418795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38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KONKUK UNIVERSITY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952805" y="838505"/>
            <a:ext cx="8572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952805" y="2686507"/>
            <a:ext cx="10671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강</a:t>
            </a:r>
            <a:endParaRPr lang="en-US" sz="165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3353105"/>
            <a:ext cx="16383305" cy="1334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가이드라인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4762195"/>
            <a:ext cx="16383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인공지능기본법 가이드라인 5종(최신판)과 생성형 AI 개인정보 보호 가이드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952805" y="6724498"/>
            <a:ext cx="9525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https://github.com/YangGuiBee/AIG2</a:t>
            </a:r>
            <a:endParaRPr lang="en-US" sz="1575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7563002"/>
            <a:ext cx="11430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2026학년도 2학기 · 담당교수 </a:t>
            </a: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양희정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7987284"/>
            <a:ext cx="114300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https://yangguibee.github.io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guibee@konkuk.ac.kr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783105" y="8268005"/>
            <a:ext cx="22485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COURSE · 2026-2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14783105" y="8572500"/>
            <a:ext cx="22485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10.29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16강 목차</a:t>
            </a:r>
            <a:endParaRPr lang="en-US" sz="5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43200"/>
          <a:ext cx="7705648" cy="4763106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소개, AI 거버넌스 개론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법규제의 기초 이론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(1)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(2), 추석 휴강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인공지능기본법, 시행령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AI 관련 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1, AI 법규제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중간고사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2743200"/>
          <a:ext cx="7705648" cy="4763106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가이드라인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기술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국제표준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연구방법론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11.26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선행연구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실무사례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2, 적용 계획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기말고사, 종합 평가 보고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2/96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9349283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최신판 기준(2026-10-09 확인) 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AI기본법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 지원데스크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개인정보보호위원회 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게시본</a:t>
            </a:r>
            <a:endParaRPr lang="en-US" altLang="ko-KR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현재</a:t>
            </a:r>
            <a:r>
              <a:rPr lang="ko-KR" alt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 발령된 </a:t>
            </a:r>
            <a:r>
              <a:rPr lang="en-US" altLang="ko-KR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AI</a:t>
            </a:r>
            <a:r>
              <a:rPr lang="ko-KR" alt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기본법 관련 고시는 「</a:t>
            </a:r>
            <a:r>
              <a:rPr lang="ko-KR" altLang="en-US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인공지능제품ㆍ서비스</a:t>
            </a:r>
            <a:r>
              <a:rPr lang="ko-KR" alt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 확인 절차 운영에 관한 고시」</a:t>
            </a:r>
            <a:r>
              <a:rPr lang="en-US" altLang="ko-KR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(2026.7.21) 1</a:t>
            </a:r>
            <a:r>
              <a:rPr lang="ko-KR" altLang="en-US" sz="14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건뿐</a:t>
            </a:r>
            <a:r>
              <a:rPr lang="ko-KR" alt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 </a:t>
            </a:r>
            <a:r>
              <a:rPr lang="en-US" altLang="ko-KR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: </a:t>
            </a:r>
            <a:r>
              <a:rPr lang="ko-KR" alt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이것은 국가기관 우선구매 대상인 </a:t>
            </a:r>
            <a:r>
              <a:rPr lang="en-US" altLang="ko-KR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AI </a:t>
            </a:r>
            <a:r>
              <a:rPr lang="ko-KR" alt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제품을 확인하는 고시라서 </a:t>
            </a:r>
            <a:r>
              <a:rPr lang="en-US" altLang="ko-KR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6</a:t>
            </a:r>
            <a:r>
              <a:rPr lang="ko-KR" alt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종과는 관계가 없음</a:t>
            </a:r>
            <a:r>
              <a:rPr lang="en-US" altLang="ko-KR" sz="1400" b="0" i="0" dirty="0">
                <a:solidFill>
                  <a:srgbClr val="BFBFBF"/>
                </a:solidFill>
                <a:effectLst/>
                <a:latin typeface="-apple-system"/>
              </a:rPr>
              <a:t>.</a:t>
            </a:r>
            <a:endParaRPr lang="en-US" sz="14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095227"/>
              </p:ext>
            </p:extLst>
          </p:nvPr>
        </p:nvGraphicFramePr>
        <p:xfrm>
          <a:off x="950976" y="2606040"/>
          <a:ext cx="1636776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8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6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가이드라인</a:t>
                      </a:r>
                      <a:endParaRPr sz="18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조문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최신판</a:t>
                      </a:r>
                      <a:endParaRPr sz="18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1학기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대비</a:t>
                      </a:r>
                      <a:endParaRPr sz="18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인공지능 투명성 확보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5"/>
                        </a:rPr>
                        <a:t>AI기본법 제31조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AI 이용 고지·생성물 표시</a:t>
                      </a:r>
                    </a:p>
                    <a:p>
                      <a:pPr algn="l"/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고시 </a:t>
                      </a:r>
                      <a:r>
                        <a:rPr sz="1500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미발령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  <a:hlinkClick r:id="rId6"/>
                        </a:rPr>
                        <a:t>AI기본법 시행령 제23조④3호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과기정통부·TTA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2026.1.26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수정본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없음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인공지능 안전성 확보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7"/>
                        </a:rPr>
                        <a:t>AI기본법 제32조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위험관리·결과 제출</a:t>
                      </a:r>
                    </a:p>
                    <a:p>
                      <a:pPr algn="l"/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고시 </a:t>
                      </a:r>
                      <a:r>
                        <a:rPr sz="1500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제정(안)·미발령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  <a:hlinkClick r:id="rId7"/>
                        </a:rPr>
                        <a:t>AI기본법 제32조③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과기정통부·ETRI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2026.5.29 재게시(75쪽)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세부</a:t>
                      </a:r>
                      <a:r>
                        <a:rPr sz="1800" b="1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보완</a:t>
                      </a:r>
                      <a:r>
                        <a:rPr sz="1800" b="1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(71→75쪽)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고영향 인공지능 판단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8"/>
                        </a:rPr>
                        <a:t>AI기본법 제33조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고영향 사전 검토·확인</a:t>
                      </a:r>
                    </a:p>
                    <a:p>
                      <a:pPr algn="l"/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고시 </a:t>
                      </a:r>
                      <a:r>
                        <a:rPr sz="1500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미발령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  <a:hlinkClick r:id="rId9"/>
                        </a:rPr>
                        <a:t>AI기본법 시행령 제25조②5호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과기정통부·NIA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2026.4.29 수정본(216쪽)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보건의료</a:t>
                      </a:r>
                      <a:r>
                        <a:rPr sz="1800" b="1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절차도</a:t>
                      </a:r>
                      <a:r>
                        <a:rPr sz="1800" b="1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</a:t>
                      </a:r>
                      <a:endParaRPr sz="1800" b="1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 고영향 인공지능 사업자 책무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10"/>
                        </a:rPr>
                        <a:t>AI기본법 제34조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위험관리·설명 등 6대 책무</a:t>
                      </a:r>
                    </a:p>
                    <a:p>
                      <a:pPr algn="l"/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고시 </a:t>
                      </a:r>
                      <a:r>
                        <a:rPr sz="1500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행정예고(3.12)·미발령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  <a:hlinkClick r:id="rId10"/>
                        </a:rPr>
                        <a:t>AI기본법 제34조②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과기정통부·TTA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2026.1.22(111쪽)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없음(고시 행정예고)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⑤ 인공지능 영향평가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11"/>
                        </a:rPr>
                        <a:t>AI기본법 제35조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기본권 영향평가 노력</a:t>
                      </a:r>
                    </a:p>
                    <a:p>
                      <a:pPr algn="l"/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고시 </a:t>
                      </a:r>
                      <a:r>
                        <a:rPr sz="1500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미발령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</a:t>
                      </a:r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  <a:hlinkClick r:id="rId12"/>
                        </a:rPr>
                        <a:t>AI기본법 시행령 제28조③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과기정통부·KISDI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2026.1.22(39쪽)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없음(법령 개정 미반영)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⑥ 생성형 AI 서비스 이용자 개인정보 보호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13"/>
                        </a:rPr>
                        <a:t>개인정보 보호법 제4조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정보주체의 권리</a:t>
                      </a:r>
                    </a:p>
                    <a:p>
                      <a:pPr algn="l"/>
                      <a:r>
                        <a:rPr sz="1500">
                          <a:solidFill>
                            <a:srgbClr val="6B6B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고시 해당 없음(개인정보위 안내서)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2026.5.19(22쪽)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(Q&amp;A 8선)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3">
            <a:extLst>
              <a:ext uri="{FF2B5EF4-FFF2-40B4-BE49-F238E27FC236}">
                <a16:creationId xmlns:a16="http://schemas.microsoft.com/office/drawing/2014/main" id="{C25D48BF-D817-4EB4-A41B-3864DA82D230}"/>
              </a:ext>
            </a:extLst>
          </p:cNvPr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9강 목차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→ 시행령 → 고시 → </a:t>
            </a:r>
            <a:r>
              <a:rPr lang="en-US" sz="5000" b="1" kern="0" spc="-112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</a:t>
            </a:r>
            <a:endParaRPr lang="en-US" sz="5000" dirty="0">
              <a:solidFill>
                <a:srgbClr val="C00000"/>
              </a:solidFill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규범의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제31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35조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투명성·안전성·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의무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투명성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표시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최첨단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고영향 확인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사업자 책무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영향평가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의무 자체는 여기서 나온다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AI기본법 시행령 제23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/>
              </a:rPr>
              <a:t>28조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고지 방법·확인 절차·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항목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고지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표시 방법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안전성 대상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고영향 확인 절차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책무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영향평가 포함사항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조는 전문위원회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고시: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제정 진행 중인 것은 2. 안전성 · 4. 사업자책무뿐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안전성 = 고시 제정(안) 제2026-126호, 사업자책무 = 2026.3.12 행정예고 — 둘 다 </a:t>
            </a:r>
            <a:r>
              <a:rPr lang="ko-KR" altLang="en-US" sz="1500" dirty="0">
                <a:solidFill>
                  <a:srgbClr val="C00000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미발령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 (1·3·5는 고시 위임만, 6은 해당 없음)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구속력 없는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해석·예시·체크리스트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위반해도 그 자체로 제재 근거가 되지는 않는다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법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시행령의 의무를 어떻게 이행할지 보여 주는 해설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가이드라인의 법적 성격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/>
              </a:rPr>
              <a:t>AI기본법 제33조③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고영향 기준·예시 가이드라인 보급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과학기술정보통신부장관은 고영향 인공지능의 기준과 예시 등에 관한 가이드라인을 수립하여 보급할 수 있다.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행정해석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최종 판단은 법원(판단 가이드라인 1-1-2)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확인 결과도 행정절차에서 활용되거나 사법적으로 참고적 성격을 가질 뿐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최종적인 법원 판단에 따라 변경될 수 있다고 원문에 명시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/>
              </a:rPr>
              <a:t>책무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/>
              </a:rPr>
              <a:t>안전성 고시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아직 행정예고·제정(안)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책무 고시는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2026.3.12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행정예고 뒤 </a:t>
            </a:r>
            <a:r>
              <a:rPr lang="ko-KR" altLang="en-US" sz="1500" dirty="0" err="1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미발령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안전성은 가이드라인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 고시 제정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체계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둘 다 법제처 </a:t>
            </a:r>
            <a:r>
              <a:rPr lang="ko-KR" altLang="en-US" sz="1500" dirty="0" err="1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미등재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(10.25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사실상의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이행기준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고시가 나오기 전까지 사업자는 가이드라인으로 이행 수준을 가늠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사실조사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시정명령 국면에서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가이드라인을 따랐다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이행 근거로 쓰인다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부재인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동안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가이드라인이 사실상 규범 역할을 하는 '연성법의 경성화'는 정당한가?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(과도기 해석지침으로는 용인될 수 있음 — 다만 의무의 근거는 법률·시행령에 두고, 가이드라인이 새 의무를 만들지 않도록 고시로 빨리 옮겨 예측가능성을 갖춰야 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준수가 민사소송에서 주의의무 이행의 증거가 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(면책 사유는 아니지만, 공적 기준을 따랐다는 점에서 주의의무를 다했다는 유력한 정황 증거가 될 수 있음 — 반대로 미준수는 과실 판단에 불리하게 작용할 수 있음)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4/96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80960"/>
            <a:ext cx="16383305" cy="183794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ko-KR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 교안의 변경사항 ① 법령의 변화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법은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(1.20 · 10.20),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시행령은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(7.20 · 8.18)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고시는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 제정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인공지능취약계층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060436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시행령이 정한 인공지능취약계층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유형은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이용에 어려움을 겪는 사람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법의 취지를 충분히 담고 있는가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  <a:p>
            <a:pPr marL="0" indent="0" algn="l">
              <a:buNone/>
            </a:pP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신분 기준 중심이라 디지털 문해력이 낮은 일반인은 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 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기관장 인정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기대야 함 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영향평가에서는 고정 목록보다 서비스별 실제 이용 장벽을 기준으로 보완해야 함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36508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공공사업에서 만든 학습용데이터의 연계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의무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(2027.4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영업비밀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보호와 어떻게 조화되는가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  <a:p>
            <a:pPr marL="0" indent="0" algn="l">
              <a:buNone/>
            </a:pP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단서의 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 권리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국가안보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예외를 장관과 협의하도록 했으므로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판단 기준과 가명처리 요건을 시행령에서 얼마나 구체화하는지가 관건</a:t>
            </a:r>
            <a:r>
              <a:rPr lang="en-US" altLang="ko-KR" sz="150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5/96</a:t>
            </a:r>
            <a:endParaRPr lang="en-US" sz="18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F04EAE-57F6-49D9-97DE-972E0072A240}"/>
              </a:ext>
            </a:extLst>
          </p:cNvPr>
          <p:cNvSpPr/>
          <p:nvPr/>
        </p:nvSpPr>
        <p:spPr>
          <a:xfrm>
            <a:off x="950976" y="2487168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453310-F87B-423E-BB8E-468294FEC1F4}"/>
              </a:ext>
            </a:extLst>
          </p:cNvPr>
          <p:cNvSpPr/>
          <p:nvPr/>
        </p:nvSpPr>
        <p:spPr>
          <a:xfrm>
            <a:off x="950976" y="2487168"/>
            <a:ext cx="8046720" cy="45720"/>
          </a:xfrm>
          <a:prstGeom prst="rect">
            <a:avLst/>
          </a:prstGeom>
          <a:solidFill>
            <a:srgbClr val="036B3F"/>
          </a:solidFill>
          <a:ln>
            <a:solidFill>
              <a:srgbClr val="036B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0FBA94-2B3C-4F21-A7D9-2836CA37FB55}"/>
              </a:ext>
            </a:extLst>
          </p:cNvPr>
          <p:cNvSpPr txBox="1"/>
          <p:nvPr/>
        </p:nvSpPr>
        <p:spPr>
          <a:xfrm>
            <a:off x="1225296" y="2615184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기본법 제</a:t>
            </a:r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조⑤ 신설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인공지능취약계층 참여 보장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법률 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21311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호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2026.1.20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공포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이 조항은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2026.7.21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시행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기본원칙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국가 책무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는 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~④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항뿐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취약계층 언급 없음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국가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지자체는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정책의 개발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수립 과정에 장애인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고령자 등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인공지능취약계층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의 참여를 보장하고 의견이 반영되도록 노력해야 함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노력의무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</a:t>
            </a:r>
            <a:endParaRPr lang="ko-KR" altLang="en-US" sz="1500">
              <a:solidFill>
                <a:srgbClr val="1A1A1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4C6A8E-D692-49AC-83C5-99CCAF108788}"/>
              </a:ext>
            </a:extLst>
          </p:cNvPr>
          <p:cNvSpPr/>
          <p:nvPr/>
        </p:nvSpPr>
        <p:spPr>
          <a:xfrm>
            <a:off x="950976" y="4187952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59E84C-F18A-4AB1-9576-901A2F1CFCA5}"/>
              </a:ext>
            </a:extLst>
          </p:cNvPr>
          <p:cNvSpPr/>
          <p:nvPr/>
        </p:nvSpPr>
        <p:spPr>
          <a:xfrm>
            <a:off x="950976" y="4187952"/>
            <a:ext cx="8046720" cy="45720"/>
          </a:xfrm>
          <a:prstGeom prst="rect">
            <a:avLst/>
          </a:prstGeom>
          <a:solidFill>
            <a:srgbClr val="036B3F"/>
          </a:solidFill>
          <a:ln>
            <a:solidFill>
              <a:srgbClr val="036B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8A65A9-693A-4668-8700-FA06B7FA2F71}"/>
              </a:ext>
            </a:extLst>
          </p:cNvPr>
          <p:cNvSpPr txBox="1"/>
          <p:nvPr/>
        </p:nvSpPr>
        <p:spPr>
          <a:xfrm>
            <a:off x="1225296" y="4315968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기본법 제</a:t>
            </a:r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조① 후단 신설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영향평가에 취약계층 반영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법률 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21311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호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2026.1.20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공포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이 조항은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2026.7.21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시행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전단만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제공 시 기본권 영향을 사전 평가하도록 노력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이 경우 영향평가에는 제품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서비스의 성격을 고려하여 인공지능취약계층의 특성이 반영될 수 있도록 하여야 한다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 —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평가 내용 요건 추가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24F25C-C642-465C-82A8-F359550C67AB}"/>
              </a:ext>
            </a:extLst>
          </p:cNvPr>
          <p:cNvSpPr/>
          <p:nvPr/>
        </p:nvSpPr>
        <p:spPr>
          <a:xfrm>
            <a:off x="950976" y="5888736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CD2CDD3-ACBD-4417-8B33-F4BD564365F0}"/>
              </a:ext>
            </a:extLst>
          </p:cNvPr>
          <p:cNvSpPr/>
          <p:nvPr/>
        </p:nvSpPr>
        <p:spPr>
          <a:xfrm>
            <a:off x="950976" y="5888736"/>
            <a:ext cx="8046720" cy="45720"/>
          </a:xfrm>
          <a:prstGeom prst="rect">
            <a:avLst/>
          </a:prstGeom>
          <a:solidFill>
            <a:srgbClr val="036B3F"/>
          </a:solidFill>
          <a:ln>
            <a:solidFill>
              <a:srgbClr val="036B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68B418-3C63-4AA2-AE25-3EFB1B2A037C}"/>
              </a:ext>
            </a:extLst>
          </p:cNvPr>
          <p:cNvSpPr txBox="1"/>
          <p:nvPr/>
        </p:nvSpPr>
        <p:spPr>
          <a:xfrm>
            <a:off x="1225296" y="6016752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AI</a:t>
            </a:r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기본법 제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15</a:t>
            </a:r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조의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2 </a:t>
            </a:r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신설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학습용데이터 통합제공시스템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법률 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22076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호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2026.10.20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공포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2027.4.21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시행 예정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(1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학기 이후 두 번째 법 개정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15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조④⑤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장관이 시스템 구축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, 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민간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이 이용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비용 징수 가능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누구든지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이용하도록 제공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국가기관등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출연금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보조사업 수행자는 사업에서 산출된 학습용데이터를 연계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제공해야 함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영업비밀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국가안보 등은 협의로 예외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</a:t>
            </a:r>
            <a:endParaRPr lang="ko-KR" altLang="en-US" sz="1500">
              <a:solidFill>
                <a:srgbClr val="1A1A1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4F92CD0-261C-4624-B338-142C3C5FFD1A}"/>
              </a:ext>
            </a:extLst>
          </p:cNvPr>
          <p:cNvSpPr/>
          <p:nvPr/>
        </p:nvSpPr>
        <p:spPr>
          <a:xfrm>
            <a:off x="9290304" y="2487168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367C0AC-E69D-4FF6-A2C1-8B0A9853F8AC}"/>
              </a:ext>
            </a:extLst>
          </p:cNvPr>
          <p:cNvSpPr/>
          <p:nvPr/>
        </p:nvSpPr>
        <p:spPr>
          <a:xfrm>
            <a:off x="9290304" y="2487168"/>
            <a:ext cx="8046720" cy="45720"/>
          </a:xfrm>
          <a:prstGeom prst="rect">
            <a:avLst/>
          </a:prstGeom>
          <a:solidFill>
            <a:srgbClr val="036B3F"/>
          </a:solidFill>
          <a:ln>
            <a:solidFill>
              <a:srgbClr val="036B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7F5241-C876-4E54-BFBC-76887AC2D059}"/>
              </a:ext>
            </a:extLst>
          </p:cNvPr>
          <p:cNvSpPr txBox="1"/>
          <p:nvPr/>
        </p:nvSpPr>
        <p:spPr>
          <a:xfrm>
            <a:off x="9564624" y="2615184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기본법 시행령 제</a:t>
            </a:r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조의</a:t>
            </a:r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신설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취약계층의 범위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대통령령 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36506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호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2026.7.20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공포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7.21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시행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법 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조⑤ 위임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대통령령으로 정하는 취약계층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이 아직 정해지지 않음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10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개 유형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기초수급권자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차상위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장애인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65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세 이상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다문화가족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북한이탈주민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한부모가족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농어업인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경력보유여성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구직 수급자격자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기관장 인정자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7AA10BB-9C7A-49A6-9DB5-95438EB495C6}"/>
              </a:ext>
            </a:extLst>
          </p:cNvPr>
          <p:cNvSpPr/>
          <p:nvPr/>
        </p:nvSpPr>
        <p:spPr>
          <a:xfrm>
            <a:off x="9290304" y="4187952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CC1B78-EB1C-40D9-8CC7-9A65B843FEDA}"/>
              </a:ext>
            </a:extLst>
          </p:cNvPr>
          <p:cNvSpPr/>
          <p:nvPr/>
        </p:nvSpPr>
        <p:spPr>
          <a:xfrm>
            <a:off x="9290304" y="4187952"/>
            <a:ext cx="8046720" cy="45720"/>
          </a:xfrm>
          <a:prstGeom prst="rect">
            <a:avLst/>
          </a:prstGeom>
          <a:solidFill>
            <a:srgbClr val="036B3F"/>
          </a:solidFill>
          <a:ln>
            <a:solidFill>
              <a:srgbClr val="036B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749A30-8DE9-4130-93FC-019CC09BC4DE}"/>
              </a:ext>
            </a:extLst>
          </p:cNvPr>
          <p:cNvSpPr txBox="1"/>
          <p:nvPr/>
        </p:nvSpPr>
        <p:spPr>
          <a:xfrm>
            <a:off x="9564624" y="4315968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기본법 시행령 제</a:t>
            </a:r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28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조①</a:t>
            </a:r>
            <a:r>
              <a:rPr lang="en-US" altLang="ko-KR" b="1">
                <a:solidFill>
                  <a:srgbClr val="0563C1"/>
                </a:solidFill>
                <a:latin typeface="Malgun Gothic" panose="020B0503020000020004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호 후단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피영향자 식별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대통령령 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36506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호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2026.7.20 ·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같은 개정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이용비용 지원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·AI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연구소 설립 신설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영향평가 포함사항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영향받을 가능성이 있는 개인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집단 식별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이 경우 법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항에 따른 인공지능취약계층의 특성이 반영될 수 있도록 해야 한다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 —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법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35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조① 후단을 평가 항목으로 구체화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BCFF355-5762-4AD7-BE08-064667145AB0}"/>
              </a:ext>
            </a:extLst>
          </p:cNvPr>
          <p:cNvSpPr/>
          <p:nvPr/>
        </p:nvSpPr>
        <p:spPr>
          <a:xfrm>
            <a:off x="9290304" y="5888736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30C236E-FE99-4312-9775-527A9273A0AE}"/>
              </a:ext>
            </a:extLst>
          </p:cNvPr>
          <p:cNvSpPr/>
          <p:nvPr/>
        </p:nvSpPr>
        <p:spPr>
          <a:xfrm>
            <a:off x="9290304" y="5888736"/>
            <a:ext cx="8046720" cy="45720"/>
          </a:xfrm>
          <a:prstGeom prst="rect">
            <a:avLst/>
          </a:prstGeom>
          <a:solidFill>
            <a:srgbClr val="036B3F"/>
          </a:solidFill>
          <a:ln>
            <a:solidFill>
              <a:srgbClr val="036B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2687AA-5480-49AC-9B0E-2823DFB93B9B}"/>
              </a:ext>
            </a:extLst>
          </p:cNvPr>
          <p:cNvSpPr txBox="1"/>
          <p:nvPr/>
        </p:nvSpPr>
        <p:spPr>
          <a:xfrm>
            <a:off x="9564624" y="6016752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고시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1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건 제정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, 2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건은 아직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시행령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8.18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타법개정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대통령령 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36580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호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은 인용 조항 정비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조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호나목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뿐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내용 변화 없음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기본법 관련 고시 발령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책무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안전성 고시 모두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'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단계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확인절차 고시 제정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2026-50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호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7.21):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우선구매 대상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제품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서비스 확인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법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16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조③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 /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책무 고시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(3.12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행정예고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안전성 고시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안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는 미발령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80960"/>
            <a:ext cx="16383305" cy="183794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ko-KR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 교안의 변경사항 ② 가이드라인의 변화</a:t>
            </a:r>
            <a:endParaRPr lang="en-US" sz="50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060436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법은 1월에 취약계층을 넣었는데 영향평가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미반영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하위규범 정합성의 시차는 누가 메우는가?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(가이드라인 개정 전까지는 사업자가 상위 법령(AI기본법 제35조① 후문)을 직접 따라야 함 — 시차는 소관부처가 수정본·보충 안내로 신속히 메울 책임)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36508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수시로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방식(1.29·2.13·4.29)은 예측가능성과 유연성 중 무엇을 택한 것인가?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(유연성을 택한 것 — 대신 판본 번호·개정 이력·변경 대비표를 공개해야 사업자가 '어느 판을 따랐는지' 입증할 수 있어 예측가능성이 보완됨)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6/96</a:t>
            </a:r>
            <a:endParaRPr lang="en-US" sz="18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9D1081-B914-450D-9A00-F5F150280134}"/>
              </a:ext>
            </a:extLst>
          </p:cNvPr>
          <p:cNvSpPr/>
          <p:nvPr/>
        </p:nvSpPr>
        <p:spPr>
          <a:xfrm>
            <a:off x="950976" y="2487168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2FB547-77AF-4347-A444-00763D527159}"/>
              </a:ext>
            </a:extLst>
          </p:cNvPr>
          <p:cNvSpPr/>
          <p:nvPr/>
        </p:nvSpPr>
        <p:spPr>
          <a:xfrm>
            <a:off x="950976" y="2487168"/>
            <a:ext cx="8046720" cy="45720"/>
          </a:xfrm>
          <a:prstGeom prst="rect">
            <a:avLst/>
          </a:prstGeom>
          <a:solidFill>
            <a:srgbClr val="9A7620"/>
          </a:solidFill>
          <a:ln>
            <a:solidFill>
              <a:srgbClr val="9A76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D20979-A652-427C-814F-1E8C22EB3CEA}"/>
              </a:ext>
            </a:extLst>
          </p:cNvPr>
          <p:cNvSpPr txBox="1"/>
          <p:nvPr/>
        </p:nvSpPr>
        <p:spPr>
          <a:xfrm>
            <a:off x="1225296" y="2615184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고영향 인공지능 판단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세 차례 수정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과기정통부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·NIA · 2026.4.29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수정본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216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쪽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학기 교안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: 2026.1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월 최초 게시본 기준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1.29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범죄수사 분야 절차도 →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2.13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보건의료 분야 등급 오탈자 →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4.29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보건의료 분야 절차도 수정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조문 오기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(1-1-2 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시행령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24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 →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현행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25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는 그대로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897D87-E8D9-47E4-A490-6D6BBB8CBDBE}"/>
              </a:ext>
            </a:extLst>
          </p:cNvPr>
          <p:cNvSpPr/>
          <p:nvPr/>
        </p:nvSpPr>
        <p:spPr>
          <a:xfrm>
            <a:off x="950976" y="4187952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62147A-D640-4327-81F3-803720393DD3}"/>
              </a:ext>
            </a:extLst>
          </p:cNvPr>
          <p:cNvSpPr/>
          <p:nvPr/>
        </p:nvSpPr>
        <p:spPr>
          <a:xfrm>
            <a:off x="950976" y="4187952"/>
            <a:ext cx="8046720" cy="45720"/>
          </a:xfrm>
          <a:prstGeom prst="rect">
            <a:avLst/>
          </a:prstGeom>
          <a:solidFill>
            <a:srgbClr val="9A7620"/>
          </a:solidFill>
          <a:ln>
            <a:solidFill>
              <a:srgbClr val="9A76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6377C9-981A-4510-B9DE-6C83DD1C879D}"/>
              </a:ext>
            </a:extLst>
          </p:cNvPr>
          <p:cNvSpPr txBox="1"/>
          <p:nvPr/>
        </p:nvSpPr>
        <p:spPr>
          <a:xfrm>
            <a:off x="1225296" y="4315968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인공지능 안전성 확보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5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월 재게시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여전히 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'(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안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)'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과기정통부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·ETRI · 2026.5.29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재게시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75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쪽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월판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71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쪽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안전성 고시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체계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75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쪽으로 세부 보완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고시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안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1~9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 전문 수록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목차마다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관련 조항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열로 조문 매핑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시행령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24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조①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1~3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호 인용 정비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고시 미발령이라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안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)'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유지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FE5385-CB12-4622-B0D9-778AF832BAF9}"/>
              </a:ext>
            </a:extLst>
          </p:cNvPr>
          <p:cNvSpPr/>
          <p:nvPr/>
        </p:nvSpPr>
        <p:spPr>
          <a:xfrm>
            <a:off x="950976" y="5888736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F84CCF-936F-4471-950E-5F661C26B654}"/>
              </a:ext>
            </a:extLst>
          </p:cNvPr>
          <p:cNvSpPr/>
          <p:nvPr/>
        </p:nvSpPr>
        <p:spPr>
          <a:xfrm>
            <a:off x="950976" y="5888736"/>
            <a:ext cx="8046720" cy="45720"/>
          </a:xfrm>
          <a:prstGeom prst="rect">
            <a:avLst/>
          </a:prstGeom>
          <a:solidFill>
            <a:srgbClr val="9A7620"/>
          </a:solidFill>
          <a:ln>
            <a:solidFill>
              <a:srgbClr val="9A76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67B647-0921-4E37-AE6C-B811B95B264C}"/>
              </a:ext>
            </a:extLst>
          </p:cNvPr>
          <p:cNvSpPr txBox="1"/>
          <p:nvPr/>
        </p:nvSpPr>
        <p:spPr>
          <a:xfrm>
            <a:off x="1225296" y="6016752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인공지능 영향평가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개정 법령 미반영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과기정통부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·KISDI · 2026.1.22 39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쪽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판본 변경 없음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개정 전 법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35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조① 문구와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시행령안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'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28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조를 인용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그대로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법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35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조① 후단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(7.21)·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시행령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28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조①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호 후단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취약계층 반영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이 빠져 있어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개정 전까지는 사업자가 상위 법령을 직접 따라야 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DB4AFE-7521-4D0A-B808-295C061B3B70}"/>
              </a:ext>
            </a:extLst>
          </p:cNvPr>
          <p:cNvSpPr/>
          <p:nvPr/>
        </p:nvSpPr>
        <p:spPr>
          <a:xfrm>
            <a:off x="9290304" y="2487168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20BA4A8-57CC-476F-B161-0BC17851085D}"/>
              </a:ext>
            </a:extLst>
          </p:cNvPr>
          <p:cNvSpPr/>
          <p:nvPr/>
        </p:nvSpPr>
        <p:spPr>
          <a:xfrm>
            <a:off x="9290304" y="2487168"/>
            <a:ext cx="8046720" cy="45720"/>
          </a:xfrm>
          <a:prstGeom prst="rect">
            <a:avLst/>
          </a:prstGeom>
          <a:solidFill>
            <a:srgbClr val="9A7620"/>
          </a:solidFill>
          <a:ln>
            <a:solidFill>
              <a:srgbClr val="9A76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039E7A-E426-41D8-8BB1-A9175C627D8F}"/>
              </a:ext>
            </a:extLst>
          </p:cNvPr>
          <p:cNvSpPr txBox="1"/>
          <p:nvPr/>
        </p:nvSpPr>
        <p:spPr>
          <a:xfrm>
            <a:off x="9564624" y="2615184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투명성 확보 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사업자 책무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판본 변경 없음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투명성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TTA 2026.1.26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수정본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33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쪽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책무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TTA 2026.1.22 111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쪽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학기 교안과 같은 판본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두 가이드라인 모두 동일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다만 책무 고시는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3.12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행정예고 뒤 미발령이고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판단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책무 가이드라인은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2027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년 상반기 재개정 예고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부작용 사례 반영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</a:t>
            </a:r>
            <a:endParaRPr lang="ko-KR" altLang="en-US" sz="1500">
              <a:solidFill>
                <a:srgbClr val="1A1A1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6C1FB35-6256-4D21-9D55-CEADCE538ACF}"/>
              </a:ext>
            </a:extLst>
          </p:cNvPr>
          <p:cNvSpPr/>
          <p:nvPr/>
        </p:nvSpPr>
        <p:spPr>
          <a:xfrm>
            <a:off x="9290304" y="4187952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BCB4837-B95A-4B6C-ABDC-CE2E6C8E034D}"/>
              </a:ext>
            </a:extLst>
          </p:cNvPr>
          <p:cNvSpPr/>
          <p:nvPr/>
        </p:nvSpPr>
        <p:spPr>
          <a:xfrm>
            <a:off x="9290304" y="4187952"/>
            <a:ext cx="8046720" cy="45720"/>
          </a:xfrm>
          <a:prstGeom prst="rect">
            <a:avLst/>
          </a:prstGeom>
          <a:solidFill>
            <a:srgbClr val="9A7620"/>
          </a:solidFill>
          <a:ln>
            <a:solidFill>
              <a:srgbClr val="9A76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5467DD-59E9-4398-9983-978DC5F6EE14}"/>
              </a:ext>
            </a:extLst>
          </p:cNvPr>
          <p:cNvSpPr txBox="1"/>
          <p:nvPr/>
        </p:nvSpPr>
        <p:spPr>
          <a:xfrm>
            <a:off x="9564624" y="4315968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563C1"/>
                </a:solidFill>
                <a:latin typeface="Malgun Gothic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대한민국 인공지능 윤리원칙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윤리기준 대체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관계부처 합동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2026.8.21 · AI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기본법 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27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조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윤리원칙 제정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공표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근거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2020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「국가 인공지능 윤리기준」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(3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대 기본원칙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·10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대 핵심요건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자율점검표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법에 근거한 윤리원칙으로 새로 제정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— 3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대 가치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·7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대 원칙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세부요소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20,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분야별 자율점검표 신규 마련 예정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(HTML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상세자료 ①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~⑤)</a:t>
            </a:r>
            <a:endParaRPr lang="ko-KR" altLang="en-US" sz="1500">
              <a:solidFill>
                <a:srgbClr val="1A1A1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FE6238-B5F9-4653-88FA-E49F3EAC83FF}"/>
              </a:ext>
            </a:extLst>
          </p:cNvPr>
          <p:cNvSpPr/>
          <p:nvPr/>
        </p:nvSpPr>
        <p:spPr>
          <a:xfrm>
            <a:off x="9290304" y="5888736"/>
            <a:ext cx="8046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2D8F3E8-E084-4CDA-BCA3-9A8609653E9B}"/>
              </a:ext>
            </a:extLst>
          </p:cNvPr>
          <p:cNvSpPr/>
          <p:nvPr/>
        </p:nvSpPr>
        <p:spPr>
          <a:xfrm>
            <a:off x="9290304" y="5888736"/>
            <a:ext cx="8046720" cy="45720"/>
          </a:xfrm>
          <a:prstGeom prst="rect">
            <a:avLst/>
          </a:prstGeom>
          <a:solidFill>
            <a:srgbClr val="9A7620"/>
          </a:solidFill>
          <a:ln>
            <a:solidFill>
              <a:srgbClr val="9A76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DDB0A3-1238-46B9-8D98-6D6EC876FDEC}"/>
              </a:ext>
            </a:extLst>
          </p:cNvPr>
          <p:cNvSpPr txBox="1"/>
          <p:nvPr/>
        </p:nvSpPr>
        <p:spPr>
          <a:xfrm>
            <a:off x="9564624" y="6016752"/>
            <a:ext cx="7498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000FF"/>
                </a:solidFill>
                <a:latin typeface="Malgun Gothic" panose="020B0503020000020004" pitchFamily="50" charset="-127"/>
              </a:rPr>
              <a:t>새로 다루는 자료</a:t>
            </a:r>
            <a:r>
              <a:rPr lang="en-US" altLang="ko-KR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개인정보위 가이드 </a:t>
            </a:r>
            <a:r>
              <a:rPr lang="en-US" altLang="ko-KR">
                <a:solidFill>
                  <a:srgbClr val="1A1A1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>
                <a:solidFill>
                  <a:srgbClr val="1A1A1A"/>
                </a:solidFill>
                <a:latin typeface="Malgun Gothic" panose="020B0503020000020004" pitchFamily="50" charset="-127"/>
              </a:rPr>
              <a:t>지원데스크 사례집</a:t>
            </a:r>
          </a:p>
          <a:p>
            <a:pPr>
              <a:spcBef>
                <a:spcPts val="100"/>
              </a:spcBef>
            </a:pP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개인정보위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2026.5.19 22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쪽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· AI</a:t>
            </a:r>
            <a:r>
              <a:rPr lang="ko-KR" altLang="en-US" sz="1300">
                <a:solidFill>
                  <a:srgbClr val="7A7568"/>
                </a:solidFill>
                <a:latin typeface="Malgun Gothic" panose="020B0503020000020004" pitchFamily="50" charset="-127"/>
              </a:rPr>
              <a:t>기본법 지원데스크 사례집 </a:t>
            </a:r>
            <a:r>
              <a:rPr lang="en-US" altLang="ko-KR" sz="1300">
                <a:solidFill>
                  <a:srgbClr val="7A7568"/>
                </a:solidFill>
                <a:latin typeface="Malgun Gothic" panose="020B0503020000020004" pitchFamily="50" charset="-127"/>
              </a:rPr>
              <a:t>2026.3.31</a:t>
            </a:r>
          </a:p>
          <a:p>
            <a:pPr>
              <a:spcBef>
                <a:spcPts val="500"/>
              </a:spcBef>
            </a:pPr>
            <a:r>
              <a:rPr lang="ko-KR" altLang="en-US" sz="1500" b="1">
                <a:solidFill>
                  <a:srgbClr val="6B6B6B"/>
                </a:solidFill>
                <a:latin typeface="Malgun Gothic" panose="020B0503020000020004" pitchFamily="50" charset="-127"/>
              </a:rPr>
              <a:t>변경 전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학기 교안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과기정통부 가이드라인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종만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C00000"/>
                </a:solidFill>
                <a:latin typeface="Malgun Gothic" panose="020B0503020000020004" pitchFamily="50" charset="-127"/>
              </a:rPr>
              <a:t>변경 후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  「생성형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서비스 이용자를 위한 개인정보 보호 가이드」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(Q&amp;A 8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선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학습 거부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기록 삭제 등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 → 6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장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사례집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20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선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사업자 질의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답변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 → HTML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상세자료 ⑥</a:t>
            </a:r>
          </a:p>
        </p:txBody>
      </p:sp>
    </p:spTree>
    <p:extLst>
      <p:ext uri="{BB962C8B-B14F-4D97-AF65-F5344CB8AC3E}">
        <p14:creationId xmlns:p14="http://schemas.microsoft.com/office/powerpoint/2010/main" val="158309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인공지능 투명성 확보 가이드라인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유형별 표시 예시가 중심인 가이드라인은 새 유형(에이전트·AR) 앞에서 얼마나 유효한가?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(예시는 한계가 있음 — 새 유형은 '이용자가 AI임을 인식할 수 있는가'라는 원칙으로 유추 적용하고, 사례가 쌓이면 개정으로 예시를 추가해야 함)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 가이드라인 예시들을 실제 국내 서비스 화면과 대조해 '표시 이행률'을 조사해 보는 실태 연구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과기정통부·한국정보통신기술협회(TTA) · 2026.1.26 수정본 33쪽 — 목차도: 1학기 PPT를 최신판 기준으로 수정(★·빨간 글씨 = 변경) · 근거 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AI기본법 제31조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(고지·표시 의무)</a:t>
            </a:r>
            <a:endParaRPr lang="en-US" sz="1200" dirty="0"/>
          </a:p>
        </p:txBody>
      </p:sp>
      <p:pic>
        <p:nvPicPr>
          <p:cNvPr id="106" name="Picture 105" descr="cover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095" y="2103120"/>
            <a:ext cx="3748302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pic>
        <p:nvPicPr>
          <p:cNvPr id="107" name="Picture 106" descr="to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438" y="2103120"/>
            <a:ext cx="9834322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10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10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(1-1) 투명성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제31조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고지·표시 의무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사전 고지: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AI를 쓰고 있다는 사실(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①항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인공지능에 기반하여 운용된다는 사실을 이용자에게 사전에 고지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결과물 표시: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만들었다는 사실(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②항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결과물이 생성형 인공지능에 의하여 생성되었다는 사실을 표시하여야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0657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딥페이크: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진짜 같은 가짜라는 사실(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③항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실제와 구분하기 어려운 가상의 음향, 이미지 또는 영상 등의 결과물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7150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④항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방법·예외는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시행령 제23조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위임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사전고지, 표시, 고지 또는 표시의 방법 및 그 예외 등 … 대통령령으로 정한다.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가이드라인이 밝힌 취지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이용자가 AI 이용·생성 사실을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명확히 인식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기반 제품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서비스를 쓰고 있다는 사실과 ② 결과물이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생성물이라는 사실을 이용자가 둘 다 알 수 있게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이용 과정의 혼동과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오인 방지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답변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생성물을 사람이 만든 것으로 착각해 그대로 믿거나 퍼뜨리는 상황을 막는다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신뢰 제고를 위한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제도적 장치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개별 이용자 보호를 넘어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생성물이 섞여 있는 정보 환경 전체의 신뢰를 지키는 공적 장치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1722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고지 위반 과태료 3천만원(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AI기본법 제43조①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제31조제1항을 위반하여 고지를 이행하지 아니한 자 — 3천만원 이하의 과태료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'AI가 만들었다'는 표시가 오히려 정확한 정보까지 불신하게 만드는 역효과는 실증적으로 확인되는가?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(일부 실험 연구에서 확인됨 — 참인 정보에도 'AI 생성' 라벨만 붙으면 신뢰가 떨어지는 경향이 보고됨, 그래서 '생성 사실'만 중립적으로 알리는 문구 설계가 관건)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제31조①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고지는 과태료, ②③ 표시는 시정명령 — 제재 강도의 차이는 위험의 크기에 맞는가?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(표시 위반도 시정명령(AI기본법 제40조③)을 따르지 않으면 과태료(제43조①3호)로 이어지는 2단계 구조 — 딥페이크 피해의 즉시성을 고려하면 재검토 여지가 있음)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8/96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(1-2)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인공지능사업자의 구분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AI개발사업자: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AI를 개발하여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제공하는 자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서비스에 쓰이는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를 개발해 제공하는 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 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하이퍼클로바의 네이버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ChatGPT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OpenAI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r>
              <a:rPr lang="en-US" sz="1800" dirty="0" err="1">
                <a:solid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sz="1800" dirty="0">
                <a:solid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성능에 중대한 영향을 줄 수정·</a:t>
            </a:r>
            <a:r>
              <a:rPr lang="en-US" sz="1800">
                <a:solid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개량 포함</a:t>
            </a:r>
            <a:endParaRPr lang="ko-KR" altLang="en-US" sz="180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직접 개발뿐 아니라 성능에 중대한 영향을 줄 정도로 수정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변경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개량한 경우도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AI이용사업자: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받은 AI로 제품·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제공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개발사에서 직접 받든 다른 이용사업자를 거쳐 받든 포함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기반모델로 작문 서비스를 하는 뤼튼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r>
              <a:rPr lang="en-US" sz="1800" dirty="0" err="1">
                <a:solid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r>
              <a:rPr lang="en-US" sz="1800" dirty="0">
                <a:solid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유상뿐 아니라 무상·</a:t>
            </a:r>
            <a:r>
              <a:rPr lang="en-US" sz="1800">
                <a:solid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오픈소스도 포함</a:t>
            </a:r>
            <a:endParaRPr lang="ko-KR" altLang="en-US" sz="180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개발사업자의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은 공공서비스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오픈소스 같은 무상 제공 포함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이용사업자는 이용자에게 제공하는 행위가 반드시 있어야 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범위의 경계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의무는 이용자에게 최종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제공하는 사업자에게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개발사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 파운데이션 모델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API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B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사가 서비스를 내면 투명성 의무는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B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사에게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 예시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파운데이션 모델 개발자도 직접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제공하면 의무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개발과 이용자 대상 서비스를 겸하는 경우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모델 개발사가 자기 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웹으로 직접 서비스하면 직접 의무가 생긴다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사업자도 국민에게 영향을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미치면 적용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국외에서 이루어진 행위라도 국내 시장 또는 이용자에게 영향을 미치면 적용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결과물을 자기 서비스에 활용만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자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만든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CG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를 영화에 넣은 영화제작자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Sora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영상을 만들어 올리는 유튜버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API로 모델만 공급하는 개발사와 앱을 만든 이용사업자 사이에서 표시 책임의 공백은 어디에 생기는가?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(의무는 이용자에게 최종 제공하는 앱 사업자에게 있음 — 공백은 표시에 필요한 기술(워터마크·메타데이터)을 개발사가 제공하지 않을 때 생기므로 계약으로 지원 범위를 정해야 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AI로 만든 광고를 게시한 기업은 '사업자'가 아니라는 해석은 딥페이크 광고 규제와 어떻게 충돌하는가?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(결과물을 자기 업무에 활용만 하는 자는 AI기본법상 사업자가 아니어서 표시 의무 공백이 생김 — 딥페이크 광고는 표시광고법 등 개별법으로 메워야 하는 구조)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9/96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10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10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(1-3)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제23조①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고지 방법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1호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제품 직접 기재, 계약서·설명서·약관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제품등에 직접 기재하거나 계약서, 사용 설명서, 이용약관 등에 기재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2호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이용자의 화면 또는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단말기에 표시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웹 화면이나 단말기에 띄우는 방식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원문 예시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카카오 타임톡 대화방 안내 문구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(11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3호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 장소에 인식하기 쉽게 게시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제품등을 제공하는 장소(해당 장소와 합리적으로 관련된 범위의 장소를 포함한다)에 인식하기 쉬운 방법으로 게시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1722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4호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밖에 장관이 인정하는 방법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 제품등의 특성을 고려하여 과학기술정보통신부장관이 인정하는 방법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예시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약관·계약서: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가입 절차에 생성형·고영향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이용약관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 가입 절차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계약서에 생성형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또는 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활용을 명시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원문 예시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스캐터랩 제타 동의 화면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(11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앱·S/W 화면에 AI 활용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명시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S/W·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모바일 앱으로 서비스를 제공할 때 화면에 생성형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활용 사실을 명시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게시: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오프라인은 이용 전 인식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곳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오프라인 서비스는 이용 전에 충분히 인식할 수 있는 관련 장소에 게시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이용자가 주의를 기울일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있도록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고지는 결과물이 아니라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 관한 의무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 결과물 표시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조②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와는 별개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속 한 줄의 고지는 실제로 이용자에게 '인식'되는가 — 고지 방식별 인지율 비교 실험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5052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키오스크·전화 상담처럼 화면이 작거나 없는 서비스의 '유효한 고지' 기준은 무엇인가?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(통화 시작 시 음성 안내, 키오스크 화면·현장 게시(AI기본법 시행령 제23조①2·3호) 활용 — 주 이용자(고령자 등)가 실제로 인식할 수 있는지가 유효성의 기준)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10/96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(1-3) 사전 고지 —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화면의 고지와 서비스 첫 화면의 고지 중 어느 쪽이 이용자의 인식을 실제로 바꾸는가?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(이용 직전에 보이는 첫 화면 쪽이 유리할 것으로 예상됨 — 가입 시 약관은 대부분 읽지 않고 넘기기 때문, 다만 두 방식의 인지율 차이는 실험으로 검증할 연구 주제)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서비스의 모바일·PC·음성 채널별 고지 일관성을 점검하는 실태 조사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과기정통부·TTA 「인공지능 투명성 확보 가이드라인」(2026.1.26 수정본) 사전고지 예시 — 이용약관·화면 표시</a:t>
            </a:r>
            <a:endParaRPr lang="en-US" sz="1200" dirty="0"/>
          </a:p>
        </p:txBody>
      </p:sp>
      <p:pic>
        <p:nvPicPr>
          <p:cNvPr id="106" name="Picture 105" descr="fig_t_not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342" y="2103120"/>
            <a:ext cx="8734170" cy="452628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sp>
        <p:nvSpPr>
          <p:cNvPr id="107" name="Desc 1027"/>
          <p:cNvSpPr txBox="1"/>
          <p:nvPr/>
        </p:nvSpPr>
        <p:spPr>
          <a:xfrm>
            <a:off x="950976" y="6702552"/>
            <a:ext cx="16386048" cy="57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예시</a:t>
            </a:r>
            <a:r>
              <a:rPr lang="en-US" sz="16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① 스캐터랩 제타는 이용 전 동의 화면에 'AI가 생성한 메시지라 부정확·부적절할 수 있다'는 안내를 넣어 약관 단계에서 고지(시행령 제23조①1호), </a:t>
            </a:r>
          </a:p>
          <a:p>
            <a:r>
              <a:rPr lang="en-US" sz="16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카카오 타임톡은 대화방 화면에 'AI 기술로 분석해 불쾌한 메시지를 자동으로 가린다'는 문구를 띄워 화면 표시로 고지(2호)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050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050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8229600"/>
            <a:ext cx="16383305" cy="128930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(1-4) 표시와 딥페이크 고지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보는 표시와 기계가 읽는 표시 — 딥페이크에는 사람이 보는 표시만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생성물 표시 —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제23조②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94760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1호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사람이 인식할 수 있는 방법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288536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2호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기계가 판독할 수 있는 방법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4782312"/>
            <a:ext cx="743955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기계판독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1회 이상 안내 문구·음성 제공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결과물이 생성형 인공지능에 의하여 생성되었다는 사실을 1회 이상 안내 문구ㆍ음성 등으로 제공해야 한다.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879592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생성물마다 표시할 의무는 없음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딥페이크 —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제31조③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9476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실제와 구분하기 어려운 음향·이미지·영상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실제와 구분하기 어려운 가상의 음향, 이미지 또는 영상 등의 결과물 … 이용자가 명확하게 인식할 수 있는 방식으로 고지 또는 표시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54296"/>
            <a:ext cx="7439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텍스트는 딥페이크에 해당하지 않음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05663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제23조③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쉽게 확인, 주 이용자 연령 고려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시각, 청각 등을 통하거나 소프트웨어 등을 이용하여 쉽게 내용을 확인 … 주된 이용자의 나이, 신체적ㆍ사회적 조건 등을 고려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1616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예술적·창의적 표현물: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향유를 해치지 않게 완화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예술적ㆍ창의적 표현물에 해당하거나 그 일부를 구성하는 경우에는 전시 또는 향유 등을 저해하지 아니하는 방식으로 고지 또는 표시할 수 있다.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449056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텍스트를 딥페이크에서 뺀 판단은 AI가 쓴 가짜 기사·리뷰 확산을 막기에 충분한가?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(불충분 — 텍스트도 AI기본법 제31조② 생성물 표시 대상이지만, 복사·반출 뒤 유통되는 가짜 기사·리뷰는 표시가 사라지므로 플랫폼 탐지·표시광고법 등 별도 대응이 필요)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9025128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보이지 않는 워터마크는 캡처·재인코딩 한 번에 사라진다 — 기계판독 표시의 견고성 평가 연구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12/96</a:t>
            </a:r>
            <a:endParaRPr lang="en-US" sz="18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427D8C-1F5B-4E82-A76B-1108182A0C72}"/>
              </a:ext>
            </a:extLst>
          </p:cNvPr>
          <p:cNvSpPr/>
          <p:nvPr/>
        </p:nvSpPr>
        <p:spPr>
          <a:xfrm>
            <a:off x="950976" y="6848856"/>
            <a:ext cx="16386048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D855EE-F2FA-4B53-AFFF-D56896769C0E}"/>
              </a:ext>
            </a:extLst>
          </p:cNvPr>
          <p:cNvSpPr/>
          <p:nvPr/>
        </p:nvSpPr>
        <p:spPr>
          <a:xfrm>
            <a:off x="950976" y="6848856"/>
            <a:ext cx="16386048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370AF1-FA19-475E-8D3B-550C21793EE2}"/>
              </a:ext>
            </a:extLst>
          </p:cNvPr>
          <p:cNvSpPr txBox="1"/>
          <p:nvPr/>
        </p:nvSpPr>
        <p:spPr>
          <a:xfrm>
            <a:off x="1261872" y="6958584"/>
            <a:ext cx="15764256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1A1A1A"/>
                </a:solidFill>
                <a:latin typeface="Malgun Gothic" panose="020B0503020000020004" pitchFamily="50" charset="-127"/>
              </a:rPr>
              <a:t>왜 딥페이크에는 사람이 보는 표시만</a:t>
            </a:r>
            <a:r>
              <a:rPr lang="en-US" altLang="ko-KR" b="1">
                <a:solidFill>
                  <a:srgbClr val="1A1A1A"/>
                </a:solidFill>
                <a:latin typeface="Malgun Gothic" panose="020B0503020000020004" pitchFamily="50" charset="-127"/>
              </a:rPr>
              <a:t>?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 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기계 표시를 금지한 것이 아니라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</a:rPr>
              <a:t>외부로 반출할 때 그것만으로는 부족하다는 뜻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0000FF"/>
                </a:solidFill>
                <a:latin typeface="Malgun Gothic" panose="020B0503020000020004" pitchFamily="50" charset="-127"/>
              </a:rPr>
              <a:t>보호 대상이 다르다</a:t>
            </a:r>
            <a:r>
              <a:rPr lang="en-US" altLang="ko-KR" sz="1500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기계 표시의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안내 문구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회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는 생성한 이용자에게만 닿는다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딥페이크 피해는 전달받아 보는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자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대중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합성된 당사자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에게 생긴다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0000FF"/>
                </a:solidFill>
                <a:latin typeface="Malgun Gothic" panose="020B0503020000020004" pitchFamily="50" charset="-127"/>
              </a:rPr>
              <a:t>표시가 쉽게 사라진다</a:t>
            </a:r>
            <a:r>
              <a:rPr lang="en-US" altLang="ko-KR" sz="1500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캡처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재인코딩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·SNS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업로드 과정에서 메타데이터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워터마크가 지워지기 쉽다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그래서 다운로드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공유 등 외부 반출에 적용</a:t>
            </a:r>
          </a:p>
          <a:p>
            <a:pPr>
              <a:spcBef>
                <a:spcPts val="300"/>
              </a:spcBef>
            </a:pPr>
            <a:r>
              <a:rPr lang="ko-KR" altLang="en-US" sz="1500" b="1">
                <a:solidFill>
                  <a:srgbClr val="0000FF"/>
                </a:solidFill>
                <a:latin typeface="Malgun Gothic" panose="020B0503020000020004" pitchFamily="50" charset="-127"/>
              </a:rPr>
              <a:t>보는 순간 알 수 없다</a:t>
            </a:r>
            <a:r>
              <a:rPr lang="en-US" altLang="ko-KR" sz="1500" b="1">
                <a:solidFill>
                  <a:srgbClr val="0000FF"/>
                </a:solidFill>
                <a:latin typeface="Malgun Gothic" panose="020B0503020000020004" pitchFamily="50" charset="-127"/>
              </a:rPr>
              <a:t>: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워터마크는 검출 소프트웨어가 있어야 읽힌다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—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  <a:hlinkClick r:id="rId5"/>
              </a:rPr>
              <a:t>AI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  <a:hlinkClick r:id="rId5"/>
              </a:rPr>
              <a:t>기본법 제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  <a:hlinkClick r:id="rId5"/>
              </a:rPr>
              <a:t>31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  <a:hlinkClick r:id="rId5"/>
              </a:rPr>
              <a:t>조③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은 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이용자가 명확하게 인식할 수 있는 방식</a:t>
            </a:r>
            <a:r>
              <a:rPr lang="en-US" altLang="ko-KR" sz="1500">
                <a:solidFill>
                  <a:srgbClr val="1A1A1A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500">
                <a:solidFill>
                  <a:srgbClr val="1A1A1A"/>
                </a:solidFill>
                <a:latin typeface="Malgun Gothic" panose="020B0503020000020004" pitchFamily="50" charset="-127"/>
              </a:rPr>
              <a:t>을 요구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(1-5) 표시 기본원칙 — 표시 방법과 딥페이크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1 · 표시 방법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UI 등 이용 환경을 통한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가능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서비스를 직접 쓰는 이용자에게는 결과물 자체 대신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UI·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플랫폼 화면 표시로 알릴 수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반출: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다운로드·공유 시 결과물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표시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 안에서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UI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 표시했더라도 다운로드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공유 기능이 있으면 결과물 안에도 표시해야 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유형: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텍스트·이미지 등 유형별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적용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텍스트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이미지를 모두 내는 범용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는 결과물 형식마다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(17~18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맞는 방법을 각각 적용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 기능 없이 자르기 등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편집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같은 서비스 안이라도 생성형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 없이 이미지 자르기 같은 일반 편집만 쓴 결과물은 표시 대상 아님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2 · 딥페이크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사업자가 결과물의 딥페이크 해당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여부 판단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 입력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조작에 따라 실제와 구분하기 어려운 결과물이 나올 수 있는 서비스는 사업자가 먼저 해당 여부를 판단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판단·통제할 수 없으면 딥페이크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적용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통제가 불가능하면 보수적으로 딥페이크 기준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사람이 직관적으로 인식하는 표시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을 적용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풍경·캐릭터 + 실제 인물 유사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가능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풍경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캐릭터뿐 아니라 실제 인물과 비슷한 이미지도 생성될 수 있는 이미지 생성 서비스 → 딥페이크 기준 대상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제23조④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사실 명백·내부 업무용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활용한 사실이 명백한 경우(1호), 내부 업무 용도로만 사용되는 경우(2호)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'판단할 수 없으면 딥페이크로 본다'는 보수적 기본값이 생성형 이미지 서비스 시장에 미치는 비용은?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(표시 강화에 따른 UX 저하·워터마크 처리 비용이 생김 — 동시에 '판단할 수 있으면 완화'되므로 딥페이크 판단 도구를 개발할 유인도 생김)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 활용 사실이 명백한 경우' 예외는 서비스명에 'AI'만 붙이면 충족되는가?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(이름만으로는 부족 — 화면 문구·결과물 표시 등을 종합해 이용자가 AI 생성물임을 명확히 알 수 있는 맥락이어야 함(AI기본법 시행령 제23조④1호))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13/96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(1-6) 서비스 안에서의 표시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(1/3)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" y="2002536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결과물이 서비스 이용 환경 안에서만 표현될 때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반출 기능이 있으면 결과물에도 표시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821751"/>
              </p:ext>
            </p:extLst>
          </p:nvPr>
        </p:nvGraphicFramePr>
        <p:xfrm>
          <a:off x="950976" y="2606040"/>
          <a:ext cx="16367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2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6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유형</a:t>
                      </a:r>
                      <a:endParaRPr sz="18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대상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예시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방법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챗봇·대화창 등 지속적 상호작용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ChatGPT, 제미나이, 클로바X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안내 또는 지속 로고(반복 불필요), 공간 부족 시 툴팁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음성 어시스턴트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음성 대화 기반 서비스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Siri, Google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어시스턴트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NUGU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전 음성·화면 안내, 호출형은 반복 불필요, 실물은 겉면 표시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게임·메타버스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AI가 구성요소로 상호작용하는 게임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인조이, 마인크래프트 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캐릭터·NPC명에 표시 또는 초기 대화 시 안내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생산성 도구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작성 보조 AI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Copilot, Gemini in Workspace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로고·이용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전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시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(1-6) 대화형·음성 서비스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(2/3)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초기 안내로 충분하다는 기준은 장시간 대화에서 AI임을 잊는 현상을 고려한 것인가?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(직접 고려하지는 않음 — 원문은 초기 화면 표시와 '로고 표시'를 선택지로 두므로, 장시간 대화형 서비스는 로고를 계속 노출하는 방식이 보완책)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비서의 "AI 고지" 문구 길이·위치가 이용자 신뢰에 미치는 영향 실험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가이드라인 서비스 제공 표시방법 예시 — 대화형(초기 화면 표시·로고 표시), 음성 어시스턴트(음성 안내·사전 동의)</a:t>
            </a:r>
            <a:endParaRPr lang="en-US" sz="1200" dirty="0"/>
          </a:p>
        </p:txBody>
      </p:sp>
      <p:pic>
        <p:nvPicPr>
          <p:cNvPr id="106" name="Picture 105" descr="fig_t_sv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40280"/>
            <a:ext cx="16596359" cy="4437912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sp>
        <p:nvSpPr>
          <p:cNvPr id="107" name="Desc 1027"/>
          <p:cNvSpPr txBox="1"/>
          <p:nvPr/>
        </p:nvSpPr>
        <p:spPr>
          <a:xfrm>
            <a:off x="946403" y="6732954"/>
            <a:ext cx="16386048" cy="57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예시</a:t>
            </a:r>
            <a:r>
              <a:rPr lang="en-US" sz="16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제미나이·파이어플라이는 첫 화면 문구('나만의 AI 어시스턴트', 'AI 기반 창작 공간')와 화면 상단 로고로 AI 이용을 알리고, 음성 어시스턴트 창작 예시는 'AI 모델이 답하며 실제 사람이 아니다'라는 시작 안내와 기능 사용 전 동의 화면으로 고지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(1-6) 게임·생산성 도구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(3/3)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NPC가 사람 플레이어처럼 행동하는 게임에서 표시 의무는 몰입감과 어떻게 조화될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(NPC 이름 옆 AI 표시·첫 대화 안내처럼 몰입을 해치지 않는 최소 표시를 허용 — 게임 속 표현은 예술적·창의적 표현물로 볼 여지도 있어 완화된 방식이 가능)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업무용 생산성 도구에서 AI가 작성한 부분과 사람이 쓴 부분의 구분 표시 필요성 연구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가이드라인 — 게임(AI NPC 대화 안내, 캐릭터 생성), 생산성 도구(AI 회의록·문서 작성 보조)</a:t>
            </a:r>
            <a:endParaRPr lang="en-US" sz="1200" dirty="0"/>
          </a:p>
        </p:txBody>
      </p:sp>
      <p:pic>
        <p:nvPicPr>
          <p:cNvPr id="106" name="Picture 105" descr="fig_t_sv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40280"/>
            <a:ext cx="16596359" cy="4168726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sp>
        <p:nvSpPr>
          <p:cNvPr id="107" name="Desc 1027"/>
          <p:cNvSpPr txBox="1"/>
          <p:nvPr/>
        </p:nvSpPr>
        <p:spPr>
          <a:xfrm>
            <a:off x="836676" y="6619806"/>
            <a:ext cx="16386048" cy="57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예시</a:t>
            </a:r>
            <a:r>
              <a:rPr lang="en-US" sz="16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게임 '연운'은 AI NPC 대화창에, '로스트아크'는 AI 캐릭터(외형) 생성 화면에 AI 생성 사실을 안내하고, 생산성 도구인 노션 AI 회의록은 'AI가 요약을 생성한다'는 안내를, 파워포인트는 'ChatGPT for PowerPoint' 기능명으로 AI 활용을 드러냄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(1-7) 반출 표시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" y="2002536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다운로드·공유로 반출되는 결과물에 비가시적 표시(사람 눈에는 보이지 않고 기계가 읽는 워터마크·메타데이터)를 쓰면 다운로드 시 1회 이상 안내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950976" y="2606040"/>
          <a:ext cx="16367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예시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사람이 인식하는 방법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기계가 판독하는 방법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텍스트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ChatGPT, Claude 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머리말, 코드는 주석·.md 파일(실행 영향 없게)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메타데이터(클립보드 복사는 제외)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</a:t>
                      </a:r>
                      <a:endParaRPr sz="1800" b="1" dirty="0">
                        <a:solidFill>
                          <a:srgbClr val="0000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미드저니, DALL·E 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 내 로고 등 가시적 표시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 워터마크·메타데이터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동영상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Sora, Runway 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일부 로고, 영상 시작부 안내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 워터마크·메타데이터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Suno 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재생 초기 'AI가 생성한 음성입니다' 멘트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음성 워터마크·메타데이터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Canva, Gamma 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머리말, 첫 슬라이드 일부 영역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등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메타데이터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(1-7) 외부 반출 표시 —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이미지·영상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구석의 작은 워터마크는 잘라내기 한 번으로 사라진다 — 가시적 표시의 실효성은 얼마인가?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(단독으로는 낮음 — 잘라내기·재인코딩에 약하므로 비가시적 워터마크·메타데이터(C2PA 등)와 함께 쓰는 다층 표시가 필요)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시 1회 안내 팝업을 이용자가 실제로 읽는지 측정하는 사용성 연구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가이드라인 외부 반출 표시방법 예시 — 가시적 워터마크와 다운로드 시 1회 안내(이미지·동영상)</a:t>
            </a:r>
            <a:endParaRPr lang="en-US" sz="1200" dirty="0"/>
          </a:p>
        </p:txBody>
      </p:sp>
      <p:pic>
        <p:nvPicPr>
          <p:cNvPr id="106" name="Picture 105" descr="fig_t_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40280"/>
            <a:ext cx="16596359" cy="4375376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sp>
        <p:nvSpPr>
          <p:cNvPr id="107" name="Desc 1027"/>
          <p:cNvSpPr txBox="1"/>
          <p:nvPr/>
        </p:nvSpPr>
        <p:spPr>
          <a:xfrm>
            <a:off x="952805" y="6688807"/>
            <a:ext cx="16386048" cy="57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예시</a:t>
            </a:r>
            <a:r>
              <a:rPr lang="en-US" sz="16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제미나이는 생성 이미지 오른쪽 아래 별 모양 워터마크를, 소라AI는 영상 위 'Sora' 로고를 넣는 가시적 표시 사례 — 창작 예시 두 장은 다운로드 직전에 'AI로 생성된 콘텐츠'임을 1회 안내하고 계속할지 묻는 팝업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(1-8) 일반 생성물 · 딥페이크 · 예술 표현물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" y="2002536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이미지라도 '실제와 구분하기 어려운가'와 '예술 표현물인가'에 따라 표시 강도가 달라진다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950976" y="2606040"/>
          <a:ext cx="163677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방법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생성물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실제와 구분하기 어려운 수준이 아닌 AI 생성물(딥페이크와 구분하려 새로 정의)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 내 로고 등 사람이 인식하는 방법 또는 기계판독 방법(+1회 안내)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딥페이크 생성물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실제와 구분하기 어려운 가상의 음향·이미지·영상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사람이 직관적으로 인식하는 방법만 — 인물 합성 등 오인·피해 우려 시 명확히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예술적·창의적 표현물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미술·영화·문학·사진·만화·게임·애니메이션 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전시·향유를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해치지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않는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완화된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시간차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비가시적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등)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(1-9)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허위정보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34840"/>
            <a:ext cx="7439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펜타곤 폭발 가짜 사진(2023.5)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국방부 청사 근처 폭발 사진이 트위터에서 언론까지 퍼짐, 당국이 부인하고 AI 생성물임을 공개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5145024"/>
            <a:ext cx="7439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증시 충격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유포 직후 S&amp;P500이 한때 0.3% 하락, 안전자산인 미 국채·금값도 잠시 상승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855208"/>
            <a:ext cx="7439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선거 딥페이크(2023.3)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미드저니로 후보(트럼프)가 체포·투옥되는 장면을 만들어 SNS에 유포, 지지층 공략용 합성 사진도 등장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6565392"/>
            <a:ext cx="7439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가짜뉴스 인식 조사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가짜뉴스를 겪어 봤다 43.3%, AI 발달로 피해가 심화될 것이다 84.2% 동의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성범죄와 학술 윤리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34840"/>
            <a:ext cx="7439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아동 성착취물 제작(2023.4)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생성형 AI에 '나체'·'어린이' 등을 입력해 성착취물 360개를 만든 사건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5145024"/>
            <a:ext cx="7439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법원 판결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아동·청소년성보호법 위반 징역 2년 6개월, 가상 이미지라도 아동으로 명백히 인식되면 처벌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855208"/>
            <a:ext cx="7439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공동저자 논문(2023.1)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네이처 발표 기준 최소 4편의 연구논문에 ChatGPT가 공동 저자로 등록돼 과학계 반발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6565392"/>
            <a:ext cx="7439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네이처 등 주요 저널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AI는 책임을 질 수 없어 저자로 인정 불가, 활용 사실은 본문(방법 등)에 밝히도록 요구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의무는 악의적 생성자가 아닌 '정직한 사업자'만 구속한다 — 탐지 기술과 표시 의무의 역할 분담은?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(표시는 정상 유통되는 콘텐츠의 기본값 — 표시를 지우는 악의적 생성물은 탐지 기술(워터마크 검출)과 처벌법(성폭력처벌법·공직선거법 등)으로 대응하는 역할 분담)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딥페이크 피해 구제에서 표시 의무 위반 사실이 손해배상 책임 판단에 어떤 영향을 주는가?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(표시 의무 위반 사실은 과실·위법성 판단의 근거가 될 수 있음 — 다만 손해와의 인과관계(표시가 있었다면 피해가 없었는가)는 피해자가 별도로 입증해야 함)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20/96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(1-9) 위험 사례 —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허위 이미지가 시장을 흔든 사례에서 표시 의무가 있었다면 피해를 막을 수 있었는가?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(제한적 — 생성자가 표시를 지우거나 해외 서비스를 쓰면 무력하고, 펜타곤 사진도 SNS에서 순식간에 퍼졌으므로 플랫폼 탐지·신속 정정이 함께 필요)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선거 딥페이크 대응을 위한 AI기본법 표시 의무와 공직선거법 규제의 역할 분담 분석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가이드라인 참고자료 — 펜타곤 폭발 가짜 사진과 S&amp;P500 변동, 생성형 AI로 제작된 선거 딥페이크 사례</a:t>
            </a:r>
            <a:endParaRPr lang="en-US" sz="1200" dirty="0"/>
          </a:p>
        </p:txBody>
      </p:sp>
      <p:pic>
        <p:nvPicPr>
          <p:cNvPr id="106" name="Picture 105" descr="fig_t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75281"/>
            <a:ext cx="16596359" cy="3751136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sp>
        <p:nvSpPr>
          <p:cNvPr id="107" name="Desc 1027"/>
          <p:cNvSpPr txBox="1"/>
          <p:nvPr/>
        </p:nvSpPr>
        <p:spPr>
          <a:xfrm>
            <a:off x="950976" y="6355080"/>
            <a:ext cx="8046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펜타곤 폭발 가짜 사진(2023.5)</a:t>
            </a:r>
            <a:r>
              <a:rPr lang="en-US" sz="16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국방부 청사 근처에서 검은 연기가 치솟는 사진이 트위터에서 언론까지 퍼짐 — 국방부·소방당국이 '폭발은 없었다'며 AI 생성물임을 밝혔지만, 그사이 S&amp;P500이 한때 0.3% 하락하고 미 국채·금값이 잠시 올랐다</a:t>
            </a:r>
          </a:p>
        </p:txBody>
      </p:sp>
      <p:sp>
        <p:nvSpPr>
          <p:cNvPr id="108" name="Desc 1027"/>
          <p:cNvSpPr txBox="1"/>
          <p:nvPr/>
        </p:nvSpPr>
        <p:spPr>
          <a:xfrm>
            <a:off x="9290304" y="6355080"/>
            <a:ext cx="8046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트럼프 美 대통령 딥페이크(2023~)</a:t>
            </a:r>
            <a:r>
              <a:rPr lang="en-US" sz="16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지지자들은 흑인 유권자들이 후보를 지지하는 듯한 사진(좌)을 AI로 만들어 공유했고, 반대편에서는 미드저니로 후보가 체포·투옥되는 장면(우)을 만들어 소셜미디어에 게시 — 실제 사진처럼 보여 빠르게 확산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(1-10) 국제 논의와 콘텐츠 출처 표준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워터마크는 한 나라만으로는 작동하지 않는다 — 상호운용 표준이 관건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합의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AI 정상회의(2024.5):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프런티어 AI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서약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5.21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정상 세션에서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서울 선언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채택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16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프런티어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기업이 위험 임계치 공개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통제 불가 시 개발 중단 등을 서약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</a:t>
            </a:r>
            <a:r>
              <a:rPr lang="en-US" altLang="ko-KR" sz="1800" b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800" b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서약</a:t>
            </a:r>
            <a:r>
              <a:rPr lang="en-US" altLang="ko-KR" sz="1800" b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(5.22, 14</a:t>
            </a:r>
            <a:r>
              <a:rPr lang="ko-KR" altLang="en-US" sz="1800" b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개사</a:t>
            </a:r>
            <a:r>
              <a:rPr lang="en-US" altLang="ko-KR" sz="1800" b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):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식별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협력</a:t>
            </a: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삼성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네이버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카카오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·SKT·KT·LG·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구글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·MS·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앤스로픽 등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워터마크 등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 콘텐츠 식별 조치와 국제표준 개발 협력 약속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히로시마 </a:t>
            </a:r>
            <a:r>
              <a:rPr lang="en-US" sz="1800" b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프로세스(2023.10):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워터마크 권고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G7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첨단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개발자 국제 행동강령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항 중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항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기술적으로 가능하면 워터마크 등 콘텐츠 인증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출처 확인 체계를 개발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뮌헨안보회의(2024.2):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선거 딥페이크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협약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'2024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선거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기만적 사용 방지 기술협약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— 20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빅테크가 선거 딥페이크 탐지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출처 표시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 평가에 공동 대응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자율 협약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구속력 없음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비교와 쟁점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제50조: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기계판독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의무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제공자는 결과물을 기계판독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탐지 가능한 형식으로 표시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(②),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딥페이크 배포자는 조작 사실을 공개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(④) — 2026.8.2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부터 적용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C2PA 등 콘텐츠 출처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표준과의 정합성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어도비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·MS·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·BBC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등이 만든 출처 표준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(2021)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편집 이력을 전자서명된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콘텐츠 자격증명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으로 파일에 붙임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워터마크와 병행 추세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제23조②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 인식·기계판독 중 선택</a:t>
            </a:r>
            <a:endParaRPr lang="en-US" sz="1800" dirty="0"/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한국은 둘 중 선택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기계판독만 택하면 안내 문구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회로 보완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. EU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는 기계판독 표시가 기본이라 사람용 표시만 한 결과물은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EU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기준에 못 미칠 수 있음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업로드 시 메타데이터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문제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SNS·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메신저는 용량 절감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 보호를 위해 업로드 시 메타데이터를 지우는 경우가 많음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출처 정보 보존을 플랫폼 의무로 둘지가 쟁점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기계판독 표시가 C2PA 같은 국제 표준과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호환되지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경우의 이슈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500" dirty="0" err="1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플랫폼이 판독하지 못하는 국내 고유 방식은 업로드 순간 무력화되므로 C2PA 등 국제 표준 채택과 국가 간 상호인정이 관건)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733892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제50조와 한국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제31조②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표시 의무를 비교해 '한 번 표시로 양국 준수'가 가능한지 분석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22/96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인공지능 안전성 확보 가이드라인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기업이 극소수일 수 있는 의무에 75쪽 가이드라인 — 이 문서의 실질적 수범자는 누구인가?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(극소수 프런티어 개발사가 직접 수범자 — 실제로는 이를 참고하는 평가기관·자율 준수 기업, 그리고 고시 제정 과정의 정책 참고자료로 더 널리 쓰임)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고시(안)</a:t>
            </a: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제4~8조와 가이드라인 목차를 1:1로 대응시켜 '조문-이행항목 매트릭스'를 만들어 보는 연구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과기정통부·한국전자통신연구원(ETRI) · 2026.5. 재게시 75쪽 '(안)' — 목차도: 1학기 PPT를 최신판 기준으로 수정(★·빨간 글씨 = 변경) · 근거 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제32조</a:t>
            </a:r>
            <a:endParaRPr lang="en-US" sz="1200" dirty="0"/>
          </a:p>
        </p:txBody>
      </p:sp>
      <p:pic>
        <p:nvPicPr>
          <p:cNvPr id="106" name="Picture 105" descr="cover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8266" y="2103120"/>
            <a:ext cx="3716065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pic>
        <p:nvPicPr>
          <p:cNvPr id="107" name="Picture 106" descr="to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372" y="2103120"/>
            <a:ext cx="9446216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791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791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80960"/>
            <a:ext cx="16383305" cy="183794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(2-1) 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대상 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3요건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제24조①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세 요건(연산량·최첨단·중대 영향)을 '모두' 충족해야 의무 대상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제24조①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3요건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8056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연산량: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</a:t>
            </a:r>
            <a:r>
              <a:rPr lang="en-US" sz="1800" baseline="30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FLOPs 이상(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1호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사용된 누적 연산량이 10의 26승 부동소수점연산 이상일 것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511149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최첨단: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최첨단 AI기술 적용·운영(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2호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최첨단의 인공지능기술을 적용하여 구성ㆍ운영되고 있을 것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74243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중대 영향: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생명·신체·기본권에 광범위(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3호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인공지능시스템의 위험도가 사람의 생명, 신체의 안전 및 기본권에 광범위하고 중대한 영향을 미칠 우려가 있을 것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660196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②항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연산량 산정 방식은 고시로 위임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제1항제1호에 따른 학습에 사용된 누적 연산량의 구체적인 산정 방식은 과학기술정보통신부장관이 정하여 고시한다.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제32조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안전성 확보 의무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8056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①1호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수명주기 전반 위험 식별·평가·완화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연산량이 대통령령으로 정하는 기준 이상인 인공지능시스템의 안전성을 확보하기 위하여 … 이행하여야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541629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①2호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안전사고 모니터링·대응 위험관리체계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관련 안전사고를 모니터링하고 대응하는 위험관리체계 구축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612343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②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이행 결과를 과기정통부장관에게 제출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제1항 각 호에 따른 사항의 이행 결과를 과학기술정보통신부장관에게 제출하여야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83056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③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이행 방식은 고시 — 현재 제정(안) 단계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이행 방식 및 … 결과 제출 등에 필요한 사항을 정하여 고시하여야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74736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en-US" sz="1800" baseline="30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FLOPs 기준을 넘는 국내 모델이 사실상 없다면, 이 조항은 해외 프런티어 모델 규제로만 작동하는가?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(현재로선 사실상 그렇다 — 국내 모델이 10의 26승 FLOPs를 넘으면 직접 적용되고, 해외 모델은 국내대리인(AI기본법 제36조)을 통해 집행)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750808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EU는</a:t>
            </a: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</a:t>
            </a:r>
            <a:r>
              <a:rPr lang="en-US" sz="1800" b="1" baseline="30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8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</a:t>
            </a: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</a:t>
            </a:r>
            <a:r>
              <a:rPr lang="en-US" sz="1800" b="1" baseline="30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연산량 임계치 설정의 근거와 국제 정합성 비교 연구</a:t>
            </a:r>
            <a:endParaRPr lang="en-US" sz="1800" b="1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24/96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(2-2) 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 내용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1월판 → 5월판(2026.5.29 게시)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71쪽 → 75쪽, 위험관리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체계는 그대로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식별 → 평가 → 완화 → 위험관리체계 → 결과 제출 구조는 그대로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전문과 조항 매핑이 더해진 세부 보완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제1~9조(목적~재검토)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수록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적용 대상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위험 식별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평가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완화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위험관리체계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결과 제출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9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재검토 기한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목차마다 '관련 조항' 열로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매핑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매핑표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'3-1-2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 식별 절차 및 방법 마련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'3-3-3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긴급 대응 계획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항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시행령 제24조①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1~3호(대상 요건)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정비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 누적 연산량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10^26 FLOPs, 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 최첨단 기술 적용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 광범위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중대한 영향 우려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소주제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2-1-1~3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 호수별로 연결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여전히 '(안)'인 이유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고시: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안전성 확보 의무 이행방법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안)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 목차가 이 고시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조문에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1:1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묶여 있어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고시가 확정되면 가이드라인도 함께 바뀔 수밖에 없다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고시는 아직 발령되지 않음(법제처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미등재)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law.go.kr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행정규칙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인공지능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검색 결과 안전성 고시는 없음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(2026.10.25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발령된 것은 확인절차 고시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건뿐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 문구: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최종본과 달라질 수 있음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가이드라인(안)은 … 작성 중인 자료입니다. 따라서 여기에 담긴 내용은 앞으로 공개될 최종본과는 달라질 수 있습니다.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제9조 재검토: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2026.7.1부터 3년마다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1일 기준으로 매 3년이 되는 시점 … 마다 그 타당성을 검토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시행 9개월이 지나도록 고시가 '(안)'에 머문 상태에서 결과 제출 의무를 집행할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(제출 의무 자체는 AI기본법 제32조②로 유효하지만, 제출 시기·양식을 정할 고시가 없어 위반 판단과 시정명령 집행이 어려움 — 고시 발령이 선결 과제)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수정판이 조용히 교체되는 지금, 가이드라인 판본 관리(버전·변경이력 공개) 표준이 필요하지 않은가?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(필요 — 판본 번호·게시일·변경 대비표 공개가 최소 요건, 그래야 사업자가 '어느 판을 따랐는지'로 신뢰보호를 주장할 수 있음)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25/96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(2-2)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(안)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목차를 </a:t>
            </a: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고시(안)</a:t>
            </a: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조문에 1:1로 묶은 설계는 고시가 바뀌면 가이드라인 전체를 다시 써야 하지 않는가?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('관련 조항' 열만 고치면 되는 구조 — 오히려 고시 조문이 바뀔 때 영향받는 목차를 바로 찾을 수 있어 개정 추적이 쉬워짐)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매핑표를 이용해 사업자의 안전성 확보 이행 점검표를 자동 생성하는 도구 설계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과기정통부·ETRI 「인공지능 안전성 확보 가이드라인(안)」(2026.5.) 6쪽 — 책무사항·주제·소주제·관련 조항</a:t>
            </a:r>
            <a:endParaRPr lang="en-US" sz="1200" dirty="0"/>
          </a:p>
        </p:txBody>
      </p:sp>
      <p:pic>
        <p:nvPicPr>
          <p:cNvPr id="106" name="Picture 105" descr="fig_s_cf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092" y="2103120"/>
            <a:ext cx="7656671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(2-3) 누적 </a:t>
            </a:r>
            <a:r>
              <a:rPr lang="ko-KR" alt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산정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" y="2002536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사업자가 방식을 자율 선택 — 단, 근거·전제·불확실성 범위를 문서로 남겨 제3자가 검증 가능하게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950976" y="2606040"/>
          <a:ext cx="1636776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방식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계산식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이론적 계산(설계 정보)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= 파라미터 수 N × 토큰 수 D × 반복 횟수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단순·저비용, 설계 정보가 명확할 때 빠름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경험적 계수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= 6 × N × D (역전파 고려 계수 6)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널리 쓰이나 모델마다 계수가 다를 수 있음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GPU 사용량(단일)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= 장비 성능(FLOPs/s) × 총 사용시간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기록만 있으면 정확도 높음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GPU 사용량(다중)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= 학습시간 × 장비 수 × 최대 FLOPs/s × 평균 가동률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실측에 가까움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사전학습·사후학습·파인튜닝, MoE 구성 모델, 합성데이터 생성 연산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성능에 실질적으로 기여한 모든 학습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프로토타입·하이퍼파라미터 탐색·레드팀, 증류 부모·보상 모델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발휘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주체가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아닌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연산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(2-4) '최첨단'과 '광범위·중대'의 판단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절대적 우열이 아니라 동시점 대비 상대적 위치 — 판단 시점은 학습 착수·설계 단계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최첨단 기술 —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제24조①2호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SOTA 지향 설계: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최고 모델을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기준으로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동시점 최고 성능 모델을 비교 기준으로 삼거나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벤치마크 최고 성능 달성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초과를 목표로 설정한 경우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SOTA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지향 설계로 간주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SOTA급 수단: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최신 구조·대규모 데이터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·RLHF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최신 아키텍처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대규모 파라미터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대규모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고품질 데이터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대규모 분산 학습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·RLHF·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합성 데이터 등을 종합적으로 고려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위치: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벤치마크로 최고 수준과 동급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·근접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공개 벤치마크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내부 평가로 동시점 최고 수준과 동등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근접한지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비공개 모델도 내부 평가로 비교 가능하면 고려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변경·대규모 추가학습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 재검토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판단은 학습 착수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설계 단계에서 선제적으로 하되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대규모 추가 학습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구조 변경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활용 범위 확장 시 다시 판단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영향 —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제24조①3호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 목적·오남용 가능성·유사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사례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사용 목적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적용 분야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합리적으로 예측 가능한 오용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악용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유사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기존 시스템의 위험 사례를 함께 본다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 범위·지속성·회복 가능성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·심각성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잠재적 피해의 범위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지속성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회복 가능성과 생명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공공 안전에 미칠 영향의 심각성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광범위: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특정 개인 아닌 다수·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 전반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특정 개인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제한된 상황이 아니라 다수 이용자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사회 전반에 중대한 피해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여러 맥락에서 반복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연쇄적으로 발생할 가능성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단위: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모델이 아닌 목적·기능별 '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인공지능'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같은 모델이라도 목적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 결합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입출력 구조가 다르면 서로 다른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인공지능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으로 보고 따로 판단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'동시점 SOTA 대비 상대적 위치'라는 기준은 기술이 빠를수록 의무 대상이 줄어드는 역설을 낳지 않는가?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(그런 측면이 있음 — 그래서 상대 기준(최첨단)만 쓰지 않고 절대 기준(10의 26승 FLOPs)·중대 영향 요건을 '모두' 충족하도록 묶어 둠)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모델도 목적·기능 결합에 따라 다른 AI로 본다면, 에이전트형 서비스의 판단 단위는 어떻게 정할 것인가?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(모델이 아닌 '목적·기능별 AI' 단위로 판단 — 에이전트는 수행하는 기능 묶음(예: 결제 대행, 코드 실행)별로 나눠 요건을 따져야 함)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28/96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(2-5) 의무 주체 — 개발과 실질적 변경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대상이 된 '원인 행위'를 한 사업자에게 — 개발사와 변경사가 동시에 질 수도 있다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실질적 변경 —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제3조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일부(예: 1/3 이상) 또는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재학습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 파라미터 일부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1/3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나 전부를 재학습하거나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전체 학습량의 상당 부분을 추가 학습해 기능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성능이 크게 바뀐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분야용 지속적·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파인튜닝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특정 목적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 분야용으로 지속적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체계적 미세조정을 해 적용 범위나 위험 특성이 실질적으로 바뀐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 구조·추론 방식·의사결정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변경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입출력 구조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추론 방식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의사결정 흐름이 바뀌어 기능적 성격이 달라진 경우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판단 기준은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사실상 새로운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실행 시스템·외부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서비스와의 결합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자율 실행 시스템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외부 서비스와 결합해 위험 수준이나 통제 요건이 중대하게 변동된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시나리오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 중 10^25→10</a:t>
            </a:r>
            <a:r>
              <a:rPr lang="en-US" sz="1800" baseline="30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초과 →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 A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10^25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규모로 설계했지만 학습 중 누적 연산량이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10^26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을 넘음 → 이행 결과 제출 의무 주체는 개발사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50% 이상 추가학습해 대출심사에 →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변경사 B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비대상 모델을 들여와 학습량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50%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이상 추가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신용평가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대출 한도 자동결정에 활용 → 원인 행위를 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B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사가 의무 주체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 대상인 AI에 자율실행 추가 → A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B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초기 원인 행위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사가 계속 의무 주체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자율 실행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외부 연계로 위험을 키운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B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사도 공동 의무 주체가 될 수 있음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복수 관여 시 역할·책임 범위를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문서로 정리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복수 사업자가 관여하면 각자의 역할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책임 범위를 구분하고 사실관계를 문서로 정리해 책임 귀속의 근거로 삼는다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웨이트 모델을 받아 파인튜닝한 국내 기업은 언제 '실질적 변경자'로서 해외 개발사의 의무를 승계하는가?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(고시(안) 제3조①2호의 '실질적 변경'에 해당할 때 — 해외 개발사의 의무를 승계하는 것이 아니라 변경을 가한 자로서 자기 의무를 짐)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'파라미터 1/3 이상 재학습' 같은 정량 기준은 LoRA 등 경량 미세조정 기법 앞에서 유효한가?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(비율 기준은 LoRA처럼 적은 파라미터로 큰 변화를 주는 기법에 우회될 수 있음 — 그래서 고영향 분야 파인튜닝·구조 변경 같은 기능 기준을 함께 둠)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29/96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(2-6) 4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합리적으로 예상 가능한 위험을 수명주기 전 과정에서 — 과도한 가정은 제외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근거로 식별하나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과학적 근거: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기술 분석·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문헌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취지상 식별 책임은 기술적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과학적 근거로 객관적으로 예측 가능한 범위로 한정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과거 사고·공개된 침해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·오남용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과거 사고 사례와 공개된 침해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오남용 사례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현존 기술 수준을 현저히 벗어난 추상적 가설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과도한 가정은 제외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능력 AI에서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위험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동일하거나 유사한 능력을 가진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에서 이미 확인된 위험은 자사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에도 식별 대상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레드팀 테스트·위협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모델링 결과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레드팀 테스트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위협 모델링 등 공격 관점의 점검 결과와 내부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외부 전문가 의견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자문도 근거가 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우선순위와 방법론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최근 2년 사례·3개 이상 연구·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인과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최근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년 이내 사례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이상 연구에서 반복 확인된 위험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직접 또는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차 간접 인과관계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특성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분야에 따라 조정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기획부터 종료·폐기까지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단계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배포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종료 단계마다 위험 성격이 다르다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실질적 변경이 있으면 식별을 다시 실시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주요 1개 이상 포함 총 2개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병행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필수 방법론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 후보 위험 목록 또는 위험 분류체계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이상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시나리오 분석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위협 모델링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레드팀 등 선택 방법론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 방법론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적정성 재검토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기술 발전이 빨라 분기별로 방법론 적절성을 재검토하고 필요하면 새 방법론을 추가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 목록도 분기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회 이상 갱신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'최근 2년·3개 이상 연구' 기준은 아직 사례가 없는 신종 위험(자기복제·기만)을 체계적으로 놓치지 않는가?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(놓칠 수 있음 — '최근 2년·3개 이상 연구'는 우선순위 기준일 뿐이므로, 사례가 없는 신종 위험은 레드팀·위협 모델링으로 따로 찾아야 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레드팀 결과를 위험 식별의 근거로 쓰려면 레드팀 자체의 품질은 누가 어떻게 보증하는가?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(사업자의 레드팀 범위·방법 문서화 + 외부 검증(AI안전연구소·제3자 평가기관) — 레드팀 품질을 인증하는 공인 기준은 아직 없음)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30/96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(2-6) 위험 식별 6단계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중 "갱신"을 분기마다 하라는 기준은 모델 업데이트 주기가 더 빠른 서비스에 충분한가?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(분기는 최소 주기일 뿐 — 모델 업데이트·신규 기능 출시·사고 발생 때마다 수시로 갱신해야 실제 위험을 따라갈 수 있음)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절차를 실제 오픈소스 모델 1개에 적용해 보는 사례 연구(기말 보고서 후보)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가이드라인 32쪽 — 준비·정보 수집·위험 발굴·기록 관리·검증·갱신의 6단계</a:t>
            </a:r>
            <a:endParaRPr lang="en-US" sz="1200" dirty="0"/>
          </a:p>
        </p:txBody>
      </p:sp>
      <p:pic>
        <p:nvPicPr>
          <p:cNvPr id="106" name="Picture 105" descr="fig_s_6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615" y="2103120"/>
            <a:ext cx="9813624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(2-7) 5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식별번호 단위로 평가하고, 평가 조직은 개발로부터 독립적으로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항목과 방법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심각성·중대성·실현가능성·빈도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·관리가능성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심각성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피해 크기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중대성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파급 범위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실현 가능성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빈도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 가능성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단일 항목이 아니라 종합적으로 평가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정성·준정량·정량·시나리오 중 1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이상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예시 산식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심각성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×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중대성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)×(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실현가능성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×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빈도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)×(1/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관리가능성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→ 100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 이상 즉시 조치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20~99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개월 내 대응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정량·준정량 포함 2종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병행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신체 안전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기본권에 광범위하고 중대한 영향 가능성이 있는 위험은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종 이상 방법을 병행해 더 보수적으로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Bow-tie, FTA,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원인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결과와 통제 수단을 구조적으로 분석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정량 분석은 벤치마크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레드팀 성공률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운영 로그 등 객관 데이터 활용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조직과 검증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기술·정책윤리·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사이버보안 전문가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데이터를 이해하는 기술 전문가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사회적 영향을 보는 정책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윤리 전문가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악용 가능성을 보는 보안 전문가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독립성: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자기가 개발한 프로젝트는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금지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마케팅 부서와 조직적으로 분리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평가 결과를 최고책임자에게 직접 보고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성과 압박에 의한 왜곡 방지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감사기관·학계·인권·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단체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외부 참여는 필수가 아니지만 사회적 파급력이 크거나 기술을 넘어선 가치 판단이 필요할 때 유용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제5조⑤ 문서화: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식별번호·시점·결과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위험의 식별번호 및 명칭 2. 위험평가 시점 3. 위험평가 방법 4. 위험평가 결과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프런티어 AI 위험을 FMEA·FTA 같은 전통 안전공학 기법으로 평가하는 것은 어디까지 유효한가?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(알려진 고장 모드(부품·데이터 오류)에는 유효 — 창발적 위험(기만·자기복제)은 사전 열거가 어려워 레드팀·벤치마크와 병행해야 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위험평가조직의 '독립성'을 외부에서 검증할 수 있는 지표는 무엇인가?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(보고 라인 분리(경영진 직보), 자기 개발 프로젝트 평가 금지 준수 기록, 외부 위원 참여·외부 검증 비율 등이 지표가 될 수 있음)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32/96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(2-8) 6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결과에 따라 조치하고, 다시 평가해서 효과를 확인한다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완화조치의 수립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평가결과·시급성·효과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·실행가능성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시급성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피해 가능성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확산 속도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×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효과성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×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실행 가능성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규제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성능 저하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공정성 저해 등 부작용도 함께 평가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고위험은 위원회·경영진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승인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고위험은 위험관리전담부서 검토 → 위험관리위원회 또는 경영진 최종 승인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중위험은 실무 부서 책임자 승인 후 즉시 시행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실무부서 임시조치 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승인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긴급 상황은 실무 부서가 임시 조치를 먼저 하고 공식 승인은 사후에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승인 체계는 사전에 문서화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제6조③: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시행 후 재평가로 효과 확인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위험완화조치를 시행한 이후 제5조에 따른 위험평가를 재실시하여 그 효과를 확인해야 하며, 필요한 경우 … 수정·보완해야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수명주기별 조치 예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 기능 제한, 유해 요청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 학습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모델 설계 단계에서 위험한 기능을 제한하고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유해 요청을 거부하도록 학습시키는 안전 중심 설계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접근통제·암호화·내부자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 대응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접근 통제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암호화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내부자 위협 대응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보안 감사로 모델 탈취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유출을 막는다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제한적 공개·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 롤아웃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제한적 공개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단계적 롤아웃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조건부 기능 활성화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운영 단계 실시간 모니터링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사용자 신고 채널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 대응 계획: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즉시 완화가 어려울 때(⑤)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위험완화조치를 신속히 시행하기 어려운 경우에는 피해를 최소화하기 위한 긴급 대응 계획을 수립하여야 하며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'단계적 롤아웃'과 오픈소스 공개 결정 사이의 위험-혁신 트레이드오프를 정량화할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(완전한 정량화는 어려움 — 단계별 공개(API → 제한 공개 → 오픈 웨이트)와 공개 후 오남용 모니터링 지표로 근사하는 것이 현실적)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위험(residual risk)을 '수용 가능' 수준으로 판단하는 기준은 누가 정해야 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(1차는 사업자 위원회·경영진(고위험은 최종 승인) — 사회적으로 수용 가능한 수준은 정부·이해관계자 논의와 고시로 정해 나가야 함)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33/96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(2-9) 위험관리체계와 안전사고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고시안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제7조 — 조직, 이용자 안내, 신고·보상, 교육·훈련 네 가지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위험관리체계 —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제7조②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안전사고 대응 조직과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구성원 역할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기술 부서에 한정하지 않고 윤리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법률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사용자 보호를 통합한 다학제 조직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역할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권한을 명확히 정의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이용자·영향받는 자 안내 등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절차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이용자와 영향받는 자에게 사고 사실과 대응을 안내하는 절차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내부 대응과 외부 안내가 병행되도록 설계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관계기관 신고·사후조치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·피해보상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과기정통부 보고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관계기관 통지와 피해보상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사고 보고는 인지 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초동조치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처리 결과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일 이내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직원 교육·훈련 등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 조치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안전사고 예방을 위한 직원 교육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훈련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조직의 역할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절차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협업 구조를 정기적으로 검토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책임자 지정, 사업 성과로부터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판단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최고위 정책결정자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·CAIO·CAISO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등 최종 책임자 지정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대응 조직은 개발 일정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사업 성과로부터 독립적으로 판단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인지→초기 판단→조치 결정→실행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→점검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인지 → 초기 판단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심각성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확산 가능성 분류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→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조치 결정 → 실행 → 사후 점검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 재량에 과도하게 의존하지 않도록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중단·제한 조치는 보수적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허용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전면 중단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 제한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접근 통제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배포 중단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롤백은 책임 회피가 아니라 피해 최소화 수단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즉시성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가역성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최소 권한 고려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모의훈련을 정기적으로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모의 훈련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테이블탑 연습으로 긴급 대응 계획이 실제로 작동하는지 점검하고 발견된 문제를 보완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'피해보상 방안'을 위험관리체계에 넣었다면, AI 안전사고 손해배상 책임보험 도입으로 이어져야 하지 않는가?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(논리적 연장선 — 다만 AI기본법에 보험 가입 의무 규정은 없어, 피해보상 재원을 강제하려면 별도 입법(책임보험)이 필요)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안전사고의 정의(유해 출력 반복·정보 노출·통제 실패)는 사이버보안 사고 정의와 어떻게 구분되는가?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(사이버 사고는 외부 침해가 원인, AI 안전사고는 모델 자체의 유해 출력·정보 노출·통제 실패가 원인 — 둘이 겹치면(프롬프트 인젝션 등) 두 절차를 병행)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34/96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(2-10) 제출과 보고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" y="2002536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AI기본법 제32조②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 제출 ·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제8조 — 기산점은 사업자가 '인지'한 시점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950976" y="2606040"/>
          <a:ext cx="1636776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기산점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내용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제출(①)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3개월 이내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대상 해당을 인지한 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식별·평가·완화, 위험관리체계 문서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제출(②1호)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1개월 이내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실질적 변경이 이루어진 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증가가 수반되는 변경 — 협의로 연장 가능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제출(②2호)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1개월 이내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새로운 위험 발생·예상을 인지한 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식별·평가 결과, 신규 완화조치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사고 최초 보고(③1호)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 이내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사고 발생을 인지한 시점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발생·인지 시점, 해당 AI, 유형, 확인된 피해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초동조치 보고(③2호)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7일 이내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보고일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초동조치 결과, 추가 조치·처리 계획, 지원 요청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결과 보고(③3호)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15일 이내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보고일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원인·피해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규모·잔존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위험·재발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계획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(2-11)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비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 임계치는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10^25 ·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10^26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의무의 무게와 집행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범용 AI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시스템적 위험 GPAI: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</a:t>
            </a:r>
            <a:r>
              <a:rPr lang="en-US" sz="1800" baseline="30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FLOPs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EU AI Act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51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조②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 </a:t>
            </a:r>
            <a:r>
              <a:rPr lang="ko-KR" altLang="en-US" sz="1500" dirty="0" err="1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연산량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en-US" altLang="ko-KR" sz="1500" baseline="300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 FLOPs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를 넘으면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시스템적 위험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범용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모델로 추정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한국은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en-US" altLang="ko-KR" sz="1500" baseline="300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평가·적대적 테스트·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보고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적대적 테스트를 포함한 모델 평가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시스템적 위험 평가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완화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중대 사고 보고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사이버보안 보호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 행동강령(Code of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Practice)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2025.7 EU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집행위 공개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투명성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저작권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안전과 보안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서명한 기업은 의무 이행을 입증하는 수단으로 활용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 세계 매출 3% 또는 1,500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유로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101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범용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모델 제공자에게 전 세계 연 매출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3%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또는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1,500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만 유로 중 높은 금액까지 과징금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한국과 참고 체계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</a:t>
            </a:r>
            <a:r>
              <a:rPr lang="en-US" sz="1800" baseline="30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최첨단 + 광범위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위험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 시행령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1~3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 세 요건을 모두 갖춰야 대상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EU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보다 임계치가 높고 요건도 더해진 구조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제40조③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시정명령 불이행 시 과태료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법을 위반한 사실이 있다고 인정되면 … 해당 위반행위의 중지나 시정을 위하여 필요한 조치를 명할 수 있다.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NIST AI RMF 1.0, 국제 AI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보고서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NIST AI RMF 1.0(2023.1)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은 거버넌스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 보고서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(2025.1)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는 위험 분류체계로 가이드라인에 인용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AI안전연구소(AISI)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네트워크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정상회의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(2024.5)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뒤 각국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안전연구소 국제 네트워크 출범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(2024.11)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한국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안전연구소도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2024.11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과태료 3천만원은 프런티어 AI 기업에게 실효적 억지력이 있는가 — 제재 수준의 비교법 연구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5052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AISI가 해외 프런티어 모델을 직접 평가할 접근권 없이 안전성 의무를 집행할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(어렵다 — 현실적으로는 사업자 제출 문서 검토가 중심이고, 해외 모델은 국제 AISI 네트워크의 공동 평가·정보 공유로 보완해야 함)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36/96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고영향 인공지능 판단 가이드라인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216쪽의 중심인 13개 분야별 기준 — 분야마다 다른 잣대가 '하나의 고영향 개념'을 무너뜨리지 않는가?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(공통 2단계 틀(1단계 영역 + 2단계 중대한 영향)은 유지 — 분야별 기준은 그 틀을 각 분야의 기존 법령·위험 특성에 맞게 구체화한 것)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확인 기준을 의사결정나무로 바꿔 '고영향 자가진단 도구'를 설계·검증하는 연구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과기정통부·한국지능정보사회진흥원(NIA) · 2026.4.29 수정본 216쪽 — 목차도: 1학기 PPT를 최신판 기준으로 수정(★·빨간 글씨 = 변경) · 근거 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AI기본법 제33조③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(기준·예시 가이드라인)</a:t>
            </a:r>
            <a:endParaRPr lang="en-US" sz="1200" dirty="0"/>
          </a:p>
        </p:txBody>
      </p:sp>
      <p:pic>
        <p:nvPicPr>
          <p:cNvPr id="106" name="Picture 105" descr="cove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623" y="2103120"/>
            <a:ext cx="3720957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pic>
        <p:nvPicPr>
          <p:cNvPr id="107" name="Picture 106" descr="to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621" y="2103120"/>
            <a:ext cx="10006611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'어디서 쓰이나'(영역)와 '얼마나 위험한가'(중대한 영향) — 둘 다 충족해야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영역 —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제2조제4호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가~차: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10개 목, 카목은 대통령령 위임(미지정)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카. 그 밖에 사람의 생명ㆍ신체의 안전 및 기본권 보호에 중대한 영향을 미치는 영역으로서 대통령령으로 정하는 영역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에너지·먹는물·보건의료·의료기기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·원자력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가목 에너지 공급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나목 먹는물 생산 공정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다목 보건의료 제공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이용체계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라목 의료기기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디지털의료기기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마목 핵물질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원자력시설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범죄수사 생체인식·채용·대출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바목 범죄 수사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체포를 위한 생체인식정보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얼굴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홍채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손바닥 정맥 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활용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사목 채용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대출 심사 등 권리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의무 관계 판단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교통·공공서비스·학생 평가(유·초·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중등)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아목 교통수단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체계의 주요 작동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자목 국가기관등의 자격 확인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비용징수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차목 유아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초등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중등교육 학생 평가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중대한 영향 또는 위험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생명·신체 안전 및 기본권에 중대한 영향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1단계에 해당하는 영역에서 활용되는 인공지능시스템이 “사람의 생명, 신체의 안전 및 기본권의 보호에 중대한 영향을 미치거나 위험을 초래할 우려”가 있는 경우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이용자뿐 아니라 '영향받는 자'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고려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서비스를 직접 쓰는 이용자뿐 아니라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활용으로 간접적으로 생명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기본권에 영향을 받는 자도 판단 대상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주로 부정적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영향에 초점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영향은 긍정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부정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양면적일 수 있지만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 규제의 입법취지에 따라 부정적 영향을 중심으로 본다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목적·기능·활용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맥락을 종합적으로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의도된 목적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활용 맥락을 다양한 관점에서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같은 기술도 어디에 어떻게 쓰이느냐에 따라 결론이 달라진다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카목(대통령령으로 정하는 영역)이 비어 있는 동안 새로 등장한 고위험 용도는 어떻게 포섭할 것인가?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(현재는 포섭 불가 — 대통령령으로 영역을 추가하는 것이 유일한 경로이므로, 신종 용도는 개정 전까지 자율 규범·개별법으로 관리해야 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733892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열거 방식은 '목록 밖 고위험 AI'를 놓친다 — EU 부속서 III 개정 절차와의 비교 연구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38/96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(3-1) 2단계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원자력시설 AI라도 "제어"와 "모니터링"을 가르는 선은 기술 발전에 따라 이동하지 않는가?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(이동한다 — 그래서 '모니터링이냐'보다 '안전기능을 AI가 직접 수행하나'라는 기능 기준으로 판단하고, 기능이 바뀌면 다시 판단해야 함)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판단 구조를 EU AI Act 제6조(고위험 분류 규칙)와 단계별로 비교하는 연구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과기정통부·NIA 「고영향 인공지능 판단 가이드라인」(2026.4.29 수정본) 21쪽 — 1단계 영역 + 2단계 조건 → 고영향</a:t>
            </a:r>
            <a:endParaRPr lang="en-US" sz="1200" dirty="0"/>
          </a:p>
        </p:txBody>
      </p:sp>
      <p:pic>
        <p:nvPicPr>
          <p:cNvPr id="106" name="Picture 105" descr="fig_j_nu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262" y="2103120"/>
            <a:ext cx="9270331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(3-2) 법과 가이드라인 영역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" y="2002536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AI기본법 제2조제4호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(고영향 AI 정의)의 목별 영역 — 교통은 네 장, 채용·대출은 두 장으로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382588"/>
              </p:ext>
            </p:extLst>
          </p:nvPr>
        </p:nvGraphicFramePr>
        <p:xfrm>
          <a:off x="950976" y="2606040"/>
          <a:ext cx="16367759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0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AI기본법 제2조제4호 목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가이드라인</a:t>
                      </a:r>
                      <a:endParaRPr sz="18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판단의 열쇠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 · 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 공급 / 먹는물 생산 공정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 에너지 · 2.2 먹는물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중요도, 자동화 단계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 · 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보건의료 제공·이용체계 / 의료기기·디지털의료기기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2.3 보건의료·의료기기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디지털의료기기 3등급 이상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핵물질·원자력시설의 안전한 관리·운영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2.4 원자력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안전등급 1~3 기능 수행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범죄 수사·체포를 위한 생체인식정보 분석·활용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2.5 범죄수사·체포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4개 유형 또는 점수 8점 이상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채용, 대출 심사 등 권리·의무에 중대한 판단·평가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2.6 채용 · 2.7 대출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실질적 인간 개입 / 점수 4점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교통수단·교통시설·교통체계의 주요 작동·운영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2.8 차 · 2.9 선박 · 2.10 항공 · 2.11 철도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자율 수준, 사고 심각도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 · 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국가기관등의 의사결정 / 유·초·중등 학생 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2.12 공공 · 2.13 교육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재량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교사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여부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(3-3) '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중대한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지표가 있으면 쓰되 지표에만 의존하지 말 것 — 맥락과 사회적 수용성까지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권리가 걸려 있나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생명·신체 안전: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일반적으로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중대한 권익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생명과 신체의 안전은 인간의 기본적 권리라 일반적으로 중대한 권익으로 인정되기 쉽다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존엄·평등·신체의 자유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·사생활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활용과 관련된 기본권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인간의 존엄성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평등권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차별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신체의 자유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사생활의 비밀과 자유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표현의 자유·지식재산권·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권리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표현의 자유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지식재산권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소비자 권리도 포함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 저작권 침해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소비자 기만 문제와 연결된다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교육받을 권리 등 영역별 기본권(가이드라인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표가 영역별로 관련 기본권과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침해를 심화시키는 상황을 정리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학생 평가 → 교육받을 권리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중대성 판단 방법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새로운 위험을 만들거나 기존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키우나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생명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기본권에 대한 새로운 위험을 만들거나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기존 위험을 증가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변화시키는 핵심 원인인지가 출발점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권익의 속성 × 증가된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위험의 정도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위험의 중대성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걸린 권익이 얼마나 중요한가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× 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위험이 얼마나 커졌는가를 종합적으로 판단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적절한 위험 측정 방법·지표가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있으면 활용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가능하면 적절한 위험 측정 방법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지표를 쓰는 것이 바람직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다만 지표에만 전적으로 의지하는 것은 부적절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목적·기능·맥락·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수용성으로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지표가 없으면 목적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기능과 활용 맥락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긍정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부정 영향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위험에 대한 사회적 수용성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을 고려해 판단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'사회적 수용성'을 중대성 판단 요소로 쓰면, 이미 널리 쓰이는 위험한 AI일수록 고영향에서 빠지는 역설이 생기지 않는가?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(우려 있음 — 그래서 수용성은 보충 요소일 뿐이고, 권익의 속성(생명·기본권)과 AI로 증가된 위험의 정도가 먼저 판단 기준이 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영역별로 흩어진 위험 지표를 하나의 공통 '중대성 점수'로 표준화할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(어렵다 — 분야별 위험 성격(정전, 오진, 채용 차별)이 달라, '권익의 속성 × 위험의 정도'라는 공통 틀 수준의 표준화가 현실적)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41/96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10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10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(3-4) 고영향 AI 확인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제33조①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사전 검토 의무 — 애매하면 장관에게 확인 요청(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시행령 제25조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제26조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회신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시행령 제25조①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요청: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요청서 + 개요서 등 4종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요청서에 다음 각 호의 서류를 첨부하여 과학기술정보통신부장관에게 제출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시행령 제25조③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30일 이내, 1회 연장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이내에 그 결과를 회신 … 30일의 범위에서 한 차례 연장할 수 있으며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0657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시행령 제25조④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이의: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10일 내 재확인 요청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회신 결과에 이의가 있을 때에는 회신을 받은 날부터 10일 이내에 … 제출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7150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시행령 제25조⑤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재확인: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자문 후 30일 내 회신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전문위원회의 자문을 받아 … 재확인하고 … 30일 이내에 그 결과를 회신해야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전문위원회와 효력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AI기본법 시행령 제26조①③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위원 50명 이상, 임기 2년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50명 이상의 위원으로 구성 … 위원의 임기는 2년으로 하며, 한 차례만 연임할 수 있다.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AI기본법 시행령 제26조④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5명 소위원회로 자문 가능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5명의 위원으로 구성되는 소위원회를 둘 수 있다.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0657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자문은 구속력 없는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절차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 이상 풀 중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명 회의로 의견 청취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장관을 구속하지 않는 참고자료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재확인은 시행령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조⑤가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자문을 받아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규정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확인은 행정판단 — 최종 판단은 법원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요청 절차를 통한 결과는 행정절차에 활용되거나 사법적으로는 참고적 성격을 가질 뿐이며 … 최종적인 법원의 판단에 따라 변경될 수 있다.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'고영향 아님' 확인을 받은 AI로 사고가 나면, 그 확인은 사업자의 면책 사유가 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(아니다 — 확인 결과는 사법적으로 참고적 성격일 뿐이고 최종 판단은 법원(가이드라인 명시), 다만 성실히 확인받은 사실은 과실 판단에 고려될 수 있음)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요청이 '고영향 회피 인증'으로 쓰이지 않게 하려면 확인 결과를 공개해야 하지 않는가?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(공개 필요성이 큼 — 영업비밀을 가린 익명화 공개로 다른 사업자도 판단 기준을 예측할 수 있게 하는 것이 절충안)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42/96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(3-4) 고영향 AI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1098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전문위원회 자문이 선택 절차인 구조에서 확인 결과의 일관성은 어떻게 보장되는가?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(현재는 장치가 부족 — 판단 기준 공유, 소위원회 간 사례 검토, 결과 공개(선례화)로 일관성을 보완해야 함)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685874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요청 사례가 쌓이면 결과를 익명화해 공개하는 "판단 선례집" 제도를 설계할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(가능 — 개인정보위 사전적정성 검토 결과 공개가 참고 모델, 사업자 식별 정보는 지우고 판단 요소와 결론만 공개)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가이드라인 10쪽 — ①사업자 확인 요청서 제출 ②과기정통부 검토 ③전문위원회 자문 ④판단·회신(30일 이내) ⑤결과</a:t>
            </a:r>
            <a:endParaRPr lang="en-US" sz="1200" dirty="0"/>
          </a:p>
        </p:txBody>
      </p:sp>
      <p:pic>
        <p:nvPicPr>
          <p:cNvPr id="106" name="Picture 105" descr="fig_j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769" y="2103120"/>
            <a:ext cx="11499317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(3-5) 개발사업자·이용사업자와 책무 면제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개발사가 책무를 이행했다면 이용사업자는 일부 면제 — 단, '중대한 기능 변경'이 없을 때만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면제 —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제27조③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개발사가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제34조①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1~3호(위험관리·설명·보호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이행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개발사업자가 위험관리방안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설명 방안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 보호 방안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을 모두 또는 일부 이행한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를 제공한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이용사업자가 중대한 기능 변경을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않으면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본래 목적이나 용도를 현저하게 바꾸지 않은 경우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 사람의 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감독과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 문서 작성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보관은 면제 대상이 아니다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이용사업자도 그 조치를 이행한 것으로 봄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본래 목적이나 용도를 현저하게 변경하는 등 중대한 기능 변경을 하지 않은 경우에는 … 조치를 모두 또는 일부 이행한 것으로 본다.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개발·이용 단계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중복규제 방지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같은 조치를 개발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 단계에서 두 번 하지 않게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이용사업자는 필요한 자료를 요청할 수 있고 개발사는 협력 노력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조④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'중대한 기능 변경'이란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동일성이 인정되지 않을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수준의 변화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개발사업자가 제공한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와 같은 시스템이라고 볼 수 없을 정도로 바뀌었는지가 기준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성능·위험성·용도·이용 분야와 맥락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·신뢰성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다섯 요소를 종합적으로 고려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하나가 바뀌었다고 곧바로 중대한 기능 변경이 되는 것은 아니다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AI를 통합해 고영향 시스템을 만들면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인공지능모델을 자신의 시스템에 통합하는 등 고영향 인공지능시스템을 만들어 제공하는 사업자는 … 고영향 인공지능개발사업자의 지위를 갖게 된다.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 사업자가 '고영향 개발사업자'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범용 모델을 받아 채용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대출 등 고영향 시스템을 만든 사업자는 면제 없이 개발사업자 책무를 진다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LLM 위에 채용 평가 기능을 얹은 스타트업이 모든 책무를 지는 구조는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방해하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제거하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(책임 </a:t>
            </a:r>
            <a:r>
              <a:rPr lang="en-US" sz="1500" dirty="0" err="1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공백을</a:t>
            </a: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</a:t>
            </a: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고영향 기능을 만든 자가 개발사업자 지위를 갖되, 스타트업의 부담은 자료 요청권·지원데스크 등 지원 장치로 덜어야 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개발사에 자료 제공을 '요청할 수 있다'(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제27조④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수준의 협력 의무로 이용사업자가 책무를 이행할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(불충분할 수 있음 — '노력' 의무라 해외 개발사가 거절하면 강제 수단이 없어, 계약서에 자료 제공 조항을 넣는 것이 현실적)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44/96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(3-6) 분야별 판단 방식</a:t>
            </a:r>
            <a:endParaRPr lang="en-US" sz="50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950976" y="2606040"/>
          <a:ext cx="1636776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방식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분야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등급 차용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의료기기 · 원자력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디지털의료기기 3등급 이상 / 원자로시설 안전등급 1·2·3 기능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범죄수사 · 대출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범죄수사: 4개 유형 또는 항목 합 8점 이상 / 대출: A그룹 2점·B그룹 1점, 4점 이상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사고 기준 차용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항공 · 철도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항공: 심각도 C 이상·발생가능성 '높음' 이상 / 철도: 사상자 3명·재산피해 5천만원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사람의 실질적 개입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채용 · 교육 · 차량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결과만으로 결정하나, 교사·구인자 검토가 있나, 운전자 개입 전제인가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중요도·자동화 단계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 · 먹는물 · 선박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기능일수록, 자율·자동 제어 단계일수록 고영향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재량·정형성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공공서비스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객관적·단순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자격확인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정액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비용징수는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순위·제공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고영향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(3-7) 에너지와 먹는물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에너지(2.1) — 5가지 평가 항목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중요도: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전력망 안정성·효율성에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필수인 기능인가</a:t>
            </a: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전력망의 안정성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효율성에 직접 영향을 미치는 기능을 수행하는지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필수적인 기능일수록 고영향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299" y="4456894"/>
            <a:ext cx="7725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잠재적 위험성:</a:t>
            </a:r>
            <a:r>
              <a:rPr lang="ko-KR" altLang="en-US" b="0" i="0" dirty="0">
                <a:solidFill/>
                <a:effectLst/>
                <a:latin typeface="-apple-system"/>
              </a:rPr>
              <a:t> 오작동이 대규모 정전으로 이어지나</a:t>
            </a:r>
          </a:p>
          <a:p>
            <a:pPr marL="0" indent="0" algn="l">
              <a:buNone/>
            </a:pPr>
            <a:r>
              <a:rPr lang="ko-KR" altLang="en-US" sz="1500" i="0" dirty="0">
                <a:solidFill>
                  <a:srgbClr val="6B6B6B"/>
                </a:solidFill>
                <a:effectLst/>
                <a:latin typeface="Malgun Gothic" panose="020B0503020000020004" pitchFamily="50" charset="-127"/>
              </a:rPr>
              <a:t>의도하지 않은 작동이 </a:t>
            </a:r>
            <a:r>
              <a:rPr lang="ko-KR" altLang="en-US" sz="1500" i="0" dirty="0" err="1">
                <a:solidFill>
                  <a:srgbClr val="6B6B6B"/>
                </a:solidFill>
                <a:effectLst/>
                <a:latin typeface="Malgun Gothic" panose="020B0503020000020004" pitchFamily="50" charset="-127"/>
              </a:rPr>
              <a:t>전력망</a:t>
            </a:r>
            <a:r>
              <a:rPr lang="en-US" altLang="ko-KR" sz="1500" i="0" dirty="0">
                <a:solidFill>
                  <a:srgbClr val="6B6B6B"/>
                </a:solidFill>
                <a:effectLst/>
                <a:latin typeface="Malgun Gothic" panose="020B0503020000020004" pitchFamily="50" charset="-127"/>
              </a:rPr>
              <a:t>·</a:t>
            </a:r>
            <a:r>
              <a:rPr lang="ko-KR" altLang="en-US" sz="1500" i="0" dirty="0">
                <a:solidFill>
                  <a:srgbClr val="6B6B6B"/>
                </a:solidFill>
                <a:effectLst/>
                <a:latin typeface="Malgun Gothic" panose="020B0503020000020004" pitchFamily="50" charset="-127"/>
              </a:rPr>
              <a:t>에너지 공급에 치명적인 결과를 초래할 수 있는 시스템인지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186801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신뢰성: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오류가 잦거나 불안정한가</a:t>
            </a: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안전성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오류 발생 빈도로 평가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신뢰도가 낮을수록 위험 발생 가능성이 커져 </a:t>
            </a:r>
            <a:r>
              <a:rPr lang="ko-KR" altLang="en-US" sz="1500" dirty="0" err="1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 쪽으로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자율성 및 의사결정 능력: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 개입 </a:t>
            </a:r>
            <a:r>
              <a:rPr lang="ko-KR" altLang="en-US" sz="180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 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결정하나</a:t>
            </a: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자율성이 클수록 위험 ↑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다섯째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데이터 정확성 및 처리 능력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데이터 처리 오류가 시스템 전체에 영향을 미치는가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먹는물(2.2) — 수질관리 4단계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기초 모니터링·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수질 센서 실시간 수집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간단한 통계 분석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위험도는 낮지만 데이터 수집 정확성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저장 신뢰성이 기초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진단·예측 — 반드시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검토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수질 변화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오염 가능성을 예측해 조기 진단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판단기준은 패턴 인식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예측 정확성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결정은 반드시 사람이 검토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처리설비·약품 투입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조정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기준치를 벗어나면 처리설비 조정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화학물질 투입을 자동 결정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잘못된 조정은 곧바로 건강에 영향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실시간 피드백 능력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완전 자동화·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운영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사람의 최소 간섭으로 거의 모든 운영을 독립 수행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모든 시나리오에서 안전성 입증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자가 진단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자율 복구 능력 필수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발전소 '부하 예측'만 하는 AI도 고영향인가 — 예측과 제어 사이 어디에 선을 그을 것인가?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(원문은 부하 예측도 전력망 운영에 '필수 기능'인 예시로 듦 — 다만 그것만으로 고영향은 아니고 5개 평가 항목을 종합해 판단)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먹는물 4단계 자동화 모델을 다른 인프라(가스·난방) AI 판단에 일반화할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(자동화 단계(모니터링 → 예측 → 자동 조정 → 완전 자동화)라는 틀은 일반화 가능 — 분야별 피해 규모·복구 가능성 기준은 따로 보완 필요)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46/96</a:t>
            </a:r>
            <a:endParaRPr lang="en-US" sz="18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32D79923-CF59-4494-A16D-816D59AA8DC1}"/>
              </a:ext>
            </a:extLst>
          </p:cNvPr>
          <p:cNvSpPr txBox="1"/>
          <p:nvPr/>
        </p:nvSpPr>
        <p:spPr>
          <a:xfrm>
            <a:off x="1257300" y="5961888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정확성 및 처리 능력: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오류가 전체로 번지나</a:t>
            </a:r>
            <a:endParaRPr lang="en-US" altLang="ko-KR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(3-8) 보건의료와 의료기기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의료기기(라목)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적용 의료기기는 모두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디지털의료기기로 관리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디지털의료제품법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(2025.1.24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 따라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기술이 적용된 모든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체외진단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의료기기는 디지털의료기기로 분류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디지털의료기기 3등급 이상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고영향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등급 중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등급 이상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진단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치료 등 의학적 판단에 영향을 주거나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위급 상황에 쓰여 결함 시 중대한 위해 우려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하드웨어 위해 + AI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위해도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체내 침습성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에너지 인가 같은 하드웨어 요소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사용 상황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의료행위 영향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오작동 시 피해 수준으로 본 소프트웨어 위해도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디지털의료제품법 조치 이행 시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제34조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책무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 간주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디지털의료제품법 인허가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 별표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 인정하는 조치를 이행하면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조① 책무를 이행한 것으로 본다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조③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1261872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보건의료 이용체계(다목)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1261872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보건의료적 판단에 해당하는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구현하고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보건의료인의 판단을 유사하게 수행하는 기능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진단 보조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치료 추천 등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1261872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결정이 아니어도 의사결정에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영향을 주면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최종 결정은 의료인이 하더라도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결과가 의사결정에 영향을 미치면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보건의료적 판단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 포함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1261872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생명·신체·정신에 중대한 피해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우려가 있으면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 대상자의 생명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정신에 중대한 피해가 발생할 우려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앞의 요건과 겹칠 때 고영향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1261872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고영향(4.29 절차도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4.29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수정본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절차도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디지털의료기기 경로와 보건의료 이용체계 경로가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YES'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합류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(48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그림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의사가 최종 결정하는 '보조 진단 AI'도 의사결정에 영향을 주면 고영향 — 자동화 편향은 어떻게 측정하나?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 제시 전후 의사의 판단 변경률, AI 오답을 그대로 따른 비율(오답 추종률), AI 결과 확인에 쓴 시간 등으로 측정할 수 있음)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식약처 등급 체계에 고영향 판단을 위임하는 방식은 규제 중복을 줄이는가, 사각지대를 만드는가?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(중복은 줄임(디지털의료기기는 식약처 체계로 일원화) — 의료기기가 아닌 건강 AI는 다목(보건의료) 경로로 다시 걸러 사각지대를 보완)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47/96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(3-9) 보건·의료 분야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(4.29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1098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디지털의료기기 경로에서 '3등급 미만'이면 보건의료 판단 경로로 다시 넘어간다 — 이중 심사가 의도인가?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(의도된 보완 — 3등급 미만 기기라도 보건의료적 판단에 영향을 주면 두 번째 경로에서 다시 검토해 놓치는 위험을 줄이려는 것)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685874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웰니스 앱처럼 의료기기가 아닌 건강 AI는 두 번째 경로에서 어디까지 걸러지는가?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(보건의료적 판단 기능이 없으면 대체로 제외 — 다만 진단·치료 조언으로 넘어가는 순간 두 번째 경로의 고영향 판단 대상이 됨)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과기정통부 「고영향 인공지능 판단 가이드라인」 2026.4.29 수정본, 47쪽 — 두 경로(디지털의료기기 / 보건의료 이용체계)가 '고영향 YES'로 합류</a:t>
            </a:r>
            <a:endParaRPr lang="en-US" sz="1200" dirty="0"/>
          </a:p>
        </p:txBody>
      </p:sp>
      <p:pic>
        <p:nvPicPr>
          <p:cNvPr id="106" name="Picture 105" descr="img_health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671" y="1990649"/>
            <a:ext cx="8656084" cy="5370271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(3-10)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원자력과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범죄수사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원자력(2.4)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안전등급 1·2·3 기능을 AI가 수행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고영향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원안위 고시 「원자로시설의 안전등급과 등급별 규격에 관한 규정」의 안전등급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1·2·3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안전기능을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설비가 수행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모니터링만, 사람이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교차확인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모니터링만 하고 설비를 직접 운전하지 않거나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 수행 전에 사람이 교차확인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(Cross-check)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하는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 판단에 보조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자료만 제공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사람의 판단과 기능 수행에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보조적인 자료만 제공하는 경우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최종 판단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조작은 사람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기존 안전기능에 추가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기능만 제공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이미 안전 기능이 있는 상태에서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추가 안전 기능을 제공하는 경우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기존 안전장치가 그대로 작동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범죄수사·체포(2.5)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CCTV·인터넷 안면 수집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·인식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특정 사건의 범인 검거 목적으로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CCTV·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인터넷에서 무작위로 안면 이미지를 수집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인식하는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인종·신체 특징을 추론하는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생체정보 분류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특정인의 범인 여부를 판단하려고 인종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신체적 특징 등을 추론하는 생체정보 분류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감시 초래(실종자·피해자 수색은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불특정 다수 대량 감시를 초래하면 고영향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피해자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실종자 수색은 제외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사람이 추천 결과를 검토할 수 없는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도 고영향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 위험 항목 점수 합 8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이상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그룹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프로파일링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범행 가능성 예측 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B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그룹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설명 불가 모델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보안 취약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공공시설 제어 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합산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(50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'사람이 교차확인하면 고영향 아님'이라는 예외는 형식적 확인(rubber-stamping)을 어떻게 걸러내는가?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(명확한 장치는 없음 — 확인 기록 보존, AI 결과 번복률·검토 시간 모니터링으로 확인이 실질적이었음을 사업자가 입증해야 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실종자 수색을 위한 안면인식은 제외 — 같은 시스템이 수사로 전용될 때의 통제 장치는?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(목적이 바뀌면 고영향 여부를 다시 판단 — 용도 제한 설정, 접근 로그, 정기 감사로 수사 전용을 기술적·절차적으로 통제)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49/96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(3-10) 범죄수사·체포 확인 절차(1.29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8735931"/>
            <a:ext cx="16383305" cy="78297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781230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합 8점이라는 임계값은 어떤 근거로 정해졌는가 — 점수제 판단의 타당성 검증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9128701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경찰청 「인공지능의 개발 및 활용에 관한 규칙」(2026.6.30)과 이 절차도의 정합성 분석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50/96</a:t>
            </a:r>
            <a:endParaRPr lang="en-US" sz="1800" dirty="0"/>
          </a:p>
        </p:txBody>
      </p:sp>
      <p:pic>
        <p:nvPicPr>
          <p:cNvPr id="106" name="Picture 105" descr="fig_j_cr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" y="1842247"/>
            <a:ext cx="16383305" cy="6865832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sp>
        <p:nvSpPr>
          <p:cNvPr id="17" name="Text 50">
            <a:extLst>
              <a:ext uri="{FF2B5EF4-FFF2-40B4-BE49-F238E27FC236}">
                <a16:creationId xmlns:a16="http://schemas.microsoft.com/office/drawing/2014/main" id="{FBE9DDDF-5F4D-45A3-AC19-251F386877EA}"/>
              </a:ext>
            </a:extLst>
          </p:cNvPr>
          <p:cNvSpPr txBox="1"/>
          <p:nvPr/>
        </p:nvSpPr>
        <p:spPr>
          <a:xfrm>
            <a:off x="10313894" y="8097558"/>
            <a:ext cx="6912046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가이드라인 68쪽 — 범죄수사 분야 고영향 판단 절차도(2026.1.29 수정), A그룹·B그룹 점수표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(3-11) 채용과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채용은 '실질적 인간 개입', 대출은 '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채용(2.6) — 고영향인 경우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스스로 판단해 채용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제공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모집 과정에서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스스로 판단해 개인에게 채용 정보를 제공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지원자 의사와 무관한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자체 분석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지원자 프로파일링·점수화,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논술 채점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구직자 제출 정보를 프로파일링해 점수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등급화하거나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필기 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논술형 문제를 채점하는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면접·실기에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생체정보 활용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생체정보를 면접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실기에 활용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구인자 검수 없이 필기 문제를 최종 출제하는 경우도 고영향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결과만으로 후보자·채용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여부 결정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기준은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실질적 인적 개입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사람의 개입이 형식적이어서 사실상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결과에 의존하면 고영향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 심사(2.7) — 4점 이상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A(2점):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복잡도 증가 신규 모델, 1만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 이상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파라미터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 데이터 확대로 복잡도가 커진 신규 모델 기반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만 명 이상 금융소비자 대상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A(2점):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 개입이 사실상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불가능한 자동화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자동화 정도가 높고 속도가 빨라 최종 의사결정에 사람이 실질적으로 개입할 수 없으면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A 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이상이면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B(1점):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대리변수 다용, 국외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대리변수 다용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다른 업무영역에 일시 활용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국외 데이터 중심 국외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각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A 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+ B 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개여도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점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참고용은 제외, 유리한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완화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결과를 단순 참고만 하면 제외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개인에게 유리한 요소로 쓰는 데이터는 기준 완화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정책금융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공공 여부 등 맥락 고려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면접 점수를 '참고만' 한다는 기업의 주장은 어떤 증거로 반박·검증할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 점수와 합격 결과의 일치율, 면접관이 AI 점수를 뒤집은 사례 수, 평가표·회의록 등 절차 기록으로 '참고' 수준인지 검증 가능)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 점수표의 '1만 명 이상' 같은 임계값은 중소 금융사의 고위험 AI를 놓치지 않는가?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(놓칠 수 있음 — 그래서 '1만 명 이상' 외 다른 항목 점수를 합산하고, 점수가 낮아도 위험이 크면 사안별로 판단)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51/96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(3-11) 채용 분야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8196760"/>
            <a:ext cx="16383305" cy="1322145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469174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절차도의 "실질적 인적 개입" 질문에 기업이 늘 "예"라고 답한다면 이 절차는 무엇을 거르는가?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('예'라는 답에 개입의 실질성 증빙(검토 기록, 번복 권한·실제 번복 사례)을 요구해야 형식적 개입을 거르는 기능이 생김)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9045245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면접 도입 기업 사례로 절차도를 따라가 판정해 보고 판단이 갈리는 지점을 찾는 연구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52/96</a:t>
            </a:r>
            <a:endParaRPr lang="en-US" sz="1800" dirty="0"/>
          </a:p>
        </p:txBody>
      </p:sp>
      <p:pic>
        <p:nvPicPr>
          <p:cNvPr id="107" name="Picture 106" descr="fig_j_hir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11" y="1990648"/>
            <a:ext cx="14414717" cy="5933622"/>
          </a:xfrm>
          <a:prstGeom prst="rect">
            <a:avLst/>
          </a:prstGeom>
        </p:spPr>
      </p:pic>
      <p:sp>
        <p:nvSpPr>
          <p:cNvPr id="17" name="Text 50">
            <a:extLst>
              <a:ext uri="{FF2B5EF4-FFF2-40B4-BE49-F238E27FC236}">
                <a16:creationId xmlns:a16="http://schemas.microsoft.com/office/drawing/2014/main" id="{BD997658-88C5-4439-B23E-56996C7A40F8}"/>
              </a:ext>
            </a:extLst>
          </p:cNvPr>
          <p:cNvSpPr txBox="1"/>
          <p:nvPr/>
        </p:nvSpPr>
        <p:spPr>
          <a:xfrm>
            <a:off x="10020910" y="7888530"/>
            <a:ext cx="7315200" cy="381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가이드라인 75쪽 — 채용 분야 고영향 판단 절차도(AI의 자율 판단 여부, 인적 개입의 실질성)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'검수·성향' 단계는 좌우에 반복 표시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(3-12) 교통 — 차·선박·항공·철도</a:t>
            </a:r>
            <a:endParaRPr lang="en-US" sz="50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189787"/>
              </p:ext>
            </p:extLst>
          </p:nvPr>
        </p:nvGraphicFramePr>
        <p:xfrm>
          <a:off x="950976" y="2606040"/>
          <a:ext cx="16367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고영향인 경우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고영향 아닌 경우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차(2.8)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조건부 완전자율주행 이상 시스템 관련 AI, 부분 자율주행 관련 AI(가능성 높음)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자율주행 미적용 차의 보조 AI, 법정 안전기준이 있고 주행 제어에 관여 안 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선박(2.9)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중요도·데이터 정확성·신뢰성·오작동 위험·비상 대응을 종합해 위험이 큰 경우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선택적 기능(없어도 운항에 직접 영향 없음)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항공(2.10)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운항·관제·설계정비에서 AI가 독립적으로 최종 결정 + 심각도 C 이상·발생가능성 '높음' 이상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사람이 최종 결정, 저심각도·저빈도 위험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철도(2.11)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결정이 충돌·탈선·화재 또는 사상자 3명·재산피해 5천만원 이상 사고를 야기할 수 있는 경우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사고조사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수준에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이르지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않는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(3-13) 공공서비스와 학생 평가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공공서비스(2.12)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자격확인: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원칙 고영향, 객관·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단순하면 제외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자격확인은 서비스 접근 자체를 좌우해 원칙적 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거주지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국가유공자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실업급여처럼 객관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단순해 재량이 없으면 제외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비용징수: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원칙 고영향, 정액화·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공개면 낮음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비용 산정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징수는 원칙적 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정액화돼 미리 예상할 수 있고 기준이 공개돼 있으면 불복이 쉬워 위험이 낮다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여부·순위 결정</a:t>
            </a:r>
            <a:r>
              <a:rPr lang="en-US" sz="1800" b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고영향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 제공 여부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순위 결정은 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사회보장 영역에서 사람 개입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(HITL)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없이 최종 결정하는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도 고영향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행정기본법 제20조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자동적 처분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행정청은 법률로 정하는 바에 따라 완전히 자동화된 시스템 … 으로 처분을 할 수 있다. 다만, 처분에 재량이 있는 경우는 그러하지 아니하다.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평가(2.13)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기초학력 진단검사에 교사 검토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 활용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기초학력 진단검사의 문항 준비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기준 수립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결과 분석에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를 쓰면서 교사 등 전문가의 검토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수정이 없는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정기시험·수행평가 결과물을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사용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만든 정기시험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수행평가 문항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채점 기준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채점 결과를 교사가 최종 검토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수정 없이 그대로 쓰는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생활기록부 주관 평가 항목을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기재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교과학습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행동 발달 분석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종합 평가처럼 교사 주관이 개입되는 항목을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결과물 그대로 기재하는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서류 판독·분류 등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이미지 판독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문서 자동 분류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보조부 요약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정리 등 교사의 업무 효율화만을 위한 활용은 고영향 아님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수급자 선정 AI에 '즉각적 반박 가능성' 기준을 쓰면 디지털 취약계층의 권리는 어떻게 보장되는가?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(취약계층은 즉각 반박이 어려움 — 대면 이의 절차, 사람의 재심사, 쉬운 안내문을 보장해야 기준이 공정하게 작동)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AI 생활기록부 초안을 '검토'만 하면 고영향이 아니다 — 검토의 실질성은 누가 확인하는가?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(학교·교육청의 기록 점검이 1차 — 교사가 초안을 실제로 고친 수정 이력을 보존하는 것이 검토의 실질성 증빙)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54/96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(3-14) 수정 이력과 인용 시 주의점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이력(NIA 게시판)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2026.1.29: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범죄수사 분야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절차도 수정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범죄수사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체포 분야 고영향 판단 절차도 수정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50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그림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(A·B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그룹 점수표 포함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2026.2.13: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보건의료 분야 등급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오탈자 수정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보건의료 분야 등급 표기 오탈자 수정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판단 기준 자체가 바뀐 것은 아니다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0657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2026.4.29: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보건의료 분야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절차도 수정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보건의료 분야 절차도를 디지털의료기기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보건의료 이용체계 두 경로가 합류하는 구조로 수정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48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그림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2027 상반기까지 판단·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책무 재개정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부작용 사례를 반영해 판단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책무 가이드라인을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2027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년 상반기까지 다시 개정할 예정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서울신문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2026.9.18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인용할 때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1-1-2: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절차를 '시행령 제24조'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표기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원문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1-1-2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는 고영향 확인 절차 근거를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적고 있다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 확정 과정에서 조문 번호가 바뀐 흔적으로 보인다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AI기본법 시행령: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제25조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절차,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제24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조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현행 시행령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안전성 확보 의무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 확인 절차 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전문위원회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1.3.3: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책무 면제를 '영 제26조③'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표기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원문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1.3.3(23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박스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영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사업자의 책무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으로 인용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현행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조는 전문위원회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현행은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AI기본법 시행령 제27조③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이용사업자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 간주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보고서에서 인용할 때는 원문 번호가 아니라 현행 조문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조③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으로 쓰고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원문 오기임을 각주로 밝힌다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부작용 사례를 모아 판단 기준을 고친다는 2027 개정 계획 — 사례 수집 체계는 어떻게 설계해야 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(지원데스크 문의·안전사고 보고·민원을 모은 사례 DB를 만들고 정기 분석해 판단 기준 개정에 반영하는 체계)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가이드라인이 조문 번호를 잘못 인용해도 사업자가 이를 믿고 따른 경우 신뢰보호는 성립하는가?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(행정청의 공적 견해 표명으로 볼 여지가 있어 신뢰보호 주장은 가능 — 다만 법령 오기는 법령이 우선하므로 현행 조문 확인 의무는 남음)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55/96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(4) 고영향 인공지능 사업자 책무 가이드라인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111쪽 중 절반 가까이가 안전신뢰문서 양식 — 양식 표준화는 이행을 돕는가, 형식적 서류 작업을 낳는가?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(초기 이행에는 도움 — 다만 양식 칸만 채우는 형식화를 막으려면 실제 점검·사고 기록과 연결됐는지 보는 내용 품질 점검이 필요)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책무 가이드라인 자가점검 항목을 ISO/IEC 42001 통제항목과 매핑해 인증 연계 가능성을 분석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과기정통부·한국정보통신기술협회(TTA) · 2026.1.22 111쪽 — 목차도: 1학기 PPT를 최신판 기준으로 수정(★·빨간 글씨 = 변경) · 근거 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AI기본법 제34조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(6대 책무)</a:t>
            </a:r>
            <a:endParaRPr lang="en-US" sz="1200" dirty="0"/>
          </a:p>
        </p:txBody>
      </p:sp>
      <p:pic>
        <p:nvPicPr>
          <p:cNvPr id="106" name="Picture 105" descr="cover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167" y="2103120"/>
            <a:ext cx="3716065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pic>
        <p:nvPicPr>
          <p:cNvPr id="107" name="Picture 106" descr="to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272" y="2103120"/>
            <a:ext cx="9618415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(4-1) 고영향 AI 사업자의 6가지 책무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제34조①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책무 각 호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673199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1호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위험관리방안의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수립·운영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 식별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평가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완화를 위한 정책과 조직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위험관리정책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조직체계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수명주기 전 과정 준수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주기적 갱신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56894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2호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 방안의 수립·시행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기술적으로 가능한 범위에서 최종결과·주요 기준·학습용데이터 개요 등을 설명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011989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3호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이용자 보호 방안의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수립·운영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 단계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적대적 공격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시험평가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와 운영 단계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모니터링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의견 수렴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피해 보상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나눠 수립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79407" y="5776319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4호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고영향 AI에 대한 사람의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관리·감독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개입 기준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긴급 정지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정기 점검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/ 5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호는 조치 내용을 확인할 문서 작성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보관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6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호는 위원회 의결 사항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6" name="Text 21"/>
          <p:cNvSpPr txBox="1"/>
          <p:nvPr/>
        </p:nvSpPr>
        <p:spPr>
          <a:xfrm>
            <a:off x="1257300" y="6485785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5호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안전성·신뢰성 확보 조치 문서의 작성·보관</a:t>
            </a:r>
            <a:endParaRPr lang="en-US" sz="1800" dirty="0"/>
          </a:p>
        </p:txBody>
      </p:sp>
      <p:sp>
        <p:nvSpPr>
          <p:cNvPr id="107" name="Text 21"/>
          <p:cNvSpPr txBox="1"/>
          <p:nvPr/>
        </p:nvSpPr>
        <p:spPr>
          <a:xfrm>
            <a:off x="1257300" y="6906409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6호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밖에 위원회에서 심의·의결된 사항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고시와 가이드라인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제34조②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장관이 고시하고 준수를 '권고'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제1항 각 호에 따른 조치의 구체적인 사항을 정하여 고시하고, 인공지능사업자에게 이를 준수하도록 권고할 수 있다.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책무 고시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2026.3.12 행정예고(아직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미발령)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고시가 아직 발령되지 않아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지금 기준은 행정예고된 고시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가이드라인도 이 안을 기준으로 해설한다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3장: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고시(안)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제4~8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조를 조문별로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위험관리방안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설명방안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이용자 보호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감독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안전신뢰문서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조문마다 조치사항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자가점검표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TTA 개발안내서 · NIST AI RMF · EU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Act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(TTA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개발안내서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미국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(NIST AI RMF)·EU(AI Act)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기준과 조치사항을 매핑해 비교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(67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책무는 '의무'인데 고시는 '권고' —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제34조②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고시 준수 권고 방식은 시정명령·과태료 집행과 어떻게 정합하는가?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(의무 자체는 AI기본법 제34조①에서 나오고 고시는 이행 방법을 정함 — 위반은 사실조사·시정명령(제40조)으로 집행되므로 '권고'와 충돌하지 않음)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6호 '위원회에서 심의·의결된 사항'은 법률유보 원칙에 비추어 의무 창설의 근거로 충분한가?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(포괄위임 논란 여지가 있음 — 위원회 의결 사항이 새 의무가 되려면 시행령·고시로 구체화해 법률유보 원칙을 충족해야 안전)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57/96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(4-2) 책무 고시(안) </a:t>
            </a:r>
            <a:endParaRPr lang="en-US" sz="50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21959"/>
              </p:ext>
            </p:extLst>
          </p:nvPr>
        </p:nvGraphicFramePr>
        <p:xfrm>
          <a:off x="950976" y="2606040"/>
          <a:ext cx="16367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고시(안)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단계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단계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제4조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위험관리방안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위험관리정책 수립·이행, 위험관리 조직체계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수명주기 전 과정 준수, 주기적 점검·갱신·변경이력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제5조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설명방안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투명성·설명가능성 확보, 학습용데이터 개요 정의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 사항을 자율 결정, 이용사업자는 주요 내용 게시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제6조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이용자 보호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적법한 데이터 수집·관리, 적대적 공격 대비, 시험·평가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모니터링·대응, 의견 수렴·개선, 권리 보장·피해 보상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제7조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사람의 관리·감독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개입 기준 확립, 긴급 정지 등 개입 방법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성능저하·오류 정기 점검, 교육·훈련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제8조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안전신뢰문서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제4~7조를 문서로 작성·관리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주기적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점검·최신화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하나의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(4-3)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위험관리방안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정책과 조직 — 기존 조직이 겸임해도 되지만 개발 부서로부터 독립적으로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제4조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위험관리정책 수립 및 이행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각 호의 사항이 포함된 위험관리방안을 수립ㆍ운영하여야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위험관리 조직체계 수립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운영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위험관리 조직의 역할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권한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보고 체계를 정한다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규모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역량에 따라 기존 조직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인력이 겸임할 수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수명주기 모든 과정에서 준수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위험관리방안을 인공지능 수명주기의 모든 과정에서 준수하여야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9436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주기적 점검·갱신, 변경내역 관리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최신의 위험관리방안을 주기적으로 점검ㆍ갱신하고 그 변경내역을 관리하여야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FAQ와 타법 비교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전담 조직 신설 의무 없음 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겸임 가능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위험관리 전담 조직을 반드시 새로 만들 필요는 없고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사업자 규모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역량에 맞춰 기존 조직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인력이 겸임 가능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개발 부서와 분리된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독립성 권장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다만 개발 부서와 분리된 독립성 확보를 권장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평가하는 쪽이 개발 일정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성과에 묶이지 않도록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지능정보화법 제60조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안전성 보호조치(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지능정보화 기본법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60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조는 안전성 보호조치를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권고할 수 있다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고만 규정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 책무보다 강제성이 낮다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SW진흥법 제30조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SW안전 — AI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비결정성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SW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진흥법은 버그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보안 취약점 같은 기술적 결함 중심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기본법은 비결정성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인과관계 불분명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자율 학습의 예측 불가능성까지 본다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중소기업이 '겸임 조직'으로 위험관리를 할 때 독립성을 담보할 최소 요건은 무엇인가?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(개발 책임자와 위험 평가자 분리, 경영진 직보 라인, 점검 결과·조치 기록 보존이 최소 요건 — 외부 자문으로 보완 가능)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733892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NIST AI RMF의 GOVERN·MAP·MEASURE·MANAGE와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제4조를 매핑한 '이행 성숙도 모형' 개발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59/96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(4-3) 위험관리방안의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위험관리정책·조직체계를 8개 소주제로 쪼갠 구조는 중소기업에게 이행 지도인가, 부담 목록인가?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(둘 다 — 기업 규모·위험 수준에 비례해 적용할 항목을 고를 수 있는 지침(필수/선택 구분 등)이 있어야 지도가 됨)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소주제별 자가점검 항목을 실제 기업 1곳에 적용해 이행률을 측정하는 사례 연구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과기정통부·TTA 「고영향 인공지능 사업자 책무 가이드라인」(2026.1.22) 17쪽 — 책무사항·주제·소주제 표</a:t>
            </a:r>
            <a:endParaRPr lang="en-US" sz="1200" dirty="0"/>
          </a:p>
        </p:txBody>
      </p:sp>
      <p:pic>
        <p:nvPicPr>
          <p:cNvPr id="106" name="Picture 105" descr="fig_c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782" y="2103120"/>
            <a:ext cx="10897291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(4-4)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제5조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최종결과·기준 근거를 위한 투명성·설명가능성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최종결과 및 기준에 대한 근거를 마련하기 위해 … 설명가능성을 확보하여야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학습용데이터 개요를 정의·관리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학습용데이터에 관한 정보를 체계적으로 관리하기 위해 … 개요를 정의하고 관리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0657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설명할 사항을 사업자가 자율적으로 정함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제공이 필요한 사항을 자율적으로 정하여 설명방안을 수립하고 시행하여야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7150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이용사업자는 담당부서·설명절차 게시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담당부서, 설명절차 등 … 홈페이지에 게시하거나 서면을 교부하는 등의 방법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차등 설명과 타법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권리에 중대한 결과: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설명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기술적으로 가능한 범위에서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이용자의 권리에 실질적 영향을 주는 중대한 결과는 상세히 설명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영향이 적은 출력: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시스템 수준의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설명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영향이 적은 출력은 시스템이 어떻게 작동하는지 일반적 수준에서 설명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무엇을 설명할지는 사업자가 자율적으로 정함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(③)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제3조②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영향받는 자의 설명 받을 권리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기준 및 원리 등에 대하여 기술적ㆍ합리적으로 가능한 범위에서 명확하고 의미 있는 설명을 제공받을 수 있어야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개보법 제37조의2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자동화 결정 거부·설명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정보주체는 개인정보처리자가 자동화된 결정을 한 경우에는 그 결정에 대하여 설명 등을 요구할 수 있다.(②)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'설명할 사항을 사업자가 자율적으로 정한다'는 구조에서 설명의 최소 수준은 누가 보장하는가?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(AI기본법 제3조② 영향받는 자의 설명받을 권리가 최소 수준의 기준 — 최종 보장은 정부 사실조사·시정명령과 법원)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설명방안과 개인정보보호법 자동화 결정 설명요구권을 한 번에 충족하는 설명서 표준은 가능한가?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(가능 — 결과·주요 기준·이의 제기 절차를 공통 항목으로 묶고, 개인정보 보호법 제37조의2 요구 항목을 더한 통합 설명서)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61/96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(4-5) 이용자 보호 방안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단계 —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제6조①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안전하고 적법한 데이터 수집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·관리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 데이터를 안전하고 적법하게 수집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권리관계 확인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보유 기간과 파기 절차까지 수립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적대적 공격 대응 안전한 설계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·개발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악의적 공격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비정상 입력 같은 예측 불가능한 상황에 대응하도록 적대적 공격 방어를 설계에 반영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위험에 대한 지속적 시험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·평가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 중 레드팀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시험평가를 지속적으로 수행해 위험을 확인하고 보완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학습: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적법한 동의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가명처리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개인정보가 포함된 데이터는 적법한 동의를 받거나 가명처리 등 개인정보 보호법상 조치를 한 뒤 학습에 사용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단계 —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제6조②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 탐지 모니터링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·대응방안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운영 중 성능 저하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모델 드리프트 등 위험을 지속적으로 탐지하는 모니터링과 대응방안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이용자 의견 수렴·지속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체계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 의견을 받아 서비스를 지속적으로 개선하는 체계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신고 채널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·FAQ·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사용자 매뉴얼 등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권리 보장, 피해 발생 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방안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 권리 보장과 피해 보상 방안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이용사업자는 운영 지침에 보상 체계를 포함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이의 제기 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 재검토, AI 로그로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안내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이용자가 이의를 제기하거나 설명을 요구할 수 있는 절차를 두고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사람 전문가가 재검토하거나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분석 로그로 근거를 안내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'피해 보상 방안'은 무과실 책임인가 과실 책임인가 — 고영향 AI 손해배상 법리와의 연결 연구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5052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적대적 공격(프롬프트 인젝션 등) 대비 수준을 이용자 보호 의무 이행으로 평가할 수 있는 시험 기준은?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(공격 성공률 기반 레드팀 시험·벤치마크로 평가 가능 — 다만 공인된 합격 기준은 아직 없어 사업자가 기준과 결과를 문서화해야 함)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62/96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(4-6) 사람의 관리·감독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감시가 아니라 위험 수준에 맞는 개입 — 핵심은 '즉시 멈출 권한과 기준'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고시(안)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제7조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개발①1호: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사람이 개입할 수 있는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확립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어떤 상황에서 사람이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동작에 개입할지 기준을 미리 정한다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오류 탐지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비상 정지 기능과 연결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개발①2호: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긴급 정지 등 즉각 개입 방법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즉각적으로 인공지능을 정지하거나 작동을 변경할 수 있는 개입 방법 마련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운영②1호: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성능저하·오류 정기 점검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성능저하 및 오류 발생에 대한 정기적인 점검계획 및 방안 마련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9436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운영②2호: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범위·능력 이해를 위한 교육·훈련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인공지능의 범위 및 수행능력에 대한 이해도를 향상시키기 위한 교육 및 훈련 제공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해설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개입 또는 예외적 개입을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수준별로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FAQ: 24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시간 감시가 아니라 위험 수준에 따라 상시 개입 또는 예외적 개입 중 적절한 수준을 정하면 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인력 신규 고용 의무 없음 — 지정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·겸임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 전문 인력을 새로 고용할 의무는 없다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기존 조직 안에서 담당 인력을 지정하거나 겸임 가능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시 즉각 개입할 권한·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명확히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중요한 것은 이상 상태 발생 시 즉각 개입할 수 있는 권한과 기준이 명확히 정의되어 있는가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(FAQ)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모델 활용 시 별도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고려사항 제시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오픈소스 모델은 내부 수정보다 공지된 취약점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커뮤니티 오류 리포트를 정기 확인하고 운영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관제 중심으로 대응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AI 판단을 거의 뒤집지 않는다면(자동화 편향) '관리·감독'은 실질적으로 작동하고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(작동을 의심해야 함 — 번복률이 거의 0이거나 검토 시간이 극히 짧다면 형식적 감독, 지표로 실질성을 점검해야 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에이전트형 AI의 긴급 정지 버튼은 이미 실행된 외부 행위(결제·발송)를 어떻게 되돌리는가?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(정지만으로는 되돌릴 수 없음 — 결제·발송 같은 비가역 행위 전에 사람 승인을 받고, 취소·환불이 가능한 설계를 함께 둬야 함)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63/96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안전신뢰문서와 게시 의무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—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제27조②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고시안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제8조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제4~7조 조치를 '안전신뢰문서'로 작성·관리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사업자는 제4조부터 제7조까지의 사항을 문서로 작성하여 관리하여야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 점검, 최신 기술·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반영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안전신뢰문서는 주기적으로 점검하고 최신 기술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방법이 적용되도록 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조②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조항을 하나의 문서로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가능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각 조항의 내용을 하나의 문서로 통합 작성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 가능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(③)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표준 양식을 참고하되 기존 사내 문서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시스템 활용 가능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</a:t>
            </a: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보관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(전자적 보관 포함)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제34조제1항 각 호의 조치를 이행하고 그 근거를 문서로 5년간 보관(전자적 방법을 통한 보관을 포함한다)해야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—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제27조①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위험관리정책·조직 등 위험관리방안 주요 내용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위험관리정책 및 조직체계 등 법 제34조제1항제1호에 따른 위험관리방안의 주요 내용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설명방안 주요 내용 · 이용자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 방안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설명방안의 주요 내용과 이용자 보호 방안을 사무소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사업장 또는 홈페이지 등에 게시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0657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관리·감독자 성명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연락처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를 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감독하는 사람의 성명과 연락처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이용자가 누구에게 문제를 제기할지 알 수 있게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영업비밀은 제외 가능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「부정경쟁방지 및 영업비밀보호에 관한 법률」 제2조제2호에 따른 영업비밀에 해당하는 사항은 제외할 수 있다.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안전신뢰문서가 형식적 서류 작업(compliance theater)이 되지 않게 하는 품질 평가 지표는 무엇인가?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(실제 점검·사고 대응 기록과의 연결 여부, 갱신 주기와 최신성, 외부 검토 여부, 경영진 승인 기록 등)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733892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 제외 조항은 게시 의무를 얼마나 무력화하는가 — 실제 게시 내용의 내용분석 연구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64/96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(4-8) 개발사업자와 이용사업자의 분담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분담 —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제27조③④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개발사가 1~3호 이행 → 이용사업자 이행 간주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제34조제1항제1호부터 제3호까지의 조치를 모두 또는 일부 이행한 것으로 본다.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본래 목적·용도를 현저히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바꾸지 않음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본래 목적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용도를 현저하게 바꾸는 등 중대한 기능 변경이 없어야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면제는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1~3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 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감독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 문서는 직접 이행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④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이용사업자는 개발사에 자료 요청 가능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인공지능이용사업자는 … 필요한 자료의 제공을 요청할 수 있고, 인공지능개발사업자는 이에 협력하도록 노력해야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개발사는 협력하도록 '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노력'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협력은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노력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의무라 개발사가 자료를 주지 않아도 강제 수단은 없다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계약에 자료 제공 범위를 넣는 것이 현실적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FAQ로 본 실무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기업이 두 지위를 동시에 가질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있음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하나의 기업이 개발사업자이면서 이용사업자일 수 있다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자체 모델로 직접 서비스하는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구매해 운영만 해도 운영 위험관리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필요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개발사에서 구매해 운영만 하는 이용사업자도 운영 위험관리 계획은 세워야 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 조치를 자신의 계획으로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준용 가능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개발사가 위험관리 조치를 마친 시스템을 중대한 기능 변경 없이 도입했다면 개발사 조치 내용을 자기 계획으로 준용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요청은 선택 — 스스로 판단해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 가능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확인 요청은 의무가 아닌 선택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스스로 고영향이라 판단하면 확인 절차 없이 책무를 이행하면 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개발사가 자료 제공에 '노력'만 하는 구조에서 국내 이용사업자는 설명 책무를 어떻게 이행하는가?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(공개 모델카드·기술 보고서와 계약상 자료 제공 조항을 활용 — 부족한 부분은 자체 시험 결과로 설명을 보완)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업데이트로 모델이 바뀌면 이용사업자의 '중대한 기능 변경 없음' 판단은 다시 해야 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(해야 함 — API 모델이 바뀌면 성능·위험이 달라질 수 있어, 버전 고정 또는 변경 시 재검토 절차를 두는 것이 합리적)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65/96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(4-9) 책무 이행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" y="2002536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AI기본법 제34조③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시행령 제27조⑤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별표1 — 다른 법령의 준하는 조치를 책무 이행으로 본다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950976" y="2606040"/>
          <a:ext cx="16367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영역(AI기본법 제2조제4호)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법률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 · 디지털의료기기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디지털의료제품법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허가·품질관리 등 조치를 이행하면 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3"/>
                        </a:rPr>
                        <a:t>AI기본법 제34조①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책무 이행으로 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 · 교통수단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자율주행자동차법 · 자동차관리법 · 자율운항선박법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성능인증·안전기준 등 교통법령상 조치를 인정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 · 원자력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원자력시설 방호 및 방사능 방재 대책법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물리적방호·방재 체계상 조치를 인정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 · 대출 심사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신용정보법 · 금융소비자보호법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자동화평가 설명·이의제기(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5"/>
                        </a:rPr>
                        <a:t>신용정보법 제36조의2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등을 인정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밖의 영역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별표1에 없음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에너지·먹는물·채용·공공·교육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AI기본법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책무를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그대로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이행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(4-10)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책무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구성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목적·적용 방법·용어·FAQ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14문항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목적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적용 방법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주요 용어와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 14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문항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확인 요청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전담 조직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설명 범위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24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시간 감시 여부 등 실무 질문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관련 법조항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·시행령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등 관련 법조항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(14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 시행령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등 관련 시행령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(15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을 모아 수록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5개 책무별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조치사항과 자가점검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3.1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·3.2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·3.3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 보호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·3.4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감독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·3.5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문서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조치마다 타 법령 비교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오픈소스 고려사항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자가점검표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안전신뢰문서 작성 예시(개발·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개발사업자용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이용사업자용 안전신뢰문서를 실제 양식으로 채운 예시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표준 양식을 기업 상황에 맞게 조정해 사용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기준과의 매핑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TTA 신뢰할 수 있는 AI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개발안내서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TTA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「신뢰할 수 있는 인공지능 개발 안내서」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국내 분야별 개발 안내서의 요구사항과 조치사항을 연결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NIST AI RMF(GOVERN·MAP·MEASURE·MANAGE)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NIST AI RMF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거버넌스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맵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 책무 조치를 대응시켜 비교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Act 제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9·10·13·15·26·72조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9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위험관리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데이터 거버넌스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투명성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정확성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견고성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배포자 의무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72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 시판 후 모니터링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제26조⑥ 로그 6개월 보관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비교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EU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는 고위험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배포자가 시스템 로그를 최소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개월 보관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한국은 이행 근거 문서를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년 보관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조②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고영향 AI를 EU와 한국에 동시에 출시할 때, 안전신뢰문서와 EU 기술문서(부속서 IV)를 하나로 쓸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(대부분 겹침(위험관리·데이터·로그·인간 감독) — 공통 기술문서에 국가별 부록을 붙이는 방식이 현실적)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책무 고시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확정되면 가이드라인 부록 양식이 사실상 표준 서식이 된다 — 표준화의 득실은?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(득: 이행 비용 절감·심사 일관성 / 실: 양식 채우기식 형식화, 양식에 없는 새로운 위험관리 방식 위축)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67/96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(5) 인공지능 영향평가 가이드라인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짧은(39쪽) 가이드라인이 가장 어려운 '기본권 영향'을 다룬다 — 분량과 난도의 역설을 </a:t>
            </a:r>
            <a:r>
              <a:rPr lang="en-US" sz="1800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보완할</a:t>
            </a: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(사례집·표준 양식, ISO/IEC 42005(AI 시스템 영향평가) 등 외부 표준과 분야별 예시를 쌓아 보완해야 함)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영향평가서 양식으로 실제 국내 AI 서비스 1개를 직접 평가해 보는 사례 연구(기말 보고서 후보)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과기정통부·정보통신정책연구원(KISDI) · 2026.1.22 39쪽 — 목차도: 1학기 PPT를 최신판 기준으로 수정(★·빨간 글씨 = 변경) · 근거 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AI기본법 제35조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(기본권 영향평가)</a:t>
            </a:r>
            <a:endParaRPr lang="en-US" sz="1200" dirty="0"/>
          </a:p>
        </p:txBody>
      </p:sp>
      <p:pic>
        <p:nvPicPr>
          <p:cNvPr id="106" name="Picture 105" descr="cover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493" y="2103120"/>
            <a:ext cx="3720957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pic>
        <p:nvPicPr>
          <p:cNvPr id="107" name="Picture 106" descr="to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491" y="2103120"/>
            <a:ext cx="9586871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(5-1) 영향평가는 '노력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제35조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영향평가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①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 전 기본권 영향 평가에 노력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사전에 사람의 기본권에 미치는 영향을 평가(이하 "영향평가"라 한다)하기 위하여 노력하여야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①후문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(1.20 신설):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취약계층 특성 반영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영향평가에는 … 인공지능취약계층의 특성이 반영될 수 있도록 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②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국가기관등은 평가한 제품을 우선 고려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영향평가를 실시한 제품 또는 서비스를 우선적으로 고려하여야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9436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③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내용·방법은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시행령 제28조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위임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영향평가의 구체적인 내용ㆍ방법 등에 관하여 필요한 사항은 대통령령으로 정한다.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가이드라인의 설계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주체: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사업자 직접 또는 제3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 의뢰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직접 수행하거나 전문성을 갖춘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자에 의뢰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조②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으로 인용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신규 제품·서비스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신규 제품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서비스를 제공하기 전에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법 시행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(2026.1.22)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전부터 제공 중인 서비스도 현행 기준으로 평가하는 것이 바람직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재평가: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핵심 기능·영향 대상 중대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사업자가 필요하다고 보면 재시행 가능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핵심 기능이나 영향받는 대상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 중대한 변화가 생기면 재시행 권장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고영향이 아니어도 자율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장려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고영향에 국한하지 않고 모든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서비스에 자율 평가 장려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신뢰성 제고와 해외 진출 시 규제 대응력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 없는 노력 의무가 실제로 이행되게 만드는 유인은 공공조달 우대만으로 충분한가?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(부족 — 공공조달 우대 외에 인증·투자 심사 연계, 평가 결과 공개에 따른 평판 효과 등 추가 유인이 필요)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733892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'국가기관등 우선 고려' 조항이 공공 AI 조달 평가표에 실제로 어떻게 반영되는지 실증 분석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69/96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(5-2) 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법과 가이드라인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법령(2026.10 기준)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제3조⑤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신설(1.20):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취약계층 참여 보장</a:t>
            </a:r>
            <a:endParaRPr lang="en-US" sz="1800" b="1" dirty="0">
              <a:solidFill>
                <a:srgbClr val="0000FF"/>
              </a:solidFill>
            </a:endParaRPr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인공지능취약계층의 참여를 보장하고 의견이 반영될 수 있도록 노력하여야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제35조①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취약계층 특성 반영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영향평가에는 … 인공지능취약계층의 특성이 반영될 수 있도록 하여야 한다.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0657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AI기본법 시행령 제28조①1호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(7.20):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피영향자 식별 시 반영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영향을 받을 가능성이 있는 개인이나 집단에 대한 식별. 이 경우 … 인공지능취약계층의 특성이 반영될 수 있도록 해야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영향받는 개인·집단 식별 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취약계층 반영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가이드라인의 피영향자 분석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주요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간접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예상치 못한 피영향자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 취약계층 특성을 명시적으로 넣어 보완해야 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원문(1.22판)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제35조①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후문 없는 개정 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문구로 인용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노력하여야 한다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까지만 인용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2026.7.21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시행된 후단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취약계층 특성 반영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 빠져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AI기본법 시행령 제28조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'시행령안'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문구로 인용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인공지능 기본법 시행령안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인용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7.20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개정으로 추가된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 후단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취약계층 반영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도 당연히 없다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취약계층은 예시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시나리오에서만 언급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취약계층은 의무 요건이 아니라 사례 속 피영향자 수준으로만 등장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현행 법령 기준으로는 평가 항목으로 다뤄야 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AI기본법 시행령 제28조③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세부사항 고시도 아직 없음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 영향평가에 필요한 사항은 과학기술정보통신부장관이 정하여 고시한다.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인공지능취약계층(장애인·고령자 등)을 영향평가의 '피영향자 분석'에서 어떻게 표집·대표할 것인가?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(장애인·고령자 단체의 참여와 목적 표집, 쉬운 말·음성 등 접근성을 갖춘 조사 방식으로 의견을 실제로 들어야 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개정 후 가이드라인 미갱신 기간에 가이드라인대로 평가한 사업자는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제35조①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(취약계층 반영)을 이행한 것인가?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(가이드라인만으로는 부족 — 1.20 개정된 법 문언(취약계층 특성 반영)을 사업자가 직접 반영해야 이행으로 볼 수 있음)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70/96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(5-3) 영향평가의 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필수사항</a:t>
            </a:r>
            <a:r>
              <a:rPr lang="en-US" altLang="ko-KR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" y="2002536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AI기본법 시행령 제28조①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영향평가 포함 사항 — 1호는 2026.7.20 개정으로 취약계층 반영 추가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950976" y="2606040"/>
          <a:ext cx="16367760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사항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가이드라인 단계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생명·신체·기본권에 영향받을 개인·집단 식별(+취약계층 특성 반영)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평가 — 피영향자 분석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영향을 받을 수 있는 기본권 유형 식별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평가 — 관련 기본권의 식별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기본권에 대한 사회적·경제적 영향의 내용과 범위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평가 — 기본권 영향 판단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고영향 AI의 사용 행태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준비 — 평가대상 정의(사용 절차·빈도)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활용한 정량·정성 평가지표와 결과 산출 방식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평가 — 영향수준(규모·기간·가능성) 판단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위험의 예방·완화·손실 복구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평가 — 이행 중인 관리 조치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개선이 필요하면 그 이행계획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사후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(5-3) 영향평가 3단계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흐름 어디에도 "외부 이해관계자 참여"가 명시되지 않은 것은 기본권 영향평가로서 충분한가?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(불충분 — 영향받는 자·시민사회 의견 수렴 단계를 명시하는 것이 바람직하며, AI기본법 제3조⑤ 취약계층 참여 보장 취지와도 맞음)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FRIA 템플릿과 이 3단계 흐름을 항목별로 대조해 상호운용성 격차를 찾는 연구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과기정통부·KISDI 「인공지능 영향평가 가이드라인」(2026.1.22) 11쪽 — 사전 준비·본 평가 수행·사후 단계와 고려사항</a:t>
            </a:r>
            <a:endParaRPr lang="en-US" sz="1200" dirty="0"/>
          </a:p>
        </p:txBody>
      </p:sp>
      <p:pic>
        <p:nvPicPr>
          <p:cNvPr id="106" name="Picture 105" descr="fig_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828" y="2103120"/>
            <a:ext cx="9347200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63783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63783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(5-4) 1단계 — 사전 준비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필요성 검토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ko-KR" alt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여부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 가이드라인으로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endParaRPr lang="ko-KR" alt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 err="1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 인공지능 판단 가이드라인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(NIA)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으로 제품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서비스가 고영향에 해당하는지 먼저 스스로 검토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애매하면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제33조①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요청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판단이 어려우면 과기정통부 장관에게 확인 요청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30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일 내 회신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이의가 있으면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일 내 재확인 요청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시행 전부터 제공 중인 서비스도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권장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법 시행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(2026.1.22)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전부터 제공되던 제품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서비스도 현행 서비스를 기준으로 평가하는 것이 바람직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고영향이 아니어도 자율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가능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고영향이 아니어도 모든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서비스가 자율적으로 수행 가능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신뢰성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글로벌 상호운용성 확보에 도움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평가대상 정의 7항목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①개요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②목적과 필요성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③적용 분야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주요 기능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특징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해결하려는 문제와 핵심 가치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운영될 산업 또는 분야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④사용 절차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⑤운영기간과 빈도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이용자가 쓰는 절차와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작동하는 시점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역할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운영 기간과 평균 사용 빈도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0657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⑥이용자·영향받는 자의 범주와 특성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직접 이용자와 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간접적으로 영향받는 주요 집단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연령대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숙련도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전문성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취약성 여부까지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⑦이용자 선택권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(대체 절차·거부 가능성)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 미사용 선택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도출 결과 거부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이의제기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수정 요청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결과 철회가 가능한지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EU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기본권 영향평가 요소와 대응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'이용자 선택권'을 평가 항목으로 둔 것은 AI를 거부할 권리(opt-out from AI)의 제도화로 볼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(제도화의 출발점 — 다만 평가 '항목'일 뿐 AI를 거부할 권리를 보장할 의무는 아니며, 대체 절차 제공은 권고 수준)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B2B로 납품된 AI의 영향평가는 개발사와 도입 기관 중 누가 하는 것이 기본권 보호에 유리한가?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(실제 사용 맥락·대상자를 아는 도입 기관이 유리 — 단, 모델 정보는 개발사에 있으므로 자료 협력이 전제돼야 함)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73/96</a:t>
            </a:r>
            <a:endParaRPr lang="en-US" sz="1800" dirty="0"/>
          </a:p>
        </p:txBody>
      </p:sp>
      <p:sp>
        <p:nvSpPr>
          <p:cNvPr id="106" name="Term 1029"/>
          <p:cNvSpPr txBox="1"/>
          <p:nvPr/>
        </p:nvSpPr>
        <p:spPr>
          <a:xfrm>
            <a:off x="9592056" y="6748272"/>
            <a:ext cx="7439558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5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옵트아웃(opt-out)</a:t>
            </a: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기본으로 적용하되, 원하지 않는 사람이 스스로 빠질 수 있게 하는 방식 ↔ 옵트인(opt-in): 미리 동의한 사람만 포함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(5-5) 2단계 — 본 평가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직관이 아니라 시나리오로 — 작동원리에서 위험으로, 위험에서 기본권으로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평가의 흐름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피영향자 분석: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직접·간접·예상치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못한 대상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주요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(Primary)·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간접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(Secondary)·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예상치 못한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(Unintended)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피영향자로 나눠 식별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극단적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가능성 낮은 시나리오도 상상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작동원리 분석: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기술·운영상 작동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 조사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가치 판단은 빼고 데이터 수집 → 분석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판단 → 결정 → 피드백 단계별로 기술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운영상 작동 방식을 목록화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 분석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작동원리와 기본권을 잇는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잠재적 위험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을 시나리오로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채용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는 학습데이터 편향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대리변수 차별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평등권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기본권 식별 → 기본권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판단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시나리오상 관련될 수 있는 기본권을 누락 없이 뽑은 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위험이 그 보호영역을 실제로 제약하는지 판단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기본권을 다루는 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헌법상 실정화된 국가권력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구속 규범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국가 내에서 헌법상 실정화되어 직접 국가권력을 구속하는 근본적 법규범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개인이 헌법으로 보장받는 권리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인권과 구별, 헌재가 인정한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 포함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생명권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건강권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개인정보자기결정권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알권리처럼 헌법재판소가 헌법해석으로 인정한 기본권도 포함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존엄·행복추구권은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보충적으로만 적용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인간의 존엄성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행복추구권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헌법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은 다른 기본권과의 관계에서 보충적으로만 기능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구체적 기본권부터 찾는다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영향수준: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규모·범위·기간(세대 간까지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)·가능성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영향 규모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~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매우 높음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단기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~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세대 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발생 가능성을 표시하고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이행 중인 관리방안을 함께 적는다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기업에 '헌법상 기본권' 영향을 평가하라는 것은 기본권의 대사인적 효력 논의와 어떻게 연결되는가?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(기본권의 대사인적 간접효력 논의의 연장선 — 법적 의무가 아닌 노력 의무이므로 사적 자치와의 충돌은 작음)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UNESCO 윤리영향평가처럼 '긍정적 영향'도 함께 평가하면 평가 결과는 어떻게 달라지는가?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(편익과 위험의 균형 판단이 가능해지지만, 긍정적 영향이 부정적 영향을 상쇄하는 논리로 쓰여 위험이 축소 평가될 우려)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74/96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(5-6) 3단계 — 사후 조치와 공개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조치(권장)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부정적 영향 완화·제거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계획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식별된 영향요소 중 부정적 영향을 완화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제거하기 위한 개선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보완 계획 수립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내외부 피드백을 운영 정책·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절차에 반영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평가 중 모은 내외부 전문가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이해관계자 의견을 반영해 운영 정책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절차를 업데이트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0657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부정적 영향 현실화 시 조치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마련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부정적 영향이 현실화될 때의 조치를 미리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내부 거버넌스 절차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피해 최소화 방안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7150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이의 제기·처리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포함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이해관계자와 이용자의 이의 제기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처리 체계 포함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EU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기본권 영향평가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(f)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항목과 같은 취지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보관과 공개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결과·근거자료: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자율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권장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① 영향평가 결과와 ② 평가 과정에서 수집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작성한 근거자료를 사업자가 자율적으로 보관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관리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국가기관등의 결과 제출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대비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조②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국가기관등이 고영향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를 도입하며 결과 제출을 요청할 때 보관 문서를 활용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의무 아님(책무 문서 5년 보관과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다름)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가이드라인이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법적 의무가 아니다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라고 명시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책무 이행 근거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년 보관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시행령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27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조②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 구별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여부: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사업자 판단 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권장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공개 여부는 사업자가 자율 결정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이해 증진과 사회적 신뢰 확보를 위해 공개를 권장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 결과의 자율 공개는 실제로 얼마나 이루어지는가 — 공개 보고서의 내용·품질 분석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5052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부정적 결과가 나온 영향평가를 공개한 기업이 오히려 불이익을 받지 않게 하는 장치는 무엇인가?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(성실하게 공개한 기업에 조달 가점·제재 감경 등 안전항(safe harbor)을 주고, 공개 내용을 곧바로 제재 근거로 쓰지 않는 설계)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75/96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(5-7) 다른 영향평가와의 관계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" y="2002536"/>
            <a:ext cx="163860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수행한 평가 결과는 근거로 활용 가능 — 인정 요건과 절차는 '단계적으로 검토 예정'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276816"/>
              </p:ext>
            </p:extLst>
          </p:nvPr>
        </p:nvGraphicFramePr>
        <p:xfrm>
          <a:off x="950976" y="2606040"/>
          <a:ext cx="16367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평가제도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가이드라인의 정리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영향평가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3"/>
                        </a:rPr>
                        <a:t>개인정보보호법 제33조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공공기관 영향평가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정보주체 권리 일부 중복, 주체가 달라(공공 vs 민간) 직접 중복은 적음 — 민간 확대 시 결과 인정·보완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디지털의료제품 영향평가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4"/>
                        </a:rPr>
                        <a:t>디지털의료제품법 제37조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영향평가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목적(기본권 vs 의료 안전)과 주체(사업자 vs 식약처)가 달라 중복 논란 제한적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 기본권 영향평가(FRIA)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 AI Act 제27조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상호운용성 지속 확보 예정 — 목적·기간·대상·위험·인적감독·대응조치 6요소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ISO/IEC 42001 · 42005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국제표준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경영시스템·AI 영향평가 표준 결과도 참고자료로 활용 가능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UNESCO 윤리영향평가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윤리 권고(2021)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긍정·부정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영향을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윤리원칙별로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규모·범위·가능성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(5-8) 예시로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보는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영향평가서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작성 예시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 SNS까지 수집해 직무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적합도 점수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가상 서비스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스마트채용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이력서뿐 아니라 논문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프로젝트 이력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SNS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까지 수집해 직무 적합도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경쟁력 점수화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영상: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얼굴 교체·패러디 영상 생성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·공유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가상 서비스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'Face Swap Studio'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업로드한 영상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이미지에 타인 얼굴을 합성해 결과 영상을 생성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학생평가: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답안·에세이 자동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채점과 피드백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가상 서비스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'Edu Score'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시험 답안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에세이를 분석해 평가 점수와 제한적 피드백 제공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시나리오별 피영향자·기본권·영향수준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·조치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 시나리오마다 양식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장씩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피영향자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관련 기본권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영향수준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규모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가능성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이행 중인 관리방안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제출하지 않은 공개 정보까지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후보자가 제출하지 않은 공개 정보까지 분석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비공개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사적 영역 정보가 섞일 위험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사생활의 비밀과 자유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결정은 기업 심사 — 고영향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판단과 연결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HR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담당자가 리포트를 검토하고 기업 자체 심사로 최종 결정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사람 개입의 실질성이 고영향 판단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장 채용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과 연결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 선택권: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대체 평가 절차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권고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후보자는 사전 동의로 평가 참여를 선택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거부 시 대체 평가 절차 권고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설명 요청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정정 요구 절차도 둘 수 있음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기본권: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평등권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·개인정보자기결정권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부록 예시가 든 기본권은 직업의 자유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사생활의 비밀과 자유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평등권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공개 정보 수집은 개인정보자기결정권과도 맞닿음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SNS 정보를 채용 평가에 쓰는 것은 '공개 정보'라는 이유로 정당화될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(어렵다 — 공개 정보도 개인정보이므로 목적 외 이용·차별 위험을 고려한 이익 형량이 필요하고, 지원자에게 수집 사실을 알리는 것이 전제)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학생평가 AI를 판단 가이드라인(교사 검토 여부)과 영향평가 예시로 함께 분석해 보면 무엇이 보이는가?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(교사 검토가 있으면 판단 가이드라인상 고영향은 아니어도, 영향평가 관점에서는 평등권·교육받을 권리 위험이 남음 — 두 잣대의 차이)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77/96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(5-8) 영향평가서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양식의 "의도치 않은/예상치 못한 피영향자" 칸은 사전 평가 단계에서 실제로 채울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(완전히는 어려움 — 시나리오 분석으로 추정해 채우고, 출시 후 모니터링으로 새로 드러난 피영향자를 갱신해야 함)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양식으로 수업 중 AI 서비스 1개를 조별로 평가하고 결과 차이를 비교하는 실습 설계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가이드라인 25쪽 — 제품·서비스 개요 7항목, 위험 시나리오(피영향자·관련 기본권·영향수준·관리방안)</a:t>
            </a:r>
            <a:endParaRPr lang="en-US" sz="1200" dirty="0"/>
          </a:p>
        </p:txBody>
      </p:sp>
      <p:pic>
        <p:nvPicPr>
          <p:cNvPr id="106" name="Picture 105" descr="fig_e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19" y="2103120"/>
            <a:ext cx="13630616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(6) 생성형 AI 서비스 이용자 개인정보 보호 가이드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유일하게 '이용자'가 수범자인 가이드 — 사업자 의무 중심의 AI 규범 체계에서 이용자 가이드의 역할은?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(사업자 의무를 보완하는 리터러시 수단 — 이용자가 옵트아웃·삭제 등 권리를 직접 행사할 수 있게 하는 역할)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질문에 대한 국내외 주요 생성형 AI 서비스의 실제 설정·정책을 비교하는 실태 조사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개인정보보호위원회 · 2026.5.19 22쪽 — 목차도: 원문 구성을 1학기 목차도 형식으로 정리 · 근거 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개인정보 보호법 제4조</a:t>
            </a: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(정보주체 권리)</a:t>
            </a:r>
            <a:endParaRPr lang="en-US" sz="1200" dirty="0"/>
          </a:p>
        </p:txBody>
      </p:sp>
      <p:pic>
        <p:nvPicPr>
          <p:cNvPr id="106" name="Picture 105" descr="cover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265" y="2103120"/>
            <a:ext cx="3723609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  <p:pic>
        <p:nvPicPr>
          <p:cNvPr id="107" name="Picture 106" descr="to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914" y="2103120"/>
            <a:ext cx="9880676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(6-1) '이용자'를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위한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리터러시에 초점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발간 배경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인지 성인 약 89%가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침해 우려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를 알고 있는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20~60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 성인 약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89%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 개인정보 침해 위험을 우려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한국언론진흥재단(2025.9.17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조사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한국언론진흥재단 「생성형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확산에 따른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불안 경험 및 인식」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가이드 발간의 문제의식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민원·정책제안·상담 사례에서 8대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선정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국민 민원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정책제안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주요 상담 사례에서 체감도 높은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 핵심 이슈를 골라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Q&amp;A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 정리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프라이버시 민·관 정책협의회 3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분과 논의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법조계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산업계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시민사회 전문가가 참여한 협의회의 정보주체 권리 분과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분과장 윤혜선 한양대 교수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구성과 특징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개인정보 처리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생애주기 도식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데이터 수집 → 사전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사후 학습 → 서비스 이용 → 외부 연동까지 처리 지점을 한 장에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단계마다 관련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Q&amp;A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번호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Q&amp;A 8선 + '똑똑한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관리법'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질문마다 답변과 이용자가 직접 점검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실천할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똑똑한 관리법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필요한 질문만 골라 읽어도 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법률·기술 용어를 덜어낸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실천 중심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그동안 사업자 대상 안내가 중심이었다면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이번에는 직장인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일반 시민 누구나 읽을 수 있게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사업자에게는 서비스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참고자료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개발자는 이용자 우려를 파악해 서비스 설계 참고자료로 활용 가능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 리터러시 강화는 사업자 책임을 이용자에게 떠넘기는 '책임의 개인화'가 아닌가?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(그럴 위험이 있음 — 그래서 가이드도 사업자에게 서비스 설계 참고자료로 제시하며, 기본값 설정 등 사업자 책임은 그대로 남음)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733892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옵트아웃 설정 화면의 설계(다크패턴 여부)가 실제 학습 거부율에 미치는 영향 실증 연구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80/96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(6-2) 내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ko-KR" alt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1098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사전학습에 이미 들어간 내 정보는 옵트아웃(Q1)으로도 되돌릴 수 없다 — 생애주기의 '비가역 구간'을 어떻게 다룰 것인가?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(입력 최소화와 출력 단계 필터링으로 대응 — 장기적으로는 기계 망각(machine unlearning) 기술과 학습 데이터 정제가 필요)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685874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AI 연동(Q7) 단계에서 개인정보 처리 책임은 AI 사업자와 연동 서비스 중 누구에게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(처리 범위별로 각자 책임 — AI 사업자는 외부 서비스로 전달한 범위, 연동 서비스는 받은 뒤의 처리에 대해 책임을 짐)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개인정보보호위원회 「생성형 AI 서비스 이용자를 위한 개인정보 보호 가이드」(2026.5.) 4~5쪽 — 박스 번호는 Q&amp;A 번호</a:t>
            </a:r>
            <a:endParaRPr lang="en-US" sz="1200" dirty="0"/>
          </a:p>
        </p:txBody>
      </p:sp>
      <p:pic>
        <p:nvPicPr>
          <p:cNvPr id="106" name="Picture 105" descr="img_pipc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270" y="2103120"/>
            <a:ext cx="9432315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(6-3) Q1 · 입력한 내용이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쓰이나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?(1/2)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서비스마다 다르고, 같은 서비스라도 설정에 따라 다르다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서비스는 질문·파일·이미지·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음성을 학습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일부 서비스는 이용자가 입력한 질문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이미지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음성을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모델 개선을 위한 학습에 활용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운영에 필요한 범위만 처리하는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서비스도 있음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답변 제공 등 운영상 필요한 범위에서만 처리하고 학습에는 쓰지 않는 서비스도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대화: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ChatGPT·Gemini·Grok 등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증가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대화 기록을 남기지 않거나 학습에 쓰지 않는 기능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ChatGPT·Gemini Temporary Chat, Grok Private Chat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등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전 서비스별 정책을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입력 내용이 기본적으로 학습에 쓰이는지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이용자가 직접 설정할 수 있는지 서비스별 정책으로 확인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품질 개선·학습·모니터링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포함?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 제공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외에 품질 개선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모니터링 같은 목적이 있는지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범위: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대화·파일·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기록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대화 내용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업로드 파일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접속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사용 기록 중 무엇을 수집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이용하는지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0657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설정: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 배제, 기록 끄기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삭제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 활용 배제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(opt-out),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기록 저장 끄기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삭제 요청 절차가 있는지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83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설정 화면 예시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주민번호·계좌·비밀번호는 아예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금지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주민등록번호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여권번호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계좌번호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비밀번호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인증코드 같은 중요한 정보는 설정과 관계없이 입력하지 않는다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활용 기본값이 '켜짐'인 옵트아웃 방식은 개인정보보호법의 동의 원칙과 양립하는가?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(동의 외 근거(계약 이행·정당한 이익)에 기대는 구조 — 그래서 투명한 고지와 쉬운 거부(옵트아웃)가 적법성의 전제)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대화도 일정 기간 서버에 남는다면 '학습 안 함'과 '저장 안 함'의 차이를 이용자는 이해하는가?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(혼동 가능성이 큼 — '학습 활용 여부'와 '서버 보관 기간'을 따로 안내해야 이용자가 정확히 이해할 수 있음)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82/96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(6-3) 학습 거부(opt-out)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메뉴 3~4단계 안쪽에 있는 학습 거부 버튼은 "이용자 통제권"을 실질적으로 보장하는가?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(형식적 보장에 그칠 수 있음 — 가입 시 선택 화면 제공, 클릭 수 축소 등 접근성을 높여야 실질적 통제권이 됨)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생성형 AI 서비스별 학습 거부까지의 클릭 수·기본값을 비교하는 실태 조사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개인정보보호위원회 「생성형 AI 서비스 이용자를 위한 개인정보 보호 가이드」(2026.5.) 7쪽 — 관리법과 학습 활용 배제 방법 예시</a:t>
            </a:r>
            <a:endParaRPr lang="en-US" sz="1200" dirty="0"/>
          </a:p>
        </p:txBody>
      </p:sp>
      <p:pic>
        <p:nvPicPr>
          <p:cNvPr id="106" name="Picture 105" descr="fig_p_op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84" y="2103120"/>
            <a:ext cx="6176487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(6-4) Q2 · 삭제하면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지워지나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'삭제'는 한 번에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않는다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삭제의 세 단계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화면에서 삭제 — 접근 차단(이용자가 아는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삭제한 대화는 목록에서 조회되지 않고 이어서 쓸 수 없다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보통 이용자가 생각하는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삭제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는 여기까지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운영·보안·법적 의무로 일정 기간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보관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안정적 운영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보안 대응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오류 점검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법적 의무 이행을 위해 서버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백업에 일정 기간 남을 수 있다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기간은 서비스별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 학습·통계·비식별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처리됐을 가능성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삭제 전 입력 내용이 정책에 따라 모델 개선에 쓰였거나 통계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비식별 형태로 별도 관리될 수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민감정보는 처음부터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최소화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민감한 정보는 사후 삭제에 기대기보다 처음부터 입력을 최소화하는 것이 더 안전하다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똑똑한 관리법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기능과 데이터 보관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확인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개인정보처리방침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이용약관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설정에서 보관 여부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활용 범위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 포함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보관 기간 확인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기록(히스토리) 기능 기본값 점검,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필요시 끄기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서비스에 저장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히스토리 기능이 있으면 기본값을 점검하고 필요하면 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0657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기기·브라우저 다운로드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파일도 삭제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브라우저에 다운로드한 파일 등이 남을 수 있으니 로그아웃 후 파일도 완전히 삭제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미성년자는 보호자와 함께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확인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미성년자가 쓰는 경우 보호자와 함께 대화 기록 저장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삭제 설정을 확인하는 것이 바람직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학습된 모델에서 특정 개인정보를 지우는 '기계 망각(machine unlearning)'은 삭제권 이행 수단이 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(아직 연구 단계 — 완전히 지워졌는지 검증하기 어려워, 현재는 출력 필터링·재학습 시 제외가 현실적 이행 수단)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후 보관 기간을 서비스별로 비교 공개하는 '삭제 투명성 지표'를 설계할 수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(가능 — 화면 삭제 후 서버 보관 기간, 학습 반영 여부, 백업 삭제 시점을 공통 항목으로 비교 공개)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84/96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(6-5) Q3 국외 전송 · Q4 대화도 개인정보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이용해도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로까지 유출 가능성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대화도 단서가 모이면 개인정보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해외로 전송되나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 — 저장·처리 서버가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해외에 있으면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국내에서 쓰더라도 저장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처리 서버가 해외에 있으면 대화 내용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업로드 파일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접속 기록이 해외로 전송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보관될 수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장애·보안·고객지원으로 해외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접근도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글로벌 서비스는 여러 나라 데이터센터를 함께 쓰거나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장애 대응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보안 점검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고객 지원을 위해 해외 법인이 접근하기도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처리방침에서 '국외 이전'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찾기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개인정보처리방침에서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국외 이전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'·'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해외 이전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관련 항목을 찾는다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1722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국가·항목·목적·보유기간·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수령자 확인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이전 국가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항목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목적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보유기간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이전받는 자를 확인한 뒤 민감한 자료의 입력 여부를 결정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대화도 개인정보인가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 — 이름·연락처·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계좌는 물론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연락처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주소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계좌번호처럼 특정 개인을 직접 식별하는 정보는 당연히 개인정보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'○○초 3학년 2반 담임'처럼 결합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 정보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'○○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초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반 담임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', 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지난주 수요일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OO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병원 진료결과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처럼 단서가 결합되면 특정인이 쉽게 드러난다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텍스트·이미지·음성이 누적되면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 가능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텍스트뿐 아니라 이미지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음성 업로드로 단서가 계속 쌓인다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한 번은 안전해 보여도 누적되면 식별 가능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1722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가족·동료 등 제3자 정보 입력에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주의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동료 등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 정보를 입력하면 본인뿐 아니라 타인의 개인정보까지 함께 처리된다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속 '결합 식별 정보'를 입력 단계에서 실시간 경고하는 PII 탐지 UX는 효과가 있는가?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(입력 실수 감소 효과가 기대됨 — 다만 경고가 잦으면 무시하게 되므로(경고 피로) 위험도에 따라 경고 강도를 조절하는 설계가 관건)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AI 서비스의 국외이전 고지는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개인정보보호법 제28조의8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(국외 이전) 요건을 실제로 충족하는가?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(서비스마다 차이 — 이전 국가·항목·목적·보유기간·수령자를 처리방침에 모두 명시했는지로 점검할 수 있음)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85/96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(6-6) Q5 · 업무 자료를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넣어도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아니어도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업무자료는 입력 금지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미공개 정보·계약 정보도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가능성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성격·조직 정책·서비스 처리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방식에 따라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입력 가능 여부는 정보의 성격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소속 조직의 정책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서비스의 데이터 처리 방식에 따라 달라진다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조직 내부 지침과 승인된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확인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조직에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 내부 지침이나 승인된 도구가 있는지 먼저 확인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특정 서비스만 허용하거나 입력 범위를 제한하기도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미공개 업무·내부 의사결정·계약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주의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내부 정보에는 미공개 업무 정보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내부 의사결정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계약 정보가 섞여 있다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개인정보가 아니라고 자유롭게 넣으면 안 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고객·거래처·인사 정보는 근거 없이 외부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 위험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고객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거래처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인사 정보 등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자 개인정보가 담긴 자료는 사전 동의나 법적 근거 없이 외부로 전달될 위험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똑똑한 관리법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조직의 AI 이용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확인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소속 조직의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 이용 지침부터 확인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계정·도메인·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환경인지 확인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조직 내부에서 승인된 도구를 쓰고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승인된 계정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도메인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환경인지 확인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0657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반출 승인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 준수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필요하면 자료 반출 승인 절차를 지킨다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7150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활용이 계약으로 통제되는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기업용 라이선스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입력 내용이 학습이나 다른 목적으로 쓰이지 않도록 계약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정책상 통제되는 기업용 라이선스 사용을 고려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개인 계정으로 업무 자료를 입력한 '섀도 AI' 유출에서 기업의 개인정보 안전조치 책임은 어디까지인가?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(사내 지침·교육·승인 도구 제공·기술적 차단 등 안전조치(개인정보 보호법 제29조)를 다했는지가 책임 판단 기준)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733892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AI 이용 지침들을 비교해 '입력 가능 정보 등급' 표준을 제안하는 연구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86/96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(6-7) Q6 · 답변에 내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나오면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공유부터 멈추고, 증빙을 남기고,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원인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대화 내용이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반영된 경우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이전에 입력한 대화 내용이 답변 생성에 반영되면서 개인정보가 다시 나올 수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계정을 타인과 함께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경우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가족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동료와 계정을 함께 쓰면 다른 사람이 입력한 정보가 답변에 섞일 수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0657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기기·공용 장소의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공용 기기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공용 장소에서 쓴 기록이 남아 있는 경우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7150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이력·최근 대화·로그인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점검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원인을 찾기 위해 계정 이용 이력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최근 대화 내역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로그인 상태를 함께 점검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대응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①공유중단 ②증빙확보(화면 </a:t>
            </a: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ko-KR" altLang="en-US" sz="1800" b="1" dirty="0">
              <a:solidFill>
                <a:srgbClr val="0000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답변 결과를 전송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게시하지 않는 것이 우선 </a:t>
            </a:r>
            <a:r>
              <a:rPr lang="en-US" altLang="ko-KR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 dirty="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신고에 쓸 화면 캡처 등 증빙을 남긴다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③기록삭제: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해당 대화·파일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·생성물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해당 대화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생성물을 서비스 안에서 삭제해 같은 정보가 다시 생성되지 않게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0657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④연동해제: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불필요한 드라이브·메일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회수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드라이브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메일 등 필요 없는 외부 연동이 있으면 권한을 회수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7150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⑤사업자신고: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고객센터·답변 신고·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양식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 내 신고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문의 채널로 삭제 등 조치 요청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미성년 자녀 정보는 법정대리인이 더 신속하게 요청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학습 데이터 속 개인정보를 그대로 '토해내는'(regurgitation) 위험을 측정하는 표준 평가법은?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(학습데이터 추출 공격, 기억률(memorization) 측정, 카나리아 문자열 삽입 시험 등이 쓰임 — 표준화된 평가법은 아직 없음)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미성년자 정보가 생성된 경우 법정대리인의 신속 삭제 요청을 보장할 제도적 장치는 충분한가?</a:t>
            </a:r>
            <a:endParaRPr lang="en-US" sz="18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(충분하지 않음 — 법정대리인의 삭제 요구권은 있으나, AI가 생성한 결과물의 신속 삭제 절차·처리 기한은 따로 정해져 있지 않음)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87/96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10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10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(6-8) Q7 · 외부 연동과 에이전틱 AI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대신 예약·메일·결제를 하면 내 정보는 외부 서비스로 건너간다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플러그인·연동: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일정·회의록·예약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대행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생성형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를 다른 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외부 서비스와 연결하면 일정 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회의록 정리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상품 추천 등을 대신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에이전트가 이 기능을 사용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연락처·결제 정보가 외부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서비스로 전달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여행 예약 서비스와 연결하면 예약 확인을 위해 연락처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결제 정보가 전달될 수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2943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도구는 문서 전체 접근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요청하기도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업무용 도구는 대화 기록이나 문서 전체에 대한 접근 권한을 요청하기도 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해제 후에도 외부 정책에 따라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가능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이미 전달된 정보는 연동을 해제해도 외부 서비스의 정책에 따라 일정 기간 보관될 수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사업자와 이용자의 몫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필요한 범위만 요청·처리하고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명확히 안내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이용자가 정보 전달 범위를 일일이 파악하기 어렵기 때문에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사업자가 필요한 범위만 요청하고 쉽게 안내할 책임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권한 요청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확인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연동 기능을 쓸 때는 어떤 권한을 요청하는지 확인한다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기능·권한별 선택 시 최소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범위만 연결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기능별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권한별 선택이 가능하면 필요한 범위에서만 연결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436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 권한이면 연동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필요성 재검토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권한 범위가 지나치게 넓다고 판단되면 그 연동이 꼭 필요한지 다시 확인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여러 서비스를 연쇄 호출할 때 '최소 수집 원칙'을 기술적으로 강제할 수 있는 권한 모델은?</a:t>
            </a: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(작업 단위 최소 권한(scoped token), 고위험 행위 전 사용자 승인, 기한이 정해진 위임으로 수집 범위를 기술적으로 제한)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AI의 개인정보 처리는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제34조①3호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(이용자 보호 방안)와 어떻게 연결되는가?</a:t>
            </a: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(고영향 AI라면 개인정보 보호가 이용자 보호 방안의 일부 — 책무 고시(안) 제6조①1호 '안전하고 적법한 데이터 수집 및 관리'와 연결)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88/96</a:t>
            </a:r>
            <a:endParaRPr lang="en-US" sz="1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532363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532363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8165592"/>
            <a:ext cx="16383305" cy="13533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(6-9) Q8 · 공개된 정보는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학습해도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되나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?(1/2)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'공개'가 '무제한'을 뜻하지는 않는다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근거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정보도 개인 식별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가능하면 개인정보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공개된 내용에 이름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연락처 등 개인을 알아볼 정보가 있으면 개인정보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법이 정한 기준과 보호조치에 따라 활용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개보법 제15조①6호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정당한 이익 근거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정당한 이익을 달성하기 위하여 필요한 경우로서 명백하게 정보주체의 권리보다 우선하는 경우. … 합리적인 범위를 초과하지 아니하는 경우에 한한다.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자료: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공개된 개인정보 처리 안내서(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2024.7)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개인정보위 「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서비스를 위한 공개된 개인정보 처리 안내서」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(2024.7) — 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정당한 이익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을 실질적 적법 근거로 판단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목적 정당성·필요성·상당성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·이익형량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① 목적의 정당성 ② 처리의 필요성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상당성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합리성 ③ 구체적 이익형량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충족해도 충분한 안전조치가 전제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이용자가 할 수 있는 것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시 AI 학습 활용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 고려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인터넷에 정보를 올릴 때부터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학습에 쓰일 수 있다는 점을 고려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4165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게시물 공개 범위·삭제·비공개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 점검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학습을 원하지 않으면 게시물 공개 범위를 조정하거나 삭제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비공개 설정을 주기적으로 확인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294376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플랫폼별 학습 데이터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신청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플랫폼마다 학습 데이터 제외 신청 절차가 있는지 확인해 신청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59436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블로그·웹사이트는 AI 크롤러 제한(robots.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본인이 운영하는 웹사이트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블로그는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robots.txt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등으로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크롤러 접근을 제한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90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 예시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41705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robots.txt로 AI 크롤러를 막는 '기술적 옵트아웃'은 법적 의사표시로서 효력을 가질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(EU는 저작권 영역에서 기계판독 옵트아웃을 인정(DSM 지침 제4조) — 국내는 명문 규정이 없어 이익 형량에서 고려되는 정황 수준)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993125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 학습에 '정당한 이익'을 적용한 국내 기준과 EU GDPR 정당한 이익 판단을 비교 분석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89/96</a:t>
            </a:r>
            <a:endParaRPr lang="en-US" sz="1800" dirty="0"/>
          </a:p>
        </p:txBody>
      </p:sp>
      <p:sp>
        <p:nvSpPr>
          <p:cNvPr id="106" name="Term 1029"/>
          <p:cNvSpPr txBox="1"/>
          <p:nvPr/>
        </p:nvSpPr>
        <p:spPr>
          <a:xfrm>
            <a:off x="9592056" y="6748272"/>
            <a:ext cx="7439558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5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DSM 지침</a:t>
            </a: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Directive (EU) 2019/790 on copyright and related rights in the Digital Single Market(디지털 단일시장에서의 저작권 및 저작인접권에 관한 지침, 2019.4.17). 제4조는 누구나 텍스트·데이터 마이닝(TDM)을 할 수 있게 하되, 권리자가 robots.txt 같은 기계판독 방식으로 거부를 표시하면 제외 — EU AI Act 제53조①(c)도 범용 AI 제공자에게 이 거부를 지키도록 요구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(6-9) 공개된 정보 관리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5000" dirty="0"/>
          </a:p>
        </p:txBody>
      </p:sp>
      <p:sp>
        <p:nvSpPr>
          <p:cNvPr id="10" name="Shape 5"/>
          <p:cNvSpPr/>
          <p:nvPr/>
        </p:nvSpPr>
        <p:spPr>
          <a:xfrm>
            <a:off x="952805" y="7779692"/>
            <a:ext cx="16383305" cy="1739213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61"/>
          <p:cNvSpPr txBox="1"/>
          <p:nvPr/>
        </p:nvSpPr>
        <p:spPr>
          <a:xfrm>
            <a:off x="1333195" y="8224103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robots.txt를 무시하는 크롤러에 대해 이용자가 취할 수 있는 법적 수단은 </a:t>
            </a:r>
            <a:r>
              <a:rPr lang="en-US" sz="1800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</a:p>
          <a:p>
            <a:pPr marL="0" indent="0" algn="l">
              <a:buNone/>
            </a:pPr>
            <a:r>
              <a:rPr lang="en-US" sz="15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(삭제 요구·개인정보 침해 신고, 저작권 침해 주장이 가능 — 다만 크롤러 운영자를 특정하는 것이 관건)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800174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주요 커뮤니티·블로그 플랫폼의 AI 크롤러 차단·학습 제외 정책 현황 조사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90/96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같은 가이드 19쪽 — 게시물 공개범위 설정, 학습 데이터 제외 신청, AI 크롤러 접근 제한(robots.txt)</a:t>
            </a:r>
            <a:endParaRPr lang="en-US" sz="1200" dirty="0"/>
          </a:p>
        </p:txBody>
      </p:sp>
      <p:pic>
        <p:nvPicPr>
          <p:cNvPr id="106" name="Picture 105" descr="fig_p_publ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528" y="2103120"/>
            <a:ext cx="5301798" cy="5257800"/>
          </a:xfrm>
          <a:prstGeom prst="rect">
            <a:avLst/>
          </a:prstGeom>
          <a:ln w="9525">
            <a:solidFill>
              <a:srgbClr val="D8D3C7"/>
            </a:solidFill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(6-10) Q&amp;A 8선</a:t>
            </a:r>
            <a:endParaRPr lang="en-US" sz="50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737710"/>
              </p:ext>
            </p:extLst>
          </p:nvPr>
        </p:nvGraphicFramePr>
        <p:xfrm>
          <a:off x="950976" y="2606040"/>
          <a:ext cx="16367760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2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답변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내용이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학습에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쓰이나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서비스·설정마다 다름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제한 설정, 중요 번호 입력 금지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삭제하면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완전히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지워지나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삭제 → 일정 보관 → 학습 가능성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보관 정책 확인, 기록 기능 끄기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전송될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수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있나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가능(해외 서버·법인 접근)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처리방침의 국외 이전 항목 확인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내용도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개인정보인가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결합·누적되면 개인정보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제3자 정보 포함 여부 점검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자료를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입력해도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되나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 지침·도구에 따라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도구·기업용 라이선스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답변에 개인정보가 나오면?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중단이 우선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증빙→삭제→연동해제→신고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연동은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안전한가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정보가 외부 서비스로 전달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 권한만 연결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정보도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학습되나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가능하나 정당한 이익 요건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조정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6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(6-11)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접점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과기정통부는 사업자의 의무를, 개인정보위는 이용자의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(1·4장)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이용 사전 고지·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생성물 표시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사업자가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이용을 사전에 알리고 생성물에 표시하는 의무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 — 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장 가이드는 이용자가 그 안내를 확인하는 쪽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설명방안·이용자 보호·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 보상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설명방안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 보호의 의견 수렴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피해 보상 체계는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Q6 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사업자 신고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창구와 맞물린다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 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34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조①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2·3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호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책무 FAQ: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개인정보 학습은 동의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·가명처리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개인정보가 담긴 데이터는 적법한 동의를 받거나 가명처리한 뒤 학습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보유 기간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파기 절차도 수립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책무 가이드라인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FAQ)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개인정보 영향평가 결과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인정 검토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다른 평가에서 기본권 영향을 이미 평가했다면 근거로 활용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민간까지 확대되면 개인정보 영향평가 결과 인정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보완 검토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(76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(6장)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처리방침: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 목적·범위·국외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공개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Q1·Q3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의 출발점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처리 목적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범위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국외 이전 국가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항목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보유기간을 개인정보처리방침에서 확인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개인정보 보호법 제37조의2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자동화된 결정 거부·설명 요구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자동화된 시스템 … 으로 개인정보를 처리하여 이루어지는 결정이 … 중대한 영향을 미치는 경우 … 거부할 수 있는 권리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개인정보 보호법 제15조①6호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 정보 학습의 적법 근거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개인정보처리자의 정당한 이익을 달성하기 위하여 필요한 경우로서 명백하게 정보주체의 권리보다 우선하는 경우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옵트아웃·삭제·연동 해제로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통제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Q1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 거부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(opt-out), Q2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기록 삭제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Q6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신고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Q7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연동 해제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, Q8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공개 범위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크롤러 차단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이용자가 직접 통제하는 수단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1578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'이용자 보호 방안'과 개인정보보호법 정보주체 권리를 하나의 이용자 대시보드로 통합할 수 있는가?</a:t>
            </a: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(기술적으로 가능 — 학습 거부·삭제·설명 요구·이의 제기를 한 화면에 모으면 두 법의 권리 행사를 함께 지원할 수 있음)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733892"/>
            <a:ext cx="15621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부처 가이드라인의 용어(이용자·정보주체·영향받는 자) 불일치가 실무에 주는 혼선 분석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92/96</a:t>
            </a:r>
            <a:endParaRPr lang="en-US" sz="1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(정리-1)</a:t>
            </a:r>
            <a:endParaRPr lang="en-US" sz="50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93/96</a:t>
            </a:r>
            <a:endParaRPr lang="en-US" sz="1800" dirty="0"/>
          </a:p>
        </p:txBody>
      </p:sp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475903"/>
              </p:ext>
            </p:extLst>
          </p:nvPr>
        </p:nvGraphicFramePr>
        <p:xfrm>
          <a:off x="950976" y="2606040"/>
          <a:ext cx="1636776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9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3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72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가이드라인</a:t>
                      </a:r>
                      <a:endParaRPr sz="18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의무 주체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의무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의무 성격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투명성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AI사업자(최종 제공자)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고지·생성물 표시·딥페이크 고지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고지 위반 과태료(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  <a:hlinkClick r:id="rId3"/>
                        </a:rPr>
                        <a:t>AI기본법 제43조</a:t>
                      </a:r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), 표시는 시정명령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안전성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  <a:r>
                        <a:rPr sz="1800" b="0" baseline="3000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FLOPs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최첨단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AI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사업자</a:t>
                      </a:r>
                      <a:endParaRPr sz="1800" b="0" dirty="0">
                        <a:solidFill>
                          <a:srgbClr val="1A1A1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식별·평가·완화, 안전사고 체계, 결과 제출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사실조사·시정명령, 불이행 시 과태료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고영향 판단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AI사업자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고영향 해당 여부 사전 검토, 필요시 확인 요청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의무(검토)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 사업자 책무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고영향 AI사업자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위험관리·설명·이용자 보호·감독·문서화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사실조사·시정명령, 불이행 시 과태료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⑤ 영향평가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고영향 AI사업자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기본권 영향 사전 평가(취약계층 반영)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노력의무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없음(공공조달 우대)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⑥ 개인정보 보호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이용자(정보주체)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거부·기록 삭제·입력 주의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자율 실천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 (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사업자는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개인정보보호법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361553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33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361553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8"/>
            <a:ext cx="16383305" cy="187177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상호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</a:t>
            </a:r>
            <a:endParaRPr lang="en-US" sz="5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AI 3종의 연결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③↔④: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 결과가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책무의 출발점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판단 가이드라인으로 고영향에 해당하면 그때부터 책무 가이드라인의 책무가 적용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판단이 책무의 전제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④→⑤: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책무 이행 시 영향평가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 활용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위험관리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이용자 보호를 이행하며 확인한 위험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피영향자 정보를 영향평가의 피영향자 분석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위협 분석에 그대로 쓸 수 있다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7300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⑤→③: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영향평가 대상은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가이드라인으로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영향평가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단계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평가 필요성 검토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는 판단 가이드라인으로 고영향 해당 여부를 먼저 검토하는 데서 출발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(73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7300" y="64008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고영향 AI도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제31조①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사전 고지 대상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인공지능에 기반하여 운용된다는 사실을 이용자에게 사전에 고지하여야 한다.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9592056" y="293796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밖과의 연결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3767328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⑥↔①: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표시·고지(AI기본법)와 정보주체 권리(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개보법)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생성물 표시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사전 고지는 사업자 의무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(AI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학습 거부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삭제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국외 이전 확인은 정보주체 권리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개인정보 보호법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9592056" y="4645152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/>
              </a:rPr>
              <a:t>AI기본법 제34조③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타 법령 준하는 조치는 이행 간주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법령에 따라 제1항 각 호에 준하는 조치를 … 이행한 경우에는 제1항에 따른 조치를 이행한 것으로 본다.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9592056" y="5522976"/>
            <a:ext cx="7439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개인정보 영향평가·EU 기본권 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영향평가와 관계</a:t>
            </a:r>
            <a:endParaRPr lang="ko-KR" altLang="en-US" sz="180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다른 평가에서 기본권 영향을 평가했다면 근거로 활용 가능 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— EU AI Act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기본권 영향평가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·ISO/IEC 42001·42005 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결과도 참고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(76</a:t>
            </a:r>
            <a:r>
              <a:rPr lang="ko-KR" altLang="en-US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쪽</a:t>
            </a:r>
            <a:r>
              <a:rPr lang="en-US" altLang="ko-KR" sz="1500">
                <a:solidFill>
                  <a:srgbClr val="6B6B6B"/>
                </a:solidFill>
                <a:latin typeface="Malgun Gothic" panose="020B0503020000020004" pitchFamily="50" charset="-127"/>
                <a:ea typeface="Malgun Gothic" pitchFamily="34" charset="-122"/>
                <a:cs typeface="Malgun Gothic" pitchFamily="34" charset="-120"/>
              </a:rPr>
              <a:t>)</a:t>
            </a:r>
            <a:endParaRPr lang="en-US" sz="1500" dirty="0">
              <a:solidFill>
                <a:srgbClr val="6B6B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592056" y="6400800"/>
            <a:ext cx="7439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/>
              </a:rPr>
              <a:t>AI기본법 제27조</a:t>
            </a: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윤리원칙: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모든 분야 윤리기준의 토대</a:t>
            </a:r>
            <a:endParaRPr lang="en-US" sz="1800" dirty="0"/>
          </a:p>
          <a:p>
            <a:pPr marL="0" indent="0" algn="l">
              <a:buNone/>
            </a:pPr>
            <a:r>
              <a:rPr lang="en-US" sz="1500" b="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인공지능윤리의 확산을 위하여 … 인공지능 윤리원칙을 … 제정ㆍ공표할 수 있다.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333195" y="8043521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6종 가이드라인을 하나의 '통합 준수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체크리스트'로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이슈는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(중복: 고지·설명·문서화 의무 / 공백: 이용자의 권리 행사 창구와 피해 발생 후 사후 구제 절차)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619592"/>
            <a:ext cx="15621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고지·표시 의무와 개인정보보호법 고지 의무를 한 번에 이행하는 UX 설계는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(가능 — 첫 화면에 AI 이용 고지와 처리방침 핵심을 함께 보이고, 세부는 펼쳐 보는 계층형 고지로 설계)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94/96</a:t>
            </a:r>
            <a:endParaRPr lang="en-US" sz="1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9강 요약</a:t>
            </a:r>
            <a:endParaRPr lang="en-US" sz="50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요약 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80560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법→시행령→고시→가이드라인, 고시 공백과 가이드라인의 역할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4336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투명성·안전성: 모든 생성형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</a:t>
            </a:r>
            <a:r>
              <a:rPr lang="en-US" sz="1800" baseline="30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FLOPs 최첨단 AI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68112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판단·책무·영향평가: 10개 영역 AI의 3단계 의무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61888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보호 가이드: 이용자가 직접 통제하는 8가지 질문</a:t>
            </a:r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강의 예고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80560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10강: AI 거버넌스 기술(11.5)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4336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윤리원칙·지원데스크 사례 20선은 HTML 상세자료로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68112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기말 보고서: 오늘 분홍 박스 연구주제에서 출발해 보기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61888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개정(2027 상반기 예정)은 계속 추적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95/96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투명성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안전성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고영향판단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사업자책무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영향평가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개인정보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상세자료 안내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슬라이드에 다 담지 못한 원문과 사례, 적용 방법은 HTML로 — github.com/YangGuiBee/AIG2 → 09강 폴더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인공지능 윤리원칙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80560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서문 — 2026.8.21 관계부처 합동 ·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AI기본법 제27조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4336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3대 가치 · 7대 원칙 원문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68112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원칙별 세부 요소와 설명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61888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2020 인공지능 윤리기준과의 대응표</a:t>
            </a:r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· 원문 · 적용 방법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80560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지원데스크 사례 20선 · 4개 유형 원문 Q&amp;A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4336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가이드라인 · 고시 원문 링크 · 수정 이력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68112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적용 방법 — AI 거버넌스 구축 6단계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976104" y="5961888"/>
            <a:ext cx="705551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사례(공공기관 채용 AI 도입) · 단계별 점검표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96/96</a:t>
            </a:r>
            <a:endParaRPr lang="en-US" sz="1800" dirty="0"/>
          </a:p>
        </p:txBody>
      </p:sp>
      <p:sp>
        <p:nvSpPr>
          <p:cNvPr id="9" name="Text 21"/>
          <p:cNvSpPr txBox="1"/>
          <p:nvPr/>
        </p:nvSpPr>
        <p:spPr>
          <a:xfrm>
            <a:off x="1257300" y="6455664"/>
            <a:ext cx="74395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글로벌 윤리규범 비교 · 의견수렴 153건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25418</Words>
  <Application>Microsoft Office PowerPoint</Application>
  <PresentationFormat>사용자 지정</PresentationFormat>
  <Paragraphs>2614</Paragraphs>
  <Slides>96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96</vt:i4>
      </vt:variant>
    </vt:vector>
  </HeadingPairs>
  <TitlesOfParts>
    <vt:vector size="101" baseType="lpstr">
      <vt:lpstr>-apple-system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양희정</cp:lastModifiedBy>
  <cp:revision>63</cp:revision>
  <dcterms:created xsi:type="dcterms:W3CDTF">2026-09-15T22:43:35Z</dcterms:created>
  <dcterms:modified xsi:type="dcterms:W3CDTF">2026-10-29T09:02:51Z</dcterms:modified>
</cp:coreProperties>
</file>