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307" r:id="rId4"/>
    <p:sldId id="308" r:id="rId5"/>
    <p:sldId id="309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5" r:id="rId22"/>
    <p:sldId id="326" r:id="rId23"/>
    <p:sldId id="327" r:id="rId24"/>
    <p:sldId id="328" r:id="rId25"/>
    <p:sldId id="329" r:id="rId26"/>
    <p:sldId id="330" r:id="rId27"/>
    <p:sldId id="331" r:id="rId28"/>
    <p:sldId id="332" r:id="rId29"/>
    <p:sldId id="333" r:id="rId30"/>
    <p:sldId id="334" r:id="rId31"/>
    <p:sldId id="335" r:id="rId32"/>
    <p:sldId id="336" r:id="rId33"/>
    <p:sldId id="337" r:id="rId34"/>
    <p:sldId id="338" r:id="rId35"/>
    <p:sldId id="339" r:id="rId36"/>
    <p:sldId id="340" r:id="rId37"/>
    <p:sldId id="341" r:id="rId38"/>
    <p:sldId id="342" r:id="rId39"/>
    <p:sldId id="343" r:id="rId40"/>
    <p:sldId id="344" r:id="rId41"/>
    <p:sldId id="345" r:id="rId42"/>
    <p:sldId id="346" r:id="rId43"/>
    <p:sldId id="349" r:id="rId44"/>
    <p:sldId id="350" r:id="rId45"/>
    <p:sldId id="347" r:id="rId46"/>
    <p:sldId id="348" r:id="rId47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25" autoAdjust="0"/>
    <p:restoredTop sz="94610"/>
  </p:normalViewPr>
  <p:slideViewPr>
    <p:cSldViewPr snapToGrid="0" snapToObjects="1">
      <p:cViewPr varScale="1">
        <p:scale>
          <a:sx n="35" d="100"/>
          <a:sy n="35" d="100"/>
        </p:scale>
        <p:origin x="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7223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jpg"/><Relationship Id="rId9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686507"/>
            <a:ext cx="1067105" cy="418795"/>
          </a:xfrm>
          <a:prstGeom prst="rect">
            <a:avLst/>
          </a:prstGeom>
          <a:noFill/>
          <a:ln w="25400">
            <a:solidFill>
              <a:srgbClr val="036B3F"/>
            </a:solidFill>
            <a:prstDash val="solid"/>
          </a:ln>
        </p:spPr>
      </p:sp>
      <p:pic>
        <p:nvPicPr>
          <p:cNvPr id="4" name="Image 1" descr="gen-dedup-19c911119b5455341ec56e38170d158e.png"/>
          <p:cNvPicPr>
            <a:picLocks noChangeAspect="1"/>
          </p:cNvPicPr>
          <p:nvPr/>
        </p:nvPicPr>
        <p:blipFill>
          <a:blip r:embed="rId4"/>
          <a:srcRect t="-400" b="-400"/>
          <a:stretch/>
        </p:blipFill>
        <p:spPr>
          <a:xfrm>
            <a:off x="952805" y="7200900"/>
            <a:ext cx="1714500" cy="384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14477695" y="8020202"/>
            <a:ext cx="2857500" cy="123809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952805" y="418795"/>
            <a:ext cx="8572500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250" b="1" kern="0" spc="38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KONKUK UNIVERSITY</a:t>
            </a:r>
            <a:endParaRPr lang="en-US" sz="2250" dirty="0"/>
          </a:p>
        </p:txBody>
      </p:sp>
      <p:sp>
        <p:nvSpPr>
          <p:cNvPr id="7" name="Text 3"/>
          <p:cNvSpPr txBox="1"/>
          <p:nvPr/>
        </p:nvSpPr>
        <p:spPr>
          <a:xfrm>
            <a:off x="952805" y="838505"/>
            <a:ext cx="8572500" cy="29535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65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650" dirty="0"/>
          </a:p>
        </p:txBody>
      </p:sp>
      <p:sp>
        <p:nvSpPr>
          <p:cNvPr id="8" name="Text 4"/>
          <p:cNvSpPr txBox="1"/>
          <p:nvPr/>
        </p:nvSpPr>
        <p:spPr>
          <a:xfrm>
            <a:off x="952805" y="2686507"/>
            <a:ext cx="1067105" cy="3813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강</a:t>
            </a:r>
            <a:endParaRPr lang="en-US" sz="1650" dirty="0"/>
          </a:p>
        </p:txBody>
      </p:sp>
      <p:sp>
        <p:nvSpPr>
          <p:cNvPr id="9" name="Text 5"/>
          <p:cNvSpPr txBox="1"/>
          <p:nvPr/>
        </p:nvSpPr>
        <p:spPr>
          <a:xfrm>
            <a:off x="952805" y="3353105"/>
            <a:ext cx="16383305" cy="133411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7200" b="1" kern="0" spc="-225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인공지능기본법과 시행령</a:t>
            </a:r>
            <a:endParaRPr lang="en-US" sz="7200" dirty="0"/>
          </a:p>
        </p:txBody>
      </p:sp>
      <p:sp>
        <p:nvSpPr>
          <p:cNvPr id="10" name="Text 6"/>
          <p:cNvSpPr txBox="1"/>
          <p:nvPr/>
        </p:nvSpPr>
        <p:spPr>
          <a:xfrm>
            <a:off x="952805" y="4762195"/>
            <a:ext cx="16383305" cy="4288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총칙부터 추진체계·산업발전·윤리신뢰성 의무, 벌칙과 시행령까지</a:t>
            </a:r>
            <a:endParaRPr lang="en-US" sz="2400" dirty="0"/>
          </a:p>
        </p:txBody>
      </p:sp>
      <p:sp>
        <p:nvSpPr>
          <p:cNvPr id="11" name="Text 7"/>
          <p:cNvSpPr txBox="1"/>
          <p:nvPr/>
        </p:nvSpPr>
        <p:spPr>
          <a:xfrm>
            <a:off x="952805" y="6724498"/>
            <a:ext cx="9525305" cy="2862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75" b="1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https://github.com/YangGuiBee/AIG2</a:t>
            </a:r>
            <a:endParaRPr lang="en-US" sz="1575" dirty="0"/>
          </a:p>
        </p:txBody>
      </p:sp>
      <p:sp>
        <p:nvSpPr>
          <p:cNvPr id="12" name="Text 8"/>
          <p:cNvSpPr txBox="1"/>
          <p:nvPr/>
        </p:nvSpPr>
        <p:spPr>
          <a:xfrm>
            <a:off x="952805" y="7563002"/>
            <a:ext cx="1143000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2026학년도 2학기 · 담당교수 </a:t>
            </a:r>
            <a:r>
              <a:rPr lang="en-US" sz="20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양희정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952805" y="7987284"/>
            <a:ext cx="11430000" cy="623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https://yangguibee.github.io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guibee@konkuk.ac.kr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4783105" y="8268005"/>
            <a:ext cx="224851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275" kern="0" spc="7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COURSE · 2026-2</a:t>
            </a:r>
            <a:endParaRPr lang="en-US" sz="1275" dirty="0"/>
          </a:p>
        </p:txBody>
      </p:sp>
      <p:sp>
        <p:nvSpPr>
          <p:cNvPr id="15" name="Text 11"/>
          <p:cNvSpPr txBox="1"/>
          <p:nvPr/>
        </p:nvSpPr>
        <p:spPr>
          <a:xfrm>
            <a:off x="14783105" y="8572500"/>
            <a:ext cx="2248510" cy="6291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10.01</a:t>
            </a:r>
            <a:endParaRPr lang="en-US" sz="3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3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16강 목차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중간고사 8주차(10.22) · 기말 보고서 16주차(12.17) · 오늘은 5주차</a:t>
            </a:r>
            <a:endParaRPr lang="en-US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52805" y="2743200"/>
          <a:ext cx="7705648" cy="4763106"/>
        </p:xfrm>
        <a:graphic>
          <a:graphicData uri="http://schemas.openxmlformats.org/drawingml/2006/table">
            <a:tbl>
              <a:tblPr/>
              <a:tblGrid>
                <a:gridCol w="761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9.3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강의 소개, AI 거버넌스 개론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9.10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법규제의 기초 이론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9.17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 AI Act (1)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9.24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EU AI Act (2), 추석 휴강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8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</a:t>
                      </a:r>
                      <a:endParaRPr lang="en-US" sz="18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인공지능기본법, 시행령</a:t>
                      </a:r>
                      <a:endParaRPr lang="en-US" sz="1800" b="1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9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10.8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국내 AI 관련 법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10.15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사례연구(Case Study) 1, AI 법규제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중간고사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20402" y="2743200"/>
          <a:ext cx="7705648" cy="4763106"/>
        </p:xfrm>
        <a:graphic>
          <a:graphicData uri="http://schemas.openxmlformats.org/drawingml/2006/table">
            <a:tbl>
              <a:tblPr/>
              <a:tblGrid>
                <a:gridCol w="761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9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60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주차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일자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주제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10.29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가이드라인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24A2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11.5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 기술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11.12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 국제표준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11.19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 연구방법론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13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11.26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 선행연구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14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12.3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거버넌스 실무사례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12.10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사례연구(Case Study) 2, 적용 계획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923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12.17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1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기말고사, 종합 평가 보고</a:t>
                      </a:r>
                      <a:endParaRPr lang="en-US" sz="18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33502" marR="133502" marT="105156" marB="105156" anchor="ctr">
                    <a:lnL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3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1" name="Text 6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1/45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5강 목차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43개조 6개 장 + 시행령·EU AI Act 비교까지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전반부 — </a:t>
            </a: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골격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1·총칙: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목적·정의·기본원칙·적용범위 (제1~5조)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2·추진체계: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기본계획·위원회·정책센터·안전연구소 (제6~12조)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3·산업발전: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기술개발·산업육성 지원시책 (제13~26조)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후반부 — 실무와 비교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4·윤리신뢰성: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투명성·안전성·고영향AI 의무·영향평가 (제27~36조)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5·보칙벌칙: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재원·조사권·제재 수준 (제37~43조)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6·비교매핑: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시행령 상세, EU AI Act와의 비교, 한계와 과제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2/45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(1-1) 제1조 목적 · 제2조 정의(1)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 존엄과 국가경쟁력, 두 축 위에 세운 법의 목적과 기본 개념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법의 목적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인간의 존엄과 권리를 보호하면서 국가경쟁력을 강화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AI의 건전한 발전과 신뢰 기반 조성에 필요한 사항을 규정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2025.1.21 제정 · 2026.7.21 시행 · 전문 6장 43조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소관부처: 과학기술정보통신부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정의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인간의 지적 능력을 전자적 방법으로 구현한 것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인공지능시스템: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자율성·적응성을 갖고 예측·추천·결정을 추론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인공지능기술: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구현에 필요한 하드웨어·소프트웨어 및 활용기술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인공지능산업: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인공지능제품·서비스를 개발·유통·제공하는 산업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"지적 능력의 전자적 구현"이라는 정의는 기술중립적이지만 어디까지가 AI인가는 여전히 해석의 문제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목적조항의 '국가경쟁력 강화'와 '인간 존엄 보호'가 충돌할 때 법원은 무엇을 우선할까?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Act의 위험기반 정의방식과 비교했을 때 이 정의의 포괄성·모호성은 연구 대상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제정 후 첫 시행 사례가 이 정의를 어떻게 구체화하는지 추적 연구 여지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3/45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(1-2) 제2조 정의(2) — 사람과 AI를 잇는 개념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고영향·생성형 인공지능부터 사업자·이용자·영향받는 자까지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위험·기능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 인공지능: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생명·신체·기본권에 중대한 영향/위험 있는 영역에 활용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인공지능: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데이터의 구조·특성을 모방해 글·소리·이미지 등을 생성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학습용데이터: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인공지능의 개발·활용 등에 사용되는 데이터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인공지능윤리: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안전·신뢰할 수 있는 인공지능사회 구현을 위한 윤리기준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주체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500" b="1" kern="0" spc="-37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인공지능사업자: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인공지능산업과 관련된 사업을 하는 법인·단체·개인·국가기관등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이용자: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인공지능제품 또는 서비스를 제공받는 자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영향받는 자: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생명·신체 안전·기본권에 중대한 영향을 받는 자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이용자와 영향받는 자가 분리된 것은 비계약 당사자 보호를 염두에 둔 설계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'영향받는 자'는 계약관계 없이도 권리를 주장할 수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— 구제수단의 공백 검토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 인공지능의 '영역' 열거방식(포지티브 리스트)이 신기술을 놓치는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사각지대는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생성형AI 정의가 지능정보화기본법과 이중 정의되는 구조의 정합성 문제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사업자·이용자·영향받는자 3자 구도가 실제 플랫폼형 AI 서비스에 잘 들어맞는지 사례 검증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4/45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(1-3) 제3조 기본원칙 및 국가 등의 책무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개 항에 담긴 안전성·설명권·책무의 배분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원칙의 구조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안전성·신뢰성 제고로 국민 삶의 질 향상 방향의 기술발전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영향받는 자에게 주요 기준·원리를 명확하고 의미있게 설명받을 권리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국가·지자체는 사업자의 창의정신 존중 + 안전한 이용환경 조성 노력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국가·지자체는 사회·경제·문화 전 영역 변화에 국민이 적응하도록 시책 강구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2026.1.20 신설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취약계층 조항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정책 개발·수립 과정에 인공지능취약계층의 참여 보장 노력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장애인·고령자 등 대통령령으로 정하는 취약계층 개념 신설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 '보장'이 아니라 참여를 '보장하도록 노력' — 노력의무 형태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제3조는 선언적 원칙이라 직접 소구 가능한 권리는 아님에 유의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②항의 '설명받을 권리'가 실제 소송에서 손해배상·시정청구 근거가 될 수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취약계층 참여가 노력의무로 설계된 것과 실질적 참여 보장 사이의 간극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'기술적·합리적으로 가능한 범위'라는 유보 문구가 사업자의 항변 사유로 남용될 위험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기본원칙 조항의 이행력을 높이려면 어떤 후속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입법·고시가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5/45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(1-4) 제4~5조 적용범위 · 다른 법률과의 관계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법이 미치는 곳과 미치지 않는 곳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적용범위 · 타법관계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제4조: 인공지능의 개발·활용 등 전 과정에 적용되는 일반법적 지위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제5조: 다른 법률에 특별한 규정이 있으면 그 법을 우선 적용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개인정보보호법·지능정보화기본법 등과 병존·보완 관계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'기본법'이라는 명칭대로 세부 규제는 개별법·시행령·고시에 위임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시행령의 적용 제외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제1조의2: 인공지능취약계층의 구체적 범위 규정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제2조: 법 적용을 제외하는 인공지능의 범위 규정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국방·안보 등 성격상 예외가 필요한 영역을 시행령에 위임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적용제외 범위의 구체적 조문 대응은 HTML 상세자료 참고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타법 우선원칙(제5조)이 실제로는 '기본법의 공동화'로 이어질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적용제외 인공지능의 범위를 시행령에 위임한 것이 법률유보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원칙에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부합하는가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국가안보·국방 분야 AI가 기본법 밖에 놓일 때 책임 공백은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메우는가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타법과의 경합 사례(예: 개인정보보호법과의 중첩 규제)를 비교법적으로 분석할 여지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6/45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(2-1) 제6조 인공지능 기본계획의 수립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AI 정책의 설계도, 3년마다 다시 그린다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기본계획의 구조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과학기술정보통신부장관이 관계 중앙행정기관과 협의해 수립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국가인공지능전략위원회 심의를 거쳐 확정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단위 기본계획 + 매년 시행계획으로 이원화 운영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산업진흥·안전성확보·윤리·인재양성 등을 포괄하는 종합계획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시행령의 세부 절차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제3조: 기본계획 수립 절차와 포함사항 구체화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관계기관 의견수렴 및 공청회 절차를 규정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기본계획 변경 시에도 동일한 절차를 준용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시행계획 추진실적 점검·평가 체계를 하위규정으로 위임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주기 계획이 AI 기술의 변화 속도를 따라갈 수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 — 계획주기의 적정성 논쟁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기본계획 수립에 산업계·시민사회 의견수렴이 형식적 절차에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그치지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않으려면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</a:t>
            </a:r>
            <a:r>
              <a:rPr lang="ko-KR" alt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해야하</a:t>
            </a:r>
            <a:r>
              <a:rPr lang="ko-KR" altLang="en-US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는가</a:t>
            </a:r>
            <a:r>
              <a:rPr lang="en-US" altLang="ko-KR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부처 기본계획(데이터기본법 등)과의 정합성·중복성 문제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기본계획 미이행에 대한 책임 메커니즘이 없다는 점의 실효성 검토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7/45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(2-2) 제7~9조 </a:t>
            </a:r>
            <a:r>
              <a:rPr lang="en-US" sz="5000" b="1" kern="0" spc="-112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국가인공지능전략위원회</a:t>
            </a:r>
            <a:endParaRPr lang="en-US" sz="5000" dirty="0">
              <a:solidFill>
                <a:srgbClr val="0000FF"/>
              </a:solidFill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컨트롤타워의 구성과 견제장치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위원회의 기능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제7조: 대통령 소속 위원회로 국가 AI 정책의 최고 심의기구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제8조: 기본계획·정책·기준의 심의·의결 기능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관계부처 협업 필요 사안에 대한 조정 기능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정책센터·안전연구소 등 하위 추진체계 지휘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공정성 담보 장치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제9조: 위원의 제척·기피 및 회피 제도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이해관계가 있는 안건 심의에서 배제되는 절차 마련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제4·5조: 위원회 구성(위원장·위원 수) 및 운영세칙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민간 위원 위촉을 통한 산업계·학계 목소리 반영 구조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대통령 소속 위원회 구조가 정권 교체마다 정책 연속성을 흔들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제척·기피 제도가 실제로 산업계 출신 위원의 이해상충을 걸러낼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만큼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촘촘한가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위원회 회의록·심의결과의 공개 수준이 투명성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원칙에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부합하는가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유사 위원회(개인정보위, 방송통신위)와의 관할 중첩 가능성 비교연구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8/45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(2-3) 제10~11조 </a:t>
            </a:r>
            <a:r>
              <a:rPr lang="en-US" sz="5000" b="1" kern="0" spc="-112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분과위원회 · 인공지능정책센터</a:t>
            </a:r>
            <a:endParaRPr lang="en-US" sz="5000" dirty="0">
              <a:solidFill>
                <a:srgbClr val="0000FF"/>
              </a:solidFill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위원회를 실무로 이어주는 두 개의 연결고리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분과위원회 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제10조: 전문분야별 분과위원회 설치 근거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안건 성격에 따라 소위원회를 탄력적으로 구성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제7·8조: 개선권고 이행 절차 및 분과위 운영세칙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전문위원회(제26조 근거)와는 별도 트랙으로 운영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인공지능정책센터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제11조: 정책 실무를 지원하는 전담기관 지정 근거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제9조: 정책센터 지정 요건과 절차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기본계획 이행점검, 실태조사 등 실무를 위탁수행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위원회의 '두뇌'와 '손발'을 분리한 이원적 거버넌스 설계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위원회-분과위-정책센터로 이어지는 3단 구조가 의사결정 지연을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낳지는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정책센터 지정이 특정 기관(예: 정보화진흥원류)에 쏠릴 때의 견제장치 부재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분과위원회의 전문성과 대표성을 어떻게 동시에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확보할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것인가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정책센터의 법적 책임범위 — 위탁업무 수행 중 오류의 귀책은 누구에게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9/45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(2-4) 제12조 </a:t>
            </a:r>
            <a:r>
              <a:rPr lang="en-US" sz="5000" b="1" kern="0" spc="-112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인공지능안전연구소</a:t>
            </a:r>
            <a:endParaRPr lang="en-US" sz="5000" dirty="0">
              <a:solidFill>
                <a:srgbClr val="0000FF"/>
              </a:solidFill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 위험을 검증하는 국가 기관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안전연구소의 역할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 인공지능의 안전성 평가·기술지원 수행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검·인증 지원사업을 통해 사업자의 안전성 입증을 보조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 AI안전연구소 네트워크와의 협력 창구 기능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제10조: 연구소 운영 및 업무범위 구체화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영국·미국 사례와의 비교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영국·미국의 AI안전연구소(AISI·CAISI)와 유사한 국가기관형 모델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 서울선언 이후 각국이 안전연구소를 경쟁적으로 설립하는 추세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 법은 안전연구소를 '지원'기관으로, 규제기관과는 분리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따로, 안전평가 따로인 이원구조가 국제표준과 부합하는지 검토 필요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안전연구소가 '지원'에 머물고 '규제'는 못 하는 구조가 실효성을 담보하는가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국가기관이 안전성을 평가한 AI가 이후 사고를 내면 국가 책임 문제로 번지는가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각국 AI안전연구소 간 평가기준 상호인정(mutual recognition) 논의의 국내 함의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안전연구소 예산·인력 규모가 실제 산업 규모 대비 적정한지 비교연구 여지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10/45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(3-1) 제13~15조 기술개발지원 · 표준화 · 학습데이터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발전 장(14개조)의 첫 축 — 기반 조성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기술개발과 표준화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제13조: 인공지능기술 개발 및 안전한 이용 지원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제14조: 인공지능기술의 표준화 추진 근거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국제표준(ISO/IEC, IEEE 등)과의 정합성을 고려한 국내표준 마련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제11조: 개발지원사업의 세부 유형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학습용데이터 시책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제15조: 학습용데이터 관련 시책의 수립 등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제12·13조: 지원대상사업, 통합제공시스템 구축·관리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제14조: 데이터 이용에 따른 비용의 징수 근거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공공데이터 개방과 저작권·개인정보 보호의 균형이 핵심 쟁점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학습용데이터 통합제공시스템이 데이터 편중(빅테크 쏠림)을 완화할 수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표준화가 특정 기업의 사실상 표준을 법제화하는 통로가 될 위험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비용징수 조항이 중소 스타트업의 데이터 접근성을 오히려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낮추지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저작권법과 학습데이터 이용 조항의 충돌 지점을 비교법적으로 검토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11/45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(3-2) 제16~18조 기술도입 · 중소기업지원 · 창업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공급을 늘리는 조문에서 저변을 넓히는 조문으로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도입·지원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제16조: 산업 전반의 인공지능기술 도입·활용 시책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제17조·17조의2: 중소기업 특별지원, 이용비용 지원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제15조·15조의2: 지원사업 유형과 비용지원 기준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도입 격차(디지털 디바이드)를 좁히려는 정책 의도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창업 활성화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제18조: 창업 활성화를 위한 지원 시책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제15조의3: 창업지원 사업의 구체적 내용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벤처투자촉진법 등 기존 창업지원 체계와 연계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스타트업 특유의 고비용 인프라(컴퓨팅) 부담 완화가 관건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중소기업 지원이 실제로 컴퓨팅 파워 격차까지 메울 수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수준인가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지원사업의 '낙수효과'가 실증적으로 확인되는지 정책평가 연구 필요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이용비용 지원의 재원이 안정적으로 확보되는지 예산 지속가능성 검토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창업지원과 고영향AI 의무(4장)가 스타트업에는 이중부담이 되는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아닌가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12/45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(3-3) 제19~22조의3 융합 · 인력 · 국제협력 · 연구소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산업을 옆으로, 사람으로, 밖으로 확장하는 조문들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융합과 인력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제19조: 인공지능 융합의 촉진(전통산업+AI)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제20조: 제도개선 등 — 규제샌드박스 연계 근거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제21조: 전문인력의 확보(교육·양성체계)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인재 유출을 막기 위한 처우·연구환경 조성 시책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국제협력과 연구기관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제22조: 국제협력 및 해외시장 진출 지원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제22조의2·22조의3: 인공지능연구소·연구기관의 설립 근거(2026 신설 계열)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제16~16조의4: 위탁·설립허가 절차 등 세부사항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주도 R&amp;D 허브를 별도 법인으로 만드는 방식의 첫 시도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인공지능연구소가 민간 R&amp;D를 구축(crowd-out)할 가능성은 없는가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전문인력 확보 시책이 처우 문제(대기업·해외 유출)의 근본 해법이 될 수 있는가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국제협력 조항이 실제 다자간 AI 거버넌스 논의에서 한국의 지분을 얼마나 키우는가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연구소 설립허가 절차의 재량범위가 특정 기관 특혜 시비로 이어질 가능성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13/45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(3-4) 제23~25조 집적단지 · 실증기반 · 데이터센터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산업의 물리적 인프라를 짓는 조문들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집적단지와 실증기반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제23조: 인공지능집적단지 지정 등(클러스터 조성)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제24조: 인공지능 실증기반 조성 등(테스트베드)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제17·18조: 집적단지 지정 절차, 전담기관 지정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지역 균형발전과 연계한 단지 배치가 정책적 화두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데이터센터 정책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제25조: 인공지능 데이터센터 관련 시책의 추진 등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전력 수급, 입지, 탄소배출 이슈와 직결되는 조문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제19조: 실증기반 조성의 세부 지원방식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육성 조문 중 에너지·환경 규제와 가장 밀접하게 얽히는 지점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데이터센터 전력수요 급증이 에너지법·전기사업법과 충돌하는 지점을 어떻게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조정할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것인가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집적단지 지정이 수도권 쏠림을 강화할지 지역분산을 이끌지 실증 검토 필요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실증특례(regulatory sandbox)와 이 법의 실증기반 조항의 관계 정리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데이터센터의 탄소중립 정책과 AI 산업진흥 정책이 상충할 때의 우선순위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14/45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(3-5) 제26조 </a:t>
            </a:r>
            <a:r>
              <a:rPr lang="en-US" sz="5000" b="1" kern="0" spc="-112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한국인공지능진흥협회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설립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 발전 장의 마지막 조문 — 민간 자율기구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협회의 위상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인가를 받아 설립되는 법정 민간단체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제20조: 설립인가·지정 요건 구체화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업계 자율규제·통계작성·정책건의 창구 역할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 산업 진흥협회(소프트웨어산업협회 등)와 유사한 법적 지위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자율규제 기구의 함의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 주도 규제와 업계 자율규제 사이의 가교 역할 기대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협회 회원사 중심의 의견이 정책에 과대 반영될 위험도 상존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제29조 '단체등'의 자율협력 조항과 맞물려 작동하는 구조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협회의 대표성(중소·스타트업 vs 대기업)이 운영의 핵심 변수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법정 진흥협회가 사실상 대기업 중심 로비창구로 기능할 위험을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견제하는가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협회 자율규제와 정부 법정의무(4장) 사이의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역할분담이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명확한가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해외의 산업협회형 자율규제 사례(예: Partnership on AI)와 비교했을 때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실효성은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협회 통계·실태조사 결과가 정부 통계와 상충할 경우 신뢰성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확보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방안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15/45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(4-1) 제27조 인공지능 윤리원칙 등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법정 윤리원칙, 선언에서 실천방안으로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윤리원칙의 3대 요소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안전성·신뢰성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생명·신체·정신건강에 해가 없도록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접근성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모든 사람이 자유롭고 편리하게 이용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공헌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사람의 삶과 번영에 기여하는 개발·활용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대통령령으로 정하는 절차에 따라 제정·공표(시행령 제21조)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실천으로 이어지는 장치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과기정통부장관이 실천방안을 수립해 공개·홍보·교육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중앙행정기관·지자체가 별도 윤리기준 제정 시 정합성 권고 가능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'권고'이지 '승인'이 아니어서 강제력은 제한적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부처·지자체 윤리기준 난립을 조정하는 최소한의 장치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요소로 압축된 윤리원칙이 실제 개발현장의 딜레마(편향·프라이버시 등)를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포괄하는가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권고에 그치는 정합성 확보 장치가 부처간 윤리기준 난립을 막을 수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OECD·유네스코 AI윤리권고 등 국제규범과 이 조항의 내용적 정합성 비교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윤리원칙이 법적 구속력 없는 선언에 머물 때 실효성을 어떻게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담보할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것인가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16/45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(4-2) 제28조 </a:t>
            </a:r>
            <a:r>
              <a:rPr lang="en-US" sz="5000" b="1" kern="0" spc="-112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민간자율인공지능윤리위원회</a:t>
            </a:r>
            <a:endParaRPr lang="en-US" sz="5000" dirty="0">
              <a:solidFill>
                <a:srgbClr val="0000FF"/>
              </a:solidFill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기업과 연구기관 안의 자율 감시장치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설치와 업무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교육·연구기관, 인공지능사업자 등이 임의로 설치 가능(설치 의무 아님)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윤리원칙 준수 확인, 안전·인권침해 조사·연구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연구개발 절차·결과에 대한 자체 조사·감독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소속 연구자·종사자 대상 윤리교육 실시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구성상의 안전장치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성(性)으로만 구성 금지 — 균형 요건 법정화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사회적·윤리적 타당성 평가 역량자 + 외부인사 필수 포함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과기정통부장관이 표준지침을 마련해 보급 가능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'자율'이라는 이름과 달리 최소 구성요건은 법률로 못박음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설치가 임의사항인 위원회가 실제로 얼마나 설치·운영되고 있는지 실태조사가 필요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사내 윤리위원회가 회사의 이해관계로부터 독립성을 유지할 수 있는 구조인가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외부인사 포함 요건이 형식적 구색맞추기에 그치지 않게 하는 방법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 기업 내부 AI윤리위원회 해체 사례와 비교한 제도적 지속가능성 검토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17/45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(4-3) 제29~30조 신뢰기반 시책 · 검·인증 지원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정부가 만드는 환경, 민간이 받는 인증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기반 조성 시책(7가지)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안전·신뢰 이용환경 조성, 영향 전망·법제 정비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안전기술·인증기술 개발 지원, 교육·홍보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 자율규약 제정 지원, 단체 자율협력 지원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밖에 대통령령으로 정하는 사항(개방형 위임)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검·인증등 지원(제30조)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가이드라인 보급, 검·인증 연구·장비·인력 지원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중소기업 대상 정보제공·행정적/재정적 지원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 인공지능 사업자는 사전 검·인증 '노력'의무(강제 아님)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국가기관등은 검·인증받은 제품·서비스를 우선 고려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검·인증이 임의(노력의무)인데도 시장에서 사실상 필수가 되는 '연성규범의 경성화' 현상 분석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국가기관 우선고려 조항이 검·인증 시장을 왜곡(대기업 쏠림)할 가능성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자율규약 지원이 실제 자율규제의 질적 향상으로 이어지는지 실증연구 필요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검·인증 기관의 이해상충(사업자가 인증기관을 겸하는 구조) 방지장치의 공백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18/45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(4-4) 제31조 인공지능 투명성 확보 의무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고지·표시 3종 세트 — 언제, 무엇을, 어떻게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가지 투명성 의무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고영향·생성형 AI 기반 제품·서비스 이용 사실 사전 고지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생성형 AI 결과물임을 표시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실제와 구분 어려운 가상 음향·이미지·영상 생성사실 고지·표시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예술·창의적 표현물은 향유를 저해하지 않는 방식으로 완화 적용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위임사항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고지·표시의 구체적 방법은 대통령령(시행령 제23조)에 위임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적용예외 사유도 시행령에서 고시로 별도 규정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'딥페이크' 문제를 정면으로 다루는 조문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의무는 강행규정 — 위반 시 제43조 과태료 대상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'실제와 구분하기 어려운' 정도를 판단하는 기준이 명확하지 않아 분쟁 소지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예술적 표현물 예외가 딥페이크 악용의 우회로가 될 위험은 없는가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생성형AI 표시의무의 국제 비교(EU AI Act 제50조, 중국 규정 등) 연구 여지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표시의무 위반의 과태료(3천만원 이하)가 대형 플랫폼에 억지력을 가지는가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19/45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(4-5) 제32조 인공지능 안전성 확보 의무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연산량이라는 문턱, 위험관리라는 숙제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대상과 의무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학습에 사용된 누적 연산량이 대통령령 기준 이상인 시스템이 대상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수명주기 전반의 위험 식별·평가·완화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안전사고 모니터링·대응 위험관리체계 구축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이행 결과를 과기정통부장관에게 제출 의무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구체화는 고시로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이행방식·결과제출 절차는 장관 고시로 별도 규정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'인공지능 안전성 확보 의무의 이행방법 등에 관한 고시' 존재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연산량 기준(컴퓨트 임계치) 방식은 미국 행정명령·EU 규정과 유사한 접근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 의무는 벌칙조항이 없고 별도 과태료 규정도 없음에 유의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연산량 임계치 하나로 '위험한 AI'를 가려내는 방식의 과학적 타당성 논쟁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이행결과 제출만 있고 별도 제재조항이 없다는 것의 실효성 공백 — 왜 벌칙이 빠졌는가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고시로 위임된 이행방법이 자주 개정될 경우 사업자의 예측가능성 문제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 행정명령의 컴퓨트 임계치 정책 변화(폐지·부활)가 국내 조항 설계에 주는 시사점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20/45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(4-6) 제33조 고영향 인공지능의 확인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내가 만든 AI가 '고영향'인지, 누가 정하는가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절차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사업자는 제공 전 고영향 해당 여부를 사전에 자체 검토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필요시 과기정통부장관에게 확인을 요청할 수 있음(임의)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장관은 요청 시 확인 의무 + 필요하면 전문위원회 자문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기준·예시에 관한 가이드라인을 장관이 수립·보급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절차의 성격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판단은 사업자 자율 — 정부가 먼저 나서 지정하지 않음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절차·방법의 세부사항은 시행령에 위임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전문위원회는 제26조와 별도로 이 확인 과정에 특화되어 구성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요청이 '의무'가 아니라 '가능'이라는 점이 자율성의 여지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 여부의 1차 판단을 사업자 자율에 맡긴 것이 과소규제로 이어질 위험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확인을 요청하지 않고 '아니다'라고 자체 판단한 사업자를 사후에 걸러낼 장치는 있는가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 확인 결과의 공개 여부 — 이용자·경쟁사가 알 권리가 있는가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Act의 사전 위험분류 방식과 비교했을 때 사후 확인형 설계의 장단점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21/45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(4-7) 제34조 고영향AI와 관련한 사업자의 책무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가지 조치, 고영향 인공지능의 실질적 무게중심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이행해야 할 여섯 조치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638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위험관리방안 수립·운영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4" name="Text 19"/>
          <p:cNvSpPr txBox="1"/>
          <p:nvPr/>
        </p:nvSpPr>
        <p:spPr>
          <a:xfrm>
            <a:off x="1256386" y="4925324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최종결과·판단기준·학습데이터 개요 설명방안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1256386" y="5373746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이용자 보호방안 수립·운영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1256386" y="5822168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사람의 </a:t>
            </a:r>
            <a:r>
              <a:rPr lang="en-US" sz="1800" b="1" dirty="0" err="1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관리·감독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이행의 유연성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 사항은 장관 고시로 정하고 준수를 '권고'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법령상 준하는 조치를 이행하면 이 조 이행으로 간주(중복규제 방지)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'고영향AI 사업자의 책무 이행에 관한 고시' 별도 존재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조치 중 문서화(⑤)가 사후 감독·분쟁의 핵심 증거가 됨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조치가 '권고' 수준에 머무는데 실제 이행률은 어느 정도인지 실태조사 필요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타법령 준수시 이행간주 조항이 규제차익(느슨한 법 적용)을 유발할 가능성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설명방안(②)이 영업비밀인 모델 구조와 충돌할 때의 해소 기준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조문이 사실상 EU AI Act의 고위험 AI 의무와 얼마나 겹치는지 조문대조 연구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22/45</a:t>
            </a:r>
            <a:endParaRPr lang="en-US" sz="1800" dirty="0"/>
          </a:p>
        </p:txBody>
      </p:sp>
      <p:sp>
        <p:nvSpPr>
          <p:cNvPr id="39" name="Text 21">
            <a:extLst>
              <a:ext uri="{FF2B5EF4-FFF2-40B4-BE49-F238E27FC236}">
                <a16:creationId xmlns:a16="http://schemas.microsoft.com/office/drawing/2014/main" id="{3C814446-B139-4F94-B192-F8F5A9D8060E}"/>
              </a:ext>
            </a:extLst>
          </p:cNvPr>
          <p:cNvSpPr txBox="1"/>
          <p:nvPr/>
        </p:nvSpPr>
        <p:spPr>
          <a:xfrm>
            <a:off x="1256386" y="62705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문서 </a:t>
            </a:r>
            <a:r>
              <a:rPr lang="en-US" sz="1800" b="1" dirty="0" err="1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작성·보관</a:t>
            </a:r>
            <a:endParaRPr lang="en-US" sz="1800" b="1" dirty="0">
              <a:solidFill>
                <a:srgbClr val="0000FF"/>
              </a:solidFill>
            </a:endParaRPr>
          </a:p>
        </p:txBody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36258282-6738-4A62-AAEE-7E9BB1BF5D29}"/>
              </a:ext>
            </a:extLst>
          </p:cNvPr>
          <p:cNvSpPr txBox="1"/>
          <p:nvPr/>
        </p:nvSpPr>
        <p:spPr>
          <a:xfrm>
            <a:off x="1256386" y="6719011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⑥ 위원회 심의사항 이행</a:t>
            </a:r>
            <a:endParaRPr lang="en-US" sz="1800" b="1" dirty="0">
              <a:solidFill>
                <a:srgbClr val="0000FF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(4-8) 제35조 고영향AI 영향평가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쓰기 전에 미리 물어보는 절차, 그러나 노력의무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영향평가의 구조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사업자는 기본권 영향을 사전평가하도록 '노력'하여야 함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인공지능취약계층 특성이 반영되도록 설계(2026.1.20 개정)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국가기관등은 영향평가 실시 제품·서비스를 우선 고려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제3자 위탁을 통한 평가도 가능(시행령 위임)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 영향평가와 비교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개인정보보호법의 개인정보 영향평가(의무)와 달리 노력의무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평가항목·방법 등 세부사항은 시행령에 위임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국가기관 우선고려 조항이 사실상의 유인장치로 작동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기본권 영향평가라는 틀 자체는 해외 AIA(알고리즘 영향평가) 논의와 궤를 같이함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'노력의무'로 설계된 영향평가가 개인정보 영향평가처럼 사실상 의무화될 필요는 없는가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국가기관 우선고려만으로 민간시장의 영향평가 확산을 견인할 수 있는가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제3자 위탁평가 시장이 형성될 경우 평가기관의 독립성·품질관리 문제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캐나다 AIA, 뉴욕시 AEDT 감사의무 등과 비교한 이행강제력 차이 연구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23/45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(4-9) 제36조 국내대리인 지정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국경 밖 사업자를 국경 안으로 데려오는 장치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지정 의무와 대상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주소·영업소가 없고 이용자수·매출액 등 기준 이상인 사업자 대상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서면으로 국내대리인 지정 + 장관에게 신고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대상은 안전성 이행결과 제출, 고영향 확인요청, 책무이행 지원 등 3가지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국내대리인은 국내에 주소·영업소가 있는 자여야 함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역외적용의 실효성 장치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국내대리인의 위반행위는 지정 사업자가 한 것으로 간주(귀책 의제)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미지정 시 제43조에 따라 과태료 2천만원 이하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GDPR의 EU 대리인 제도와 유사한 역외적용 모델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기준(이용자수·매출액)의 구체적 수치는 시행령 제29조에 위임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과태료 2천만원이 글로벌 빅테크에게 실질적 억지력을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갖는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금액인가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국내대리인 제도의 실효성 확보 — 실제 지정·신고 이행률 추적 연구 필요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역외 사업자가 국내대리인을 형식적으로만 두고 실질 협조를 거부할 때의 대응수단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GDPR 대리인 제도의 집행 경험이 이 조항의 운영에 주는 시사점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24/45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(4-10) 의무 이행 흐름 한눈에 보기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개발사업자와 이용사업자, 같은 법을 다르게 진다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인공지능개발사업자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관점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 해당여부 사전검토(33조) → 안전성 자체판단(32조)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위험관리·설명·신뢰성 확보조치 수립(34조)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 5년 보관·게시, 영향평가 실시(34·35조)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국내대리인 지정 대상 여부 판단(36조, 해외사업자)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0000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인공지능이용사업자 · 이용자</a:t>
            </a: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관점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이용자 사전고지, 생성형 결과물 표시·딥페이크 고지(31조)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이용자 보호조치 수립·운영(34조 준용)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개발사업자 조치를 그대로 이용하면 별도 의무 면제 가능(27조③)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위반 시 시정명령 → 미이행하면 과태료(40·43조)로 귀결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개발자-배포자(이용사업자) 책임분담이 실제 공급망에서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명확히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구분되는가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면제요건(개발사업자 조치 활용)을 이용사업자가 검증할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수단이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AI모델이 여러 이용사업자를 거칠 때 의무이행의 연쇄적 공백 가능성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흐름도를 실제 기업 컴플라이언스 체크리스트로 변환하는 후속 연구 필요성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25/45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(5-1) 제37~39조 재원확충 · 실태조사 · 권한위임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법을 굴리는 돈과 정보, 그리고 위임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재원과 실태조사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제37조: 인공지능산업 진흥을 위한 재원의 확충 등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제38조: 실태조사, 통계 및 지표의 작성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매년 산업 현황을 조사해 정책 근거자료로 활용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재원 조성 방식(기금·출연 등)은 별도 법령과 연계 소지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권한위임·업무위탁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제39조: 권한의 위임 및 업무의 위탁 근거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정책센터·안전연구소 등에 실무를 위탁하는 법적 근거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위탁받은 기관의 업무수행에 대한 감독책임은 원 행정청에 잔존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제31조: 업무위탁의 구체적 범위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실태조사 통계가 정책효과 검증에 실제로 활용되는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환류구조가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업무위탁이 늘어날수록 책임소재가 흐려지는 '책임의 파편화' 문제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재원확충 조항의 구체성이 낮아 예산 뒷받침 없는 선언에 그칠 위험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실태조사 항목이 산업계가 원하는 데이터와 정책이 필요한 데이터를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모두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포괄하는가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26/45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(5-2) 제40~41조 사실조사 · 공무원 의제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법을 집행하는 손 — 조사권과 청렴의무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사실조사 등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제40조: 법 위반 의심 시 사실조사를 실시할 수 있는 근거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결과에 따라 시정명령·중지명령 발동 가능(제40조③)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시정명령 미이행은 제43조 과태료로 연결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 거부·방해에 대한 별도 제재조항은 이 법에 명시되지 않음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벌칙 적용에서 공무원 의제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제41조: 위탁업무 종사자를 벌칙 적용 시 공무원으로 의제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뇌물죄 등 형법상 공무원 관련 규정을 위탁기관 종사자에도 적용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민간위탁 확대에 따른 청렴성 담보장치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정책센터·안전연구소 직원 등이 주 적용대상으로 예상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조사거부·방해에 대한 명시적 제재가 없다는 것이 조사권의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실효성을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약화시키는가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공무원 의제 조항이 실제 위탁기관 종사자의 행동에 억지효과를 갖는지 실증 필요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시정명령 → 과태료로 이어지는 제재 사슬이 중대 위반에 비해 지나치게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약하지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않은가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행정조사기본법 등 일반법과 이 조의 사실조사 절차의 정합성 검토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27/45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(5-3) 제42~43조 벌칙 · 과태료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6장 두 개 조문에 담긴, 이 법의 제재 수준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벌칙(제42조)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적용대상은 단 하나 — 위원회 직무상 비밀누설·목적외 사용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이하 징역 또는 3천만원 이하 벌금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실체적 의무(안전성·투명성 등) 위반에는 형사처벌 규정이 없음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형벌은 오직 '위원회 운영의 청렴성'을 지키는 데 집중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과태료(제43조)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투명성 고지 위반(31조①), 국내대리인 미지정(36조①)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시정·중지명령 불이행(40조③) — 3가지 사유, 3천만원 이하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부과·징수 권한은 과학기술정보통신부장관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안전성확보의무(32조)·영향평가(35조) 위반은 벌칙·과태료 모두 없음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실체적 안전의무 위반에 형사처벌은 물론 과태료조차 없는 설계 — 왜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설계됐는가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Act(매출액 대비 %) 방식과 비교해 정액 과태료(3천만원)의 억지력 논쟁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'노력의무' 조항이 많은 것과 제재조항이 얇은 것 사이의 구조적 연관성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차기 개정에서 형사처벌·과징금이 도입된다면 어느 조문이 우선순위가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되어야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28/45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(6-1) </a:t>
            </a:r>
            <a:r>
              <a:rPr lang="en-US" sz="5000" b="1" kern="0" spc="-112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법률의 위임을 받아 대통령이 제정하는 하위규범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시행령의 법적 성격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국회가 만드는 법률과 달리 대통령이 제정하는 행정입법(대통령령)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법률의 위임 범위 안에서만 효력 — 위임 없는 사항은 규정 불가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국무회의 심의·법제처 심사를 거쳐 제정, 개정 절차는 법률보다 간이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정식명칭: 인공지능 발전과 신뢰 기반 조성 등에 관한 기본법 시행령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시행령 개요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33개조 체계, 대통령령 제36580호, 2026.8.20 시행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총칙→추진체계→기술산업발전→윤리신뢰성→보칙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법률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미러링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 시행일(2026.7.21)보다 약 한 달 늦게 시행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법이 정하지 않은 숫자·기준·절차를 구체화하는 것이 핵심 역할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시행령은 국회 의결 없이 개정 가능 — 신속성의 장점과 민주적 정당성 논쟁이 공존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법률의 위임 범위를 넘어선 '모법 초과' 조항이 있는지 조문별로 대조해볼 가치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 시행과 시행령 시행 사이 한 달의 공백기간 동안 법적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불확실성은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없었는가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제정 과정에서 산업계·시민사회 의견수렴이 어떻게 이뤄졌는지 절차적 정당성 추적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29/45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(6-2) 기본법 ↔ 시행령 매핑 개관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43개 조문, 46개 시행령 조문이 받쳐주는 구조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위임의 밀도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43개조 중 상당수가 '대통령령으로 정한다'는 위임 문구를 포함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특히 4장(윤리·신뢰성, 10개조)에 위임조항이 집중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시행령은 총 33개조 체계로 법 조문을 1:1 대응하지 않고 재구성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장별 대응관계·조문별 상세 위임내용은 HTML 자료에 전체 수록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 방식의 특징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기준(연산량 임계치, 지원대상 등)을 시행령·고시 2단계로 위임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법률엔 원칙만, 숫자·절차는 시행령·고시가 채우는 위임입법 구조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고시는 법제처 심사를 거치지 않아 상대적으로 빠르게 개정 가능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유연성이 장점이자 예측가능성 저하라는 단점의 원인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위임입법이 4장에 집중된 것이 '핵심 규제를 국회 밖에서 결정한다'는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비판으로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이어지는가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시행령·고시로 자주 바뀌는 기준이 사업자의 컴플라이언스 비용을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늘리는가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법률유보 원칙 관점에서 이 정도의 위임 밀도가 헌법적으로 문제없는지 검토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위임입법 남용을 막기 위한 국회의 사후통제 수단(법제처 심사 외) 필요성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30/45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(6-3) 장별 대응관계 상세(1) — 총칙~산업발전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 1~26조가 시행령 몇 개 조문과 짝을 이루는가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총칙 · 추진체계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총칙(법 1~5조) ↔ 시행령 1~2조: 취약계층 범위·적용제외 AI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추진체계(법 6~12조, 7개조) ↔ 시행령 3~10조(8개조)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위원회 구성·운영 세칙이 이 구간 시행령 비중의 상당 부분을 차지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법보다 시행령 조문 수가 더 많은 첫 구간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· 산업발전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산업발전(법 13~26조, 14개조) ↔ 시행령 11~20조(10개조)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학습데이터·중소기업지원·창업 등 지원사업 요건이 여기 집중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 22조의2·22조의3(연구소·연구기관)은 시행령 16조의2~16조의4가 절차 세분화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지원액수·선정기준 등 구체 숫자는 시행령에도 없고 별도 고시·공고로 재위임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위원회 운영세칙처럼 절차적 사항이 시행령 분량의 다수를 차지하는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것이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정상적인가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지원사업 숫자가 시행령에도 없이 고시·공고로 또 위임되는 '3단 위임'의 문제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산업발전 장의 시행령 대응비율(14:10)이 다른 장과 다른 이유를 구조적으로 분석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연구소 설립허가 절차(시행령 16조의2~4)의 재량범위를 조문 원문으로 직접 확인해볼 것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31/45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(6-4) 장별 대응관계 상세(2) — 윤리신뢰성~벌칙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위임이 가장 촘촘한 구간과 가장 성긴 구간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 · 신뢰성 확보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윤리신뢰성(법 27~36조, 10개조) ↔ 시행령 21~29조(9개조)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윤리원칙 제정절차·검인증지원·투명성·안전성 방법이 모두 이 구간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 확인절차 + 전문위원회 운영이 시행령 25·26조에 함께 규정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법-시행령 매핑 비중이 6개 장 중 가장 높은 구간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보칙 · 벌칙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보칙(법 37~41조, 5개조) ↔ 시행령 30~31조(2개조: 실태조사·업무위탁)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벌칙(법 42~43조, 2개조) ↔ 시행령 32~33조(과태료 부과기준·규제 재검토)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재원확충(37조)은 시행령에 대응조문이 없음 — 선언에 그칠 가능성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33조는 3년마다 규제를 재검토하는 일반적 재검토 조항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 비중이 가장 높은 4장과 가장 낮은 5장의 격차가 시사하는 입법 우선순위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재원확충 조항처럼 시행령 대응이 없는 조문은 실제로 어떻게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집행되고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3년 주기 규제 재검토(시행령33조)가 실제 개정으로 이어진 사례가 있는지 추적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장별 위임 밀도 데이터를 직접 표로 만들어 논문의 실증 근거로 활용하는 방법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32/45</a:t>
            </a:r>
            <a:endParaRPr lang="en-US"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(6-5) 시행령 핵심 위임사항 예시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 조문 하나가 시행령 여러 조문으로 펼쳐지는 방식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사례 (1)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제32조 안전성확보의무 → 시행령 제24조: 누적연산량 기준·이행방식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제33조 고영향 확인 → 시행령 제25조: 확인절차·전문위원회 운영(제26조)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제31조 투명성 → 시행령 제23조: 고지·표시 방법 및 적용예외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제6조 기본계획 → 시행령 제3조: 수립절차·포함사항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대표 사례 (2)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제35조 영향평가 → 시행령 제28조: 평가항목·제3자 위탁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제36조 국내대리인 → 시행령 제29조: 지정기준(이용자수·매출액)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제43조 과태료 → 시행령 제32조: 별표에 따른 부과기준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예시들의 항ㆍ호 단위 전체 대응표는 HTML 자료 참고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조문번호가 법 조문번호와 순서대로 대응하지 않는 이유(재구성 방식) 분석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'별표'로 위임된 과태료 부과기준의 재량폭이 실제로 얼마나 좁게/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넓게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운용되는가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누적연산량 같은 핵심 기준이 시행령보다 더 아래인 '고시'로 재위임된 것의 문제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법 개정시 조문번호 정합성을 어떻게 관리할 것인가(입법기술적 쟁점)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33/45</a:t>
            </a:r>
            <a:endParaRPr lang="en-US"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11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8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(6-6) 절차구조도로 보는 의무 이행 흐름</a:t>
            </a:r>
            <a:endParaRPr lang="en-US" sz="5000" dirty="0"/>
          </a:p>
        </p:txBody>
      </p:sp>
      <p:pic>
        <p:nvPicPr>
          <p:cNvPr id="40" name="Diagram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2635" y="2023280"/>
            <a:ext cx="16597065" cy="5693605"/>
          </a:xfrm>
          <a:prstGeom prst="rect">
            <a:avLst/>
          </a:prstGeom>
          <a:ln w="12700">
            <a:solidFill>
              <a:srgbClr val="D8D3C7"/>
            </a:solidFill>
          </a:ln>
        </p:spPr>
      </p:pic>
      <p:sp>
        <p:nvSpPr>
          <p:cNvPr id="10" name="Shape 5"/>
          <p:cNvSpPr/>
          <p:nvPr/>
        </p:nvSpPr>
        <p:spPr>
          <a:xfrm>
            <a:off x="952805" y="7779691"/>
            <a:ext cx="16383305" cy="1745614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61"/>
          <p:cNvSpPr txBox="1"/>
          <p:nvPr/>
        </p:nvSpPr>
        <p:spPr>
          <a:xfrm>
            <a:off x="1333195" y="8063923"/>
            <a:ext cx="15621610" cy="3995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정책·감독기관 / 개발사업자 / 이용사업자 / 이용자·영향받는자 / 평가·검증기관, 5개 </a:t>
            </a:r>
            <a:r>
              <a:rPr lang="en-US" sz="1800" kern="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주체</a:t>
            </a:r>
            <a:r>
              <a:rPr lang="ko-KR" alt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구분</a:t>
            </a:r>
            <a:endParaRPr lang="en-US" sz="1800" dirty="0"/>
          </a:p>
        </p:txBody>
      </p:sp>
      <p:sp>
        <p:nvSpPr>
          <p:cNvPr id="62" name="Text 62"/>
          <p:cNvSpPr txBox="1"/>
          <p:nvPr/>
        </p:nvSpPr>
        <p:spPr>
          <a:xfrm>
            <a:off x="1333195" y="8463516"/>
            <a:ext cx="15621610" cy="3995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G0(고영향 판단)부터 G6(제재)까지 7단계 게이트가 하나의 순환 흐름을 이룸</a:t>
            </a:r>
            <a:endParaRPr lang="en-US" sz="1800" dirty="0"/>
          </a:p>
        </p:txBody>
      </p:sp>
      <p:sp>
        <p:nvSpPr>
          <p:cNvPr id="63" name="Text 63"/>
          <p:cNvSpPr txBox="1"/>
          <p:nvPr/>
        </p:nvSpPr>
        <p:spPr>
          <a:xfrm>
            <a:off x="1333195" y="8863109"/>
            <a:ext cx="15621610" cy="39959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kern="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자신의 연구주제가 이 지도의 어느 박스(P01~P22)에서 출발하는지 표시해보는 것도 좋은 연습</a:t>
            </a:r>
            <a:endParaRPr lang="en-US" sz="1800" dirty="0"/>
          </a:p>
        </p:txBody>
      </p:sp>
      <p:sp>
        <p:nvSpPr>
          <p:cNvPr id="38" name="Text 38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 kern="0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34/45</a:t>
            </a:r>
            <a:endParaRPr lang="en-US" sz="1800" dirty="0"/>
          </a:p>
        </p:txBody>
      </p:sp>
      <p:sp>
        <p:nvSpPr>
          <p:cNvPr id="20" name="Text 50">
            <a:extLst>
              <a:ext uri="{FF2B5EF4-FFF2-40B4-BE49-F238E27FC236}">
                <a16:creationId xmlns:a16="http://schemas.microsoft.com/office/drawing/2014/main" id="{0BAE0C05-1E55-4A52-B6A6-6D176C3F0985}"/>
              </a:ext>
            </a:extLst>
          </p:cNvPr>
          <p:cNvSpPr txBox="1"/>
          <p:nvPr/>
        </p:nvSpPr>
        <p:spPr>
          <a:xfrm>
            <a:off x="842635" y="7474930"/>
            <a:ext cx="16383305" cy="25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200" kern="0" dirty="0">
                <a:solidFill>
                  <a:srgbClr val="7A756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AILawMap(yangguibee.github.io/AILawMap) · 편집 관점의 절차구조도이며 법령상 공식 분류가 아님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(6-7) 기본법 vs EU AI Act (1) — 규제 철학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사후 자율 대응 vs 사전 위험 분류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인공지능기본법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진흥과 규제를 한 법에 통합한 '기본법'형 입법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 AI 개념은 있으나 위험단계를 세분화하지 않음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다수 조항이 '노력의무' — 연성규범 중심 설계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인허가 없이 사후 확인·시정 중심의 대응형 규제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금지-고위험-제한위험-최소위험 4단계 위험 피라미드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고위험 AI는 시장출시 전 적합성평가(제3자 인증 포함)를 요구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위반시 전세계 매출액 대비 최대 7%의 과징금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역외적용·시장감시청 등 집행체계가 촘촘하게 법제화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진흥과 규제를 한 법에 담은 우리 방식이 실제로 규제 포획(진흥 논리의 규제 완화)을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낳는가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위험단계를 세분화하지 않은 것이 향후 기술발전에 유연한 것인지 규제공백인지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노력의무 중심 설계가 EU식 강행규정 대비 산업발전엔 유리하고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신뢰확보엔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불리한가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체제가 상호인정협정(MRA)을 맺는다면 어느 조항부터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정합화해야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35/45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(6-8) 기본법 vs EU AI Act (2) — 의무 · 제재 · 역외적용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숫자로 보면 더 선명해지는 차이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 수준 비교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투명성(딥페이크 고지)은 양측 모두 명문화 — 접근은 유사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안전성확보의무: 한국은 '제출'만, EU는 문서화된 품질경영시스템 요구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영향평가: 한국은 노력의무, EU는 기본권영향평가가 사실상 의무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국내대리인: 양측 모두 존재(한국 36조 / EU 역내대리인)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제재·집행 비교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 최고 제재: 과태료 3천만원(정액) — 벌칙은 위원회 비밀누설에 한정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최고 제재: 매출액 연동 과징금(최대 3,500만유로 또는 매출 7%)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한국: 사실조사+시정명령 / EU: 시장감시청의 강제 리콜·판매중지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억지력 격차가 이번 강의의 핵심 소논문 소재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정액 과태료와 매출연동 과징금 중 한국 산업 특성(중소기업 비중)에 맞는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무엇인가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제재 수준을 EU식으로 높이면 국내 스타트업 생태계에 미칠 위축효과를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상쇄하는가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역외적용 집행력(실제 해외기업 제재 사례)을 두 체제에서 비교하는 실증연구 필요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차기 개정 논의에서 '단계적 제재 강화' 로드맵을 설계한다면 어떤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순서가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합리적인가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36/45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(6-9) 기본법 vs EU AI Act (3) — 거버넌스 체계 비교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컨트롤타워를 누가, 어떻게 구성하는가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국가인공지능전략위원회(대통령 소속) — 정책 심의·의결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인공지능정책센터 — 실무 지원 전담기관 지정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인공지능안전연구소 — 안전성 평가·기술지원('지원' 기능 중심)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민간자율인공지능윤리위원회 — 기업·연구기관 자율 설치(임의)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Office(집행위 산하) — 범용AI 모델 등 EU 전역 집행 총괄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European AI Board — 회원국 대표로 구성된 조정기구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회원국 시장감시당국 — 강제 집행권(리콜·판매중지 등) 보유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과학패널·자문포럼을 별도 자문기구로 운영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한국은 '지원'형 거버넌스, EU는 '집행'형 거버넌스 — 이 차이가 실제 규제효과에 미치는 영향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Office 같은 초국가 집행기구가 없는 한국에서 국내외 플랫폼 간 형평성은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확보되는가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위원회의 대통령 소속(한국)과 회원국 대표제(EU Board)의 정당성 기반 차이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거버넌스 기구의 예산·인력 규모를 실제로 비교하는 실증연구의 필요성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37/45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(6-10) 기본법 vs EU AI Act (4) — 이용자 보호·권리구제 비교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피해를 입은 사람은 어디로 가는가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제3조②: 주요 기준·원리를 설명받을 권리(선언적 원칙)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제3조제2항: 설명요구·이의 제기 규정(절차구조도 P22)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별도의 AI 전담 피해구제 기구는 없음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사실조사(40조)·과태료(43조)가 사실상 유일한 사후 수단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제86조: 고위험 AI의 개별 결정에 대한 설명을 받을 권리(명문화)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회원국별 불만 제기 절차 및 시장감시당국 신고 체계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제품책임지침 개정과 연계해 손해배상 청구 경로 정비 중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시장감시당국의 리콜·판매중지 명령이 곧 소비자 보호 수단으로 기능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한국의 '설명받을 권리'가 실제 소송에서 인용된 판례가 아직 없다는 점의 함의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피해구제 전담 창구(옴부즈만 등) 신설 필요성에 대한 검토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제품책임지침 개정 논의가 한국 제조물책임법 개정 논의에 주는 시사점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권리구제 접근성(비용·기간)을 두 체제에서 비교하는 실증연구 설계 방향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38/45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(6-11) 인공지능기본법의 특징과 한계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 최초 '포괄적 AI 기본법'이라는 타이틀의 명암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 (강점)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진흥·안전·윤리를 한 법에 담은 세계 최초급 포괄적 입법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고영향AI라는 자체 개념으로 위험영역을 유형화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국내대리인 제도로 역외 플랫폼 사업자까지 규율범위 확장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위원회-정책센터-안전연구소로 이어지는 거버넌스 체계 구축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의무 다수가 노력의무 — 이행강제력이 약함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제재조항이 협소(위원회 비밀누설만 형벌, 과태료도 3가지뿐)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위임입법 밀도가 높아 실제 규제강도가 시행령·고시에 좌우됨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AGI·초거대AI 등 최신 위험 프레임을 정면으로 다루지 않음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'세계 최초 포괄적 AI기본법'이라는 수사와 실제 이행강제력 사이의 간극을 실증하는 연구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노력의무 중심 설계가 '연착륙 전략'인지 '규제 회피'인지 정책의도 분석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제재 협소성을 다음 개정에서 어떤 순서로 보완해야 하는지 우선순위 연구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포괄적 기본법 모델이 다른 국가(예: 아세안, 중남미)에 참고모델로 수출될 가능성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39/45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(6-12) 향후 개선 사항 및 발전 방향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 이후 개정 논의가 향할 지점들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단기 개선 과제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안전성·영향평가 노력의무의 단계적 의무화 로드맵 마련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제재조항(벌칙·과태료) 확대 및 매출연동 과징금 도입 검토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시행령·고시 잦은 개정에 대비한 사업자 예측가능성 보완장치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 인공지능 확인결과 공개범위 확대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중장기 발전 방향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위험기반 분류체계(EU식 단계화)의 부분적 도입 검토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 상호인정(검·인증, 영향평가)을 통한 기업 이중부담 완화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안전연구소의 권한을 '지원'에서 '평가·인증'으로 확대하는 방안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관련법 전체(지능정보화기본법 등)와의 정합성 재정비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노력의무의 단계적 의무화가 산업계 수용성을 확보하려면 어떤 유예기간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적절한가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위험기반 분류를 부분 도입할 경우 기존 '고영향' 개념과의 충돌을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정리하는가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 상호인정 체계 구축을 위해 한국이 먼저 갖춰야 할 제도적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선행조건은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무엇인가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발전방향 논의에 시민사회·영향받는자 목소리가 얼마나 반영되고 있는지 절차적 평가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40/45</a:t>
            </a:r>
            <a:endParaRPr lang="en-US" sz="18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952805" y="7647127"/>
            <a:ext cx="16383305" cy="1878178"/>
          </a:xfrm>
          <a:prstGeom prst="rect">
            <a:avLst/>
          </a:prstGeom>
          <a:solidFill>
            <a:srgbClr val="FCE8F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(6-13) AGI · ASI 대비 측면에서의 한계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지금의 법이 다루지 못하는 다음 단계의 위험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현행법의 사각지대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고영향AI 정의는 '특정 영역 활용' 전제 — 범용AI엔 적용 곤란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누적연산량 기준은 초거대 모델 등장 속도를 따라가기 어려운 정적 기준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간 AGI 안전조약 등 국제규범과 연동할 명시적 근거 부재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재귀적 자기개선, 통제상실 시나리오 등은 조문상 상정되지 않음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국제 논의와의 격차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서울선언·영국/한국 AI안전정상회의 후속 국제공조와의 법적 연결고리 미비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미국·영국의 프론티어 모델 자율 안전서약과 같은 유연한 보완장치 부재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안전연구소의 권한이 국제 공동평가에 참여할 만큼 확대되어 있지 않음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급속한 발전에 대응하려면 상시 개정이 가능한 유연 조항 설계가 필요</a:t>
            </a:r>
            <a:endParaRPr lang="en-US" sz="1800" dirty="0"/>
          </a:p>
        </p:txBody>
      </p:sp>
      <p:sp>
        <p:nvSpPr>
          <p:cNvPr id="34" name="Text 29"/>
          <p:cNvSpPr txBox="1"/>
          <p:nvPr/>
        </p:nvSpPr>
        <p:spPr>
          <a:xfrm>
            <a:off x="1333195" y="7864591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'특정 영역 활용'을 전제로 한 고영향 정의가 범용AI·에이전트 시대에도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유효한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틀인가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5" name="Text 30"/>
          <p:cNvSpPr txBox="1"/>
          <p:nvPr/>
        </p:nvSpPr>
        <p:spPr>
          <a:xfrm>
            <a:off x="1333195" y="826418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연산량 임계치가 알고리즘 효율화로 무력화될 경우 대체 기준은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무엇이어야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6" name="Text 31"/>
          <p:cNvSpPr txBox="1"/>
          <p:nvPr/>
        </p:nvSpPr>
        <p:spPr>
          <a:xfrm>
            <a:off x="1333195" y="8666064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AGI 안전을 다루는 국제조약이 등장할 경우 국내법 개정은 어떤 형식(비준·이행법)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이어야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하는가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?</a:t>
            </a:r>
            <a:endParaRPr lang="en-US" sz="1800" dirty="0"/>
          </a:p>
        </p:txBody>
      </p:sp>
      <p:sp>
        <p:nvSpPr>
          <p:cNvPr id="37" name="Text 32"/>
          <p:cNvSpPr txBox="1"/>
          <p:nvPr/>
        </p:nvSpPr>
        <p:spPr>
          <a:xfrm>
            <a:off x="1333195" y="9065657"/>
            <a:ext cx="156216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안전연구소를 서울선언 후속 국제 네트워크의 정식 파트너로 격상하기 위한 법적 근거 설계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41/45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5000" b="1" kern="0" spc="-112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</a:t>
            </a:r>
            <a:r>
              <a:rPr lang="en-US" altLang="ko-KR" sz="5000" b="1" kern="0" spc="-112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5000" b="1" kern="0" spc="-112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공공조직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11838306" y="1774613"/>
            <a:ext cx="5891748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국가 컨트롤타워부터 실행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연구기관까지 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2026.9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42/45</a:t>
            </a:r>
            <a:endParaRPr lang="en-US" sz="18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B38203C-1184-4953-B7C1-A29D50CB43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0262649"/>
              </p:ext>
            </p:extLst>
          </p:nvPr>
        </p:nvGraphicFramePr>
        <p:xfrm>
          <a:off x="642608" y="2203381"/>
          <a:ext cx="16986487" cy="74930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9265">
                  <a:extLst>
                    <a:ext uri="{9D8B030D-6E8A-4147-A177-3AD203B41FA5}">
                      <a16:colId xmlns:a16="http://schemas.microsoft.com/office/drawing/2014/main" val="3746980074"/>
                    </a:ext>
                  </a:extLst>
                </a:gridCol>
                <a:gridCol w="4558245">
                  <a:extLst>
                    <a:ext uri="{9D8B030D-6E8A-4147-A177-3AD203B41FA5}">
                      <a16:colId xmlns:a16="http://schemas.microsoft.com/office/drawing/2014/main" val="3438151128"/>
                    </a:ext>
                  </a:extLst>
                </a:gridCol>
                <a:gridCol w="2716306">
                  <a:extLst>
                    <a:ext uri="{9D8B030D-6E8A-4147-A177-3AD203B41FA5}">
                      <a16:colId xmlns:a16="http://schemas.microsoft.com/office/drawing/2014/main" val="591018066"/>
                    </a:ext>
                  </a:extLst>
                </a:gridCol>
                <a:gridCol w="3119717">
                  <a:extLst>
                    <a:ext uri="{9D8B030D-6E8A-4147-A177-3AD203B41FA5}">
                      <a16:colId xmlns:a16="http://schemas.microsoft.com/office/drawing/2014/main" val="2442098664"/>
                    </a:ext>
                  </a:extLst>
                </a:gridCol>
                <a:gridCol w="3761138">
                  <a:extLst>
                    <a:ext uri="{9D8B030D-6E8A-4147-A177-3AD203B41FA5}">
                      <a16:colId xmlns:a16="http://schemas.microsoft.com/office/drawing/2014/main" val="2953851604"/>
                    </a:ext>
                  </a:extLst>
                </a:gridCol>
                <a:gridCol w="1711816">
                  <a:extLst>
                    <a:ext uri="{9D8B030D-6E8A-4147-A177-3AD203B41FA5}">
                      <a16:colId xmlns:a16="http://schemas.microsoft.com/office/drawing/2014/main" val="3520878910"/>
                    </a:ext>
                  </a:extLst>
                </a:gridCol>
              </a:tblGrid>
              <a:tr h="681182"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</a:pP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구분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</a:pPr>
                      <a:r>
                        <a:rPr lang="ko-KR" altLang="en-US" sz="18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조직명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</a:pPr>
                      <a:r>
                        <a:rPr lang="ko-KR" altLang="en-US" sz="18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설립일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</a:pP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소속</a:t>
                      </a:r>
                      <a:r>
                        <a:rPr lang="en-US" altLang="ko-KR" sz="1800" b="1" dirty="0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800" b="1" dirty="0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성격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</a:pPr>
                      <a:r>
                        <a:rPr lang="ko-KR" altLang="en-US" sz="18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주요 역할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</a:pPr>
                      <a:r>
                        <a:rPr lang="ko-KR" altLang="en-US" sz="18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홈페이지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4796631"/>
                  </a:ext>
                </a:extLst>
              </a:tr>
              <a:tr h="681182">
                <a:tc rowSpan="2"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최상위 정책조정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1" dirty="0" err="1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국가인공지능전략위원회</a:t>
                      </a:r>
                      <a:endParaRPr lang="ko-KR" altLang="en-US" sz="1800" b="1" dirty="0">
                        <a:solidFill>
                          <a:srgbClr val="0000FF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2024.09~2030.09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대통령 직속 민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관합동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AI 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최상위 정책 총괄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심의기구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aikorea.go.kr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030003"/>
                  </a:ext>
                </a:extLst>
              </a:tr>
              <a:tr h="681182"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최상위 정책조정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1" dirty="0" err="1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디지털플랫폼정부위원회</a:t>
                      </a:r>
                      <a:r>
                        <a:rPr lang="en-US" altLang="ko-KR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800" b="1" dirty="0" err="1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디플정</a:t>
                      </a:r>
                      <a:r>
                        <a:rPr lang="en-US" altLang="ko-KR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800" b="1" dirty="0">
                        <a:solidFill>
                          <a:srgbClr val="0000FF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2022.09~2027.06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대통령 직속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AI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기반 디지털정부 혁신 추진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dpg.go.kr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9374050"/>
                  </a:ext>
                </a:extLst>
              </a:tr>
              <a:tr h="681182"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대통령실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AI</a:t>
                      </a:r>
                      <a:r>
                        <a:rPr lang="ko-KR" altLang="en-US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미래기획수석실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2025.06.15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대통령실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대통령실 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AI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정책 기획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조정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-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8014278"/>
                  </a:ext>
                </a:extLst>
              </a:tr>
              <a:tr h="681182"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중앙행정부처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1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과기정통부</a:t>
                      </a:r>
                      <a:r>
                        <a:rPr lang="en-US" altLang="ko-KR" sz="1800" b="1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800" b="1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인공지능정책실</a:t>
                      </a:r>
                      <a:r>
                        <a:rPr lang="en-US" altLang="ko-KR" sz="1800" b="1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800" b="1">
                        <a:solidFill>
                          <a:srgbClr val="0000FF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2017.07 (2025.09 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개편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중앙행정기관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부총리급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AI 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법제도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·R&amp;D·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산업육성 총괄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msit.go.kr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58838"/>
                  </a:ext>
                </a:extLst>
              </a:tr>
              <a:tr h="681182">
                <a:tc rowSpan="2"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R&amp;D 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전담기관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정보통신기획평가원</a:t>
                      </a:r>
                      <a:r>
                        <a:rPr lang="en-US" altLang="ko-KR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(IITP)</a:t>
                      </a:r>
                      <a:endParaRPr lang="ko-KR" altLang="en-US" sz="1800" b="1" dirty="0">
                        <a:solidFill>
                          <a:srgbClr val="0000FF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2014.04.01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과기정통부 산하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ICT·AI R&amp;D 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기획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평가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관리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iitp.kr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339130"/>
                  </a:ext>
                </a:extLst>
              </a:tr>
              <a:tr h="681182"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R&amp;D 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전담기관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AI</a:t>
                      </a:r>
                      <a:r>
                        <a:rPr lang="ko-KR" altLang="en-US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안전연구소</a:t>
                      </a:r>
                      <a:r>
                        <a:rPr lang="en-US" altLang="ko-KR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(Korea AISI)</a:t>
                      </a:r>
                      <a:endParaRPr lang="ko-KR" altLang="en-US" sz="1800" b="1" dirty="0">
                        <a:solidFill>
                          <a:srgbClr val="0000FF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2024.11.27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과기정통부 주도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(ETRI)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AI 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안전성 평가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검인증 지원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aisi.re.kr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6881204"/>
                  </a:ext>
                </a:extLst>
              </a:tr>
              <a:tr h="681182">
                <a:tc rowSpan="2"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정책연구기관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정보통신정책연구원</a:t>
                      </a:r>
                      <a:r>
                        <a:rPr lang="en-US" altLang="ko-KR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(KISDI)</a:t>
                      </a:r>
                      <a:endParaRPr lang="ko-KR" altLang="en-US" sz="1800" b="1" dirty="0">
                        <a:solidFill>
                          <a:srgbClr val="0000FF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1985.02 (1988 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출범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과기정통부 산하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AI 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정책연구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자문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kisdi.re.kr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210905"/>
                  </a:ext>
                </a:extLst>
              </a:tr>
              <a:tr h="681182"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정책연구기관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소프트웨어정책연구소</a:t>
                      </a:r>
                      <a:r>
                        <a:rPr lang="en-US" altLang="ko-KR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(</a:t>
                      </a:r>
                      <a:r>
                        <a:rPr lang="en-US" altLang="ko-KR" sz="1800" b="1" dirty="0" err="1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SPRi</a:t>
                      </a:r>
                      <a:r>
                        <a:rPr lang="en-US" altLang="ko-KR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800" b="1" dirty="0">
                        <a:solidFill>
                          <a:srgbClr val="0000FF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2013.12.16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과기정통부 산하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AI 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산업정책 연구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spri.kr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3994484"/>
                  </a:ext>
                </a:extLst>
              </a:tr>
              <a:tr h="681182"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실행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진흥기관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1" dirty="0" err="1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한국지능정보사회진흥원</a:t>
                      </a:r>
                      <a:r>
                        <a:rPr lang="en-US" altLang="ko-KR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(NIA)</a:t>
                      </a:r>
                      <a:endParaRPr lang="ko-KR" altLang="en-US" sz="1800" b="1" dirty="0">
                        <a:solidFill>
                          <a:srgbClr val="0000FF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1987.01 (2020 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개칭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과기정통부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행안부 공동관리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 dirty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국가 디지털대전환 실행</a:t>
                      </a:r>
                      <a:endParaRPr lang="en-US" altLang="ko-KR" sz="1800" b="0" dirty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(2026.9 AI</a:t>
                      </a:r>
                      <a:r>
                        <a:rPr lang="ko-KR" altLang="en-US" sz="1800" b="0" dirty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정부기반본부 격상</a:t>
                      </a: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800" b="0" dirty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nia.or.kr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6205034"/>
                  </a:ext>
                </a:extLst>
              </a:tr>
              <a:tr h="681182"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 dirty="0" err="1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범부처</a:t>
                      </a:r>
                      <a:r>
                        <a:rPr lang="ko-KR" altLang="en-US" sz="1800" b="0" dirty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 협력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AI</a:t>
                      </a:r>
                      <a:r>
                        <a:rPr lang="ko-KR" altLang="en-US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정부 인프라 거버넌스</a:t>
                      </a:r>
                      <a:r>
                        <a:rPr lang="en-US" altLang="ko-KR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혁신 </a:t>
                      </a:r>
                      <a:r>
                        <a:rPr lang="ko-KR" altLang="en-US" sz="1800" b="1" dirty="0" err="1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추진단</a:t>
                      </a:r>
                      <a:r>
                        <a:rPr lang="en-US" altLang="ko-KR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가칭</a:t>
                      </a:r>
                      <a:r>
                        <a:rPr lang="en-US" altLang="ko-KR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800" b="1" dirty="0">
                        <a:solidFill>
                          <a:srgbClr val="0000FF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2026.02.25 </a:t>
                      </a:r>
                      <a:r>
                        <a:rPr lang="ko-KR" altLang="en-US" sz="1800" b="0" dirty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의결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과기부총리 산하 관계부처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범부처 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AI 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인프라 통합관리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-</a:t>
                      </a:r>
                      <a:endParaRPr lang="ko-KR" altLang="en-US" sz="1800" b="0" dirty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2779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126198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5000" b="1" kern="0" spc="-112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 </a:t>
            </a:r>
            <a:r>
              <a:rPr lang="en-US" altLang="ko-KR" sz="5000" b="1" kern="0" spc="-112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</a:t>
            </a:r>
            <a:r>
              <a:rPr lang="ko-KR" altLang="en-US" sz="5000" b="1" kern="0" spc="-112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민간조직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12692087" y="1695297"/>
            <a:ext cx="5152160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법정협회부터 학술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윤리단체까지 </a:t>
            </a:r>
            <a:r>
              <a:rPr lang="en-US" altLang="ko-KR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2026.9 </a:t>
            </a:r>
            <a:r>
              <a:rPr lang="ko-KR" alt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기준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43/45</a:t>
            </a:r>
            <a:endParaRPr lang="en-US" sz="1800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E94D9255-97C7-40F0-8845-DCF0602C2A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7647539"/>
              </p:ext>
            </p:extLst>
          </p:nvPr>
        </p:nvGraphicFramePr>
        <p:xfrm>
          <a:off x="403412" y="2144520"/>
          <a:ext cx="17413941" cy="74930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7129">
                  <a:extLst>
                    <a:ext uri="{9D8B030D-6E8A-4147-A177-3AD203B41FA5}">
                      <a16:colId xmlns:a16="http://schemas.microsoft.com/office/drawing/2014/main" val="2794404897"/>
                    </a:ext>
                  </a:extLst>
                </a:gridCol>
                <a:gridCol w="4450977">
                  <a:extLst>
                    <a:ext uri="{9D8B030D-6E8A-4147-A177-3AD203B41FA5}">
                      <a16:colId xmlns:a16="http://schemas.microsoft.com/office/drawing/2014/main" val="1913114485"/>
                    </a:ext>
                  </a:extLst>
                </a:gridCol>
                <a:gridCol w="2729753">
                  <a:extLst>
                    <a:ext uri="{9D8B030D-6E8A-4147-A177-3AD203B41FA5}">
                      <a16:colId xmlns:a16="http://schemas.microsoft.com/office/drawing/2014/main" val="3144829289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583385897"/>
                    </a:ext>
                  </a:extLst>
                </a:gridCol>
                <a:gridCol w="4195482">
                  <a:extLst>
                    <a:ext uri="{9D8B030D-6E8A-4147-A177-3AD203B41FA5}">
                      <a16:colId xmlns:a16="http://schemas.microsoft.com/office/drawing/2014/main" val="306659433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4105864253"/>
                    </a:ext>
                  </a:extLst>
                </a:gridCol>
              </a:tblGrid>
              <a:tr h="832556"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</a:pPr>
                      <a:r>
                        <a:rPr lang="ko-KR" altLang="en-US" sz="18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구분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</a:pPr>
                      <a:r>
                        <a:rPr lang="ko-KR" altLang="en-US" sz="18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조직명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</a:pPr>
                      <a:r>
                        <a:rPr lang="ko-KR" altLang="en-US" sz="18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설립일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</a:pPr>
                      <a:r>
                        <a:rPr lang="ko-KR" altLang="en-US" sz="18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소속</a:t>
                      </a:r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/</a:t>
                      </a:r>
                      <a:r>
                        <a:rPr lang="ko-KR" altLang="en-US" sz="18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성격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</a:pPr>
                      <a:r>
                        <a:rPr lang="ko-KR" altLang="en-US" sz="18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주요 역할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95000"/>
                        </a:lnSpc>
                      </a:pPr>
                      <a:r>
                        <a:rPr lang="ko-KR" altLang="en-US" sz="18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홈페이지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036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796248"/>
                  </a:ext>
                </a:extLst>
              </a:tr>
              <a:tr h="832556"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 dirty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법정협회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한국인공지능</a:t>
                      </a:r>
                      <a:r>
                        <a:rPr lang="en-US" altLang="ko-KR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소프트웨어산업협회</a:t>
                      </a:r>
                      <a:r>
                        <a:rPr lang="en-US" altLang="ko-KR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(KOSA)</a:t>
                      </a:r>
                      <a:endParaRPr lang="ko-KR" altLang="en-US" sz="1800" b="1" dirty="0">
                        <a:solidFill>
                          <a:srgbClr val="0000FF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1988.04 (2025.05 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개명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법정단체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구 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KOSA)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SW·AI 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진흥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정책건의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(15,000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여 회원사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sw.or.kr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6886429"/>
                  </a:ext>
                </a:extLst>
              </a:tr>
              <a:tr h="832556">
                <a:tc rowSpan="4"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 dirty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산업협회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한국인공지능협회</a:t>
                      </a:r>
                      <a:r>
                        <a:rPr lang="en-US" altLang="ko-KR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(KORAIA)</a:t>
                      </a:r>
                      <a:endParaRPr lang="ko-KR" altLang="en-US" sz="1800" b="1" dirty="0">
                        <a:solidFill>
                          <a:srgbClr val="0000FF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2017.01.07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비영리 사단법인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AI 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인증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자격 운영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(1,000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여 회원사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koraia.org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783234"/>
                  </a:ext>
                </a:extLst>
              </a:tr>
              <a:tr h="832556"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산업협회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1" dirty="0" err="1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한국인공지능산업협회</a:t>
                      </a:r>
                      <a:r>
                        <a:rPr lang="en-US" altLang="ko-KR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(AIIA)</a:t>
                      </a:r>
                      <a:endParaRPr lang="ko-KR" altLang="en-US" sz="1800" b="1" dirty="0">
                        <a:solidFill>
                          <a:srgbClr val="0000FF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2016.12.16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비영리 사단법인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AI 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산업생태계 조성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(260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여 회원사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k-ai.or.kr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6314394"/>
                  </a:ext>
                </a:extLst>
              </a:tr>
              <a:tr h="832556"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산업협회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인공지능산업협회</a:t>
                      </a:r>
                      <a:r>
                        <a:rPr lang="en-US" altLang="ko-KR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(KAIIA)</a:t>
                      </a:r>
                      <a:endParaRPr lang="ko-KR" altLang="en-US" sz="1800" b="1" dirty="0">
                        <a:solidFill>
                          <a:srgbClr val="0000FF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2020.02.14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비영리 사단법인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AI 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데이터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생성기술 연구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kaiia.co.kr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1971023"/>
                  </a:ext>
                </a:extLst>
              </a:tr>
              <a:tr h="832556"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산업협회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한국</a:t>
                      </a:r>
                      <a:r>
                        <a:rPr lang="en-US" altLang="ko-KR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AI·</a:t>
                      </a:r>
                      <a:r>
                        <a:rPr lang="ko-KR" altLang="en-US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로봇산업협회</a:t>
                      </a:r>
                      <a:r>
                        <a:rPr lang="en-US" altLang="ko-KR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(KAR)</a:t>
                      </a:r>
                      <a:endParaRPr lang="ko-KR" altLang="en-US" sz="1800" b="1" dirty="0">
                        <a:solidFill>
                          <a:srgbClr val="0000FF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1999.06 (2025.09 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개명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사단법인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구 로봇산업협회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로봇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·AI 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융합산업 육성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korearobot.or.kr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6933278"/>
                  </a:ext>
                </a:extLst>
              </a:tr>
              <a:tr h="832556">
                <a:tc rowSpan="2"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학술단체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한국인공지능학회</a:t>
                      </a:r>
                      <a:r>
                        <a:rPr lang="en-US" altLang="ko-KR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(KAIA)</a:t>
                      </a:r>
                      <a:endParaRPr lang="ko-KR" altLang="en-US" sz="1800" b="1" dirty="0">
                        <a:solidFill>
                          <a:srgbClr val="0000FF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2016.12.19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학술단체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AI 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이론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실무 연구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, 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학술지 발간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aiassociation.kr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9432813"/>
                  </a:ext>
                </a:extLst>
              </a:tr>
              <a:tr h="832556">
                <a:tc vMerge="1"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학술단체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1" dirty="0" err="1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한국인공지능윤리학회</a:t>
                      </a:r>
                      <a:r>
                        <a:rPr lang="en-US" altLang="ko-KR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(KSAIE)</a:t>
                      </a:r>
                      <a:endParaRPr lang="ko-KR" altLang="en-US" sz="1800" b="1" dirty="0">
                        <a:solidFill>
                          <a:srgbClr val="0000FF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2020.09.01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학술단체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AI 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윤리 학술연구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ksaie.or.kr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004034"/>
                  </a:ext>
                </a:extLst>
              </a:tr>
              <a:tr h="832556"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윤리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규범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1" dirty="0" err="1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국제인공지능윤리협회</a:t>
                      </a:r>
                      <a:r>
                        <a:rPr lang="en-US" altLang="ko-KR" sz="1800" b="1" dirty="0">
                          <a:solidFill>
                            <a:srgbClr val="0000FF"/>
                          </a:solidFill>
                          <a:latin typeface="Malgun Gothic" panose="020B0503020000020004" pitchFamily="50" charset="-127"/>
                        </a:rPr>
                        <a:t>(IAAE)</a:t>
                      </a:r>
                      <a:endParaRPr lang="ko-KR" altLang="en-US" sz="1800" b="1" dirty="0">
                        <a:solidFill>
                          <a:srgbClr val="0000FF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2019.01 (2022 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전환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사단법인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전국 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7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개지부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800" b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AI 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윤리헌장</a:t>
                      </a:r>
                      <a:r>
                        <a:rPr lang="en-US" altLang="ko-KR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800" b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가이드라인 제정</a:t>
                      </a: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95000"/>
                        </a:lnSpc>
                      </a:pPr>
                      <a:r>
                        <a:rPr lang="en-US" altLang="ko-KR" sz="1800" b="0" dirty="0">
                          <a:solidFill>
                            <a:srgbClr val="000000"/>
                          </a:solidFill>
                          <a:latin typeface="Malgun Gothic" panose="020B0503020000020004" pitchFamily="50" charset="-127"/>
                        </a:rPr>
                        <a:t>iaae.ai</a:t>
                      </a:r>
                      <a:endParaRPr lang="ko-KR" altLang="en-US" sz="1800" b="0" dirty="0">
                        <a:solidFill>
                          <a:srgbClr val="000000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marL="76200" marR="76200" marT="38100" marB="38100" anchor="ctr">
                    <a:lnL w="9525" cmpd="sng">
                      <a:solidFill>
                        <a:srgbClr val="024A2C"/>
                      </a:solidFill>
                    </a:lnL>
                    <a:lnR w="9525" cmpd="sng">
                      <a:solidFill>
                        <a:srgbClr val="024A2C"/>
                      </a:solidFill>
                    </a:lnR>
                    <a:lnT w="9525" cmpd="sng">
                      <a:solidFill>
                        <a:srgbClr val="024A2C"/>
                      </a:solidFill>
                    </a:lnT>
                    <a:lnB w="9525" cmpd="sng">
                      <a:solidFill>
                        <a:srgbClr val="024A2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26760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165629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036B3F"/>
          </a:solidFill>
          <a:ln w="12700">
            <a:solidFill>
              <a:srgbClr val="024A2C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 </a:t>
            </a: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</a:t>
            </a:r>
            <a:r>
              <a:rPr lang="ko-KR" alt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43개조 6개장을 한 장으로 접으면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다룬 것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총칙·추진체계·산업발전·윤리신뢰성·보칙·벌칙, 6개 장 43개조 구조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4장(윤리·신뢰성) — 투명성·안전성·고영향AI 의무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</a:t>
            </a:r>
            <a:r>
              <a:rPr lang="en-US" altLang="ko-KR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개조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채우는 위임의 밀도, 그리고 노력의무 중심의 설계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75661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EU AI Act와의 근본적 차이 — </a:t>
            </a:r>
          </a:p>
          <a:p>
            <a:pPr marL="0" indent="0" algn="l"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위험분류·거버넌스·권리구제·과징금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vs 정액과태료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강의 예고</a:t>
            </a:r>
            <a:endParaRPr lang="en-US" sz="2500" dirty="0"/>
          </a:p>
        </p:txBody>
      </p:sp>
      <p:sp>
        <p:nvSpPr>
          <p:cNvPr id="30" name="Text 25"/>
          <p:cNvSpPr txBox="1"/>
          <p:nvPr/>
        </p:nvSpPr>
        <p:spPr>
          <a:xfrm>
            <a:off x="9592056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6강: 국내 AI 관련 법(지능정보화기본법 등 인접 법령)</a:t>
            </a:r>
            <a:endParaRPr lang="en-US" sz="1800" dirty="0"/>
          </a:p>
        </p:txBody>
      </p:sp>
      <p:sp>
        <p:nvSpPr>
          <p:cNvPr id="31" name="Text 26"/>
          <p:cNvSpPr txBox="1"/>
          <p:nvPr/>
        </p:nvSpPr>
        <p:spPr>
          <a:xfrm>
            <a:off x="9592056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9강: AI 가이드라인(개인정보·산업별 세부지침)</a:t>
            </a:r>
            <a:endParaRPr lang="en-US" sz="1800" dirty="0"/>
          </a:p>
        </p:txBody>
      </p:sp>
      <p:sp>
        <p:nvSpPr>
          <p:cNvPr id="32" name="Text 27"/>
          <p:cNvSpPr txBox="1"/>
          <p:nvPr/>
        </p:nvSpPr>
        <p:spPr>
          <a:xfrm>
            <a:off x="9592056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다루지 않은 관련법령 지도·가이드라인 상세는 해당 강의에서 다룸</a:t>
            </a:r>
            <a:endParaRPr lang="en-US" sz="1800" dirty="0"/>
          </a:p>
        </p:txBody>
      </p:sp>
      <p:sp>
        <p:nvSpPr>
          <p:cNvPr id="33" name="Text 28"/>
          <p:cNvSpPr txBox="1"/>
          <p:nvPr/>
        </p:nvSpPr>
        <p:spPr>
          <a:xfrm>
            <a:off x="9592056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조문·시행령 전체 대응표는 다음 슬라이드에 안내된 HTML 교안 자료 참고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44/45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e22c746fd81622b5deae707eff18ae09.png"/>
          <p:cNvPicPr>
            <a:picLocks noChangeAspect="1"/>
          </p:cNvPicPr>
          <p:nvPr/>
        </p:nvPicPr>
        <p:blipFill>
          <a:blip r:embed="rId2"/>
          <a:srcRect l="-80" r="-80"/>
          <a:stretch/>
        </p:blipFill>
        <p:spPr>
          <a:xfrm>
            <a:off x="0" y="0"/>
            <a:ext cx="18288000" cy="9509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805" y="2704795"/>
            <a:ext cx="8048549" cy="6887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52805" y="2704795"/>
            <a:ext cx="8048549" cy="47549"/>
          </a:xfrm>
          <a:prstGeom prst="rect">
            <a:avLst/>
          </a:prstGeom>
          <a:solidFill>
            <a:srgbClr val="036B3F"/>
          </a:solidFill>
          <a:ln w="12700">
            <a:solidFill>
              <a:srgbClr val="036B3F">
                <a:alpha val="0"/>
              </a:srgbClr>
            </a:solidFill>
            <a:prstDash val="solid"/>
          </a:ln>
        </p:spPr>
      </p:sp>
      <p:pic>
        <p:nvPicPr>
          <p:cNvPr id="5" name="Image 1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1257300" y="4209898"/>
            <a:ext cx="7438644" cy="9144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9286646" y="2704795"/>
            <a:ext cx="8048549" cy="68872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9286646" y="2704795"/>
            <a:ext cx="8048549" cy="47549"/>
          </a:xfrm>
          <a:prstGeom prst="rect">
            <a:avLst/>
          </a:prstGeom>
          <a:solidFill>
            <a:srgbClr val="9A7620"/>
          </a:solidFill>
          <a:ln w="12700">
            <a:solidFill>
              <a:srgbClr val="9A7620">
                <a:alpha val="0"/>
              </a:srgbClr>
            </a:solidFill>
            <a:prstDash val="solid"/>
          </a:ln>
        </p:spPr>
      </p:sp>
      <p:pic>
        <p:nvPicPr>
          <p:cNvPr id="8" name="Image 2" descr="gen-dedup-c2dfa98337e9cb6ce99e9e949a17a885.png"/>
          <p:cNvPicPr>
            <a:picLocks noChangeAspect="1"/>
          </p:cNvPicPr>
          <p:nvPr/>
        </p:nvPicPr>
        <p:blipFill>
          <a:blip r:embed="rId3"/>
          <a:srcRect l="-2083" r="-2083"/>
          <a:stretch/>
        </p:blipFill>
        <p:spPr>
          <a:xfrm>
            <a:off x="9592056" y="4209898"/>
            <a:ext cx="7438644" cy="914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52805" y="342900"/>
            <a:ext cx="3199486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500" b="1" kern="0" spc="15" dirty="0">
                <a:solidFill>
                  <a:srgbClr val="036B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건국대학교 공학대학원 · AI전공</a:t>
            </a:r>
            <a:endParaRPr lang="en-US" sz="1500" dirty="0"/>
          </a:p>
        </p:txBody>
      </p:sp>
      <p:sp>
        <p:nvSpPr>
          <p:cNvPr id="100" name="Text 100"/>
          <p:cNvSpPr txBox="1"/>
          <p:nvPr/>
        </p:nvSpPr>
        <p:spPr>
          <a:xfrm>
            <a:off x="90297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· 총칙</a:t>
            </a:r>
            <a:endParaRPr lang="en-US" sz="1500" dirty="0"/>
          </a:p>
        </p:txBody>
      </p:sp>
      <p:sp>
        <p:nvSpPr>
          <p:cNvPr id="101" name="Text 101"/>
          <p:cNvSpPr txBox="1"/>
          <p:nvPr/>
        </p:nvSpPr>
        <p:spPr>
          <a:xfrm>
            <a:off x="10485425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· 추진체계</a:t>
            </a:r>
            <a:endParaRPr lang="en-US" sz="1500" dirty="0"/>
          </a:p>
        </p:txBody>
      </p:sp>
      <p:sp>
        <p:nvSpPr>
          <p:cNvPr id="102" name="Text 102"/>
          <p:cNvSpPr txBox="1"/>
          <p:nvPr/>
        </p:nvSpPr>
        <p:spPr>
          <a:xfrm>
            <a:off x="11999671" y="304495"/>
            <a:ext cx="1594714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· 산업발전</a:t>
            </a:r>
            <a:endParaRPr lang="en-US" sz="1500" dirty="0"/>
          </a:p>
        </p:txBody>
      </p:sp>
      <p:sp>
        <p:nvSpPr>
          <p:cNvPr id="103" name="Text 103"/>
          <p:cNvSpPr txBox="1"/>
          <p:nvPr/>
        </p:nvSpPr>
        <p:spPr>
          <a:xfrm>
            <a:off x="13573354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· 윤리신뢰성</a:t>
            </a:r>
            <a:endParaRPr lang="en-US" sz="1500" dirty="0"/>
          </a:p>
        </p:txBody>
      </p:sp>
      <p:sp>
        <p:nvSpPr>
          <p:cNvPr id="104" name="Text 104"/>
          <p:cNvSpPr txBox="1"/>
          <p:nvPr/>
        </p:nvSpPr>
        <p:spPr>
          <a:xfrm>
            <a:off x="15087600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· 보칙벌칙</a:t>
            </a:r>
            <a:endParaRPr lang="en-US" sz="1500" dirty="0"/>
          </a:p>
        </p:txBody>
      </p:sp>
      <p:sp>
        <p:nvSpPr>
          <p:cNvPr id="105" name="Text 105"/>
          <p:cNvSpPr txBox="1"/>
          <p:nvPr/>
        </p:nvSpPr>
        <p:spPr>
          <a:xfrm>
            <a:off x="16601846" y="304495"/>
            <a:ext cx="1476756" cy="381305"/>
          </a:xfrm>
          <a:prstGeom prst="rect">
            <a:avLst/>
          </a:prstGeom>
          <a:solidFill>
            <a:srgbClr val="FFFFFF"/>
          </a:solidFill>
          <a:ln w="12700">
            <a:solidFill>
              <a:srgbClr val="D8D3C7"/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85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· 비교매핑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952805" y="1104595"/>
            <a:ext cx="16383305" cy="88605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5000" b="1" kern="0" spc="-112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 상세자료 안내</a:t>
            </a:r>
            <a:endParaRPr lang="en-US" sz="5000" dirty="0"/>
          </a:p>
        </p:txBody>
      </p:sp>
      <p:sp>
        <p:nvSpPr>
          <p:cNvPr id="19" name="Text 14"/>
          <p:cNvSpPr txBox="1"/>
          <p:nvPr/>
        </p:nvSpPr>
        <p:spPr>
          <a:xfrm>
            <a:off x="952805" y="2000707"/>
            <a:ext cx="16383305" cy="3337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PPT는 얼개, HTML은 전체 원문과 각주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257300" y="2971800"/>
            <a:ext cx="323698" cy="323698"/>
          </a:xfrm>
          <a:prstGeom prst="ellipse">
            <a:avLst/>
          </a:prstGeom>
          <a:solidFill>
            <a:srgbClr val="036B3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257300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257300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HTML에만 담기는 내용</a:t>
            </a:r>
            <a:endParaRPr lang="en-US" sz="2500" dirty="0"/>
          </a:p>
        </p:txBody>
      </p:sp>
      <p:sp>
        <p:nvSpPr>
          <p:cNvPr id="23" name="Text 18"/>
          <p:cNvSpPr txBox="1"/>
          <p:nvPr/>
        </p:nvSpPr>
        <p:spPr>
          <a:xfrm>
            <a:off x="1257300" y="4476902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기본법 43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개조·</a:t>
            </a: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시행령 </a:t>
            </a:r>
            <a:r>
              <a:rPr lang="en-US" altLang="ko-KR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</a:t>
            </a:r>
            <a:r>
              <a:rPr lang="ko-KR" alt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개조</a:t>
            </a:r>
            <a:r>
              <a:rPr lang="en-US" sz="180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 전문(항·호·목 단위 원문)</a:t>
            </a:r>
            <a:endParaRPr lang="en-US" sz="1800" dirty="0"/>
          </a:p>
        </p:txBody>
      </p:sp>
      <p:sp>
        <p:nvSpPr>
          <p:cNvPr id="24" name="Text 19"/>
          <p:cNvSpPr txBox="1"/>
          <p:nvPr/>
        </p:nvSpPr>
        <p:spPr>
          <a:xfrm>
            <a:off x="1257300" y="4976165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법-시행령 위임관계 전체 대응표(조문·항·호 단위)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1257300" y="5475427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 고시 2건(안전성확보의무 이행방법 · 고영향AI 사업자 책무) 요지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1257300" y="5974690"/>
            <a:ext cx="7439558" cy="3721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다룬 소논문 참고의 상세 배경설명·참고문헌</a:t>
            </a:r>
            <a:endParaRPr lang="en-US" sz="1800" dirty="0"/>
          </a:p>
        </p:txBody>
      </p:sp>
      <p:sp>
        <p:nvSpPr>
          <p:cNvPr id="27" name="Shape 22"/>
          <p:cNvSpPr/>
          <p:nvPr/>
        </p:nvSpPr>
        <p:spPr>
          <a:xfrm>
            <a:off x="9592056" y="2971800"/>
            <a:ext cx="323698" cy="323698"/>
          </a:xfrm>
          <a:prstGeom prst="ellipse">
            <a:avLst/>
          </a:prstGeom>
          <a:solidFill>
            <a:srgbClr val="9A76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592056" y="2971800"/>
            <a:ext cx="324612" cy="3246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9" name="Text 24"/>
          <p:cNvSpPr txBox="1"/>
          <p:nvPr/>
        </p:nvSpPr>
        <p:spPr>
          <a:xfrm>
            <a:off x="9592056" y="3486607"/>
            <a:ext cx="7439558" cy="4864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ko-KR" altLang="en-US" sz="2500" b="1" kern="0" spc="-37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참고도서</a:t>
            </a:r>
            <a:endParaRPr lang="en-US" sz="2500" dirty="0"/>
          </a:p>
        </p:txBody>
      </p:sp>
      <p:sp>
        <p:nvSpPr>
          <p:cNvPr id="34" name="Text 29"/>
          <p:cNvSpPr txBox="1"/>
          <p:nvPr/>
        </p:nvSpPr>
        <p:spPr>
          <a:xfrm>
            <a:off x="1257300" y="6428769"/>
            <a:ext cx="4637299" cy="4217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buNone/>
            </a:pP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조문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800" dirty="0" err="1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</a:t>
            </a:r>
            <a:r>
              <a:rPr lang="en-US" sz="1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: law.go.kr</a:t>
            </a:r>
            <a:endParaRPr lang="en-US" sz="1800" dirty="0"/>
          </a:p>
        </p:txBody>
      </p:sp>
      <p:sp>
        <p:nvSpPr>
          <p:cNvPr id="38" name="Text 33"/>
          <p:cNvSpPr txBox="1"/>
          <p:nvPr/>
        </p:nvSpPr>
        <p:spPr>
          <a:xfrm>
            <a:off x="15430500" y="9791395"/>
            <a:ext cx="1905610" cy="2770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C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45/45</a:t>
            </a:r>
            <a:endParaRPr lang="en-US" sz="1800" dirty="0"/>
          </a:p>
        </p:txBody>
      </p:sp>
      <p:pic>
        <p:nvPicPr>
          <p:cNvPr id="106" name="Picture 10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9239" y="4455872"/>
            <a:ext cx="1643656" cy="2400000"/>
          </a:xfrm>
          <a:prstGeom prst="rect">
            <a:avLst/>
          </a:prstGeom>
        </p:spPr>
      </p:pic>
      <p:pic>
        <p:nvPicPr>
          <p:cNvPr id="107" name="Picture 10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76816" y="4455872"/>
            <a:ext cx="1668208" cy="2400000"/>
          </a:xfrm>
          <a:prstGeom prst="rect">
            <a:avLst/>
          </a:prstGeom>
          <a:ln w="12700">
            <a:solidFill>
              <a:schemeClr val="bg1">
                <a:lumMod val="50000"/>
              </a:schemeClr>
            </a:solidFill>
          </a:ln>
        </p:spPr>
      </p:pic>
      <p:pic>
        <p:nvPicPr>
          <p:cNvPr id="108" name="Picture 10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98087" y="4455872"/>
            <a:ext cx="1665374" cy="2400000"/>
          </a:xfrm>
          <a:prstGeom prst="rect">
            <a:avLst/>
          </a:prstGeom>
        </p:spPr>
      </p:pic>
      <p:pic>
        <p:nvPicPr>
          <p:cNvPr id="109" name="Picture 10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26873" y="7005872"/>
            <a:ext cx="1528389" cy="2400000"/>
          </a:xfrm>
          <a:prstGeom prst="rect">
            <a:avLst/>
          </a:prstGeom>
        </p:spPr>
      </p:pic>
      <p:pic>
        <p:nvPicPr>
          <p:cNvPr id="110" name="Picture 109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94352" y="7005872"/>
            <a:ext cx="1633136" cy="2400000"/>
          </a:xfrm>
          <a:prstGeom prst="rect">
            <a:avLst/>
          </a:prstGeom>
        </p:spPr>
      </p:pic>
      <p:pic>
        <p:nvPicPr>
          <p:cNvPr id="111" name="Picture 110" descr="image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013238" y="7005872"/>
            <a:ext cx="1635071" cy="24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1245</TotalTime>
  <Words>8231</Words>
  <Application>Microsoft Office PowerPoint</Application>
  <PresentationFormat>사용자 지정</PresentationFormat>
  <Paragraphs>1270</Paragraphs>
  <Slides>46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46</vt:i4>
      </vt:variant>
    </vt:vector>
  </HeadingPairs>
  <TitlesOfParts>
    <vt:vector size="51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양희정</cp:lastModifiedBy>
  <cp:revision>29</cp:revision>
  <dcterms:created xsi:type="dcterms:W3CDTF">2026-09-15T22:43:35Z</dcterms:created>
  <dcterms:modified xsi:type="dcterms:W3CDTF">2026-09-25T12:19:52Z</dcterms:modified>
</cp:coreProperties>
</file>