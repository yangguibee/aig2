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6" r:id="rId7"/>
    <p:sldId id="259" r:id="rId10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1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6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6072" cy="128016"/>
          </a:xfrm>
          <a:prstGeom prst="rect">
            <a:avLst/>
          </a:prstGeom>
          <a:solidFill>
            <a:srgbClr val="0F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609B"/>
                </a:solidFill>
                <a:latin typeface="Malgun Gothic"/>
              </a:defRPr>
            </a:pPr>
            <a:r>
              <a:t>KONKUK UNIVERSITY  |  GRADUATE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0759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5A6777"/>
                </a:solidFill>
                <a:latin typeface="Malgun Gothic"/>
              </a:defRPr>
            </a:pPr>
            <a:r>
              <a:t>대학원 소논문 연구계획서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993392"/>
            <a:ext cx="960120" cy="64008"/>
          </a:xfrm>
          <a:prstGeom prst="rect">
            <a:avLst/>
          </a:prstGeom>
          <a:solidFill>
            <a:srgbClr val="1E6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13432"/>
            <a:ext cx="1069848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국내 인공지능기본법에 기반한</a:t>
            </a:r>
          </a:p>
          <a:p>
            <a:r>
              <a:rPr sz="3200"/>
              <a:t>생성형 AI 보안 점검체계</a:t>
            </a:r>
          </a:p>
          <a:p>
            <a:r>
              <a:rPr sz="3200"/>
              <a:t>설계 연구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983480"/>
            <a:ext cx="10469880" cy="16459"/>
          </a:xfrm>
          <a:prstGeom prst="rect">
            <a:avLst/>
          </a:prstGeom>
          <a:solidFill>
            <a:srgbClr val="D7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285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13B"/>
                </a:solidFill>
                <a:latin typeface="Malgun Gothic"/>
              </a:defRPr>
            </a:pPr>
            <a:r>
              <a:t>건국대학교 정보통신대학원  |  정보보안학과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5157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A6777"/>
                </a:solidFill>
                <a:latin typeface="Malgun Gothic"/>
              </a:defRPr>
            </a:pPr>
            <a:r>
              <a:t>학번  202576608     이름  신동재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8996"/>
                </a:solidFill>
                <a:latin typeface="Malgun Gothic"/>
              </a:defRPr>
            </a:pPr>
            <a:r>
              <a:t>RESEARCH PROPOSAL  |  연구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C"/>
                </a:solidFill>
                <a:latin typeface="Malgun Gothic"/>
              </a:defRPr>
            </a:pPr>
            <a:r>
              <a:t>국내 인공지능기본법에 기반한 생성형 AI 보안 점검체계 설계 연구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36577"/>
                </a:solidFill>
                <a:latin typeface="Malgun Gothic"/>
              </a:defRPr>
            </a:pPr>
            <a:r>
              <a:t>AI 거버넌스 대학원 소논문 연구계획서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t>2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11000232" cy="749808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01952"/>
            <a:ext cx="1325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067AC"/>
                </a:solidFill>
                <a:latin typeface="Malgun Gothic"/>
              </a:defRPr>
            </a:pPr>
            <a:r>
              <a:t>연구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865376"/>
            <a:ext cx="905256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2233C"/>
                </a:solidFill>
                <a:latin typeface="Malgun Gothic"/>
              </a:defRPr>
            </a:pPr>
            <a:r>
              <a:t>국내 AI 법령과 보안 가이드라인을 분석해
실무에 활용할 수 있는 점검표 제안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779776"/>
            <a:ext cx="3538728" cy="1901952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779776"/>
            <a:ext cx="3538728" cy="6400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026664"/>
            <a:ext cx="3200400" cy="3383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67AC"/>
                </a:solidFill>
                <a:latin typeface="Malgun Gothic"/>
              </a:defRPr>
            </a:pPr>
            <a:r>
              <a:t>연구 배경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529584"/>
            <a:ext cx="3136392" cy="9326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2233C"/>
                </a:solidFill>
                <a:latin typeface="Malgun Gothic"/>
              </a:defRPr>
            </a:pPr>
            <a:r>
              <a:t>생성형 AI 확산에 따른 보안 위협 증가
법적 요구사항과 실제 보안 점검의 연계 필요</a:t>
            </a:r>
          </a:p>
          <a:p>
            <a:pPr>
              <a:spcAft>
                <a:spcPts val="600"/>
              </a:spcAft>
              <a:defRPr sz="1300" b="0">
                <a:solidFill>
                  <a:srgbClr val="12233C"/>
                </a:solidFill>
                <a:latin typeface="Malgun Gothic"/>
              </a:defRPr>
            </a:pPr>
            <a:r>
              <a:t>법적 의무를 조직의 실제 통제활동으로 연결할 필요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779776"/>
            <a:ext cx="3538728" cy="1901952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2779776"/>
            <a:ext cx="3538728" cy="6400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026664"/>
            <a:ext cx="3200400" cy="3383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67AC"/>
                </a:solidFill>
                <a:latin typeface="Malgun Gothic"/>
              </a:defRPr>
            </a:pPr>
            <a:r>
              <a:t>연구 범위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29584"/>
            <a:ext cx="3136392" cy="9326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2233C"/>
                </a:solidFill>
                <a:latin typeface="Malgun Gothic"/>
              </a:defRPr>
            </a:pPr>
            <a:r>
              <a:t>국내 인공지능기본법·시행령의 적용 조건
생성형 AI 보안 위협 및 점검·증빙 항목</a:t>
            </a:r>
          </a:p>
          <a:p>
            <a:pPr>
              <a:spcAft>
                <a:spcPts val="600"/>
              </a:spcAft>
              <a:defRPr sz="1300" b="0">
                <a:solidFill>
                  <a:srgbClr val="12233C"/>
                </a:solidFill>
                <a:latin typeface="Malgun Gothic"/>
              </a:defRPr>
            </a:pPr>
            <a:r>
              <a:t>위험 분류·위험관리·투명성·인간 감독·책임 구조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5864" y="2779776"/>
            <a:ext cx="3538728" cy="1901952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5864" y="2779776"/>
            <a:ext cx="3538728" cy="64008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3026664"/>
            <a:ext cx="3200400" cy="3383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67AC"/>
                </a:solidFill>
                <a:latin typeface="Malgun Gothic"/>
              </a:defRPr>
            </a:pPr>
            <a:r>
              <a:t>연구 차별성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3529584"/>
            <a:ext cx="3136392" cy="9326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2233C"/>
                </a:solidFill>
                <a:latin typeface="Malgun Gothic"/>
              </a:defRPr>
            </a:pPr>
            <a:r>
              <a:t>법적 의무와 자율 권고사항을 구분하고
RAG 챗봇 사례에 적용 가능한 점검표 설계</a:t>
            </a:r>
          </a:p>
          <a:p>
            <a:pPr>
              <a:spcAft>
                <a:spcPts val="600"/>
              </a:spcAft>
              <a:defRPr sz="1300" b="0">
                <a:solidFill>
                  <a:srgbClr val="12233C"/>
                </a:solidFill>
                <a:latin typeface="Malgun Gothic"/>
              </a:defRPr>
            </a:pPr>
            <a:r>
              <a:t>조직 차원의 위험관리 프로세스까지 매핑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001768"/>
            <a:ext cx="3657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2233C"/>
                </a:solidFill>
                <a:latin typeface="Malgun Gothic"/>
              </a:defRPr>
            </a:pPr>
            <a:r>
              <a:t>핵심 연구문제 (RQ)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422392"/>
            <a:ext cx="1088136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00">
                <a:solidFill>
                  <a:srgbClr val="1F2D41"/>
                </a:solidFill>
              </a:rPr>
              <a:t>RQ1  국내 AI 법령의 적용 대상과 안전성 요구사항은?</a:t>
            </a:r>
          </a:p>
          <a:p>
            <a:r>
              <a:rPr sz="1200">
                <a:solidFill>
                  <a:srgbClr val="1F2D41"/>
                </a:solidFill>
              </a:rPr>
              <a:t>RQ2  주요 보안 위협별 점검항목과 검증 방법은?</a:t>
            </a:r>
          </a:p>
          <a:p>
            <a:r>
              <a:rPr sz="1200">
                <a:solidFill>
                  <a:srgbClr val="1F2D41"/>
                </a:solidFill>
              </a:rPr>
              <a:t>RQ3  RAG 챗봇 사례 적용 시 활용 가능성과 한계는?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8996"/>
                </a:solidFill>
                <a:latin typeface="Malgun Gothic"/>
              </a:defRPr>
            </a:pPr>
            <a:r>
              <a:t>RESEARCH DESIGN  |  연구 수행계획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33C"/>
                </a:solidFill>
                <a:latin typeface="Malgun Gothic"/>
              </a:defRPr>
            </a:pPr>
            <a:r>
              <a:t>법령 분석 · 보안 점검표 설계 · 사례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36577"/>
                </a:solidFill>
                <a:latin typeface="Malgun Gothic"/>
              </a:defRPr>
            </a:pPr>
            <a:r>
              <a:t>AI 거버넌스 대학원 소논문 연구계획서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t>4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4572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67AC"/>
                </a:solidFill>
                <a:latin typeface="Malgun Gothic"/>
              </a:defRPr>
            </a:pPr>
            <a:r>
              <a:t>연구방법 및 수행 절차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03120"/>
            <a:ext cx="2084831" cy="969264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231136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8996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587752"/>
            <a:ext cx="19202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233C"/>
                </a:solidFill>
                <a:latin typeface="Malgun Gothic"/>
              </a:defRPr>
            </a:pPr>
            <a:r>
              <a:t>법령·문헌 검토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2103120"/>
            <a:ext cx="2084831" cy="969264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2231136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8996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587752"/>
            <a:ext cx="19202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233C"/>
                </a:solidFill>
                <a:latin typeface="Malgun Gothic"/>
              </a:defRPr>
            </a:pPr>
            <a:r>
              <a:t>AI 위협 식별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784" y="2103120"/>
            <a:ext cx="2084831" cy="969264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231136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8996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587752"/>
            <a:ext cx="19202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233C"/>
                </a:solidFill>
                <a:latin typeface="Malgun Gothic"/>
              </a:defRPr>
            </a:pPr>
            <a:r>
              <a:t>보안통제 도출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97496" y="2103120"/>
            <a:ext cx="2084831" cy="969264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2231136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8996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587752"/>
            <a:ext cx="19202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233C"/>
                </a:solidFill>
                <a:latin typeface="Malgun Gothic"/>
              </a:defRPr>
            </a:pPr>
            <a:r>
              <a:t>점검표 설계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5208" y="2103120"/>
            <a:ext cx="2084831" cy="969264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3224" y="2231136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8996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2587752"/>
            <a:ext cx="19202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233C"/>
                </a:solidFill>
                <a:latin typeface="Malgun Gothic"/>
              </a:defRPr>
            </a:pPr>
            <a:r>
              <a:t>사례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46704"/>
            <a:ext cx="1828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67AC"/>
                </a:solidFill>
                <a:latin typeface="Malgun Gothic"/>
              </a:defRPr>
            </a:pPr>
            <a:r>
              <a:t>분석 기준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67328"/>
            <a:ext cx="5486400" cy="1353312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69080"/>
            <a:ext cx="502920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2233C"/>
                </a:solidFill>
                <a:latin typeface="Malgun Gothic"/>
              </a:defRPr>
            </a:pPr>
            <a:r>
              <a:t>법적 의무  |  자율 권고  |  주요 위협
점검 질문  |  검증 방법  |  증빙자료</a:t>
            </a:r>
          </a:p>
          <a:p>
            <a:pPr>
              <a:spcAft>
                <a:spcPts val="600"/>
              </a:spcAft>
              <a:defRPr sz="1500" b="0">
                <a:solidFill>
                  <a:srgbClr val="12233C"/>
                </a:solidFill>
                <a:latin typeface="Malgun Gothic"/>
              </a:defRPr>
            </a:pPr>
            <a:r>
              <a:t>책임 주체  |  이행 증빙 및 감독체계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46704"/>
            <a:ext cx="50292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67AC"/>
                </a:solidFill>
                <a:latin typeface="Malgun Gothic"/>
              </a:defRPr>
            </a:pPr>
            <a:r>
              <a:t>논문 구성 (약 12~15쪽)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767328"/>
            <a:ext cx="5193792" cy="2084831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986784"/>
            <a:ext cx="47548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t>1장  서론: 연구 배경·목적·연구문제</a:t>
            </a:r>
          </a:p>
          <a:p>
            <a:r>
              <a:t>2장  이론적 배경 및 선행연구</a:t>
            </a:r>
          </a:p>
          <a:p>
            <a:r>
              <a:t>3장  법적 요구사항 및 생성형 AI 보안 위협 분석</a:t>
            </a:r>
          </a:p>
          <a:p>
            <a:r>
              <a:t>4장  보안 점검체계 설계·RAG 챗봇 적용 및 평가</a:t>
            </a:r>
          </a:p>
          <a:p>
            <a:r>
              <a:t>5장  결론 및 향후 연구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989320"/>
            <a:ext cx="11000232" cy="356616"/>
          </a:xfrm>
          <a:prstGeom prst="roundRect">
            <a:avLst/>
          </a:prstGeom>
          <a:solidFill>
            <a:srgbClr val="E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9848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36577"/>
                </a:solidFill>
                <a:latin typeface="Malgun Gothic"/>
              </a:defRPr>
            </a:pPr>
            <a:r>
              <a:t>주요 근거: AIG2 01~06강 · 국내 인공지능기본법/시행령 · NIST AI RMF · OWASP AISVS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200" b="1">
                <a:solidFill>
                  <a:srgbClr val="127D84"/>
                </a:solidFill>
                <a:latin typeface="맑은 고딕"/>
              </a:defRPr>
            </a:pPr>
            <a:r>
              <a:t>RESEARCH CORE  |  연구의 핵심 내용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972800" cy="56692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2700" b="1">
                <a:solidFill>
                  <a:srgbClr val="17314C"/>
                </a:solidFill>
                <a:latin typeface="맑은 고딕"/>
              </a:defRPr>
            </a:pPr>
            <a:r>
              <a:t>법적 요구사항을 실제 보안 점검항목으로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89888"/>
            <a:ext cx="10972800" cy="43891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500" b="0">
                <a:solidFill>
                  <a:srgbClr val="5F6E7E"/>
                </a:solidFill>
                <a:latin typeface="맑은 고딕"/>
              </a:defRPr>
            </a:pPr>
            <a:r>
              <a:t>인공지능기본법의 적용 조건을 검토하고, 생성형 AI 보안 위협별 점검·검증 체계를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84831"/>
            <a:ext cx="3538728" cy="196596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084831"/>
            <a:ext cx="3538728" cy="64008"/>
          </a:xfrm>
          <a:prstGeom prst="rect">
            <a:avLst/>
          </a:prstGeom>
          <a:solidFill>
            <a:srgbClr val="12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313432"/>
            <a:ext cx="640080" cy="34747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700" b="1">
                <a:solidFill>
                  <a:srgbClr val="127D84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24912"/>
            <a:ext cx="3182112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900" b="1">
                <a:solidFill>
                  <a:srgbClr val="17314C"/>
                </a:solidFill>
                <a:latin typeface="맑은 고딕"/>
              </a:defRPr>
            </a:pPr>
            <a:r>
              <a:t>법적 요구사항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246120"/>
            <a:ext cx="3182112" cy="6583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300" b="0">
                <a:solidFill>
                  <a:srgbClr val="5F6E7E"/>
                </a:solidFill>
                <a:latin typeface="맑은 고딕"/>
              </a:defRPr>
            </a:pPr>
            <a:r>
              <a:t>AI 기본법·시행령 적용 범위</a:t>
            </a:r>
          </a:p>
          <a:p>
            <a:pPr>
              <a:defRPr sz="1300" b="0">
                <a:solidFill>
                  <a:srgbClr val="5F6E7E"/>
                </a:solidFill>
                <a:latin typeface="맑은 고딕"/>
              </a:defRPr>
            </a:pPr>
            <a:r>
              <a:t>안전성 관련 의무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8" y="2779776"/>
            <a:ext cx="256032" cy="3657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 algn="ctr">
              <a:defRPr sz="1900" b="1">
                <a:solidFill>
                  <a:srgbClr val="127D84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2084831"/>
            <a:ext cx="3538728" cy="196596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9976" y="2084831"/>
            <a:ext cx="3538728" cy="64008"/>
          </a:xfrm>
          <a:prstGeom prst="rect">
            <a:avLst/>
          </a:prstGeom>
          <a:solidFill>
            <a:srgbClr val="12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313432"/>
            <a:ext cx="640080" cy="34747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700" b="1">
                <a:solidFill>
                  <a:srgbClr val="127D84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724912"/>
            <a:ext cx="3182112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900" b="1">
                <a:solidFill>
                  <a:srgbClr val="17314C"/>
                </a:solidFill>
                <a:latin typeface="맑은 고딕"/>
              </a:defRPr>
            </a:pPr>
            <a:r>
              <a:t>보안 위험 및 점검항목 도출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246120"/>
            <a:ext cx="3182112" cy="6583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300" b="0">
                <a:solidFill>
                  <a:srgbClr val="5F6E7E"/>
                </a:solidFill>
                <a:latin typeface="맑은 고딕"/>
              </a:defRPr>
            </a:pPr>
            <a:r>
              <a:t>프롬프트 인젝션·정보유출</a:t>
            </a:r>
          </a:p>
          <a:p>
            <a:pPr>
              <a:defRPr sz="1300" b="0">
                <a:solidFill>
                  <a:srgbClr val="5F6E7E"/>
                </a:solidFill>
                <a:latin typeface="맑은 고딕"/>
              </a:defRPr>
            </a:pPr>
            <a:r>
              <a:t>접근통제 등 주요 위협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8704" y="2779776"/>
            <a:ext cx="256032" cy="3657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 algn="ctr">
              <a:defRPr sz="1900" b="1">
                <a:solidFill>
                  <a:srgbClr val="127D84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2084831"/>
            <a:ext cx="3538728" cy="196596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2084831"/>
            <a:ext cx="3538728" cy="64008"/>
          </a:xfrm>
          <a:prstGeom prst="rect">
            <a:avLst/>
          </a:prstGeom>
          <a:solidFill>
            <a:srgbClr val="12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313432"/>
            <a:ext cx="640080" cy="34747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700" b="1">
                <a:solidFill>
                  <a:srgbClr val="127D84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724912"/>
            <a:ext cx="3182112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900" b="1">
                <a:solidFill>
                  <a:srgbClr val="17314C"/>
                </a:solidFill>
                <a:latin typeface="맑은 고딕"/>
              </a:defRPr>
            </a:pPr>
            <a:r>
              <a:t>점검체계 설계·사례 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246120"/>
            <a:ext cx="3182112" cy="6583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300" b="0">
                <a:solidFill>
                  <a:srgbClr val="5F6E7E"/>
                </a:solidFill>
                <a:latin typeface="맑은 고딕"/>
              </a:defRPr>
            </a:pPr>
            <a:r>
              <a:t>점검 질문·검증 방법·증빙 정의</a:t>
            </a:r>
          </a:p>
          <a:p>
            <a:pPr>
              <a:defRPr sz="1300" b="0">
                <a:solidFill>
                  <a:srgbClr val="5F6E7E"/>
                </a:solidFill>
                <a:latin typeface="맑은 고딕"/>
              </a:defRPr>
            </a:pPr>
            <a:r>
              <a:t>RAG 챗봇 사례에 적용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160520"/>
            <a:ext cx="640080" cy="4114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 algn="ctr">
              <a:defRPr sz="2200" b="1">
                <a:solidFill>
                  <a:srgbClr val="127D84"/>
                </a:solidFill>
                <a:latin typeface="맑은 고딕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617720"/>
            <a:ext cx="11000232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27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809744"/>
            <a:ext cx="10332720" cy="3657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 algn="ctr">
              <a:defRPr sz="2000" b="1">
                <a:solidFill>
                  <a:srgbClr val="17314C"/>
                </a:solidFill>
                <a:latin typeface="맑은 고딕"/>
              </a:defRPr>
            </a:pPr>
            <a:r>
              <a:t>최종 연구 결과물  |  생성형 AI 보안 점검표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285232"/>
            <a:ext cx="10332720" cy="32918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 algn="ctr">
              <a:defRPr sz="1400" b="0">
                <a:solidFill>
                  <a:srgbClr val="5F6E7E"/>
                </a:solidFill>
                <a:latin typeface="맑은 고딕"/>
              </a:defRPr>
            </a:pPr>
            <a:r>
              <a:t>점검영역  ·  점검항목  ·  검증방법  ·  증빙자료  ·  법적 의무 / 자율 권고 구분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900" b="0">
                <a:solidFill>
                  <a:srgbClr val="5F6E7E"/>
                </a:solidFill>
                <a:latin typeface="맑은 고딕"/>
              </a:defRPr>
            </a:pPr>
            <a:r>
              <a:t>AI 거버넌스 대학원 소논문 연구계획서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28816"/>
            <a:ext cx="54864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900" b="0">
                <a:solidFill>
                  <a:srgbClr val="5F6E7E"/>
                </a:solidFill>
                <a:latin typeface="맑은 고딕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