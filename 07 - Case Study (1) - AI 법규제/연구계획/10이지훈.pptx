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Malgun Gothic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lgun Gothic"/>
      </a:defRPr>
    </a:lvl1pPr>
    <a:lvl2pPr indent="228600" latinLnBrk="0">
      <a:defRPr sz="1200">
        <a:latin typeface="+mn-lt"/>
        <a:ea typeface="+mn-ea"/>
        <a:cs typeface="+mn-cs"/>
        <a:sym typeface="Malgun Gothic"/>
      </a:defRPr>
    </a:lvl2pPr>
    <a:lvl3pPr indent="457200" latinLnBrk="0">
      <a:defRPr sz="1200">
        <a:latin typeface="+mn-lt"/>
        <a:ea typeface="+mn-ea"/>
        <a:cs typeface="+mn-cs"/>
        <a:sym typeface="Malgun Gothic"/>
      </a:defRPr>
    </a:lvl3pPr>
    <a:lvl4pPr indent="685800" latinLnBrk="0">
      <a:defRPr sz="1200">
        <a:latin typeface="+mn-lt"/>
        <a:ea typeface="+mn-ea"/>
        <a:cs typeface="+mn-cs"/>
        <a:sym typeface="Malgun Gothic"/>
      </a:defRPr>
    </a:lvl4pPr>
    <a:lvl5pPr indent="914400" latinLnBrk="0">
      <a:defRPr sz="1200">
        <a:latin typeface="+mn-lt"/>
        <a:ea typeface="+mn-ea"/>
        <a:cs typeface="+mn-cs"/>
        <a:sym typeface="Malgun Gothic"/>
      </a:defRPr>
    </a:lvl5pPr>
    <a:lvl6pPr indent="1143000" latinLnBrk="0">
      <a:defRPr sz="1200">
        <a:latin typeface="+mn-lt"/>
        <a:ea typeface="+mn-ea"/>
        <a:cs typeface="+mn-cs"/>
        <a:sym typeface="Malgun Gothic"/>
      </a:defRPr>
    </a:lvl6pPr>
    <a:lvl7pPr indent="1371600" latinLnBrk="0">
      <a:defRPr sz="1200">
        <a:latin typeface="+mn-lt"/>
        <a:ea typeface="+mn-ea"/>
        <a:cs typeface="+mn-cs"/>
        <a:sym typeface="Malgun Gothic"/>
      </a:defRPr>
    </a:lvl7pPr>
    <a:lvl8pPr indent="1600200" latinLnBrk="0">
      <a:defRPr sz="1200">
        <a:latin typeface="+mn-lt"/>
        <a:ea typeface="+mn-ea"/>
        <a:cs typeface="+mn-cs"/>
        <a:sym typeface="Malgun Gothic"/>
      </a:defRPr>
    </a:lvl8pPr>
    <a:lvl9pPr indent="1828800" latinLnBrk="0">
      <a:defRPr sz="1200">
        <a:latin typeface="+mn-lt"/>
        <a:ea typeface="+mn-ea"/>
        <a:cs typeface="+mn-cs"/>
        <a:sym typeface="Malgun Gothic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algun Gothic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lgun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9363455" y="336752"/>
            <a:ext cx="2514601" cy="237744"/>
          </a:xfrm>
          <a:prstGeom prst="roundRect">
            <a:avLst>
              <a:gd name="adj" fmla="val 26923"/>
            </a:avLst>
          </a:prstGeom>
          <a:solidFill>
            <a:srgbClr val="DDF7F2"/>
          </a:solidFill>
          <a:ln w="12700">
            <a:solidFill>
              <a:srgbClr val="DDF7F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" name="Text 1"/>
          <p:cNvSpPr txBox="1"/>
          <p:nvPr/>
        </p:nvSpPr>
        <p:spPr>
          <a:xfrm>
            <a:off x="9491472" y="373327"/>
            <a:ext cx="2258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" b="1">
                <a:solidFill>
                  <a:srgbClr val="008B78"/>
                </a:solidFill>
              </a:defRPr>
            </a:lvl1pPr>
          </a:lstStyle>
          <a:p>
            <a:r>
              <a:rPr dirty="0"/>
              <a:t>AI </a:t>
            </a:r>
            <a:r>
              <a:rPr dirty="0" err="1"/>
              <a:t>거버넌스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연구방법론</a:t>
            </a:r>
            <a:r>
              <a:rPr dirty="0"/>
              <a:t> · </a:t>
            </a:r>
            <a:r>
              <a:rPr dirty="0" err="1"/>
              <a:t>소논문</a:t>
            </a:r>
            <a:r>
              <a:rPr dirty="0"/>
              <a:t> </a:t>
            </a:r>
            <a:r>
              <a:rPr dirty="0" err="1"/>
              <a:t>연구계획</a:t>
            </a:r>
            <a:endParaRPr dirty="0"/>
          </a:p>
        </p:txBody>
      </p:sp>
      <p:sp>
        <p:nvSpPr>
          <p:cNvPr id="29" name="Text 2"/>
          <p:cNvSpPr txBox="1"/>
          <p:nvPr/>
        </p:nvSpPr>
        <p:spPr>
          <a:xfrm>
            <a:off x="310895" y="831953"/>
            <a:ext cx="7377685" cy="406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F2B45"/>
                </a:solidFill>
              </a:defRPr>
            </a:lvl1pPr>
          </a:lstStyle>
          <a:p>
            <a:r>
              <a:rPr dirty="0" err="1"/>
              <a:t>생성형</a:t>
            </a:r>
            <a:r>
              <a:rPr dirty="0"/>
              <a:t> AI </a:t>
            </a:r>
            <a:r>
              <a:rPr dirty="0" err="1"/>
              <a:t>챗봇의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위험과</a:t>
            </a:r>
            <a:r>
              <a:rPr dirty="0"/>
              <a:t> </a:t>
            </a:r>
            <a:r>
              <a:rPr dirty="0" err="1"/>
              <a:t>운영통제</a:t>
            </a:r>
            <a:r>
              <a:rPr dirty="0"/>
              <a:t> </a:t>
            </a:r>
            <a:r>
              <a:rPr dirty="0" err="1"/>
              <a:t>연구</a:t>
            </a:r>
            <a:endParaRPr dirty="0"/>
          </a:p>
        </p:txBody>
      </p:sp>
      <p:sp>
        <p:nvSpPr>
          <p:cNvPr id="30" name="Text 3"/>
          <p:cNvSpPr txBox="1"/>
          <p:nvPr/>
        </p:nvSpPr>
        <p:spPr>
          <a:xfrm>
            <a:off x="329184" y="1336905"/>
            <a:ext cx="4754880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D7585"/>
                </a:solidFill>
              </a:defRPr>
            </a:lvl1pPr>
          </a:lstStyle>
          <a:p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입력·응답·로그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과정의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</a:t>
            </a:r>
            <a:endParaRPr dirty="0"/>
          </a:p>
        </p:txBody>
      </p:sp>
      <p:sp>
        <p:nvSpPr>
          <p:cNvPr id="41" name="Shape 14"/>
          <p:cNvSpPr/>
          <p:nvPr/>
        </p:nvSpPr>
        <p:spPr>
          <a:xfrm>
            <a:off x="310895" y="1935839"/>
            <a:ext cx="3520442" cy="1325881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EE7F0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Shape 15"/>
          <p:cNvSpPr/>
          <p:nvPr/>
        </p:nvSpPr>
        <p:spPr>
          <a:xfrm>
            <a:off x="566927" y="2050139"/>
            <a:ext cx="347473" cy="274321"/>
          </a:xfrm>
          <a:prstGeom prst="roundRect">
            <a:avLst>
              <a:gd name="adj" fmla="val 23333"/>
            </a:avLst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" name="Text 16"/>
          <p:cNvSpPr txBox="1"/>
          <p:nvPr/>
        </p:nvSpPr>
        <p:spPr>
          <a:xfrm>
            <a:off x="566927" y="2081127"/>
            <a:ext cx="34747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44" name="Text 17"/>
          <p:cNvSpPr txBox="1"/>
          <p:nvPr/>
        </p:nvSpPr>
        <p:spPr>
          <a:xfrm>
            <a:off x="1024128" y="2048107"/>
            <a:ext cx="2606040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F2B45"/>
                </a:solidFill>
              </a:defRPr>
            </a:lvl1pPr>
          </a:lstStyle>
          <a:p>
            <a:r>
              <a:rPr sz="1400" dirty="0" err="1"/>
              <a:t>연구배경</a:t>
            </a:r>
            <a:r>
              <a:rPr sz="1400" dirty="0"/>
              <a:t> 및 </a:t>
            </a:r>
            <a:r>
              <a:rPr sz="1400" dirty="0" err="1"/>
              <a:t>필요성</a:t>
            </a:r>
            <a:endParaRPr sz="1400" dirty="0"/>
          </a:p>
        </p:txBody>
      </p:sp>
      <p:sp>
        <p:nvSpPr>
          <p:cNvPr id="45" name="Shape 18"/>
          <p:cNvSpPr/>
          <p:nvPr/>
        </p:nvSpPr>
        <p:spPr>
          <a:xfrm>
            <a:off x="530351" y="2516483"/>
            <a:ext cx="73153" cy="73153"/>
          </a:xfrm>
          <a:prstGeom prst="ellipse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" name="Text 19"/>
          <p:cNvSpPr txBox="1"/>
          <p:nvPr/>
        </p:nvSpPr>
        <p:spPr>
          <a:xfrm>
            <a:off x="694943" y="2423520"/>
            <a:ext cx="2898650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6" tIns="126" rIns="126" bIns="126" anchor="ctr">
            <a:normAutofit/>
          </a:bodyPr>
          <a:lstStyle>
            <a:lvl1pPr>
              <a:defRPr sz="800">
                <a:solidFill>
                  <a:srgbClr val="1F2B45"/>
                </a:solidFill>
              </a:defRPr>
            </a:lvl1pPr>
          </a:lstStyle>
          <a:p>
            <a:r>
              <a:rPr dirty="0" err="1"/>
              <a:t>프롬프트에</a:t>
            </a:r>
            <a:r>
              <a:rPr dirty="0"/>
              <a:t> </a:t>
            </a:r>
            <a:r>
              <a:rPr dirty="0" err="1"/>
              <a:t>이름·연락처·주소</a:t>
            </a:r>
            <a:r>
              <a:rPr dirty="0"/>
              <a:t> 등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유입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47" name="Shape 20"/>
          <p:cNvSpPr/>
          <p:nvPr/>
        </p:nvSpPr>
        <p:spPr>
          <a:xfrm>
            <a:off x="530351" y="2763372"/>
            <a:ext cx="73153" cy="73153"/>
          </a:xfrm>
          <a:prstGeom prst="ellipse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Text 21"/>
          <p:cNvSpPr txBox="1"/>
          <p:nvPr/>
        </p:nvSpPr>
        <p:spPr>
          <a:xfrm>
            <a:off x="694943" y="2670407"/>
            <a:ext cx="2898650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6" tIns="126" rIns="126" bIns="126" anchor="ctr">
            <a:normAutofit/>
          </a:bodyPr>
          <a:lstStyle>
            <a:lvl1pPr>
              <a:defRPr sz="800">
                <a:solidFill>
                  <a:srgbClr val="1F2B45"/>
                </a:solidFill>
              </a:defRPr>
            </a:lvl1pPr>
          </a:lstStyle>
          <a:p>
            <a:r>
              <a:rPr dirty="0" err="1"/>
              <a:t>입력·처리·응답·로그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과정에서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유출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발생</a:t>
            </a:r>
            <a:endParaRPr dirty="0"/>
          </a:p>
        </p:txBody>
      </p:sp>
      <p:sp>
        <p:nvSpPr>
          <p:cNvPr id="49" name="Shape 22"/>
          <p:cNvSpPr/>
          <p:nvPr/>
        </p:nvSpPr>
        <p:spPr>
          <a:xfrm>
            <a:off x="585216" y="2967587"/>
            <a:ext cx="2907793" cy="182881"/>
          </a:xfrm>
          <a:prstGeom prst="roundRect">
            <a:avLst>
              <a:gd name="adj" fmla="val 30000"/>
            </a:avLst>
          </a:prstGeom>
          <a:solidFill>
            <a:srgbClr val="DDF7F2"/>
          </a:solidFill>
          <a:ln w="12700">
            <a:solidFill>
              <a:srgbClr val="DDF7F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" name="Text 23"/>
          <p:cNvSpPr txBox="1"/>
          <p:nvPr/>
        </p:nvSpPr>
        <p:spPr>
          <a:xfrm>
            <a:off x="612648" y="2978255"/>
            <a:ext cx="2852929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008B78"/>
                </a:solidFill>
              </a:defRPr>
            </a:lvl1pPr>
          </a:lstStyle>
          <a:p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위험에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운영통제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  <p:sp>
        <p:nvSpPr>
          <p:cNvPr id="51" name="Shape 24"/>
          <p:cNvSpPr/>
          <p:nvPr/>
        </p:nvSpPr>
        <p:spPr>
          <a:xfrm>
            <a:off x="4041647" y="1935839"/>
            <a:ext cx="3520442" cy="1325881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EE7F0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" name="Shape 25"/>
          <p:cNvSpPr/>
          <p:nvPr/>
        </p:nvSpPr>
        <p:spPr>
          <a:xfrm>
            <a:off x="4297679" y="2050139"/>
            <a:ext cx="347473" cy="274321"/>
          </a:xfrm>
          <a:prstGeom prst="roundRect">
            <a:avLst>
              <a:gd name="adj" fmla="val 23333"/>
            </a:avLst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" name="Text 26"/>
          <p:cNvSpPr txBox="1"/>
          <p:nvPr/>
        </p:nvSpPr>
        <p:spPr>
          <a:xfrm>
            <a:off x="4297679" y="2081127"/>
            <a:ext cx="34747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54" name="Text 27"/>
          <p:cNvSpPr txBox="1"/>
          <p:nvPr/>
        </p:nvSpPr>
        <p:spPr>
          <a:xfrm>
            <a:off x="4754879" y="2048107"/>
            <a:ext cx="260604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F2B45"/>
                </a:solidFill>
              </a:defRPr>
            </a:lvl1pPr>
          </a:lstStyle>
          <a:p>
            <a:r>
              <a:rPr sz="1400" dirty="0" err="1"/>
              <a:t>연구목적</a:t>
            </a:r>
            <a:endParaRPr sz="1400" dirty="0"/>
          </a:p>
        </p:txBody>
      </p:sp>
      <p:sp>
        <p:nvSpPr>
          <p:cNvPr id="55" name="Text 28"/>
          <p:cNvSpPr txBox="1"/>
          <p:nvPr/>
        </p:nvSpPr>
        <p:spPr>
          <a:xfrm>
            <a:off x="4315967" y="2425044"/>
            <a:ext cx="297180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">
                <a:solidFill>
                  <a:srgbClr val="1F2B45"/>
                </a:solidFill>
              </a:defRPr>
            </a:lvl1pPr>
          </a:lstStyle>
          <a:p>
            <a:r>
              <a:t>생성형 AI 챗봇 운영 과정의 개인정보 위험을 분석하고, 관련 법령 기반 운영통제 적용방안을 검토</a:t>
            </a:r>
          </a:p>
        </p:txBody>
      </p:sp>
      <p:sp>
        <p:nvSpPr>
          <p:cNvPr id="56" name="Shape 29"/>
          <p:cNvSpPr/>
          <p:nvPr/>
        </p:nvSpPr>
        <p:spPr>
          <a:xfrm>
            <a:off x="4315967" y="2763372"/>
            <a:ext cx="2834642" cy="1"/>
          </a:xfrm>
          <a:prstGeom prst="line">
            <a:avLst/>
          </a:prstGeom>
          <a:ln w="12700">
            <a:solidFill>
              <a:srgbClr val="DEE7F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Text 30"/>
          <p:cNvSpPr txBox="1"/>
          <p:nvPr/>
        </p:nvSpPr>
        <p:spPr>
          <a:xfrm>
            <a:off x="4315967" y="2827379"/>
            <a:ext cx="301752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" b="1">
                <a:solidFill>
                  <a:srgbClr val="1F2B45"/>
                </a:solidFill>
              </a:defRPr>
            </a:lvl1pPr>
          </a:lstStyle>
          <a:p>
            <a:r>
              <a:rPr sz="700" dirty="0" err="1"/>
              <a:t>연구문제</a:t>
            </a:r>
            <a:r>
              <a:rPr sz="700" dirty="0"/>
              <a:t> 1. </a:t>
            </a:r>
            <a:r>
              <a:rPr sz="700" dirty="0" err="1"/>
              <a:t>챗봇</a:t>
            </a:r>
            <a:r>
              <a:rPr sz="700" dirty="0"/>
              <a:t> </a:t>
            </a:r>
            <a:r>
              <a:rPr sz="700" dirty="0" err="1"/>
              <a:t>운영</a:t>
            </a:r>
            <a:r>
              <a:rPr sz="700" dirty="0"/>
              <a:t> </a:t>
            </a:r>
            <a:r>
              <a:rPr sz="700" dirty="0" err="1"/>
              <a:t>과정에서</a:t>
            </a:r>
            <a:r>
              <a:rPr sz="700" dirty="0"/>
              <a:t> </a:t>
            </a:r>
            <a:r>
              <a:rPr sz="700" dirty="0" err="1"/>
              <a:t>어떤</a:t>
            </a:r>
            <a:r>
              <a:rPr sz="700" dirty="0"/>
              <a:t> </a:t>
            </a:r>
            <a:r>
              <a:rPr sz="700" dirty="0" err="1"/>
              <a:t>개인정보</a:t>
            </a:r>
            <a:r>
              <a:rPr sz="700" dirty="0"/>
              <a:t> </a:t>
            </a:r>
            <a:r>
              <a:rPr sz="700" dirty="0" err="1"/>
              <a:t>위험이</a:t>
            </a:r>
            <a:r>
              <a:rPr sz="700" dirty="0"/>
              <a:t> </a:t>
            </a:r>
            <a:r>
              <a:rPr sz="700" dirty="0" err="1"/>
              <a:t>발생하는가</a:t>
            </a:r>
            <a:r>
              <a:rPr sz="700" dirty="0"/>
              <a:t>?</a:t>
            </a:r>
          </a:p>
        </p:txBody>
      </p:sp>
      <p:sp>
        <p:nvSpPr>
          <p:cNvPr id="58" name="Text 31"/>
          <p:cNvSpPr txBox="1"/>
          <p:nvPr/>
        </p:nvSpPr>
        <p:spPr>
          <a:xfrm>
            <a:off x="4315967" y="2991972"/>
            <a:ext cx="301752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" b="1">
                <a:solidFill>
                  <a:srgbClr val="1F2B45"/>
                </a:solidFill>
              </a:defRPr>
            </a:lvl1pPr>
          </a:lstStyle>
          <a:p>
            <a:r>
              <a:rPr sz="700" dirty="0" err="1"/>
              <a:t>연구문제</a:t>
            </a:r>
            <a:r>
              <a:rPr sz="700" dirty="0"/>
              <a:t> 2. </a:t>
            </a:r>
            <a:r>
              <a:rPr sz="700" dirty="0" err="1"/>
              <a:t>이러한</a:t>
            </a:r>
            <a:r>
              <a:rPr sz="700" dirty="0"/>
              <a:t> </a:t>
            </a:r>
            <a:r>
              <a:rPr sz="700" dirty="0" err="1"/>
              <a:t>위험을</a:t>
            </a:r>
            <a:r>
              <a:rPr sz="700" dirty="0"/>
              <a:t> </a:t>
            </a:r>
            <a:r>
              <a:rPr sz="700" dirty="0" err="1"/>
              <a:t>어떤</a:t>
            </a:r>
            <a:r>
              <a:rPr sz="700" dirty="0"/>
              <a:t> </a:t>
            </a:r>
            <a:r>
              <a:rPr sz="700" dirty="0" err="1"/>
              <a:t>운영통제로</a:t>
            </a:r>
            <a:r>
              <a:rPr sz="700" dirty="0"/>
              <a:t> </a:t>
            </a:r>
            <a:r>
              <a:rPr sz="700" dirty="0" err="1"/>
              <a:t>관리할</a:t>
            </a:r>
            <a:r>
              <a:rPr sz="700" dirty="0"/>
              <a:t> 수 </a:t>
            </a:r>
            <a:r>
              <a:rPr sz="700" dirty="0" err="1"/>
              <a:t>있는가</a:t>
            </a:r>
            <a:r>
              <a:rPr sz="700" dirty="0"/>
              <a:t>?</a:t>
            </a:r>
          </a:p>
        </p:txBody>
      </p:sp>
      <p:sp>
        <p:nvSpPr>
          <p:cNvPr id="59" name="Shape 32"/>
          <p:cNvSpPr/>
          <p:nvPr/>
        </p:nvSpPr>
        <p:spPr>
          <a:xfrm>
            <a:off x="7772400" y="1935839"/>
            <a:ext cx="4105656" cy="1325881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EE7F0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" name="Shape 33"/>
          <p:cNvSpPr/>
          <p:nvPr/>
        </p:nvSpPr>
        <p:spPr>
          <a:xfrm>
            <a:off x="8028431" y="2050139"/>
            <a:ext cx="347473" cy="274321"/>
          </a:xfrm>
          <a:prstGeom prst="roundRect">
            <a:avLst>
              <a:gd name="adj" fmla="val 23333"/>
            </a:avLst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" name="Text 34"/>
          <p:cNvSpPr txBox="1"/>
          <p:nvPr/>
        </p:nvSpPr>
        <p:spPr>
          <a:xfrm>
            <a:off x="8028431" y="2081127"/>
            <a:ext cx="34747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62" name="Text 35"/>
          <p:cNvSpPr txBox="1"/>
          <p:nvPr/>
        </p:nvSpPr>
        <p:spPr>
          <a:xfrm>
            <a:off x="8468867" y="2048107"/>
            <a:ext cx="3191257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F2B45"/>
                </a:solidFill>
              </a:defRPr>
            </a:lvl1pPr>
          </a:lstStyle>
          <a:p>
            <a:r>
              <a:rPr sz="1400" dirty="0" err="1"/>
              <a:t>연구범위</a:t>
            </a:r>
            <a:r>
              <a:rPr sz="1400" dirty="0"/>
              <a:t> 및 </a:t>
            </a:r>
            <a:r>
              <a:rPr sz="1400" dirty="0" err="1"/>
              <a:t>방법</a:t>
            </a:r>
            <a:endParaRPr sz="1400" dirty="0"/>
          </a:p>
        </p:txBody>
      </p:sp>
      <p:sp>
        <p:nvSpPr>
          <p:cNvPr id="63" name="Shape 36"/>
          <p:cNvSpPr/>
          <p:nvPr/>
        </p:nvSpPr>
        <p:spPr>
          <a:xfrm>
            <a:off x="8092440" y="2406755"/>
            <a:ext cx="1508761" cy="411482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12700">
            <a:solidFill>
              <a:srgbClr val="CFDCEC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" name="Text 37"/>
          <p:cNvSpPr txBox="1"/>
          <p:nvPr/>
        </p:nvSpPr>
        <p:spPr>
          <a:xfrm>
            <a:off x="8211311" y="2492607"/>
            <a:ext cx="1271017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defTabSz="813816">
              <a:defRPr sz="712" b="1">
                <a:solidFill>
                  <a:srgbClr val="1F2B45"/>
                </a:solidFill>
              </a:defRPr>
            </a:pPr>
            <a:r>
              <a:rPr sz="700" dirty="0" err="1"/>
              <a:t>주요</a:t>
            </a:r>
            <a:r>
              <a:rPr sz="700" dirty="0"/>
              <a:t> </a:t>
            </a:r>
            <a:r>
              <a:rPr sz="700" dirty="0" err="1"/>
              <a:t>검토</a:t>
            </a:r>
            <a:r>
              <a:rPr sz="700" dirty="0"/>
              <a:t> </a:t>
            </a:r>
            <a:r>
              <a:rPr sz="700" dirty="0" err="1"/>
              <a:t>법령</a:t>
            </a:r>
            <a:endParaRPr sz="700" dirty="0"/>
          </a:p>
          <a:p>
            <a:pPr defTabSz="813816">
              <a:defRPr sz="712" b="1">
                <a:solidFill>
                  <a:srgbClr val="1F2B45"/>
                </a:solidFill>
              </a:defRPr>
            </a:pPr>
            <a:r>
              <a:rPr sz="700" dirty="0" err="1"/>
              <a:t>인공지능기본법</a:t>
            </a:r>
            <a:r>
              <a:rPr sz="700" dirty="0"/>
              <a:t> 제32·34조</a:t>
            </a:r>
          </a:p>
        </p:txBody>
      </p:sp>
      <p:sp>
        <p:nvSpPr>
          <p:cNvPr id="65" name="Shape 38"/>
          <p:cNvSpPr/>
          <p:nvPr/>
        </p:nvSpPr>
        <p:spPr>
          <a:xfrm>
            <a:off x="10085831" y="2406755"/>
            <a:ext cx="1389889" cy="411482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12700">
            <a:solidFill>
              <a:srgbClr val="CFDCEC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" name="Text 39"/>
          <p:cNvSpPr txBox="1"/>
          <p:nvPr/>
        </p:nvSpPr>
        <p:spPr>
          <a:xfrm>
            <a:off x="10195559" y="2492607"/>
            <a:ext cx="1170433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/>
          <a:p>
            <a:pPr defTabSz="813816">
              <a:defRPr sz="712" b="1">
                <a:solidFill>
                  <a:srgbClr val="1F2B45"/>
                </a:solidFill>
              </a:defRPr>
            </a:pPr>
            <a:r>
              <a:rPr sz="700" dirty="0" err="1"/>
              <a:t>연계</a:t>
            </a:r>
            <a:r>
              <a:rPr sz="700" dirty="0"/>
              <a:t> </a:t>
            </a:r>
            <a:r>
              <a:rPr sz="700" dirty="0" err="1"/>
              <a:t>법령</a:t>
            </a:r>
            <a:endParaRPr sz="700" dirty="0"/>
          </a:p>
          <a:p>
            <a:pPr defTabSz="813816">
              <a:defRPr sz="712" b="1">
                <a:solidFill>
                  <a:srgbClr val="1F2B45"/>
                </a:solidFill>
              </a:defRPr>
            </a:pPr>
            <a:r>
              <a:rPr sz="700" dirty="0" err="1"/>
              <a:t>개인정보보호법</a:t>
            </a:r>
            <a:r>
              <a:rPr sz="700" dirty="0"/>
              <a:t> 제15·29조</a:t>
            </a:r>
          </a:p>
        </p:txBody>
      </p:sp>
      <p:sp>
        <p:nvSpPr>
          <p:cNvPr id="67" name="Shape 40"/>
          <p:cNvSpPr/>
          <p:nvPr/>
        </p:nvSpPr>
        <p:spPr>
          <a:xfrm>
            <a:off x="9637776" y="2607923"/>
            <a:ext cx="384049" cy="1"/>
          </a:xfrm>
          <a:prstGeom prst="line">
            <a:avLst/>
          </a:prstGeom>
          <a:ln w="15240">
            <a:solidFill>
              <a:srgbClr val="DEE7F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Text 41"/>
          <p:cNvSpPr txBox="1"/>
          <p:nvPr/>
        </p:nvSpPr>
        <p:spPr>
          <a:xfrm>
            <a:off x="8083295" y="2873099"/>
            <a:ext cx="566929" cy="146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700" b="1">
                <a:solidFill>
                  <a:srgbClr val="008B78"/>
                </a:solidFill>
              </a:defRPr>
            </a:lvl1pPr>
          </a:lstStyle>
          <a:p>
            <a:r>
              <a:t>분석 기준</a:t>
            </a:r>
          </a:p>
        </p:txBody>
      </p:sp>
      <p:sp>
        <p:nvSpPr>
          <p:cNvPr id="69" name="Text 42"/>
          <p:cNvSpPr txBox="1"/>
          <p:nvPr/>
        </p:nvSpPr>
        <p:spPr>
          <a:xfrm>
            <a:off x="8823959" y="2873099"/>
            <a:ext cx="2834641" cy="146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700">
                <a:solidFill>
                  <a:srgbClr val="1F2B45"/>
                </a:solidFill>
              </a:defRPr>
            </a:lvl1pPr>
          </a:lstStyle>
          <a:p>
            <a:r>
              <a:t>유입 위험 · 노출 지점 · 통제수단 · 사업자 책임</a:t>
            </a:r>
          </a:p>
        </p:txBody>
      </p:sp>
      <p:sp>
        <p:nvSpPr>
          <p:cNvPr id="70" name="Text 43"/>
          <p:cNvSpPr txBox="1"/>
          <p:nvPr/>
        </p:nvSpPr>
        <p:spPr>
          <a:xfrm>
            <a:off x="8083295" y="3037692"/>
            <a:ext cx="566929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700" b="1">
                <a:solidFill>
                  <a:srgbClr val="008B78"/>
                </a:solidFill>
              </a:defRPr>
            </a:lvl1pPr>
          </a:lstStyle>
          <a:p>
            <a:r>
              <a:t>연구방법</a:t>
            </a:r>
          </a:p>
        </p:txBody>
      </p:sp>
      <p:sp>
        <p:nvSpPr>
          <p:cNvPr id="71" name="Text 44"/>
          <p:cNvSpPr txBox="1"/>
          <p:nvPr/>
        </p:nvSpPr>
        <p:spPr>
          <a:xfrm>
            <a:off x="8823959" y="3037692"/>
            <a:ext cx="283464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700">
                <a:solidFill>
                  <a:srgbClr val="1F2B45"/>
                </a:solidFill>
              </a:defRPr>
            </a:lvl1pPr>
          </a:lstStyle>
          <a:p>
            <a:r>
              <a:t>조문·문헌 분석 → 위험 도출 → 흐름별 통제 매핑</a:t>
            </a:r>
          </a:p>
        </p:txBody>
      </p:sp>
      <p:sp>
        <p:nvSpPr>
          <p:cNvPr id="72" name="Shape 45"/>
          <p:cNvSpPr/>
          <p:nvPr/>
        </p:nvSpPr>
        <p:spPr>
          <a:xfrm>
            <a:off x="310895" y="3536040"/>
            <a:ext cx="8083297" cy="2487169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EE7F0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" name="Shape 46"/>
          <p:cNvSpPr/>
          <p:nvPr/>
        </p:nvSpPr>
        <p:spPr>
          <a:xfrm>
            <a:off x="621791" y="3773784"/>
            <a:ext cx="347473" cy="274321"/>
          </a:xfrm>
          <a:prstGeom prst="roundRect">
            <a:avLst>
              <a:gd name="adj" fmla="val 23333"/>
            </a:avLst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Text 47"/>
          <p:cNvSpPr txBox="1"/>
          <p:nvPr/>
        </p:nvSpPr>
        <p:spPr>
          <a:xfrm>
            <a:off x="621791" y="3804771"/>
            <a:ext cx="34747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75" name="Text 48"/>
          <p:cNvSpPr txBox="1"/>
          <p:nvPr/>
        </p:nvSpPr>
        <p:spPr>
          <a:xfrm>
            <a:off x="1078991" y="3755496"/>
            <a:ext cx="4937762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400" b="1">
                <a:solidFill>
                  <a:srgbClr val="1F2B45"/>
                </a:solidFill>
              </a:defRPr>
            </a:lvl1pPr>
          </a:lstStyle>
          <a:p>
            <a:r>
              <a:rPr dirty="0" err="1"/>
              <a:t>챗봇</a:t>
            </a:r>
            <a:r>
              <a:rPr dirty="0"/>
              <a:t> </a:t>
            </a:r>
            <a:r>
              <a:rPr dirty="0" err="1"/>
              <a:t>이용</a:t>
            </a:r>
            <a:r>
              <a:rPr dirty="0"/>
              <a:t> </a:t>
            </a:r>
            <a:r>
              <a:rPr dirty="0" err="1"/>
              <a:t>흐름별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위험·통제</a:t>
            </a:r>
            <a:r>
              <a:rPr dirty="0"/>
              <a:t> </a:t>
            </a:r>
            <a:r>
              <a:rPr dirty="0" err="1"/>
              <a:t>매핑</a:t>
            </a:r>
            <a:endParaRPr dirty="0"/>
          </a:p>
        </p:txBody>
      </p:sp>
      <p:sp>
        <p:nvSpPr>
          <p:cNvPr id="76" name="Text 49"/>
          <p:cNvSpPr txBox="1"/>
          <p:nvPr/>
        </p:nvSpPr>
        <p:spPr>
          <a:xfrm>
            <a:off x="621791" y="4084679"/>
            <a:ext cx="68580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">
                <a:solidFill>
                  <a:srgbClr val="6D7585"/>
                </a:solidFill>
              </a:defRPr>
            </a:lvl1pPr>
          </a:lstStyle>
          <a:p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입력부터</a:t>
            </a:r>
            <a:r>
              <a:rPr dirty="0"/>
              <a:t> </a:t>
            </a:r>
            <a:r>
              <a:rPr dirty="0" err="1"/>
              <a:t>응답·로그</a:t>
            </a:r>
            <a:r>
              <a:rPr dirty="0"/>
              <a:t> </a:t>
            </a:r>
            <a:r>
              <a:rPr dirty="0" err="1"/>
              <a:t>저장까지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유입</a:t>
            </a:r>
            <a:r>
              <a:rPr dirty="0"/>
              <a:t>/</a:t>
            </a:r>
            <a:r>
              <a:rPr dirty="0" err="1"/>
              <a:t>유출</a:t>
            </a:r>
            <a:r>
              <a:rPr dirty="0"/>
              <a:t> </a:t>
            </a:r>
            <a:r>
              <a:rPr dirty="0" err="1"/>
              <a:t>지점과</a:t>
            </a:r>
            <a:r>
              <a:rPr dirty="0"/>
              <a:t> </a:t>
            </a:r>
            <a:r>
              <a:rPr dirty="0" err="1"/>
              <a:t>통제수단을</a:t>
            </a:r>
            <a:r>
              <a:rPr dirty="0"/>
              <a:t> </a:t>
            </a:r>
            <a:r>
              <a:rPr dirty="0" err="1"/>
              <a:t>단계별로</a:t>
            </a:r>
            <a:r>
              <a:rPr dirty="0"/>
              <a:t> </a:t>
            </a:r>
            <a:r>
              <a:rPr dirty="0" err="1"/>
              <a:t>검토</a:t>
            </a:r>
            <a:endParaRPr dirty="0"/>
          </a:p>
        </p:txBody>
      </p:sp>
      <p:sp>
        <p:nvSpPr>
          <p:cNvPr id="77" name="Shape 50"/>
          <p:cNvSpPr/>
          <p:nvPr/>
        </p:nvSpPr>
        <p:spPr>
          <a:xfrm>
            <a:off x="640080" y="4468728"/>
            <a:ext cx="1124712" cy="530353"/>
          </a:xfrm>
          <a:prstGeom prst="roundRect">
            <a:avLst>
              <a:gd name="adj" fmla="val 12069"/>
            </a:avLst>
          </a:prstGeom>
          <a:solidFill>
            <a:srgbClr val="EEF4FB"/>
          </a:solidFill>
          <a:ln w="12700">
            <a:solidFill>
              <a:srgbClr val="DDE8F2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Text 51"/>
          <p:cNvSpPr txBox="1"/>
          <p:nvPr/>
        </p:nvSpPr>
        <p:spPr>
          <a:xfrm>
            <a:off x="694944" y="4553055"/>
            <a:ext cx="101498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lang="ko-KR" altLang="en-US" sz="800" dirty="0"/>
              <a:t>고객</a:t>
            </a:r>
          </a:p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lang="ko-KR" altLang="en-US" sz="800" dirty="0"/>
              <a:t>프롬프트 입력</a:t>
            </a:r>
          </a:p>
        </p:txBody>
      </p:sp>
      <p:sp>
        <p:nvSpPr>
          <p:cNvPr id="79" name="Shape 52"/>
          <p:cNvSpPr/>
          <p:nvPr/>
        </p:nvSpPr>
        <p:spPr>
          <a:xfrm>
            <a:off x="1856232" y="4733903"/>
            <a:ext cx="320041" cy="1"/>
          </a:xfrm>
          <a:prstGeom prst="line">
            <a:avLst/>
          </a:prstGeom>
          <a:ln w="21590">
            <a:solidFill>
              <a:srgbClr val="00A98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" name="Shape 53"/>
          <p:cNvSpPr/>
          <p:nvPr/>
        </p:nvSpPr>
        <p:spPr>
          <a:xfrm>
            <a:off x="612648" y="5236823"/>
            <a:ext cx="1179576" cy="237745"/>
          </a:xfrm>
          <a:prstGeom prst="roundRect">
            <a:avLst>
              <a:gd name="adj" fmla="val 23077"/>
            </a:avLst>
          </a:prstGeom>
          <a:solidFill>
            <a:srgbClr val="FCEAEA"/>
          </a:solidFill>
          <a:ln w="12700">
            <a:solidFill>
              <a:srgbClr val="FCEA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Text 54"/>
          <p:cNvSpPr txBox="1"/>
          <p:nvPr/>
        </p:nvSpPr>
        <p:spPr>
          <a:xfrm>
            <a:off x="640080" y="5255111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C64848"/>
                </a:solidFill>
              </a:defRPr>
            </a:lvl1pPr>
          </a:lstStyle>
          <a:p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유입</a:t>
            </a:r>
            <a:endParaRPr dirty="0"/>
          </a:p>
        </p:txBody>
      </p:sp>
      <p:sp>
        <p:nvSpPr>
          <p:cNvPr id="82" name="Shape 55"/>
          <p:cNvSpPr/>
          <p:nvPr/>
        </p:nvSpPr>
        <p:spPr>
          <a:xfrm>
            <a:off x="612648" y="5639159"/>
            <a:ext cx="1179576" cy="237745"/>
          </a:xfrm>
          <a:prstGeom prst="roundRect">
            <a:avLst>
              <a:gd name="adj" fmla="val 23077"/>
            </a:avLst>
          </a:prstGeom>
          <a:solidFill>
            <a:srgbClr val="DFF8F3"/>
          </a:solidFill>
          <a:ln w="12700">
            <a:solidFill>
              <a:srgbClr val="DFF8F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Text 56"/>
          <p:cNvSpPr txBox="1"/>
          <p:nvPr/>
        </p:nvSpPr>
        <p:spPr>
          <a:xfrm>
            <a:off x="640080" y="5657447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008B78"/>
                </a:solidFill>
              </a:defRPr>
            </a:lvl1pPr>
          </a:lstStyle>
          <a:p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최소화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</p:txBody>
      </p:sp>
      <p:sp>
        <p:nvSpPr>
          <p:cNvPr id="84" name="Shape 57"/>
          <p:cNvSpPr/>
          <p:nvPr/>
        </p:nvSpPr>
        <p:spPr>
          <a:xfrm>
            <a:off x="2267711" y="4468728"/>
            <a:ext cx="1124713" cy="530353"/>
          </a:xfrm>
          <a:prstGeom prst="roundRect">
            <a:avLst>
              <a:gd name="adj" fmla="val 12069"/>
            </a:avLst>
          </a:prstGeom>
          <a:solidFill>
            <a:srgbClr val="EEF4FB"/>
          </a:solidFill>
          <a:ln w="12700">
            <a:solidFill>
              <a:srgbClr val="DDE8F2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Text 58"/>
          <p:cNvSpPr txBox="1"/>
          <p:nvPr/>
        </p:nvSpPr>
        <p:spPr>
          <a:xfrm>
            <a:off x="2322576" y="4553055"/>
            <a:ext cx="101498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sz="800" dirty="0" err="1"/>
              <a:t>개인정보</a:t>
            </a:r>
            <a:endParaRPr sz="800" dirty="0"/>
          </a:p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sz="800" dirty="0" err="1"/>
              <a:t>탐지·분류</a:t>
            </a:r>
            <a:endParaRPr sz="800" dirty="0"/>
          </a:p>
        </p:txBody>
      </p:sp>
      <p:sp>
        <p:nvSpPr>
          <p:cNvPr id="86" name="Shape 59"/>
          <p:cNvSpPr/>
          <p:nvPr/>
        </p:nvSpPr>
        <p:spPr>
          <a:xfrm>
            <a:off x="3483864" y="4733903"/>
            <a:ext cx="320041" cy="1"/>
          </a:xfrm>
          <a:prstGeom prst="line">
            <a:avLst/>
          </a:prstGeom>
          <a:ln w="21590">
            <a:solidFill>
              <a:srgbClr val="00A98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Shape 60"/>
          <p:cNvSpPr/>
          <p:nvPr/>
        </p:nvSpPr>
        <p:spPr>
          <a:xfrm>
            <a:off x="2240279" y="5236823"/>
            <a:ext cx="1179577" cy="237745"/>
          </a:xfrm>
          <a:prstGeom prst="roundRect">
            <a:avLst>
              <a:gd name="adj" fmla="val 23077"/>
            </a:avLst>
          </a:prstGeom>
          <a:solidFill>
            <a:srgbClr val="FCEAEA"/>
          </a:solidFill>
          <a:ln w="12700">
            <a:solidFill>
              <a:srgbClr val="FCEA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Text 61"/>
          <p:cNvSpPr txBox="1"/>
          <p:nvPr/>
        </p:nvSpPr>
        <p:spPr>
          <a:xfrm>
            <a:off x="2267711" y="5255111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C64848"/>
                </a:solidFill>
              </a:defRPr>
            </a:lvl1pPr>
          </a:lstStyle>
          <a:p>
            <a:r>
              <a:t>탐지 누락</a:t>
            </a:r>
          </a:p>
        </p:txBody>
      </p:sp>
      <p:sp>
        <p:nvSpPr>
          <p:cNvPr id="89" name="Shape 62"/>
          <p:cNvSpPr/>
          <p:nvPr/>
        </p:nvSpPr>
        <p:spPr>
          <a:xfrm>
            <a:off x="2240279" y="5639159"/>
            <a:ext cx="1179577" cy="237745"/>
          </a:xfrm>
          <a:prstGeom prst="roundRect">
            <a:avLst>
              <a:gd name="adj" fmla="val 23077"/>
            </a:avLst>
          </a:prstGeom>
          <a:solidFill>
            <a:srgbClr val="DFF8F3"/>
          </a:solidFill>
          <a:ln w="12700">
            <a:solidFill>
              <a:srgbClr val="DFF8F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" name="Text 63"/>
          <p:cNvSpPr txBox="1"/>
          <p:nvPr/>
        </p:nvSpPr>
        <p:spPr>
          <a:xfrm>
            <a:off x="2267711" y="5657447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008B78"/>
                </a:solidFill>
              </a:defRPr>
            </a:lvl1pPr>
          </a:lstStyle>
          <a:p>
            <a:r>
              <a:t>패턴 탐지·분류</a:t>
            </a:r>
          </a:p>
        </p:txBody>
      </p:sp>
      <p:sp>
        <p:nvSpPr>
          <p:cNvPr id="91" name="Shape 64"/>
          <p:cNvSpPr/>
          <p:nvPr/>
        </p:nvSpPr>
        <p:spPr>
          <a:xfrm>
            <a:off x="3895344" y="4468728"/>
            <a:ext cx="1124712" cy="530353"/>
          </a:xfrm>
          <a:prstGeom prst="roundRect">
            <a:avLst>
              <a:gd name="adj" fmla="val 12069"/>
            </a:avLst>
          </a:prstGeom>
          <a:solidFill>
            <a:srgbClr val="1F2B45"/>
          </a:solidFill>
          <a:ln w="12700">
            <a:solidFill>
              <a:srgbClr val="1F2B45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Text 65"/>
          <p:cNvSpPr txBox="1"/>
          <p:nvPr/>
        </p:nvSpPr>
        <p:spPr>
          <a:xfrm>
            <a:off x="3950208" y="4553055"/>
            <a:ext cx="101498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800" dirty="0" err="1"/>
              <a:t>가드레일</a:t>
            </a:r>
            <a:endParaRPr sz="800" dirty="0"/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800" dirty="0" err="1"/>
              <a:t>마스킹·차단</a:t>
            </a:r>
            <a:endParaRPr sz="800" dirty="0"/>
          </a:p>
        </p:txBody>
      </p:sp>
      <p:sp>
        <p:nvSpPr>
          <p:cNvPr id="93" name="Shape 66"/>
          <p:cNvSpPr/>
          <p:nvPr/>
        </p:nvSpPr>
        <p:spPr>
          <a:xfrm>
            <a:off x="5111496" y="4733903"/>
            <a:ext cx="320041" cy="1"/>
          </a:xfrm>
          <a:prstGeom prst="line">
            <a:avLst/>
          </a:prstGeom>
          <a:ln w="21590">
            <a:solidFill>
              <a:srgbClr val="00A98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Shape 67"/>
          <p:cNvSpPr/>
          <p:nvPr/>
        </p:nvSpPr>
        <p:spPr>
          <a:xfrm>
            <a:off x="3867911" y="5236823"/>
            <a:ext cx="1179577" cy="237745"/>
          </a:xfrm>
          <a:prstGeom prst="roundRect">
            <a:avLst>
              <a:gd name="adj" fmla="val 23077"/>
            </a:avLst>
          </a:prstGeom>
          <a:solidFill>
            <a:srgbClr val="FCEAEA"/>
          </a:solidFill>
          <a:ln w="12700">
            <a:solidFill>
              <a:srgbClr val="FCEA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Text 68"/>
          <p:cNvSpPr txBox="1"/>
          <p:nvPr/>
        </p:nvSpPr>
        <p:spPr>
          <a:xfrm>
            <a:off x="3895344" y="5255111"/>
            <a:ext cx="1124712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C64848"/>
                </a:solidFill>
              </a:defRPr>
            </a:lvl1pPr>
          </a:lstStyle>
          <a:p>
            <a:r>
              <a:t>민감정보 미차단</a:t>
            </a:r>
          </a:p>
        </p:txBody>
      </p:sp>
      <p:sp>
        <p:nvSpPr>
          <p:cNvPr id="96" name="Shape 69"/>
          <p:cNvSpPr/>
          <p:nvPr/>
        </p:nvSpPr>
        <p:spPr>
          <a:xfrm>
            <a:off x="3867911" y="5639159"/>
            <a:ext cx="1179577" cy="237745"/>
          </a:xfrm>
          <a:prstGeom prst="roundRect">
            <a:avLst>
              <a:gd name="adj" fmla="val 23077"/>
            </a:avLst>
          </a:prstGeom>
          <a:solidFill>
            <a:srgbClr val="DFF8F3"/>
          </a:solidFill>
          <a:ln w="12700">
            <a:solidFill>
              <a:srgbClr val="DFF8F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Text 70"/>
          <p:cNvSpPr txBox="1"/>
          <p:nvPr/>
        </p:nvSpPr>
        <p:spPr>
          <a:xfrm>
            <a:off x="3895344" y="5657447"/>
            <a:ext cx="1124712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008B78"/>
                </a:solidFill>
              </a:defRPr>
            </a:lvl1pPr>
          </a:lstStyle>
          <a:p>
            <a:r>
              <a:t>마스킹·차단</a:t>
            </a:r>
          </a:p>
        </p:txBody>
      </p:sp>
      <p:sp>
        <p:nvSpPr>
          <p:cNvPr id="98" name="Shape 71"/>
          <p:cNvSpPr/>
          <p:nvPr/>
        </p:nvSpPr>
        <p:spPr>
          <a:xfrm>
            <a:off x="5522976" y="4468728"/>
            <a:ext cx="1124713" cy="530353"/>
          </a:xfrm>
          <a:prstGeom prst="roundRect">
            <a:avLst>
              <a:gd name="adj" fmla="val 12069"/>
            </a:avLst>
          </a:prstGeom>
          <a:solidFill>
            <a:srgbClr val="EEF4FB"/>
          </a:solidFill>
          <a:ln w="12700">
            <a:solidFill>
              <a:srgbClr val="DDE8F2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Text 72"/>
          <p:cNvSpPr txBox="1"/>
          <p:nvPr/>
        </p:nvSpPr>
        <p:spPr>
          <a:xfrm>
            <a:off x="5577840" y="4553055"/>
            <a:ext cx="101498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sz="800" dirty="0" err="1"/>
              <a:t>답변</a:t>
            </a:r>
            <a:r>
              <a:rPr sz="800" dirty="0"/>
              <a:t> </a:t>
            </a:r>
            <a:r>
              <a:rPr sz="800" dirty="0" err="1"/>
              <a:t>생성</a:t>
            </a:r>
            <a:endParaRPr sz="800" dirty="0"/>
          </a:p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sz="800" dirty="0" err="1"/>
              <a:t>검증</a:t>
            </a:r>
            <a:endParaRPr sz="800" dirty="0"/>
          </a:p>
        </p:txBody>
      </p:sp>
      <p:sp>
        <p:nvSpPr>
          <p:cNvPr id="100" name="Shape 73"/>
          <p:cNvSpPr/>
          <p:nvPr/>
        </p:nvSpPr>
        <p:spPr>
          <a:xfrm>
            <a:off x="6739128" y="4733903"/>
            <a:ext cx="320041" cy="1"/>
          </a:xfrm>
          <a:prstGeom prst="line">
            <a:avLst/>
          </a:prstGeom>
          <a:ln w="21590">
            <a:solidFill>
              <a:srgbClr val="00A98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Shape 74"/>
          <p:cNvSpPr/>
          <p:nvPr/>
        </p:nvSpPr>
        <p:spPr>
          <a:xfrm>
            <a:off x="5495544" y="5236823"/>
            <a:ext cx="1179576" cy="237745"/>
          </a:xfrm>
          <a:prstGeom prst="roundRect">
            <a:avLst>
              <a:gd name="adj" fmla="val 23077"/>
            </a:avLst>
          </a:prstGeom>
          <a:solidFill>
            <a:srgbClr val="FCEAEA"/>
          </a:solidFill>
          <a:ln w="12700">
            <a:solidFill>
              <a:srgbClr val="FCEA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" name="Text 75"/>
          <p:cNvSpPr txBox="1"/>
          <p:nvPr/>
        </p:nvSpPr>
        <p:spPr>
          <a:xfrm>
            <a:off x="5522976" y="5255111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C64848"/>
                </a:solidFill>
              </a:defRPr>
            </a:lvl1pPr>
          </a:lstStyle>
          <a:p>
            <a:r>
              <a:t>과도한 개인화</a:t>
            </a:r>
          </a:p>
        </p:txBody>
      </p:sp>
      <p:sp>
        <p:nvSpPr>
          <p:cNvPr id="103" name="Shape 76"/>
          <p:cNvSpPr/>
          <p:nvPr/>
        </p:nvSpPr>
        <p:spPr>
          <a:xfrm>
            <a:off x="5495544" y="5639159"/>
            <a:ext cx="1179576" cy="237745"/>
          </a:xfrm>
          <a:prstGeom prst="roundRect">
            <a:avLst>
              <a:gd name="adj" fmla="val 23077"/>
            </a:avLst>
          </a:prstGeom>
          <a:solidFill>
            <a:srgbClr val="DFF8F3"/>
          </a:solidFill>
          <a:ln w="12700">
            <a:solidFill>
              <a:srgbClr val="DFF8F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Text 77"/>
          <p:cNvSpPr txBox="1"/>
          <p:nvPr/>
        </p:nvSpPr>
        <p:spPr>
          <a:xfrm>
            <a:off x="5522976" y="5657447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008B78"/>
                </a:solidFill>
              </a:defRPr>
            </a:lvl1pPr>
          </a:lstStyle>
          <a:p>
            <a:r>
              <a:t>응답 제한·검증</a:t>
            </a:r>
          </a:p>
        </p:txBody>
      </p:sp>
      <p:sp>
        <p:nvSpPr>
          <p:cNvPr id="105" name="Shape 78"/>
          <p:cNvSpPr/>
          <p:nvPr/>
        </p:nvSpPr>
        <p:spPr>
          <a:xfrm>
            <a:off x="7150607" y="4468728"/>
            <a:ext cx="1124713" cy="530353"/>
          </a:xfrm>
          <a:prstGeom prst="roundRect">
            <a:avLst>
              <a:gd name="adj" fmla="val 12069"/>
            </a:avLst>
          </a:prstGeom>
          <a:solidFill>
            <a:srgbClr val="EEF4FB"/>
          </a:solidFill>
          <a:ln w="12700">
            <a:solidFill>
              <a:srgbClr val="DDE8F2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Text 79"/>
          <p:cNvSpPr txBox="1"/>
          <p:nvPr/>
        </p:nvSpPr>
        <p:spPr>
          <a:xfrm>
            <a:off x="7205471" y="4553055"/>
            <a:ext cx="1014985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sz="800" dirty="0" err="1"/>
              <a:t>응답·로그</a:t>
            </a:r>
            <a:endParaRPr sz="800" dirty="0"/>
          </a:p>
          <a:p>
            <a:pPr algn="ctr">
              <a:defRPr sz="900" b="1">
                <a:solidFill>
                  <a:srgbClr val="1F2B45"/>
                </a:solidFill>
              </a:defRPr>
            </a:pPr>
            <a:r>
              <a:rPr sz="800" dirty="0" err="1"/>
              <a:t>관리</a:t>
            </a:r>
            <a:endParaRPr sz="800" dirty="0"/>
          </a:p>
        </p:txBody>
      </p:sp>
      <p:sp>
        <p:nvSpPr>
          <p:cNvPr id="107" name="Shape 80"/>
          <p:cNvSpPr/>
          <p:nvPr/>
        </p:nvSpPr>
        <p:spPr>
          <a:xfrm>
            <a:off x="7123176" y="5236823"/>
            <a:ext cx="1179577" cy="237745"/>
          </a:xfrm>
          <a:prstGeom prst="roundRect">
            <a:avLst>
              <a:gd name="adj" fmla="val 23077"/>
            </a:avLst>
          </a:prstGeom>
          <a:solidFill>
            <a:srgbClr val="FCEAEA"/>
          </a:solidFill>
          <a:ln w="12700">
            <a:solidFill>
              <a:srgbClr val="FCEA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Text 81"/>
          <p:cNvSpPr txBox="1"/>
          <p:nvPr/>
        </p:nvSpPr>
        <p:spPr>
          <a:xfrm>
            <a:off x="7150607" y="5255111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C64848"/>
                </a:solidFill>
              </a:defRPr>
            </a:lvl1pPr>
          </a:lstStyle>
          <a:p>
            <a:r>
              <a:t>로그 유출·장기보관</a:t>
            </a:r>
          </a:p>
        </p:txBody>
      </p:sp>
      <p:sp>
        <p:nvSpPr>
          <p:cNvPr id="109" name="Shape 82"/>
          <p:cNvSpPr/>
          <p:nvPr/>
        </p:nvSpPr>
        <p:spPr>
          <a:xfrm>
            <a:off x="7123176" y="5639159"/>
            <a:ext cx="1179577" cy="237745"/>
          </a:xfrm>
          <a:prstGeom prst="roundRect">
            <a:avLst>
              <a:gd name="adj" fmla="val 23077"/>
            </a:avLst>
          </a:prstGeom>
          <a:solidFill>
            <a:srgbClr val="DFF8F3"/>
          </a:solidFill>
          <a:ln w="12700">
            <a:solidFill>
              <a:srgbClr val="DFF8F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Text 83"/>
          <p:cNvSpPr txBox="1"/>
          <p:nvPr/>
        </p:nvSpPr>
        <p:spPr>
          <a:xfrm>
            <a:off x="7150607" y="5657447"/>
            <a:ext cx="112471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700" b="1">
                <a:solidFill>
                  <a:srgbClr val="008B78"/>
                </a:solidFill>
              </a:defRPr>
            </a:lvl1pPr>
          </a:lstStyle>
          <a:p>
            <a:r>
              <a:t>접근통제·파기</a:t>
            </a:r>
          </a:p>
        </p:txBody>
      </p:sp>
      <p:sp>
        <p:nvSpPr>
          <p:cNvPr id="111" name="Text 84"/>
          <p:cNvSpPr txBox="1"/>
          <p:nvPr/>
        </p:nvSpPr>
        <p:spPr>
          <a:xfrm>
            <a:off x="375412" y="5289655"/>
            <a:ext cx="182881" cy="137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 fontScale="85000" lnSpcReduction="10000"/>
          </a:bodyPr>
          <a:lstStyle>
            <a:lvl1pPr algn="ctr" defTabSz="841247">
              <a:defRPr sz="828" b="1">
                <a:solidFill>
                  <a:srgbClr val="C64848"/>
                </a:solidFill>
              </a:defRPr>
            </a:lvl1pPr>
          </a:lstStyle>
          <a:p>
            <a:r>
              <a:t>위험</a:t>
            </a:r>
          </a:p>
        </p:txBody>
      </p:sp>
      <p:sp>
        <p:nvSpPr>
          <p:cNvPr id="112" name="Text 85"/>
          <p:cNvSpPr txBox="1"/>
          <p:nvPr/>
        </p:nvSpPr>
        <p:spPr>
          <a:xfrm>
            <a:off x="375412" y="5691991"/>
            <a:ext cx="182881" cy="137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 fontScale="85000" lnSpcReduction="10000"/>
          </a:bodyPr>
          <a:lstStyle>
            <a:lvl1pPr algn="ctr" defTabSz="841247">
              <a:defRPr sz="828" b="1">
                <a:solidFill>
                  <a:srgbClr val="008B78"/>
                </a:solidFill>
              </a:defRPr>
            </a:lvl1pPr>
          </a:lstStyle>
          <a:p>
            <a:r>
              <a:t>통제</a:t>
            </a:r>
          </a:p>
        </p:txBody>
      </p:sp>
      <p:sp>
        <p:nvSpPr>
          <p:cNvPr id="113" name="Shape 86"/>
          <p:cNvSpPr/>
          <p:nvPr/>
        </p:nvSpPr>
        <p:spPr>
          <a:xfrm>
            <a:off x="8631935" y="3536040"/>
            <a:ext cx="3246121" cy="2487169"/>
          </a:xfrm>
          <a:prstGeom prst="roundRect">
            <a:avLst>
              <a:gd name="adj" fmla="val 3676"/>
            </a:avLst>
          </a:prstGeom>
          <a:solidFill>
            <a:srgbClr val="1F2B45"/>
          </a:solidFill>
          <a:ln w="12700">
            <a:solidFill>
              <a:srgbClr val="1A2741">
                <a:alpha val="995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Shape 87"/>
          <p:cNvSpPr/>
          <p:nvPr/>
        </p:nvSpPr>
        <p:spPr>
          <a:xfrm>
            <a:off x="8887968" y="3773784"/>
            <a:ext cx="347473" cy="274321"/>
          </a:xfrm>
          <a:prstGeom prst="roundRect">
            <a:avLst>
              <a:gd name="adj" fmla="val 23333"/>
            </a:avLst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88"/>
          <p:cNvSpPr txBox="1"/>
          <p:nvPr/>
        </p:nvSpPr>
        <p:spPr>
          <a:xfrm>
            <a:off x="8887968" y="3804771"/>
            <a:ext cx="34747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116" name="Text 89"/>
          <p:cNvSpPr txBox="1"/>
          <p:nvPr/>
        </p:nvSpPr>
        <p:spPr>
          <a:xfrm>
            <a:off x="9308592" y="3764640"/>
            <a:ext cx="21945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기대효과</a:t>
            </a:r>
          </a:p>
        </p:txBody>
      </p:sp>
      <p:sp>
        <p:nvSpPr>
          <p:cNvPr id="117" name="Shape 90"/>
          <p:cNvSpPr/>
          <p:nvPr/>
        </p:nvSpPr>
        <p:spPr>
          <a:xfrm>
            <a:off x="8909431" y="4340711"/>
            <a:ext cx="73153" cy="73153"/>
          </a:xfrm>
          <a:prstGeom prst="ellipse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Text 91"/>
          <p:cNvSpPr txBox="1"/>
          <p:nvPr/>
        </p:nvSpPr>
        <p:spPr>
          <a:xfrm>
            <a:off x="9074023" y="4247747"/>
            <a:ext cx="28346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6" tIns="126" rIns="126" bIns="126" anchor="ctr">
            <a:norm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생성형</a:t>
            </a:r>
            <a:r>
              <a:rPr dirty="0"/>
              <a:t> AI </a:t>
            </a:r>
            <a:r>
              <a:rPr dirty="0" err="1"/>
              <a:t>챗봇의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지점</a:t>
            </a:r>
            <a:r>
              <a:rPr dirty="0"/>
              <a:t> </a:t>
            </a:r>
            <a:r>
              <a:rPr dirty="0" err="1"/>
              <a:t>구체화</a:t>
            </a:r>
            <a:endParaRPr dirty="0"/>
          </a:p>
        </p:txBody>
      </p:sp>
      <p:sp>
        <p:nvSpPr>
          <p:cNvPr id="119" name="Shape 92"/>
          <p:cNvSpPr/>
          <p:nvPr/>
        </p:nvSpPr>
        <p:spPr>
          <a:xfrm>
            <a:off x="8909431" y="4682596"/>
            <a:ext cx="73153" cy="73153"/>
          </a:xfrm>
          <a:prstGeom prst="ellipse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 93"/>
          <p:cNvSpPr txBox="1"/>
          <p:nvPr/>
        </p:nvSpPr>
        <p:spPr>
          <a:xfrm>
            <a:off x="9074023" y="4589632"/>
            <a:ext cx="28346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6" tIns="126" rIns="126" bIns="126" anchor="ctr">
            <a:norm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개인정보 </a:t>
            </a:r>
            <a:r>
              <a:rPr b="1"/>
              <a:t>탐지·</a:t>
            </a:r>
            <a:r>
              <a:t>마스킹·로그관리 등 운영통제 기준 제시</a:t>
            </a:r>
          </a:p>
        </p:txBody>
      </p:sp>
      <p:sp>
        <p:nvSpPr>
          <p:cNvPr id="121" name="Shape 94"/>
          <p:cNvSpPr/>
          <p:nvPr/>
        </p:nvSpPr>
        <p:spPr>
          <a:xfrm>
            <a:off x="8909431" y="5017367"/>
            <a:ext cx="73153" cy="73153"/>
          </a:xfrm>
          <a:prstGeom prst="ellipse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Text 95"/>
          <p:cNvSpPr txBox="1"/>
          <p:nvPr/>
        </p:nvSpPr>
        <p:spPr>
          <a:xfrm>
            <a:off x="9074023" y="4924403"/>
            <a:ext cx="28346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6" tIns="126" rIns="126" bIns="126" anchor="ctr">
            <a:norm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dirty="0" err="1"/>
              <a:t>개발</a:t>
            </a:r>
            <a:r>
              <a:rPr b="1" dirty="0" err="1"/>
              <a:t>·운영</a:t>
            </a:r>
            <a:r>
              <a:rPr dirty="0" err="1"/>
              <a:t>·보안</a:t>
            </a:r>
            <a:r>
              <a:rPr dirty="0"/>
              <a:t> </a:t>
            </a:r>
            <a:r>
              <a:rPr dirty="0" err="1"/>
              <a:t>담당자가</a:t>
            </a:r>
            <a:r>
              <a:rPr dirty="0"/>
              <a:t> </a:t>
            </a:r>
            <a:r>
              <a:rPr dirty="0" err="1"/>
              <a:t>활용할</a:t>
            </a:r>
            <a:r>
              <a:rPr dirty="0"/>
              <a:t> 수 </a:t>
            </a:r>
            <a:r>
              <a:rPr dirty="0" err="1"/>
              <a:t>있는</a:t>
            </a:r>
            <a:r>
              <a:rPr lang="en-US" dirty="0"/>
              <a:t> </a:t>
            </a:r>
            <a:r>
              <a:rPr dirty="0" err="1"/>
              <a:t>점검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마련</a:t>
            </a:r>
            <a:endParaRPr dirty="0"/>
          </a:p>
        </p:txBody>
      </p:sp>
      <p:sp>
        <p:nvSpPr>
          <p:cNvPr id="123" name="Shape 98"/>
          <p:cNvSpPr/>
          <p:nvPr/>
        </p:nvSpPr>
        <p:spPr>
          <a:xfrm>
            <a:off x="310896" y="6327647"/>
            <a:ext cx="11567161" cy="1"/>
          </a:xfrm>
          <a:prstGeom prst="line">
            <a:avLst/>
          </a:prstGeom>
          <a:ln w="12700">
            <a:solidFill>
              <a:srgbClr val="DEE7F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Text 99"/>
          <p:cNvSpPr txBox="1"/>
          <p:nvPr/>
        </p:nvSpPr>
        <p:spPr>
          <a:xfrm>
            <a:off x="310896" y="6437376"/>
            <a:ext cx="7132319" cy="128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500">
                <a:solidFill>
                  <a:srgbClr val="6D7585"/>
                </a:solidFill>
              </a:defRPr>
            </a:lvl1pPr>
          </a:lstStyle>
          <a:p>
            <a:r>
              <a:rPr sz="700" dirty="0" err="1"/>
              <a:t>참고</a:t>
            </a:r>
            <a:r>
              <a:rPr sz="700" dirty="0"/>
              <a:t> </a:t>
            </a:r>
            <a:r>
              <a:rPr sz="700" dirty="0" err="1"/>
              <a:t>법령</a:t>
            </a:r>
            <a:r>
              <a:rPr sz="700" dirty="0"/>
              <a:t>: </a:t>
            </a:r>
            <a:r>
              <a:rPr sz="700" dirty="0" err="1"/>
              <a:t>인공지능기본법</a:t>
            </a:r>
            <a:r>
              <a:rPr sz="700" dirty="0"/>
              <a:t> 제32조·제34조 · </a:t>
            </a:r>
            <a:r>
              <a:rPr sz="700" dirty="0" err="1"/>
              <a:t>개인정보보호법</a:t>
            </a:r>
            <a:r>
              <a:rPr sz="700" dirty="0"/>
              <a:t> 제15조·제29조 · ISMS-P </a:t>
            </a:r>
            <a:r>
              <a:rPr sz="700" dirty="0" err="1"/>
              <a:t>보호조</a:t>
            </a:r>
            <a:r>
              <a:rPr lang="ko-KR" altLang="en-US" sz="700" dirty="0"/>
              <a:t>치</a:t>
            </a:r>
            <a:endParaRPr sz="700" dirty="0"/>
          </a:p>
        </p:txBody>
      </p:sp>
      <p:sp>
        <p:nvSpPr>
          <p:cNvPr id="125" name="Text 100"/>
          <p:cNvSpPr txBox="1"/>
          <p:nvPr/>
        </p:nvSpPr>
        <p:spPr>
          <a:xfrm>
            <a:off x="10378440" y="6437376"/>
            <a:ext cx="1481329" cy="128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algn="r">
              <a:defRPr sz="500">
                <a:solidFill>
                  <a:srgbClr val="6D7585"/>
                </a:solidFill>
              </a:defRPr>
            </a:lvl1pPr>
          </a:lstStyle>
          <a:p>
            <a:r>
              <a:rPr sz="700"/>
              <a:t>1p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6F9F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Malgun Gothic"/>
        <a:ea typeface="Malgun Gothic"/>
        <a:cs typeface="Malgun Gothic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Malgun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Malgun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Malgun Gothic"/>
        <a:ea typeface="Malgun Gothic"/>
        <a:cs typeface="Malgun Gothic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Malgun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Malgun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267</Words>
  <Application>Microsoft Office PowerPoint</Application>
  <PresentationFormat>사용자 지정</PresentationFormat>
  <Paragraphs>55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dooee lee</cp:lastModifiedBy>
  <cp:revision>8</cp:revision>
  <dcterms:modified xsi:type="dcterms:W3CDTF">2026-10-13T15:14:38Z</dcterms:modified>
</cp:coreProperties>
</file>