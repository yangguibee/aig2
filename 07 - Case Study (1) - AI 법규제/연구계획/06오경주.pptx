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7923F9FA-E53D-CCF7-127C-42B2D02AB28C}">
          <p14:sldIdLst>
            <p14:sldId id="256"/>
          </p14:sldIdLst>
        </p14:section>
        <p14:section name="연구계획서" id="{6EECFECC-765E-991E-2DE7-0FBDA87C3C8F}">
          <p14:sldIdLst>
            <p14:sldId id="257"/>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2" d="100"/>
          <a:sy n="122" d="100"/>
        </p:scale>
        <p:origin x="114" y="2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018723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 약 5초]
안녕하십니까. 융합정보기술학과 오경주입니다.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[1쪽, 약 1분 30초]
제가 오늘 드리고 싶은 말은 하나입니다. AI의 정확도만 믿어서는 안 됩니다.
트집을 잡으려는 것이 아닙니다. 저는 이 문제를 직접 실험했습니다. LoRA로 모델의 아주 일부만 학습시켜 확신을 정답률에 맞추는 보정 학습을 했더니, Mistral 모델의 의료 문항에서 확신과 정답률의 격차가 0.481에서 0.060으로, 8분의 1로 줄었습니다. 그런데 정확도는 그대로였습니다. 정확도 숫자는 똑같은데, 하나는 믿을 수 없는 확신이고 하나는 믿을 수 있는 확신입니다. 과신은 실재하고, 기술로 줄일 수 있다는 뜻입니다.
이것이 왜 중요할까요. AI는 이제 가전과 돌봄 로봇, 장난감의 모습으로 집 안에 들어옵니다. 화면 속 오답은 무시하면 그만이지만, 로봇이 틀린 판단을 확신하면 그것은 행동이 됩니다. 그 판단을 의심하기 어려운 사람이 바로 우리 아이들과 어르신들입니다.
그렇다면 법은 준비되어 있을까요?</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[2쪽, 약 1분 30초]
네 가지를 확인했습니다. 밑줄 친 조문은 바로 원문으로 열립니다.
첫째, 정확성 기준입니다. EU 인공지능법 제15조는 정확성을 요건으로 두지만 지표는 정하지 않았고, 우리 기본법 제34조에는 정확성 항목 자체가 없습니다.
둘째, 가정용 AI입니다. EU는 기계류와 완구 같은 제품안전 법령을 통해 고위험으로 묶을 수 있지만, 우리 기본법의 고영향 11개 영역에는 가정용 로봇이나 가전이 없습니다.
셋째, 아이들입니다. EU는 위험관리에서 18세 미만에 대한 영향을 고려하게 하는데, 우리 시행령의 취약계층 목록에는 65세 이상은 있어도 아동은 없습니다.
넷째, 사고가 났을 때의 배상 규정도 기본법에는 없습니다.
그래서 저는 고시에 정확도와 보정 지표 기준을 넣고, 가정용 물리적 AI를 고영향에 추가하고, 아동을 취약계층에 명시하자고 제안합니다. 기준이 먼저 서야 AI를 집에 들일 수 있습니다.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LAN">
    <p:bg>
      <p:bgPr>
        <a:solidFill>
          <a:srgbClr val="FAFAF7"/>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92608"/>
          </a:xfrm>
          <a:prstGeom prst="rect">
            <a:avLst/>
          </a:prstGeom>
          <a:noFill/>
          <a:ln/>
        </p:spPr>
        <p:txBody>
          <a:bodyPr wrap="square" rtlCol="0"/>
          <a:lstStyle>
            <a:lvl1pPr marL="0" indent="0">
              <a:buNone/>
              <a:defRPr lang="en-US" sz="1200" b="1" dirty="0">
                <a:solidFill>
                  <a:schemeClr val="accent1"/>
                </a:solidFill>
              </a:defRPr>
            </a:lvl1pPr>
          </a:lstStyle>
          <a:p>
            <a:pPr marL="0" indent="0">
              <a:buNone/>
            </a:pPr>
            <a:endParaRPr lang="en-US" sz="1200" dirty="0"/>
          </a:p>
        </p:txBody>
      </p:sp>
      <p:sp>
        <p:nvSpPr>
          <p:cNvPr id="3" name="Text 0"/>
          <p:cNvSpPr>
            <a:spLocks noGrp="1"/>
          </p:cNvSpPr>
          <p:nvPr>
            <p:ph type="title" idx="101" hasCustomPrompt="1"/>
          </p:nvPr>
        </p:nvSpPr>
        <p:spPr>
          <a:xfrm>
            <a:off x="548640" y="658368"/>
            <a:ext cx="11064240" cy="658368"/>
          </a:xfrm>
          <a:prstGeom prst="rect">
            <a:avLst/>
          </a:prstGeom>
          <a:noFill/>
          <a:ln/>
        </p:spPr>
        <p:txBody>
          <a:bodyPr wrap="square" rtlCol="0"/>
          <a:lstStyle>
            <a:lvl1pPr marL="0" indent="0" algn="l">
              <a:buNone/>
              <a:defRPr lang="en-US" sz="3400" b="1" dirty="0">
                <a:solidFill>
                  <a:schemeClr val="tx1"/>
                </a:solidFill>
                <a:latin typeface="바탕" pitchFamily="34" charset="0"/>
                <a:ea typeface="바탕" pitchFamily="34" charset="-122"/>
                <a:cs typeface="바탕" pitchFamily="34" charset="-120"/>
              </a:defRPr>
            </a:lvl1pPr>
          </a:lstStyle>
          <a:p>
            <a:pPr marL="0" indent="0" algn="l">
              <a:buNone/>
            </a:pPr>
            <a:endParaRPr lang="en-US" sz="3400" dirty="0"/>
          </a:p>
        </p:txBody>
      </p:sp>
      <p:sp>
        <p:nvSpPr>
          <p:cNvPr id="4" name="Text 0"/>
          <p:cNvSpPr/>
          <p:nvPr/>
        </p:nvSpPr>
        <p:spPr>
          <a:xfrm>
            <a:off x="548640" y="6419088"/>
            <a:ext cx="8229600" cy="256032"/>
          </a:xfrm>
          <a:prstGeom prst="rect">
            <a:avLst/>
          </a:prstGeom>
          <a:noFill/>
          <a:ln/>
        </p:spPr>
        <p:txBody>
          <a:bodyPr wrap="square" lIns="0" tIns="0" rIns="0" bIns="0" rtlCol="0" anchor="ctr"/>
          <a:lstStyle/>
          <a:p>
            <a:pPr marL="0" indent="0">
              <a:buNone/>
            </a:pPr>
            <a:r>
              <a:rPr lang="en-US" sz="1000" dirty="0">
                <a:solidFill>
                  <a:schemeClr val="tx2"/>
                </a:solidFill>
              </a:rPr>
              <a:t>건국대학교  |  AI거버넌스 기반의 연구방법론  |  Case Study 1 (2026.10.15)</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AFAF7"/>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926080"/>
            <a:ext cx="10515600" cy="914400"/>
          </a:xfrm>
          <a:prstGeom prst="rect">
            <a:avLst/>
          </a:prstGeom>
          <a:noFill/>
          <a:ln/>
        </p:spPr>
        <p:txBody>
          <a:bodyPr wrap="square" rtlCol="0"/>
          <a:lstStyle>
            <a:lvl1pPr marL="0" indent="0" algn="l">
              <a:buNone/>
              <a:defRPr lang="en-US" sz="4600" b="1" dirty="0">
                <a:solidFill>
                  <a:schemeClr val="tx1"/>
                </a:solidFill>
                <a:latin typeface="바탕" pitchFamily="34" charset="0"/>
                <a:ea typeface="바탕" pitchFamily="34" charset="-122"/>
                <a:cs typeface="바탕" pitchFamily="34" charset="-120"/>
              </a:defRPr>
            </a:lvl1pPr>
          </a:lstStyle>
          <a:p>
            <a:pPr marL="0" indent="0" algn="l">
              <a:buNone/>
            </a:pPr>
            <a:endParaRPr lang="en-US" sz="4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hyperlink" Target="https://www.law.go.kr/%EB%B2%95%EB%A0%B9/%EC%9D%B8%EA%B3%B5%EC%A7%80%EB%8A%A5%EB%B0%9C%EC%A0%84%EA%B3%BC%EC%8B%A0%EB%A2%B0%EA%B8%B0%EB%B0%98%EC%A1%B0%EC%84%B1%EB%93%B1%EC%97%90%EA%B4%80%ED%95%9C%EA%B8%B0%EB%B3%B8%EB%B2%95/%EC%A0%9C34%EC%A1%B0"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www.law.go.kr/%EB%B2%95%EB%A0%B9/%EC%9D%B8%EA%B3%B5%EC%A7%80%EB%8A%A5%EB%B0%9C%EC%A0%84%EA%B3%BC%EC%8B%A0%EB%A2%B0%EA%B8%B0%EB%B0%98%EC%A1%B0%EC%84%B1%EB%93%B1%EC%97%90%EA%B4%80%ED%95%9C%EA%B8%B0%EB%B3%B8%EB%B2%95%EC%8B%9C%ED%96%89%EB%A0%B9/%EC%A0%9C1%EC%A1%B0%EC%9D%982" TargetMode="External"/><Relationship Id="rId4" Type="http://schemas.openxmlformats.org/officeDocument/2006/relationships/hyperlink" Target="https://www.law.go.kr/%EB%B2%95%EB%A0%B9/%EC%9D%B8%EA%B3%B5%EC%A7%80%EB%8A%A5%EB%B0%9C%EC%A0%84%EA%B3%BC%EC%8B%A0%EB%A2%B0%EA%B8%B0%EB%B0%98%EC%A1%B0%EC%84%B1%EB%93%B1%EC%97%90%EA%B4%80%ED%95%9C%EA%B8%B0%EB%B3%B8%EB%B2%95/%EC%A0%9C2%EC%A1%B0" TargetMode="External"/></Relationships>
</file>

<file path=ppt/slides/_rels/slide3.xml.rels><?xml version="1.0" encoding="UTF-8" standalone="yes"?>
<Relationships xmlns="http://schemas.openxmlformats.org/package/2006/relationships"><Relationship Id="rId8" Type="http://schemas.openxmlformats.org/officeDocument/2006/relationships/hyperlink" Target="https://www.law.go.kr/%EB%B2%95%EB%A0%B9/%EC%9D%B8%EA%B3%B5%EC%A7%80%EB%8A%A5%EB%B0%9C%EC%A0%84%EA%B3%BC%EC%8B%A0%EB%A2%B0%EA%B8%B0%EB%B0%98%EC%A1%B0%EC%84%B1%EB%93%B1%EC%97%90%EA%B4%80%ED%95%9C%EA%B8%B0%EB%B3%B8%EB%B2%95/%EC%A0%9C2%EC%A1%B0" TargetMode="External"/><Relationship Id="rId13" Type="http://schemas.openxmlformats.org/officeDocument/2006/relationships/hyperlink" Target="https://www.law.go.kr/%EB%B2%95%EB%A0%B9/%EC%9D%B8%EA%B3%B5%EC%A7%80%EB%8A%A5%EB%B0%9C%EC%A0%84%EA%B3%BC%EC%8B%A0%EB%A2%B0%EA%B8%B0%EB%B0%98%EC%A1%B0%EC%84%B1%EB%93%B1%EC%97%90%EA%B4%80%ED%95%9C%EA%B8%B0%EB%B3%B8%EB%B2%95/%EC%A0%9C35%EC%A1%B0" TargetMode="External"/><Relationship Id="rId3" Type="http://schemas.openxmlformats.org/officeDocument/2006/relationships/hyperlink" Target="https://yangguibee.github.io/AIG2/03%20-%20EU%20AI%20Act%20(1)/EU_AI_Act_full_kor.html#Article15" TargetMode="External"/><Relationship Id="rId7" Type="http://schemas.openxmlformats.org/officeDocument/2006/relationships/hyperlink" Target="https://artificialintelligenceact.eu/annex/1/" TargetMode="External"/><Relationship Id="rId12" Type="http://schemas.openxmlformats.org/officeDocument/2006/relationships/hyperlink" Target="https://www.law.go.kr/%EB%B2%95%EB%A0%B9/%EC%9D%B8%EA%B3%B5%EC%A7%80%EB%8A%A5%EB%B0%9C%EC%A0%84%EA%B3%BC%EC%8B%A0%EB%A2%B0%EA%B8%B0%EB%B0%98%EC%A1%B0%EC%84%B1%EB%93%B1%EC%97%90%EA%B4%80%ED%95%9C%EA%B8%B0%EB%B3%B8%EB%B2%95%EC%8B%9C%ED%96%89%EB%A0%B9/%EC%A0%9C1%EC%A1%B0%EC%9D%982" TargetMode="External"/><Relationship Id="rId2" Type="http://schemas.openxmlformats.org/officeDocument/2006/relationships/notesSlide" Target="../notesSlides/notesSlide3.xml"/><Relationship Id="rId16" Type="http://schemas.openxmlformats.org/officeDocument/2006/relationships/hyperlink" Target="https://eur-lex.europa.eu/legal-content/EN/TXT/HTML/?uri=CELEX%3A02024R1689-20260727" TargetMode="External"/><Relationship Id="rId1" Type="http://schemas.openxmlformats.org/officeDocument/2006/relationships/slideLayout" Target="../slideLayouts/slideLayout2.xml"/><Relationship Id="rId6" Type="http://schemas.openxmlformats.org/officeDocument/2006/relationships/hyperlink" Target="https://artificialintelligenceact.eu/article/6/" TargetMode="External"/><Relationship Id="rId11" Type="http://schemas.openxmlformats.org/officeDocument/2006/relationships/hyperlink" Target="https://yangguibee.github.io/AIG2/03%20-%20EU%20AI%20Act%20(1)/EU_AI_Act_full_kor.html#Article5" TargetMode="External"/><Relationship Id="rId5" Type="http://schemas.openxmlformats.org/officeDocument/2006/relationships/hyperlink" Target="https://www.law.go.kr/%EB%B2%95%EB%A0%B9/%EC%9D%B8%EA%B3%B5%EC%A7%80%EB%8A%A5%EB%B0%9C%EC%A0%84%EA%B3%BC%EC%8B%A0%EB%A2%B0%EA%B8%B0%EB%B0%98%EC%A1%B0%EC%84%B1%EB%93%B1%EC%97%90%EA%B4%80%ED%95%9C%EA%B8%B0%EB%B3%B8%EB%B2%95/%EC%A0%9C34%EC%A1%B0" TargetMode="External"/><Relationship Id="rId15" Type="http://schemas.openxmlformats.org/officeDocument/2006/relationships/hyperlink" Target="https://www.law.go.kr/%EB%B2%95%EB%A0%B9/%EC%A0%9C%EC%A1%B0%EB%AC%BC%EC%B1%85%EC%9E%84%EB%B2%95/%EC%A0%9C2%EC%A1%B0" TargetMode="External"/><Relationship Id="rId10" Type="http://schemas.openxmlformats.org/officeDocument/2006/relationships/hyperlink" Target="https://yangguibee.github.io/AIG2/03%20-%20EU%20AI%20Act%20(1)/EU_AI_Act_full_kor.html#Article9" TargetMode="External"/><Relationship Id="rId4" Type="http://schemas.openxmlformats.org/officeDocument/2006/relationships/hyperlink" Target="https://yangguibee.github.io/AIG2/03%20-%20EU%20AI%20Act%20(1)/EU_AI_Act_full_kor.html#Article14" TargetMode="External"/><Relationship Id="rId9" Type="http://schemas.openxmlformats.org/officeDocument/2006/relationships/hyperlink" Target="https://www.law.go.kr/%EB%B2%95%EB%A0%B9/%EC%A7%80%EB%8A%A5%ED%98%95%EB%A1%9C%EB%B4%87%EA%B0%9C%EB%B0%9C%EB%B0%8F%EB%B3%B4%EA%B8%89%EC%B4%89%EC%A7%84%EB%B2%95/%EC%A0%9C40%EC%A1%B0%EC%9D%982" TargetMode="External"/><Relationship Id="rId14" Type="http://schemas.openxmlformats.org/officeDocument/2006/relationships/hyperlink" Target="https://eur-lex.europa.eu/eli/dir/2024/2853/oj"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ku-seal" descr="건국대학교 교표"/>
          <p:cNvPicPr>
            <a:picLocks noChangeAspect="1"/>
          </p:cNvPicPr>
          <p:nvPr/>
        </p:nvPicPr>
        <p:blipFill>
          <a:blip r:embed="rId3"/>
          <a:stretch>
            <a:fillRect/>
          </a:stretch>
        </p:blipFill>
        <p:spPr>
          <a:xfrm>
            <a:off x="822960" y="685800"/>
            <a:ext cx="1417320" cy="1417320"/>
          </a:xfrm>
          <a:prstGeom prst="rect">
            <a:avLst/>
          </a:prstGeom>
        </p:spPr>
      </p:pic>
      <p:sp>
        <p:nvSpPr>
          <p:cNvPr id="3" name="ku-name"/>
          <p:cNvSpPr txBox="1"/>
          <p:nvPr/>
        </p:nvSpPr>
        <p:spPr>
          <a:xfrm>
            <a:off x="2468880" y="685800"/>
            <a:ext cx="4572000" cy="1417320"/>
          </a:xfrm>
          <a:prstGeom prst="rect">
            <a:avLst/>
          </a:prstGeom>
          <a:noFill/>
          <a:ln/>
        </p:spPr>
        <p:txBody>
          <a:bodyPr wrap="square" lIns="0" tIns="0" rIns="0" bIns="0" rtlCol="0" anchor="ctr"/>
          <a:lstStyle/>
          <a:p>
            <a:pPr marL="0" indent="0">
              <a:buNone/>
            </a:pPr>
            <a:r>
              <a:rPr lang="en-US" sz="2000" b="1" dirty="0">
                <a:solidFill>
                  <a:schemeClr val="tx1"/>
                </a:solidFill>
                <a:latin typeface="바탕" pitchFamily="34" charset="0"/>
                <a:ea typeface="바탕" pitchFamily="34" charset="-122"/>
                <a:cs typeface="바탕" pitchFamily="34" charset="-120"/>
              </a:rPr>
              <a:t>건국대학교 </a:t>
            </a:r>
            <a:r>
              <a:rPr lang="ko-KR" altLang="en-US" sz="2000" b="1" dirty="0">
                <a:solidFill>
                  <a:schemeClr val="tx1"/>
                </a:solidFill>
                <a:latin typeface="바탕" pitchFamily="34" charset="0"/>
                <a:ea typeface="바탕" pitchFamily="34" charset="-122"/>
                <a:cs typeface="바탕" pitchFamily="34" charset="-120"/>
              </a:rPr>
              <a:t>정보통신대학원</a:t>
            </a:r>
            <a:endParaRPr lang="en-US" sz="1400" dirty="0"/>
          </a:p>
          <a:p>
            <a:pPr marL="0" indent="0">
              <a:buNone/>
            </a:pPr>
            <a:r>
              <a:rPr lang="en-US" altLang="ko-KR" sz="1100" kern="0" spc="200" dirty="0">
                <a:solidFill>
                  <a:schemeClr val="tx2"/>
                </a:solidFill>
              </a:rPr>
              <a:t>GRADUATE SCHOOL OF INFORMATION AND TELECOMMUNICATIONS,</a:t>
            </a:r>
            <a:r>
              <a:rPr lang="en-US" sz="1100" kern="0" spc="200" dirty="0">
                <a:solidFill>
                  <a:schemeClr val="tx2"/>
                </a:solidFill>
              </a:rPr>
              <a:t>KONKUK UNIVERSITY</a:t>
            </a:r>
            <a:endParaRPr lang="en-US" sz="1400" dirty="0"/>
          </a:p>
        </p:txBody>
      </p:sp>
      <p:sp>
        <p:nvSpPr>
          <p:cNvPr id="4" name="cover-kicker"/>
          <p:cNvSpPr txBox="1"/>
          <p:nvPr/>
        </p:nvSpPr>
        <p:spPr>
          <a:xfrm>
            <a:off x="822960" y="2578608"/>
            <a:ext cx="10515600" cy="310896"/>
          </a:xfrm>
          <a:prstGeom prst="rect">
            <a:avLst/>
          </a:prstGeom>
          <a:noFill/>
          <a:ln/>
        </p:spPr>
        <p:txBody>
          <a:bodyPr wrap="square" lIns="0" tIns="0" rIns="0" bIns="0" rtlCol="0" anchor="ctr"/>
          <a:lstStyle/>
          <a:p>
            <a:pPr marL="0" indent="0">
              <a:buNone/>
            </a:pPr>
            <a:r>
              <a:rPr lang="en-US" sz="1400" b="1" dirty="0">
                <a:solidFill>
                  <a:schemeClr val="accent1"/>
                </a:solidFill>
              </a:rPr>
              <a:t>AI거버넌스 기반의 연구방법론  |  Case Study 1  |  소논문 연구계획서</a:t>
            </a:r>
            <a:endParaRPr lang="en-US" sz="1400" dirty="0"/>
          </a:p>
        </p:txBody>
      </p:sp>
      <p:sp>
        <p:nvSpPr>
          <p:cNvPr id="5" name="Text 0"/>
          <p:cNvSpPr>
            <a:spLocks noGrp="1"/>
          </p:cNvSpPr>
          <p:nvPr>
            <p:ph type="title" idx="100" hasCustomPrompt="1"/>
          </p:nvPr>
        </p:nvSpPr>
        <p:spPr>
          <a:xfrm>
            <a:off x="822960" y="2926080"/>
            <a:ext cx="10515600" cy="914400"/>
          </a:xfrm>
          <a:prstGeom prst="rect">
            <a:avLst/>
          </a:prstGeom>
          <a:noFill/>
          <a:ln/>
        </p:spPr>
        <p:txBody>
          <a:bodyPr wrap="square" lIns="0" tIns="0" rIns="0" bIns="0" rtlCol="0" anchor="ctr"/>
          <a:lstStyle/>
          <a:p>
            <a:pPr marL="0" indent="0" algn="l">
              <a:buNone/>
            </a:pPr>
            <a:r>
              <a:rPr lang="en-US" sz="4600" b="1" dirty="0">
                <a:solidFill>
                  <a:schemeClr val="tx1"/>
                </a:solidFill>
                <a:latin typeface="바탕" pitchFamily="34" charset="0"/>
                <a:ea typeface="바탕" pitchFamily="34" charset="-122"/>
                <a:cs typeface="바탕" pitchFamily="34" charset="-120"/>
              </a:rPr>
              <a:t>AI의 정확도만 믿어서는 안 된다</a:t>
            </a:r>
            <a:endParaRPr lang="en-US" sz="4600" dirty="0"/>
          </a:p>
        </p:txBody>
      </p:sp>
      <p:sp>
        <p:nvSpPr>
          <p:cNvPr id="6" name="cover-subtitle"/>
          <p:cNvSpPr txBox="1"/>
          <p:nvPr/>
        </p:nvSpPr>
        <p:spPr>
          <a:xfrm>
            <a:off x="822960" y="3913632"/>
            <a:ext cx="10515600" cy="786384"/>
          </a:xfrm>
          <a:prstGeom prst="rect">
            <a:avLst/>
          </a:prstGeom>
          <a:noFill/>
          <a:ln/>
        </p:spPr>
        <p:txBody>
          <a:bodyPr wrap="square" lIns="0" tIns="0" rIns="0" bIns="0" rtlCol="0" anchor="t"/>
          <a:lstStyle/>
          <a:p>
            <a:pPr marL="0" indent="0">
              <a:buNone/>
            </a:pPr>
            <a:r>
              <a:rPr lang="en-US" sz="2100" dirty="0">
                <a:solidFill>
                  <a:schemeClr val="tx1"/>
                </a:solidFill>
              </a:rPr>
              <a:t>가정으로 들어오는 AI와 확신도 기준의 입법 과제</a:t>
            </a:r>
            <a:endParaRPr lang="en-US" sz="2100" dirty="0"/>
          </a:p>
          <a:p>
            <a:pPr marL="0" indent="0">
              <a:buNone/>
            </a:pPr>
            <a:r>
              <a:rPr lang="en-US" sz="1600" dirty="0">
                <a:solidFill>
                  <a:schemeClr val="tx2"/>
                </a:solidFill>
              </a:rPr>
              <a:t>LLM 보정 학습 실험을 근거로 EU 인공지능법과 인공지능기본법 및 시행령을 비교한다</a:t>
            </a:r>
            <a:endParaRPr lang="en-US" sz="2100" dirty="0"/>
          </a:p>
        </p:txBody>
      </p:sp>
      <p:sp>
        <p:nvSpPr>
          <p:cNvPr id="7" name="cover-author-card"/>
          <p:cNvSpPr/>
          <p:nvPr/>
        </p:nvSpPr>
        <p:spPr>
          <a:xfrm>
            <a:off x="5473337" y="5074920"/>
            <a:ext cx="5760720" cy="1143000"/>
          </a:xfrm>
          <a:prstGeom prst="roundRect">
            <a:avLst>
              <a:gd name="adj" fmla="val 4800"/>
            </a:avLst>
          </a:prstGeom>
          <a:solidFill>
            <a:schemeClr val="accent2"/>
          </a:solidFill>
          <a:ln w="9525">
            <a:solidFill>
              <a:schemeClr val="accent5"/>
            </a:solidFill>
            <a:prstDash val="solid"/>
          </a:ln>
        </p:spPr>
      </p:sp>
      <p:sp>
        <p:nvSpPr>
          <p:cNvPr id="8" name="cover-author"/>
          <p:cNvSpPr txBox="1"/>
          <p:nvPr/>
        </p:nvSpPr>
        <p:spPr>
          <a:xfrm>
            <a:off x="5701937" y="5074920"/>
            <a:ext cx="5394960" cy="1143000"/>
          </a:xfrm>
          <a:prstGeom prst="rect">
            <a:avLst/>
          </a:prstGeom>
          <a:noFill/>
          <a:ln/>
        </p:spPr>
        <p:txBody>
          <a:bodyPr wrap="square" lIns="0" tIns="0" rIns="0" bIns="0" rtlCol="0" anchor="ctr"/>
          <a:lstStyle/>
          <a:p>
            <a:pPr marL="0" indent="0" algn="r">
              <a:spcAft>
                <a:spcPts val="400"/>
              </a:spcAft>
              <a:buNone/>
            </a:pPr>
            <a:r>
              <a:rPr lang="en-US" sz="1400" dirty="0">
                <a:solidFill>
                  <a:schemeClr val="tx2"/>
                </a:solidFill>
              </a:rPr>
              <a:t>융합정보기술학과 </a:t>
            </a:r>
            <a:r>
              <a:rPr lang="ko-KR" altLang="en-US" sz="1400" dirty="0">
                <a:solidFill>
                  <a:schemeClr val="tx2"/>
                </a:solidFill>
              </a:rPr>
              <a:t>인공지능전공</a:t>
            </a:r>
            <a:endParaRPr lang="en-US" sz="1400" dirty="0"/>
          </a:p>
          <a:p>
            <a:pPr marL="0" indent="0" algn="r">
              <a:spcAft>
                <a:spcPts val="400"/>
              </a:spcAft>
              <a:buNone/>
            </a:pPr>
            <a:r>
              <a:rPr lang="en-US" sz="2200" b="1" dirty="0">
                <a:solidFill>
                  <a:schemeClr val="tx1"/>
                </a:solidFill>
                <a:latin typeface="바탕" pitchFamily="34" charset="0"/>
                <a:ea typeface="바탕" pitchFamily="34" charset="-122"/>
                <a:cs typeface="바탕" pitchFamily="34" charset="-120"/>
              </a:rPr>
              <a:t>오경주 </a:t>
            </a:r>
            <a:r>
              <a:rPr lang="en-US" sz="1600" dirty="0">
                <a:solidFill>
                  <a:schemeClr val="tx1"/>
                </a:solidFill>
              </a:rPr>
              <a:t>(</a:t>
            </a:r>
            <a:r>
              <a:rPr lang="en-US" altLang="ko-KR" sz="1600" dirty="0">
                <a:solidFill>
                  <a:schemeClr val="tx1"/>
                </a:solidFill>
              </a:rPr>
              <a:t>202576626</a:t>
            </a:r>
            <a:r>
              <a:rPr lang="en-US" sz="1600" dirty="0">
                <a:solidFill>
                  <a:schemeClr val="tx1"/>
                </a:solidFill>
              </a:rPr>
              <a:t>)</a:t>
            </a:r>
            <a:endParaRPr lang="en-US" sz="1400" dirty="0"/>
          </a:p>
        </p:txBody>
      </p:sp>
      <p:sp>
        <p:nvSpPr>
          <p:cNvPr id="9" name="cover-meta"/>
          <p:cNvSpPr txBox="1"/>
          <p:nvPr/>
        </p:nvSpPr>
        <p:spPr>
          <a:xfrm>
            <a:off x="8509145" y="765810"/>
            <a:ext cx="2587752" cy="1257300"/>
          </a:xfrm>
          <a:prstGeom prst="rect">
            <a:avLst/>
          </a:prstGeom>
          <a:noFill/>
          <a:ln/>
        </p:spPr>
        <p:txBody>
          <a:bodyPr wrap="square" lIns="0" tIns="0" rIns="0" bIns="0" rtlCol="0" anchor="ctr"/>
          <a:lstStyle/>
          <a:p>
            <a:pPr marL="0" indent="0" algn="r">
              <a:spcAft>
                <a:spcPts val="400"/>
              </a:spcAft>
              <a:buNone/>
            </a:pPr>
            <a:r>
              <a:rPr lang="en-US" sz="1400" b="1" dirty="0">
                <a:solidFill>
                  <a:schemeClr val="accent3"/>
                </a:solidFill>
              </a:rPr>
              <a:t>발표일  </a:t>
            </a:r>
            <a:r>
              <a:rPr lang="en-US" sz="1400" dirty="0">
                <a:solidFill>
                  <a:schemeClr val="tx1"/>
                </a:solidFill>
              </a:rPr>
              <a:t>2026. 10. 15.</a:t>
            </a:r>
            <a:endParaRPr lang="en-US" sz="1400" dirty="0"/>
          </a:p>
          <a:p>
            <a:pPr marL="0" indent="0" algn="r">
              <a:spcAft>
                <a:spcPts val="400"/>
              </a:spcAft>
              <a:buNone/>
            </a:pPr>
            <a:r>
              <a:rPr lang="en-US" sz="1400" b="1" dirty="0">
                <a:solidFill>
                  <a:schemeClr val="accent3"/>
                </a:solidFill>
              </a:rPr>
              <a:t>담당교수  </a:t>
            </a:r>
            <a:r>
              <a:rPr lang="en-US" sz="1400" dirty="0">
                <a:solidFill>
                  <a:schemeClr val="tx1"/>
                </a:solidFill>
              </a:rPr>
              <a:t>양희정</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92608"/>
          </a:xfrm>
          <a:prstGeom prst="rect">
            <a:avLst/>
          </a:prstGeom>
          <a:noFill/>
          <a:ln/>
        </p:spPr>
        <p:txBody>
          <a:bodyPr wrap="square" lIns="0" tIns="0" rIns="0" bIns="0" rtlCol="0" anchor="ctr"/>
          <a:lstStyle/>
          <a:p>
            <a:pPr marL="0" indent="0">
              <a:buNone/>
            </a:pPr>
            <a:r>
              <a:rPr lang="en-US" sz="1200" b="1" dirty="0">
                <a:solidFill>
                  <a:schemeClr val="accent1"/>
                </a:solidFill>
              </a:rPr>
              <a:t>소논문 연구계획서 1/2  |  핵심 주장</a:t>
            </a:r>
            <a:endParaRPr lang="en-US" sz="1200" dirty="0"/>
          </a:p>
        </p:txBody>
      </p:sp>
      <p:sp>
        <p:nvSpPr>
          <p:cNvPr id="3" name="Text 0"/>
          <p:cNvSpPr>
            <a:spLocks noGrp="1"/>
          </p:cNvSpPr>
          <p:nvPr>
            <p:ph type="title" idx="101" hasCustomPrompt="1"/>
          </p:nvPr>
        </p:nvSpPr>
        <p:spPr>
          <a:xfrm>
            <a:off x="548640" y="658368"/>
            <a:ext cx="11064240" cy="658368"/>
          </a:xfrm>
          <a:prstGeom prst="rect">
            <a:avLst/>
          </a:prstGeom>
          <a:noFill/>
          <a:ln/>
        </p:spPr>
        <p:txBody>
          <a:bodyPr wrap="square" lIns="0" tIns="0" rIns="0" bIns="0" rtlCol="0" anchor="ctr"/>
          <a:lstStyle/>
          <a:p>
            <a:pPr marL="0" indent="0" algn="l">
              <a:buNone/>
            </a:pPr>
            <a:r>
              <a:rPr lang="en-US" sz="3400" b="1" dirty="0">
                <a:solidFill>
                  <a:schemeClr val="tx1"/>
                </a:solidFill>
                <a:latin typeface="바탕" pitchFamily="34" charset="0"/>
                <a:ea typeface="바탕" pitchFamily="34" charset="-122"/>
                <a:cs typeface="바탕" pitchFamily="34" charset="-120"/>
              </a:rPr>
              <a:t>AI의 정확도만 믿어서는 안 된다</a:t>
            </a:r>
            <a:endParaRPr lang="en-US" sz="3400" dirty="0"/>
          </a:p>
        </p:txBody>
      </p:sp>
      <p:sp>
        <p:nvSpPr>
          <p:cNvPr id="4" name="claim"/>
          <p:cNvSpPr txBox="1"/>
          <p:nvPr/>
        </p:nvSpPr>
        <p:spPr>
          <a:xfrm>
            <a:off x="548640" y="1335024"/>
            <a:ext cx="11064240" cy="329184"/>
          </a:xfrm>
          <a:prstGeom prst="rect">
            <a:avLst/>
          </a:prstGeom>
          <a:noFill/>
          <a:ln/>
        </p:spPr>
        <p:txBody>
          <a:bodyPr wrap="square" lIns="0" tIns="0" rIns="0" bIns="0" rtlCol="0" anchor="t"/>
          <a:lstStyle/>
          <a:p>
            <a:pPr marL="0" indent="0">
              <a:buNone/>
            </a:pPr>
            <a:r>
              <a:rPr lang="en-US" sz="1700" b="1" dirty="0">
                <a:solidFill>
                  <a:schemeClr val="accent1"/>
                </a:solidFill>
              </a:rPr>
              <a:t>확신이 얼마나 믿을 만한지</a:t>
            </a:r>
            <a:r>
              <a:rPr lang="en-US" altLang="ko-KR" sz="1700" b="1" dirty="0">
                <a:solidFill>
                  <a:schemeClr val="accent1"/>
                </a:solidFill>
              </a:rPr>
              <a:t>?</a:t>
            </a:r>
            <a:r>
              <a:rPr lang="ko-KR" altLang="en-US" sz="1700" b="1" dirty="0">
                <a:solidFill>
                  <a:schemeClr val="accent1"/>
                </a:solidFill>
              </a:rPr>
              <a:t>를</a:t>
            </a:r>
            <a:r>
              <a:rPr lang="en-US" sz="1700" b="1" dirty="0">
                <a:solidFill>
                  <a:schemeClr val="accent1"/>
                </a:solidFill>
              </a:rPr>
              <a:t> 법이 기준으로 정해야 한다. 특히 AI가 집 안으로 들어오기 전에.</a:t>
            </a:r>
            <a:endParaRPr lang="en-US" sz="1700" dirty="0"/>
          </a:p>
        </p:txBody>
      </p:sp>
      <p:sp>
        <p:nvSpPr>
          <p:cNvPr id="5" name="step-card-0"/>
          <p:cNvSpPr/>
          <p:nvPr/>
        </p:nvSpPr>
        <p:spPr>
          <a:xfrm>
            <a:off x="548640" y="1920240"/>
            <a:ext cx="3502152" cy="4315968"/>
          </a:xfrm>
          <a:prstGeom prst="roundRect">
            <a:avLst>
              <a:gd name="adj" fmla="val 1567"/>
            </a:avLst>
          </a:prstGeom>
          <a:solidFill>
            <a:schemeClr val="bg1"/>
          </a:solidFill>
          <a:ln w="9525">
            <a:solidFill>
              <a:schemeClr val="accent5"/>
            </a:solidFill>
            <a:prstDash val="solid"/>
          </a:ln>
        </p:spPr>
      </p:sp>
      <p:sp>
        <p:nvSpPr>
          <p:cNvPr id="6" name="step-n-0"/>
          <p:cNvSpPr txBox="1"/>
          <p:nvPr/>
        </p:nvSpPr>
        <p:spPr>
          <a:xfrm>
            <a:off x="749808" y="2066544"/>
            <a:ext cx="457200" cy="502920"/>
          </a:xfrm>
          <a:prstGeom prst="rect">
            <a:avLst/>
          </a:prstGeom>
          <a:noFill/>
          <a:ln/>
        </p:spPr>
        <p:txBody>
          <a:bodyPr wrap="square" lIns="0" tIns="0" rIns="0" bIns="0" rtlCol="0" anchor="ctr"/>
          <a:lstStyle/>
          <a:p>
            <a:pPr marL="0" indent="0">
              <a:buNone/>
            </a:pPr>
            <a:r>
              <a:rPr lang="en-US" sz="3000" b="1" dirty="0">
                <a:solidFill>
                  <a:schemeClr val="accent1"/>
                </a:solidFill>
                <a:latin typeface="바탕" pitchFamily="34" charset="0"/>
                <a:ea typeface="바탕" pitchFamily="34" charset="-122"/>
                <a:cs typeface="바탕" pitchFamily="34" charset="-120"/>
              </a:rPr>
              <a:t>1</a:t>
            </a:r>
            <a:endParaRPr lang="en-US" sz="3000" dirty="0"/>
          </a:p>
        </p:txBody>
      </p:sp>
      <p:sp>
        <p:nvSpPr>
          <p:cNvPr id="7" name="step-h-0"/>
          <p:cNvSpPr txBox="1"/>
          <p:nvPr/>
        </p:nvSpPr>
        <p:spPr>
          <a:xfrm>
            <a:off x="1261872" y="2048256"/>
            <a:ext cx="2633472" cy="566928"/>
          </a:xfrm>
          <a:prstGeom prst="rect">
            <a:avLst/>
          </a:prstGeom>
          <a:noFill/>
          <a:ln/>
        </p:spPr>
        <p:txBody>
          <a:bodyPr wrap="square" lIns="0" tIns="0" rIns="0" bIns="0" rtlCol="0" anchor="ctr"/>
          <a:lstStyle/>
          <a:p>
            <a:pPr marL="0" indent="0">
              <a:buNone/>
            </a:pPr>
            <a:r>
              <a:rPr lang="en-US" sz="1100" dirty="0">
                <a:solidFill>
                  <a:schemeClr val="tx2"/>
                </a:solidFill>
              </a:rPr>
              <a:t>근거</a:t>
            </a:r>
            <a:endParaRPr lang="en-US" sz="1400" dirty="0"/>
          </a:p>
          <a:p>
            <a:pPr marL="0" indent="0">
              <a:buNone/>
            </a:pPr>
            <a:r>
              <a:rPr lang="en-US" sz="1600" b="1" dirty="0">
                <a:solidFill>
                  <a:schemeClr val="tx1"/>
                </a:solidFill>
              </a:rPr>
              <a:t>실험으로 확인했다</a:t>
            </a:r>
            <a:endParaRPr lang="en-US" sz="1400" dirty="0"/>
          </a:p>
        </p:txBody>
      </p:sp>
      <p:sp>
        <p:nvSpPr>
          <p:cNvPr id="8" name="step-card-1"/>
          <p:cNvSpPr/>
          <p:nvPr/>
        </p:nvSpPr>
        <p:spPr>
          <a:xfrm>
            <a:off x="4343400" y="1920240"/>
            <a:ext cx="3502152" cy="4315968"/>
          </a:xfrm>
          <a:prstGeom prst="roundRect">
            <a:avLst>
              <a:gd name="adj" fmla="val 1567"/>
            </a:avLst>
          </a:prstGeom>
          <a:solidFill>
            <a:schemeClr val="bg1"/>
          </a:solidFill>
          <a:ln w="9525">
            <a:solidFill>
              <a:schemeClr val="accent5"/>
            </a:solidFill>
            <a:prstDash val="solid"/>
          </a:ln>
        </p:spPr>
      </p:sp>
      <p:sp>
        <p:nvSpPr>
          <p:cNvPr id="9" name="step-n-1"/>
          <p:cNvSpPr txBox="1"/>
          <p:nvPr/>
        </p:nvSpPr>
        <p:spPr>
          <a:xfrm>
            <a:off x="4544568" y="2066544"/>
            <a:ext cx="457200" cy="502920"/>
          </a:xfrm>
          <a:prstGeom prst="rect">
            <a:avLst/>
          </a:prstGeom>
          <a:noFill/>
          <a:ln/>
        </p:spPr>
        <p:txBody>
          <a:bodyPr wrap="square" lIns="0" tIns="0" rIns="0" bIns="0" rtlCol="0" anchor="ctr"/>
          <a:lstStyle/>
          <a:p>
            <a:pPr marL="0" indent="0">
              <a:buNone/>
            </a:pPr>
            <a:r>
              <a:rPr lang="en-US" sz="3000" b="1" dirty="0">
                <a:solidFill>
                  <a:schemeClr val="accent1"/>
                </a:solidFill>
                <a:latin typeface="바탕" pitchFamily="34" charset="0"/>
                <a:ea typeface="바탕" pitchFamily="34" charset="-122"/>
                <a:cs typeface="바탕" pitchFamily="34" charset="-120"/>
              </a:rPr>
              <a:t>2</a:t>
            </a:r>
            <a:endParaRPr lang="en-US" sz="3000" dirty="0"/>
          </a:p>
        </p:txBody>
      </p:sp>
      <p:sp>
        <p:nvSpPr>
          <p:cNvPr id="10" name="step-h-1"/>
          <p:cNvSpPr txBox="1"/>
          <p:nvPr/>
        </p:nvSpPr>
        <p:spPr>
          <a:xfrm>
            <a:off x="5056632" y="2048256"/>
            <a:ext cx="2633472" cy="566928"/>
          </a:xfrm>
          <a:prstGeom prst="rect">
            <a:avLst/>
          </a:prstGeom>
          <a:noFill/>
          <a:ln/>
        </p:spPr>
        <p:txBody>
          <a:bodyPr wrap="square" lIns="0" tIns="0" rIns="0" bIns="0" rtlCol="0" anchor="ctr"/>
          <a:lstStyle/>
          <a:p>
            <a:pPr marL="0" indent="0">
              <a:buNone/>
            </a:pPr>
            <a:r>
              <a:rPr lang="en-US" sz="1100" dirty="0">
                <a:solidFill>
                  <a:schemeClr val="tx2"/>
                </a:solidFill>
              </a:rPr>
              <a:t>위험</a:t>
            </a:r>
            <a:endParaRPr lang="en-US" sz="1400" dirty="0"/>
          </a:p>
          <a:p>
            <a:pPr marL="0" indent="0">
              <a:buNone/>
            </a:pPr>
            <a:r>
              <a:rPr lang="en-US" sz="1600" b="1" dirty="0">
                <a:solidFill>
                  <a:schemeClr val="tx1"/>
                </a:solidFill>
              </a:rPr>
              <a:t>AI가 집 안으로 들어온다</a:t>
            </a:r>
            <a:endParaRPr lang="en-US" sz="1400" dirty="0"/>
          </a:p>
        </p:txBody>
      </p:sp>
      <p:sp>
        <p:nvSpPr>
          <p:cNvPr id="11" name="step-card-2"/>
          <p:cNvSpPr/>
          <p:nvPr/>
        </p:nvSpPr>
        <p:spPr>
          <a:xfrm>
            <a:off x="8138160" y="1920240"/>
            <a:ext cx="3502152" cy="4315968"/>
          </a:xfrm>
          <a:prstGeom prst="roundRect">
            <a:avLst>
              <a:gd name="adj" fmla="val 1567"/>
            </a:avLst>
          </a:prstGeom>
          <a:solidFill>
            <a:schemeClr val="accent2"/>
          </a:solidFill>
          <a:ln w="9525">
            <a:solidFill>
              <a:schemeClr val="accent5"/>
            </a:solidFill>
            <a:prstDash val="solid"/>
          </a:ln>
        </p:spPr>
      </p:sp>
      <p:sp>
        <p:nvSpPr>
          <p:cNvPr id="12" name="step-n-2"/>
          <p:cNvSpPr txBox="1"/>
          <p:nvPr/>
        </p:nvSpPr>
        <p:spPr>
          <a:xfrm>
            <a:off x="8339328" y="2066544"/>
            <a:ext cx="457200" cy="502920"/>
          </a:xfrm>
          <a:prstGeom prst="rect">
            <a:avLst/>
          </a:prstGeom>
          <a:noFill/>
          <a:ln/>
        </p:spPr>
        <p:txBody>
          <a:bodyPr wrap="square" lIns="0" tIns="0" rIns="0" bIns="0" rtlCol="0" anchor="ctr"/>
          <a:lstStyle/>
          <a:p>
            <a:pPr marL="0" indent="0">
              <a:buNone/>
            </a:pPr>
            <a:r>
              <a:rPr lang="en-US" sz="3000" b="1" dirty="0">
                <a:solidFill>
                  <a:schemeClr val="accent1"/>
                </a:solidFill>
                <a:latin typeface="바탕" pitchFamily="34" charset="0"/>
                <a:ea typeface="바탕" pitchFamily="34" charset="-122"/>
                <a:cs typeface="바탕" pitchFamily="34" charset="-120"/>
              </a:rPr>
              <a:t>3</a:t>
            </a:r>
            <a:endParaRPr lang="en-US" sz="3000" dirty="0"/>
          </a:p>
        </p:txBody>
      </p:sp>
      <p:sp>
        <p:nvSpPr>
          <p:cNvPr id="13" name="step-h-2"/>
          <p:cNvSpPr txBox="1"/>
          <p:nvPr/>
        </p:nvSpPr>
        <p:spPr>
          <a:xfrm>
            <a:off x="8851392" y="2048256"/>
            <a:ext cx="2633472" cy="566928"/>
          </a:xfrm>
          <a:prstGeom prst="rect">
            <a:avLst/>
          </a:prstGeom>
          <a:noFill/>
          <a:ln/>
        </p:spPr>
        <p:txBody>
          <a:bodyPr wrap="square" lIns="0" tIns="0" rIns="0" bIns="0" rtlCol="0" anchor="ctr"/>
          <a:lstStyle/>
          <a:p>
            <a:pPr marL="0" indent="0">
              <a:buNone/>
            </a:pPr>
            <a:r>
              <a:rPr lang="en-US" sz="1100" dirty="0">
                <a:solidFill>
                  <a:schemeClr val="tx2"/>
                </a:solidFill>
              </a:rPr>
              <a:t>질문</a:t>
            </a:r>
            <a:endParaRPr lang="en-US" sz="1400" dirty="0"/>
          </a:p>
          <a:p>
            <a:pPr marL="0" indent="0">
              <a:buNone/>
            </a:pPr>
            <a:r>
              <a:rPr lang="en-US" sz="1600" b="1" dirty="0">
                <a:solidFill>
                  <a:schemeClr val="tx1"/>
                </a:solidFill>
              </a:rPr>
              <a:t>법은 준비되어 있는가</a:t>
            </a:r>
            <a:endParaRPr lang="en-US" sz="1400" dirty="0"/>
          </a:p>
        </p:txBody>
      </p:sp>
      <p:sp>
        <p:nvSpPr>
          <p:cNvPr id="14" name="arrow-0"/>
          <p:cNvSpPr txBox="1"/>
          <p:nvPr/>
        </p:nvSpPr>
        <p:spPr>
          <a:xfrm>
            <a:off x="3923325" y="3229307"/>
            <a:ext cx="646878" cy="996696"/>
          </a:xfrm>
          <a:prstGeom prst="rect">
            <a:avLst/>
          </a:prstGeom>
          <a:noFill/>
          <a:ln/>
        </p:spPr>
        <p:txBody>
          <a:bodyPr wrap="square" lIns="0" tIns="0" rIns="0" bIns="0" rtlCol="0" anchor="t"/>
          <a:lstStyle/>
          <a:p>
            <a:pPr marL="0" indent="0" algn="ctr">
              <a:buNone/>
            </a:pPr>
            <a:r>
              <a:rPr lang="en-US" sz="6600" b="1" dirty="0">
                <a:solidFill>
                  <a:schemeClr val="accent1"/>
                </a:solidFill>
              </a:rPr>
              <a:t>→</a:t>
            </a:r>
            <a:endParaRPr lang="en-US" sz="6600" dirty="0"/>
          </a:p>
        </p:txBody>
      </p:sp>
      <p:sp>
        <p:nvSpPr>
          <p:cNvPr id="16" name="ev-stat"/>
          <p:cNvSpPr txBox="1"/>
          <p:nvPr/>
        </p:nvSpPr>
        <p:spPr>
          <a:xfrm>
            <a:off x="749808" y="2743200"/>
            <a:ext cx="3154680" cy="548640"/>
          </a:xfrm>
          <a:prstGeom prst="rect">
            <a:avLst/>
          </a:prstGeom>
          <a:noFill/>
          <a:ln/>
        </p:spPr>
        <p:txBody>
          <a:bodyPr wrap="square" lIns="0" tIns="0" rIns="0" bIns="0" rtlCol="0" anchor="ctr"/>
          <a:lstStyle/>
          <a:p>
            <a:pPr marL="0" indent="0">
              <a:buNone/>
            </a:pPr>
            <a:r>
              <a:rPr lang="en-US" sz="3000" b="1" dirty="0">
                <a:solidFill>
                  <a:schemeClr val="tx2"/>
                </a:solidFill>
                <a:latin typeface="바탕" pitchFamily="34" charset="0"/>
                <a:ea typeface="바탕" pitchFamily="34" charset="-122"/>
                <a:cs typeface="바탕" pitchFamily="34" charset="-120"/>
              </a:rPr>
              <a:t>0.481</a:t>
            </a:r>
            <a:r>
              <a:rPr lang="en-US" sz="2000" dirty="0">
                <a:solidFill>
                  <a:schemeClr val="tx2"/>
                </a:solidFill>
              </a:rPr>
              <a:t> → </a:t>
            </a:r>
            <a:r>
              <a:rPr lang="en-US" sz="3000" b="1" dirty="0">
                <a:solidFill>
                  <a:schemeClr val="accent1"/>
                </a:solidFill>
                <a:latin typeface="바탕" pitchFamily="34" charset="0"/>
                <a:ea typeface="바탕" pitchFamily="34" charset="-122"/>
                <a:cs typeface="바탕" pitchFamily="34" charset="-120"/>
              </a:rPr>
              <a:t>0.060</a:t>
            </a:r>
            <a:endParaRPr lang="en-US" sz="1400" dirty="0"/>
          </a:p>
        </p:txBody>
      </p:sp>
      <p:sp>
        <p:nvSpPr>
          <p:cNvPr id="17" name="ev-cap"/>
          <p:cNvSpPr txBox="1"/>
          <p:nvPr/>
        </p:nvSpPr>
        <p:spPr>
          <a:xfrm>
            <a:off x="749808" y="3310128"/>
            <a:ext cx="3108960" cy="640080"/>
          </a:xfrm>
          <a:prstGeom prst="rect">
            <a:avLst/>
          </a:prstGeom>
          <a:noFill/>
          <a:ln/>
        </p:spPr>
        <p:txBody>
          <a:bodyPr wrap="square" lIns="0" tIns="0" rIns="0" bIns="0" rtlCol="0" anchor="t"/>
          <a:lstStyle/>
          <a:p>
            <a:pPr marL="0" indent="0">
              <a:buNone/>
            </a:pPr>
            <a:r>
              <a:rPr lang="en-US" sz="1300" dirty="0">
                <a:solidFill>
                  <a:schemeClr val="tx1"/>
                </a:solidFill>
              </a:rPr>
              <a:t>확신과 정답률의 격차(ECE)가 8분의 1로 줄었지만 정확도는 그대로였다</a:t>
            </a:r>
            <a:endParaRPr lang="en-US" sz="1300" dirty="0"/>
          </a:p>
        </p:txBody>
      </p:sp>
      <p:sp>
        <p:nvSpPr>
          <p:cNvPr id="18" name="ev-body"/>
          <p:cNvSpPr txBox="1"/>
          <p:nvPr/>
        </p:nvSpPr>
        <p:spPr>
          <a:xfrm>
            <a:off x="749808" y="4114800"/>
            <a:ext cx="3154680" cy="21031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LoRA 보정 학습, Mistral 의료 문항</a:t>
            </a:r>
            <a:endParaRPr lang="en-US" sz="1400" dirty="0"/>
          </a:p>
          <a:p>
            <a:pPr marL="342900" indent="-342900">
              <a:spcAft>
                <a:spcPts val="1000"/>
              </a:spcAft>
              <a:buSzPct val="100000"/>
              <a:buChar char="•"/>
            </a:pPr>
            <a:r>
              <a:rPr lang="en-US" sz="1400" dirty="0">
                <a:solidFill>
                  <a:schemeClr val="tx1"/>
                </a:solidFill>
              </a:rPr>
              <a:t>3개 모델 × 6개 영역, 12개 조합 중 8개 유의 개선</a:t>
            </a:r>
            <a:endParaRPr lang="en-US" sz="1400" dirty="0"/>
          </a:p>
          <a:p>
            <a:pPr marL="342900" indent="-342900">
              <a:spcAft>
                <a:spcPts val="1000"/>
              </a:spcAft>
              <a:buSzPct val="100000"/>
              <a:buChar char="•"/>
            </a:pPr>
            <a:r>
              <a:rPr lang="en-US" sz="1400" b="1" dirty="0">
                <a:solidFill>
                  <a:schemeClr val="accent3"/>
                </a:solidFill>
              </a:rPr>
              <a:t>과신은 실재하고, 기술로 줄일 수 있다. 그러니 법이 요구할 수 있다</a:t>
            </a:r>
            <a:endParaRPr lang="en-US" sz="1400" dirty="0"/>
          </a:p>
        </p:txBody>
      </p:sp>
      <p:sp>
        <p:nvSpPr>
          <p:cNvPr id="19" name="risk-kinds"/>
          <p:cNvSpPr txBox="1"/>
          <p:nvPr/>
        </p:nvSpPr>
        <p:spPr>
          <a:xfrm>
            <a:off x="4544568" y="2761488"/>
            <a:ext cx="3154680" cy="457200"/>
          </a:xfrm>
          <a:prstGeom prst="rect">
            <a:avLst/>
          </a:prstGeom>
          <a:noFill/>
          <a:ln/>
        </p:spPr>
        <p:txBody>
          <a:bodyPr wrap="square" lIns="0" tIns="0" rIns="0" bIns="0" rtlCol="0" anchor="ctr"/>
          <a:lstStyle/>
          <a:p>
            <a:pPr marL="0" indent="0">
              <a:buNone/>
            </a:pPr>
            <a:r>
              <a:rPr lang="en-US" sz="1400" b="1" dirty="0">
                <a:solidFill>
                  <a:schemeClr val="accent3"/>
                </a:solidFill>
              </a:rPr>
              <a:t>가전, 돌봄 로봇, AI 완구, 휴머노이드</a:t>
            </a:r>
            <a:endParaRPr lang="en-US" sz="1400" dirty="0"/>
          </a:p>
        </p:txBody>
      </p:sp>
      <p:sp>
        <p:nvSpPr>
          <p:cNvPr id="20" name="risk-body"/>
          <p:cNvSpPr txBox="1"/>
          <p:nvPr/>
        </p:nvSpPr>
        <p:spPr>
          <a:xfrm>
            <a:off x="4544568" y="3310128"/>
            <a:ext cx="3154680" cy="274320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chemeClr val="tx1"/>
                </a:solidFill>
              </a:rPr>
              <a:t>화면 속 오답은 무시하면 되지만, 로봇의 확신에 찬 오판은 곧 행동이 된다</a:t>
            </a:r>
            <a:endParaRPr lang="en-US" sz="1400" dirty="0"/>
          </a:p>
          <a:p>
            <a:pPr marL="342900" indent="-342900">
              <a:spcAft>
                <a:spcPts val="1200"/>
              </a:spcAft>
              <a:buSzPct val="100000"/>
              <a:buChar char="•"/>
            </a:pPr>
            <a:r>
              <a:rPr lang="en-US" sz="1400" dirty="0">
                <a:solidFill>
                  <a:schemeClr val="tx1"/>
                </a:solidFill>
              </a:rPr>
              <a:t>예: 돌봄 로봇이 이상 없음을 확신하고 응급 신호를 넘긴다</a:t>
            </a:r>
            <a:endParaRPr lang="en-US" sz="1400" dirty="0"/>
          </a:p>
          <a:p>
            <a:pPr marL="342900" indent="-342900">
              <a:spcAft>
                <a:spcPts val="1200"/>
              </a:spcAft>
              <a:buSzPct val="100000"/>
              <a:buChar char="•"/>
            </a:pPr>
            <a:r>
              <a:rPr lang="en-US" sz="1400" b="1" dirty="0">
                <a:solidFill>
                  <a:schemeClr val="accent3"/>
                </a:solidFill>
              </a:rPr>
              <a:t>피해는 AI의 판단을 의심하기 어려운 아이와 어르신에게 먼저 간다</a:t>
            </a:r>
            <a:endParaRPr lang="en-US" sz="1400" dirty="0"/>
          </a:p>
        </p:txBody>
      </p:sp>
      <p:sp>
        <p:nvSpPr>
          <p:cNvPr id="21" name="chk-h-0"/>
          <p:cNvSpPr txBox="1"/>
          <p:nvPr/>
        </p:nvSpPr>
        <p:spPr>
          <a:xfrm>
            <a:off x="8339328" y="2788920"/>
            <a:ext cx="3108960" cy="274320"/>
          </a:xfrm>
          <a:prstGeom prst="rect">
            <a:avLst/>
          </a:prstGeom>
          <a:noFill/>
          <a:ln/>
        </p:spPr>
        <p:txBody>
          <a:bodyPr wrap="square" lIns="0" tIns="0" rIns="0" bIns="0" rtlCol="0" anchor="t"/>
          <a:lstStyle/>
          <a:p>
            <a:pPr marL="0" indent="0">
              <a:buNone/>
            </a:pPr>
            <a:r>
              <a:rPr lang="en-US" sz="1300" b="1" dirty="0">
                <a:solidFill>
                  <a:schemeClr val="accent4"/>
                </a:solidFill>
              </a:rPr>
              <a:t>정확성 기준</a:t>
            </a:r>
            <a:endParaRPr lang="en-US" sz="1300" dirty="0"/>
          </a:p>
        </p:txBody>
      </p:sp>
      <p:sp>
        <p:nvSpPr>
          <p:cNvPr id="22" name="chk-t-0"/>
          <p:cNvSpPr txBox="1"/>
          <p:nvPr/>
        </p:nvSpPr>
        <p:spPr>
          <a:xfrm>
            <a:off x="8339328" y="3081528"/>
            <a:ext cx="3108960" cy="640080"/>
          </a:xfrm>
          <a:prstGeom prst="rect">
            <a:avLst/>
          </a:prstGeom>
          <a:noFill/>
          <a:ln/>
        </p:spPr>
        <p:txBody>
          <a:bodyPr wrap="square" lIns="0" tIns="0" rIns="0" bIns="0" rtlCol="0" anchor="t"/>
          <a:lstStyle/>
          <a:p>
            <a:pPr marL="0" indent="0">
              <a:buNone/>
            </a:pPr>
            <a:r>
              <a:rPr lang="en-US" sz="1350" dirty="0">
                <a:solidFill>
                  <a:schemeClr val="tx1"/>
                </a:solidFill>
              </a:rPr>
              <a:t>기본법 </a:t>
            </a:r>
            <a:r>
              <a:rPr lang="en-US" sz="1350" u="sng" dirty="0">
                <a:solidFill>
                  <a:schemeClr val="accent1"/>
                </a:solidFill>
                <a:hlinkClick r:id="rId3" tooltip="원문 열기">
                  <a:extLst>
                    <a:ext uri="{A12FA001-AC4F-418D-AE19-62706E023703}">
                      <ahyp:hlinkClr xmlns:ahyp="http://schemas.microsoft.com/office/drawing/2018/hyperlinkcolor" val="tx"/>
                    </a:ext>
                  </a:extLst>
                </a:hlinkClick>
              </a:rPr>
              <a:t>제34조</a:t>
            </a:r>
            <a:r>
              <a:rPr lang="en-US" sz="1350" dirty="0">
                <a:solidFill>
                  <a:schemeClr val="tx1"/>
                </a:solidFill>
              </a:rPr>
              <a:t>에 정확성 항목 없음</a:t>
            </a:r>
            <a:endParaRPr lang="en-US" sz="1350" dirty="0"/>
          </a:p>
        </p:txBody>
      </p:sp>
      <p:sp>
        <p:nvSpPr>
          <p:cNvPr id="23" name="chk-h-1"/>
          <p:cNvSpPr txBox="1"/>
          <p:nvPr/>
        </p:nvSpPr>
        <p:spPr>
          <a:xfrm>
            <a:off x="8339328" y="3813048"/>
            <a:ext cx="3108960" cy="274320"/>
          </a:xfrm>
          <a:prstGeom prst="rect">
            <a:avLst/>
          </a:prstGeom>
          <a:noFill/>
          <a:ln/>
        </p:spPr>
        <p:txBody>
          <a:bodyPr wrap="square" lIns="0" tIns="0" rIns="0" bIns="0" rtlCol="0" anchor="t"/>
          <a:lstStyle/>
          <a:p>
            <a:pPr marL="0" indent="0">
              <a:buNone/>
            </a:pPr>
            <a:r>
              <a:rPr lang="en-US" sz="1300" b="1" dirty="0">
                <a:solidFill>
                  <a:schemeClr val="accent4"/>
                </a:solidFill>
              </a:rPr>
              <a:t>가정용 AI</a:t>
            </a:r>
            <a:endParaRPr lang="en-US" sz="1300" dirty="0"/>
          </a:p>
        </p:txBody>
      </p:sp>
      <p:sp>
        <p:nvSpPr>
          <p:cNvPr id="24" name="chk-t-1"/>
          <p:cNvSpPr txBox="1"/>
          <p:nvPr/>
        </p:nvSpPr>
        <p:spPr>
          <a:xfrm>
            <a:off x="8339328" y="4105656"/>
            <a:ext cx="3108960" cy="640080"/>
          </a:xfrm>
          <a:prstGeom prst="rect">
            <a:avLst/>
          </a:prstGeom>
          <a:noFill/>
          <a:ln/>
        </p:spPr>
        <p:txBody>
          <a:bodyPr wrap="square" lIns="0" tIns="0" rIns="0" bIns="0" rtlCol="0" anchor="t"/>
          <a:lstStyle/>
          <a:p>
            <a:pPr marL="0" indent="0">
              <a:buNone/>
            </a:pPr>
            <a:r>
              <a:rPr lang="en-US" sz="1350" dirty="0">
                <a:solidFill>
                  <a:schemeClr val="tx1"/>
                </a:solidFill>
              </a:rPr>
              <a:t>고영향 11개 영역(</a:t>
            </a:r>
            <a:r>
              <a:rPr lang="en-US" sz="1350" u="sng" dirty="0">
                <a:solidFill>
                  <a:schemeClr val="accent1"/>
                </a:solidFill>
                <a:hlinkClick r:id="rId4" tooltip="원문 열기">
                  <a:extLst>
                    <a:ext uri="{A12FA001-AC4F-418D-AE19-62706E023703}">
                      <ahyp:hlinkClr xmlns:ahyp="http://schemas.microsoft.com/office/drawing/2018/hyperlinkcolor" val="tx"/>
                    </a:ext>
                  </a:extLst>
                </a:hlinkClick>
              </a:rPr>
              <a:t>제2조</a:t>
            </a:r>
            <a:r>
              <a:rPr lang="en-US" sz="1350" dirty="0">
                <a:solidFill>
                  <a:schemeClr val="tx1"/>
                </a:solidFill>
              </a:rPr>
              <a:t> 4호)에 가정용 로봇, 가전 없음</a:t>
            </a:r>
            <a:endParaRPr lang="en-US" sz="1350" dirty="0"/>
          </a:p>
        </p:txBody>
      </p:sp>
      <p:sp>
        <p:nvSpPr>
          <p:cNvPr id="25" name="chk-h-2"/>
          <p:cNvSpPr txBox="1"/>
          <p:nvPr/>
        </p:nvSpPr>
        <p:spPr>
          <a:xfrm>
            <a:off x="8339328" y="4837176"/>
            <a:ext cx="3108960" cy="274320"/>
          </a:xfrm>
          <a:prstGeom prst="rect">
            <a:avLst/>
          </a:prstGeom>
          <a:noFill/>
          <a:ln/>
        </p:spPr>
        <p:txBody>
          <a:bodyPr wrap="square" lIns="0" tIns="0" rIns="0" bIns="0" rtlCol="0" anchor="t"/>
          <a:lstStyle/>
          <a:p>
            <a:pPr marL="0" indent="0">
              <a:buNone/>
            </a:pPr>
            <a:r>
              <a:rPr lang="en-US" sz="1300" b="1" dirty="0">
                <a:solidFill>
                  <a:schemeClr val="accent4"/>
                </a:solidFill>
              </a:rPr>
              <a:t>아동 보호</a:t>
            </a:r>
            <a:endParaRPr lang="en-US" sz="1300" dirty="0"/>
          </a:p>
        </p:txBody>
      </p:sp>
      <p:sp>
        <p:nvSpPr>
          <p:cNvPr id="26" name="chk-t-2"/>
          <p:cNvSpPr txBox="1"/>
          <p:nvPr/>
        </p:nvSpPr>
        <p:spPr>
          <a:xfrm>
            <a:off x="8339328" y="5129784"/>
            <a:ext cx="3108960" cy="640080"/>
          </a:xfrm>
          <a:prstGeom prst="rect">
            <a:avLst/>
          </a:prstGeom>
          <a:noFill/>
          <a:ln/>
        </p:spPr>
        <p:txBody>
          <a:bodyPr wrap="square" lIns="0" tIns="0" rIns="0" bIns="0" rtlCol="0" anchor="t"/>
          <a:lstStyle/>
          <a:p>
            <a:pPr marL="0" indent="0">
              <a:buNone/>
            </a:pPr>
            <a:r>
              <a:rPr lang="en-US" sz="1350" dirty="0">
                <a:solidFill>
                  <a:schemeClr val="tx1"/>
                </a:solidFill>
              </a:rPr>
              <a:t>시행령 취약계층(</a:t>
            </a:r>
            <a:r>
              <a:rPr lang="en-US" sz="1350" u="sng" dirty="0">
                <a:solidFill>
                  <a:schemeClr val="accent1"/>
                </a:solidFill>
                <a:hlinkClick r:id="rId5" tooltip="원문 열기">
                  <a:extLst>
                    <a:ext uri="{A12FA001-AC4F-418D-AE19-62706E023703}">
                      <ahyp:hlinkClr xmlns:ahyp="http://schemas.microsoft.com/office/drawing/2018/hyperlinkcolor" val="tx"/>
                    </a:ext>
                  </a:extLst>
                </a:hlinkClick>
              </a:rPr>
              <a:t>제1조의2</a:t>
            </a:r>
            <a:r>
              <a:rPr lang="en-US" sz="1350" dirty="0">
                <a:solidFill>
                  <a:schemeClr val="tx1"/>
                </a:solidFill>
              </a:rPr>
              <a:t>)에 65세 이상은 있고 아동은 없음</a:t>
            </a:r>
            <a:endParaRPr lang="en-US" sz="1350" dirty="0"/>
          </a:p>
        </p:txBody>
      </p:sp>
      <p:sp>
        <p:nvSpPr>
          <p:cNvPr id="27" name="next"/>
          <p:cNvSpPr txBox="1"/>
          <p:nvPr/>
        </p:nvSpPr>
        <p:spPr>
          <a:xfrm>
            <a:off x="8339328" y="5797296"/>
            <a:ext cx="3108960" cy="274320"/>
          </a:xfrm>
          <a:prstGeom prst="rect">
            <a:avLst/>
          </a:prstGeom>
          <a:noFill/>
          <a:ln/>
        </p:spPr>
        <p:txBody>
          <a:bodyPr wrap="square" lIns="0" tIns="0" rIns="0" bIns="0" rtlCol="0" anchor="t"/>
          <a:lstStyle/>
          <a:p>
            <a:pPr marL="0" indent="0">
              <a:buNone/>
            </a:pPr>
            <a:r>
              <a:rPr lang="en-US" sz="1150" dirty="0">
                <a:solidFill>
                  <a:schemeClr val="tx2"/>
                </a:solidFill>
              </a:rPr>
              <a:t>다음 쪽: EU 인공지능법과의 비교와 제안</a:t>
            </a:r>
            <a:endParaRPr lang="en-US" sz="1150" dirty="0"/>
          </a:p>
        </p:txBody>
      </p:sp>
      <p:sp>
        <p:nvSpPr>
          <p:cNvPr id="28" name="src1"/>
          <p:cNvSpPr txBox="1"/>
          <p:nvPr/>
        </p:nvSpPr>
        <p:spPr>
          <a:xfrm>
            <a:off x="6949440" y="6419088"/>
            <a:ext cx="4690872" cy="256032"/>
          </a:xfrm>
          <a:prstGeom prst="rect">
            <a:avLst/>
          </a:prstGeom>
          <a:noFill/>
          <a:ln/>
        </p:spPr>
        <p:txBody>
          <a:bodyPr wrap="square" lIns="0" tIns="0" rIns="0" bIns="0" rtlCol="0" anchor="t"/>
          <a:lstStyle/>
          <a:p>
            <a:pPr marL="0" indent="0" algn="r">
              <a:buNone/>
            </a:pPr>
            <a:r>
              <a:rPr lang="en-US" sz="1000" dirty="0">
                <a:solidFill>
                  <a:schemeClr val="tx2"/>
                </a:solidFill>
              </a:rPr>
              <a:t>근거 실험: 발표자 선행 연구 (Cal-FT, IEEE Access 심사 중)</a:t>
            </a:r>
            <a:endParaRPr lang="en-US" sz="1000" dirty="0"/>
          </a:p>
        </p:txBody>
      </p:sp>
      <p:sp>
        <p:nvSpPr>
          <p:cNvPr id="30" name="arrow-0">
            <a:extLst>
              <a:ext uri="{FF2B5EF4-FFF2-40B4-BE49-F238E27FC236}">
                <a16:creationId xmlns:a16="http://schemas.microsoft.com/office/drawing/2014/main" id="{A16AD721-B361-458D-B7DA-6979F2BDEE2D}"/>
              </a:ext>
            </a:extLst>
          </p:cNvPr>
          <p:cNvSpPr txBox="1"/>
          <p:nvPr/>
        </p:nvSpPr>
        <p:spPr>
          <a:xfrm>
            <a:off x="7723281" y="3229307"/>
            <a:ext cx="646878" cy="996696"/>
          </a:xfrm>
          <a:prstGeom prst="rect">
            <a:avLst/>
          </a:prstGeom>
          <a:noFill/>
          <a:ln/>
        </p:spPr>
        <p:txBody>
          <a:bodyPr wrap="square" lIns="0" tIns="0" rIns="0" bIns="0" rtlCol="0" anchor="t"/>
          <a:lstStyle/>
          <a:p>
            <a:pPr marL="0" indent="0" algn="ctr">
              <a:buNone/>
            </a:pPr>
            <a:r>
              <a:rPr lang="en-US" sz="6600" b="1" dirty="0">
                <a:solidFill>
                  <a:schemeClr val="accent1"/>
                </a:solidFill>
              </a:rPr>
              <a:t>→</a:t>
            </a:r>
            <a:endParaRPr lang="en-US" sz="6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229600" cy="292608"/>
          </a:xfrm>
          <a:prstGeom prst="rect">
            <a:avLst/>
          </a:prstGeom>
          <a:noFill/>
          <a:ln/>
        </p:spPr>
        <p:txBody>
          <a:bodyPr wrap="square" lIns="0" tIns="0" rIns="0" bIns="0" rtlCol="0" anchor="ctr"/>
          <a:lstStyle/>
          <a:p>
            <a:pPr marL="0" indent="0">
              <a:buNone/>
            </a:pPr>
            <a:r>
              <a:rPr lang="en-US" sz="1200" b="1" dirty="0">
                <a:solidFill>
                  <a:schemeClr val="accent1"/>
                </a:solidFill>
              </a:rPr>
              <a:t>소논문 연구계획서 2/2  |  법 비교와 제안 (밑줄 친 조문을 누르면 원문이 열립니다)</a:t>
            </a:r>
            <a:endParaRPr lang="en-US" sz="1200" dirty="0"/>
          </a:p>
        </p:txBody>
      </p:sp>
      <p:sp>
        <p:nvSpPr>
          <p:cNvPr id="3" name="Text 0"/>
          <p:cNvSpPr>
            <a:spLocks noGrp="1"/>
          </p:cNvSpPr>
          <p:nvPr>
            <p:ph type="title" idx="101" hasCustomPrompt="1"/>
          </p:nvPr>
        </p:nvSpPr>
        <p:spPr>
          <a:xfrm>
            <a:off x="548640" y="658368"/>
            <a:ext cx="11064240" cy="658368"/>
          </a:xfrm>
          <a:prstGeom prst="rect">
            <a:avLst/>
          </a:prstGeom>
          <a:noFill/>
          <a:ln/>
        </p:spPr>
        <p:txBody>
          <a:bodyPr wrap="square" lIns="0" tIns="0" rIns="0" bIns="0" rtlCol="0" anchor="ctr"/>
          <a:lstStyle/>
          <a:p>
            <a:pPr marL="0" indent="0" algn="l">
              <a:buNone/>
            </a:pPr>
            <a:r>
              <a:rPr lang="en-US" sz="3400" b="1" dirty="0">
                <a:solidFill>
                  <a:schemeClr val="tx1"/>
                </a:solidFill>
                <a:latin typeface="바탕" pitchFamily="34" charset="0"/>
                <a:ea typeface="바탕" pitchFamily="34" charset="-122"/>
                <a:cs typeface="바탕" pitchFamily="34" charset="-120"/>
              </a:rPr>
              <a:t>기준을 법으로 꼼꼼히 정해야 한다</a:t>
            </a:r>
            <a:endParaRPr lang="en-US" sz="3400" dirty="0"/>
          </a:p>
        </p:txBody>
      </p:sp>
      <p:sp>
        <p:nvSpPr>
          <p:cNvPr id="4" name="col-head-0"/>
          <p:cNvSpPr/>
          <p:nvPr/>
        </p:nvSpPr>
        <p:spPr>
          <a:xfrm>
            <a:off x="548640" y="1463040"/>
            <a:ext cx="1828800" cy="402336"/>
          </a:xfrm>
          <a:prstGeom prst="roundRect">
            <a:avLst>
              <a:gd name="adj" fmla="val 13636"/>
            </a:avLst>
          </a:prstGeom>
          <a:solidFill>
            <a:schemeClr val="accent3"/>
          </a:solidFill>
          <a:ln w="9525">
            <a:solidFill>
              <a:schemeClr val="accent5"/>
            </a:solidFill>
            <a:prstDash val="solid"/>
          </a:ln>
        </p:spPr>
      </p:sp>
      <p:sp>
        <p:nvSpPr>
          <p:cNvPr id="5" name="col-head-text-0"/>
          <p:cNvSpPr txBox="1"/>
          <p:nvPr/>
        </p:nvSpPr>
        <p:spPr>
          <a:xfrm>
            <a:off x="685800" y="1463040"/>
            <a:ext cx="1554480" cy="402336"/>
          </a:xfrm>
          <a:prstGeom prst="rect">
            <a:avLst/>
          </a:prstGeom>
          <a:noFill/>
          <a:ln/>
        </p:spPr>
        <p:txBody>
          <a:bodyPr wrap="square" lIns="0" tIns="0" rIns="0" bIns="0" rtlCol="0" anchor="ctr"/>
          <a:lstStyle/>
          <a:p>
            <a:pPr marL="0" indent="0">
              <a:buNone/>
            </a:pPr>
            <a:r>
              <a:rPr lang="en-US" sz="1350" b="1" dirty="0">
                <a:solidFill>
                  <a:schemeClr val="bg1"/>
                </a:solidFill>
              </a:rPr>
              <a:t>쟁점</a:t>
            </a:r>
            <a:endParaRPr lang="en-US" sz="1350" dirty="0"/>
          </a:p>
        </p:txBody>
      </p:sp>
      <p:sp>
        <p:nvSpPr>
          <p:cNvPr id="6" name="col-head-1"/>
          <p:cNvSpPr/>
          <p:nvPr/>
        </p:nvSpPr>
        <p:spPr>
          <a:xfrm>
            <a:off x="2514600" y="1463040"/>
            <a:ext cx="2880360" cy="402336"/>
          </a:xfrm>
          <a:prstGeom prst="roundRect">
            <a:avLst>
              <a:gd name="adj" fmla="val 13636"/>
            </a:avLst>
          </a:prstGeom>
          <a:solidFill>
            <a:schemeClr val="accent3"/>
          </a:solidFill>
          <a:ln w="9525">
            <a:solidFill>
              <a:schemeClr val="accent5"/>
            </a:solidFill>
            <a:prstDash val="solid"/>
          </a:ln>
        </p:spPr>
      </p:sp>
      <p:sp>
        <p:nvSpPr>
          <p:cNvPr id="7" name="col-head-text-1"/>
          <p:cNvSpPr txBox="1"/>
          <p:nvPr/>
        </p:nvSpPr>
        <p:spPr>
          <a:xfrm>
            <a:off x="2651760" y="1463040"/>
            <a:ext cx="2606040" cy="402336"/>
          </a:xfrm>
          <a:prstGeom prst="rect">
            <a:avLst/>
          </a:prstGeom>
          <a:noFill/>
          <a:ln/>
        </p:spPr>
        <p:txBody>
          <a:bodyPr wrap="square" lIns="0" tIns="0" rIns="0" bIns="0" rtlCol="0" anchor="ctr"/>
          <a:lstStyle/>
          <a:p>
            <a:pPr marL="0" indent="0">
              <a:buNone/>
            </a:pPr>
            <a:r>
              <a:rPr lang="en-US" sz="1350" b="1" dirty="0">
                <a:solidFill>
                  <a:schemeClr val="bg1"/>
                </a:solidFill>
              </a:rPr>
              <a:t>EU 인공지능법</a:t>
            </a:r>
            <a:endParaRPr lang="en-US" sz="1350" dirty="0"/>
          </a:p>
        </p:txBody>
      </p:sp>
      <p:sp>
        <p:nvSpPr>
          <p:cNvPr id="8" name="col-head-2"/>
          <p:cNvSpPr/>
          <p:nvPr/>
        </p:nvSpPr>
        <p:spPr>
          <a:xfrm>
            <a:off x="5532120" y="1463040"/>
            <a:ext cx="2880360" cy="402336"/>
          </a:xfrm>
          <a:prstGeom prst="roundRect">
            <a:avLst>
              <a:gd name="adj" fmla="val 13636"/>
            </a:avLst>
          </a:prstGeom>
          <a:solidFill>
            <a:schemeClr val="accent3"/>
          </a:solidFill>
          <a:ln w="9525">
            <a:solidFill>
              <a:schemeClr val="accent5"/>
            </a:solidFill>
            <a:prstDash val="solid"/>
          </a:ln>
        </p:spPr>
      </p:sp>
      <p:sp>
        <p:nvSpPr>
          <p:cNvPr id="9" name="col-head-text-2"/>
          <p:cNvSpPr txBox="1"/>
          <p:nvPr/>
        </p:nvSpPr>
        <p:spPr>
          <a:xfrm>
            <a:off x="5669280" y="1463040"/>
            <a:ext cx="2606040" cy="402336"/>
          </a:xfrm>
          <a:prstGeom prst="rect">
            <a:avLst/>
          </a:prstGeom>
          <a:noFill/>
          <a:ln/>
        </p:spPr>
        <p:txBody>
          <a:bodyPr wrap="square" lIns="0" tIns="0" rIns="0" bIns="0" rtlCol="0" anchor="ctr"/>
          <a:lstStyle/>
          <a:p>
            <a:pPr marL="0" indent="0">
              <a:buNone/>
            </a:pPr>
            <a:r>
              <a:rPr lang="en-US" sz="1350" b="1" dirty="0">
                <a:solidFill>
                  <a:schemeClr val="bg1"/>
                </a:solidFill>
              </a:rPr>
              <a:t>인공지능기본법 및 시행령</a:t>
            </a:r>
            <a:endParaRPr lang="en-US" sz="1350" dirty="0"/>
          </a:p>
        </p:txBody>
      </p:sp>
      <p:sp>
        <p:nvSpPr>
          <p:cNvPr id="10" name="col-head-3"/>
          <p:cNvSpPr/>
          <p:nvPr/>
        </p:nvSpPr>
        <p:spPr>
          <a:xfrm>
            <a:off x="8549640" y="1463040"/>
            <a:ext cx="3090672" cy="402336"/>
          </a:xfrm>
          <a:prstGeom prst="roundRect">
            <a:avLst>
              <a:gd name="adj" fmla="val 13636"/>
            </a:avLst>
          </a:prstGeom>
          <a:solidFill>
            <a:schemeClr val="accent1"/>
          </a:solidFill>
          <a:ln w="9525">
            <a:solidFill>
              <a:schemeClr val="accent5"/>
            </a:solidFill>
            <a:prstDash val="solid"/>
          </a:ln>
        </p:spPr>
      </p:sp>
      <p:sp>
        <p:nvSpPr>
          <p:cNvPr id="11" name="col-head-text-3"/>
          <p:cNvSpPr txBox="1"/>
          <p:nvPr/>
        </p:nvSpPr>
        <p:spPr>
          <a:xfrm>
            <a:off x="8686800" y="1463040"/>
            <a:ext cx="2816352" cy="402336"/>
          </a:xfrm>
          <a:prstGeom prst="rect">
            <a:avLst/>
          </a:prstGeom>
          <a:noFill/>
          <a:ln/>
        </p:spPr>
        <p:txBody>
          <a:bodyPr wrap="square" lIns="0" tIns="0" rIns="0" bIns="0" rtlCol="0" anchor="ctr"/>
          <a:lstStyle/>
          <a:p>
            <a:pPr marL="0" indent="0">
              <a:buNone/>
            </a:pPr>
            <a:r>
              <a:rPr lang="en-US" sz="1350" b="1" dirty="0">
                <a:solidFill>
                  <a:schemeClr val="bg1"/>
                </a:solidFill>
              </a:rPr>
              <a:t>제안</a:t>
            </a:r>
            <a:endParaRPr lang="en-US" sz="1350" dirty="0"/>
          </a:p>
        </p:txBody>
      </p:sp>
      <p:sp>
        <p:nvSpPr>
          <p:cNvPr id="12" name="cell-0-0"/>
          <p:cNvSpPr/>
          <p:nvPr/>
        </p:nvSpPr>
        <p:spPr>
          <a:xfrm>
            <a:off x="548640" y="1938528"/>
            <a:ext cx="1828800" cy="822960"/>
          </a:xfrm>
          <a:prstGeom prst="roundRect">
            <a:avLst>
              <a:gd name="adj" fmla="val 6667"/>
            </a:avLst>
          </a:prstGeom>
          <a:solidFill>
            <a:schemeClr val="accent2"/>
          </a:solidFill>
          <a:ln w="9525">
            <a:solidFill>
              <a:schemeClr val="accent5"/>
            </a:solidFill>
            <a:prstDash val="solid"/>
          </a:ln>
        </p:spPr>
      </p:sp>
      <p:sp>
        <p:nvSpPr>
          <p:cNvPr id="13" name="cell-text-0-0"/>
          <p:cNvSpPr txBox="1"/>
          <p:nvPr/>
        </p:nvSpPr>
        <p:spPr>
          <a:xfrm>
            <a:off x="667511" y="1938528"/>
            <a:ext cx="1653657" cy="822960"/>
          </a:xfrm>
          <a:prstGeom prst="rect">
            <a:avLst/>
          </a:prstGeom>
          <a:noFill/>
          <a:ln/>
        </p:spPr>
        <p:txBody>
          <a:bodyPr wrap="square" lIns="0" tIns="0" rIns="0" bIns="0" rtlCol="0" anchor="ctr"/>
          <a:lstStyle/>
          <a:p>
            <a:pPr marL="0" indent="0">
              <a:buNone/>
            </a:pPr>
            <a:r>
              <a:rPr lang="en-US" sz="1300" b="1" dirty="0">
                <a:solidFill>
                  <a:schemeClr val="tx1"/>
                </a:solidFill>
              </a:rPr>
              <a:t>정확성과 확신의 기준</a:t>
            </a:r>
            <a:endParaRPr lang="en-US" sz="1300" dirty="0"/>
          </a:p>
        </p:txBody>
      </p:sp>
      <p:sp>
        <p:nvSpPr>
          <p:cNvPr id="14" name="cell-0-1"/>
          <p:cNvSpPr/>
          <p:nvPr/>
        </p:nvSpPr>
        <p:spPr>
          <a:xfrm>
            <a:off x="2514600" y="1938528"/>
            <a:ext cx="2880360" cy="822960"/>
          </a:xfrm>
          <a:prstGeom prst="roundRect">
            <a:avLst>
              <a:gd name="adj" fmla="val 6667"/>
            </a:avLst>
          </a:prstGeom>
          <a:solidFill>
            <a:schemeClr val="bg1"/>
          </a:solidFill>
          <a:ln w="9525">
            <a:solidFill>
              <a:schemeClr val="accent5"/>
            </a:solidFill>
            <a:prstDash val="solid"/>
          </a:ln>
        </p:spPr>
      </p:sp>
      <p:sp>
        <p:nvSpPr>
          <p:cNvPr id="15" name="cell-text-0-1"/>
          <p:cNvSpPr txBox="1"/>
          <p:nvPr/>
        </p:nvSpPr>
        <p:spPr>
          <a:xfrm>
            <a:off x="2633472" y="1938528"/>
            <a:ext cx="2642616" cy="822960"/>
          </a:xfrm>
          <a:prstGeom prst="rect">
            <a:avLst/>
          </a:prstGeom>
          <a:noFill/>
          <a:ln/>
        </p:spPr>
        <p:txBody>
          <a:bodyPr wrap="square" lIns="0" tIns="0" rIns="0" bIns="0" rtlCol="0" anchor="ctr"/>
          <a:lstStyle/>
          <a:p>
            <a:pPr marL="0" indent="0">
              <a:buNone/>
            </a:pPr>
            <a:r>
              <a:rPr lang="en-US" sz="1150" u="sng" dirty="0">
                <a:solidFill>
                  <a:schemeClr val="accent1"/>
                </a:solidFill>
                <a:hlinkClick r:id="rId3" tooltip="원문 열기">
                  <a:extLst>
                    <a:ext uri="{A12FA001-AC4F-418D-AE19-62706E023703}">
                      <ahyp:hlinkClr xmlns:ahyp="http://schemas.microsoft.com/office/drawing/2018/hyperlinkcolor" val="tx"/>
                    </a:ext>
                  </a:extLst>
                </a:hlinkClick>
              </a:rPr>
              <a:t>제15조</a:t>
            </a:r>
            <a:r>
              <a:rPr lang="en-US" sz="1150" dirty="0">
                <a:solidFill>
                  <a:schemeClr val="tx1"/>
                </a:solidFill>
              </a:rPr>
              <a:t>: 정확성 요건과 지표 기재. </a:t>
            </a:r>
            <a:r>
              <a:rPr lang="en-US" sz="1150" u="sng" dirty="0">
                <a:solidFill>
                  <a:schemeClr val="accent1"/>
                </a:solidFill>
                <a:hlinkClick r:id="rId4" tooltip="원문 열기">
                  <a:extLst>
                    <a:ext uri="{A12FA001-AC4F-418D-AE19-62706E023703}">
                      <ahyp:hlinkClr xmlns:ahyp="http://schemas.microsoft.com/office/drawing/2018/hyperlinkcolor" val="tx"/>
                    </a:ext>
                  </a:extLst>
                </a:hlinkClick>
              </a:rPr>
              <a:t>제14조</a:t>
            </a:r>
            <a:r>
              <a:rPr lang="en-US" sz="1150" dirty="0">
                <a:solidFill>
                  <a:schemeClr val="tx1"/>
                </a:solidFill>
              </a:rPr>
              <a:t> 4항 b: 자동화 편향 경계. 단, 지표는 미특정</a:t>
            </a:r>
            <a:endParaRPr lang="en-US" sz="1150" dirty="0"/>
          </a:p>
        </p:txBody>
      </p:sp>
      <p:sp>
        <p:nvSpPr>
          <p:cNvPr id="16" name="cell-0-2"/>
          <p:cNvSpPr/>
          <p:nvPr/>
        </p:nvSpPr>
        <p:spPr>
          <a:xfrm>
            <a:off x="5532120" y="1938528"/>
            <a:ext cx="2880360" cy="822960"/>
          </a:xfrm>
          <a:prstGeom prst="roundRect">
            <a:avLst>
              <a:gd name="adj" fmla="val 6667"/>
            </a:avLst>
          </a:prstGeom>
          <a:solidFill>
            <a:schemeClr val="bg1"/>
          </a:solidFill>
          <a:ln w="9525">
            <a:solidFill>
              <a:schemeClr val="accent5"/>
            </a:solidFill>
            <a:prstDash val="solid"/>
          </a:ln>
        </p:spPr>
      </p:sp>
      <p:sp>
        <p:nvSpPr>
          <p:cNvPr id="17" name="cell-text-0-2"/>
          <p:cNvSpPr txBox="1"/>
          <p:nvPr/>
        </p:nvSpPr>
        <p:spPr>
          <a:xfrm>
            <a:off x="5650992" y="1938528"/>
            <a:ext cx="2642616" cy="822960"/>
          </a:xfrm>
          <a:prstGeom prst="rect">
            <a:avLst/>
          </a:prstGeom>
          <a:noFill/>
          <a:ln/>
        </p:spPr>
        <p:txBody>
          <a:bodyPr wrap="square" lIns="0" tIns="0" rIns="0" bIns="0" rtlCol="0" anchor="ctr"/>
          <a:lstStyle/>
          <a:p>
            <a:pPr marL="0" indent="0">
              <a:buNone/>
            </a:pPr>
            <a:r>
              <a:rPr lang="en-US" sz="1150" u="sng" dirty="0">
                <a:solidFill>
                  <a:schemeClr val="accent1"/>
                </a:solidFill>
                <a:hlinkClick r:id="rId5" tooltip="원문 열기">
                  <a:extLst>
                    <a:ext uri="{A12FA001-AC4F-418D-AE19-62706E023703}">
                      <ahyp:hlinkClr xmlns:ahyp="http://schemas.microsoft.com/office/drawing/2018/hyperlinkcolor" val="tx"/>
                    </a:ext>
                  </a:extLst>
                </a:hlinkClick>
              </a:rPr>
              <a:t>제34조</a:t>
            </a:r>
            <a:r>
              <a:rPr lang="en-US" sz="1150" dirty="0">
                <a:solidFill>
                  <a:schemeClr val="tx1"/>
                </a:solidFill>
              </a:rPr>
              <a:t> 1항 6개 조치에 정확성, 성능 항목 없음. 구체 기준은 고시에 위임</a:t>
            </a:r>
            <a:endParaRPr lang="en-US" sz="1150" dirty="0"/>
          </a:p>
        </p:txBody>
      </p:sp>
      <p:sp>
        <p:nvSpPr>
          <p:cNvPr id="18" name="cell-0-3"/>
          <p:cNvSpPr/>
          <p:nvPr/>
        </p:nvSpPr>
        <p:spPr>
          <a:xfrm>
            <a:off x="8549640" y="1938528"/>
            <a:ext cx="3090672" cy="822960"/>
          </a:xfrm>
          <a:prstGeom prst="roundRect">
            <a:avLst>
              <a:gd name="adj" fmla="val 6667"/>
            </a:avLst>
          </a:prstGeom>
          <a:solidFill>
            <a:schemeClr val="accent2"/>
          </a:solidFill>
          <a:ln w="9525">
            <a:solidFill>
              <a:schemeClr val="accent5"/>
            </a:solidFill>
            <a:prstDash val="solid"/>
          </a:ln>
        </p:spPr>
      </p:sp>
      <p:sp>
        <p:nvSpPr>
          <p:cNvPr id="19" name="cell-text-0-3"/>
          <p:cNvSpPr txBox="1"/>
          <p:nvPr/>
        </p:nvSpPr>
        <p:spPr>
          <a:xfrm>
            <a:off x="8668512" y="1938528"/>
            <a:ext cx="2852928" cy="822960"/>
          </a:xfrm>
          <a:prstGeom prst="rect">
            <a:avLst/>
          </a:prstGeom>
          <a:noFill/>
          <a:ln/>
        </p:spPr>
        <p:txBody>
          <a:bodyPr wrap="square" lIns="0" tIns="0" rIns="0" bIns="0" rtlCol="0" anchor="ctr"/>
          <a:lstStyle/>
          <a:p>
            <a:pPr marL="0" indent="0">
              <a:buNone/>
            </a:pPr>
            <a:r>
              <a:rPr lang="en-US" sz="1150" b="1" dirty="0">
                <a:solidFill>
                  <a:schemeClr val="accent3"/>
                </a:solidFill>
              </a:rPr>
              <a:t>고시에 정확도와 보정 지표(ECE 등) 기준을 두고, 업데이트 뒤 재측정</a:t>
            </a:r>
            <a:endParaRPr lang="en-US" sz="1150" dirty="0"/>
          </a:p>
        </p:txBody>
      </p:sp>
      <p:sp>
        <p:nvSpPr>
          <p:cNvPr id="20" name="cell-1-0"/>
          <p:cNvSpPr/>
          <p:nvPr/>
        </p:nvSpPr>
        <p:spPr>
          <a:xfrm>
            <a:off x="548640" y="2825496"/>
            <a:ext cx="1828800" cy="822960"/>
          </a:xfrm>
          <a:prstGeom prst="roundRect">
            <a:avLst>
              <a:gd name="adj" fmla="val 6667"/>
            </a:avLst>
          </a:prstGeom>
          <a:solidFill>
            <a:schemeClr val="accent2"/>
          </a:solidFill>
          <a:ln w="9525">
            <a:solidFill>
              <a:schemeClr val="accent5"/>
            </a:solidFill>
            <a:prstDash val="solid"/>
          </a:ln>
        </p:spPr>
      </p:sp>
      <p:sp>
        <p:nvSpPr>
          <p:cNvPr id="21" name="cell-text-1-0"/>
          <p:cNvSpPr txBox="1"/>
          <p:nvPr/>
        </p:nvSpPr>
        <p:spPr>
          <a:xfrm>
            <a:off x="667512" y="2825496"/>
            <a:ext cx="1591056" cy="822960"/>
          </a:xfrm>
          <a:prstGeom prst="rect">
            <a:avLst/>
          </a:prstGeom>
          <a:noFill/>
          <a:ln/>
        </p:spPr>
        <p:txBody>
          <a:bodyPr wrap="square" lIns="0" tIns="0" rIns="0" bIns="0" rtlCol="0" anchor="ctr"/>
          <a:lstStyle/>
          <a:p>
            <a:pPr marL="0" indent="0">
              <a:buNone/>
            </a:pPr>
            <a:r>
              <a:rPr lang="en-US" sz="1300" b="1" dirty="0">
                <a:solidFill>
                  <a:schemeClr val="tx1"/>
                </a:solidFill>
              </a:rPr>
              <a:t>가정용 AI</a:t>
            </a:r>
            <a:endParaRPr lang="en-US" sz="1300" dirty="0"/>
          </a:p>
          <a:p>
            <a:pPr marL="0" indent="0">
              <a:buNone/>
            </a:pPr>
            <a:r>
              <a:rPr lang="en-US" sz="1100" dirty="0">
                <a:solidFill>
                  <a:schemeClr val="tx2"/>
                </a:solidFill>
              </a:rPr>
              <a:t>로봇, 가전, 완구</a:t>
            </a:r>
            <a:endParaRPr lang="en-US" sz="1300" dirty="0"/>
          </a:p>
        </p:txBody>
      </p:sp>
      <p:sp>
        <p:nvSpPr>
          <p:cNvPr id="22" name="cell-1-1"/>
          <p:cNvSpPr/>
          <p:nvPr/>
        </p:nvSpPr>
        <p:spPr>
          <a:xfrm>
            <a:off x="2514600" y="2825496"/>
            <a:ext cx="2880360" cy="822960"/>
          </a:xfrm>
          <a:prstGeom prst="roundRect">
            <a:avLst>
              <a:gd name="adj" fmla="val 6667"/>
            </a:avLst>
          </a:prstGeom>
          <a:solidFill>
            <a:schemeClr val="bg1"/>
          </a:solidFill>
          <a:ln w="9525">
            <a:solidFill>
              <a:schemeClr val="accent5"/>
            </a:solidFill>
            <a:prstDash val="solid"/>
          </a:ln>
        </p:spPr>
      </p:sp>
      <p:sp>
        <p:nvSpPr>
          <p:cNvPr id="23" name="cell-text-1-1"/>
          <p:cNvSpPr txBox="1"/>
          <p:nvPr/>
        </p:nvSpPr>
        <p:spPr>
          <a:xfrm>
            <a:off x="2633472" y="2825496"/>
            <a:ext cx="2642616" cy="822960"/>
          </a:xfrm>
          <a:prstGeom prst="rect">
            <a:avLst/>
          </a:prstGeom>
          <a:noFill/>
          <a:ln/>
        </p:spPr>
        <p:txBody>
          <a:bodyPr wrap="square" lIns="0" tIns="0" rIns="0" bIns="0" rtlCol="0" anchor="ctr"/>
          <a:lstStyle/>
          <a:p>
            <a:pPr marL="0" indent="0">
              <a:buNone/>
            </a:pPr>
            <a:r>
              <a:rPr lang="en-US" sz="1150" u="sng" dirty="0">
                <a:solidFill>
                  <a:schemeClr val="accent1"/>
                </a:solidFill>
                <a:hlinkClick r:id="rId6" tooltip="원문 열기">
                  <a:extLst>
                    <a:ext uri="{A12FA001-AC4F-418D-AE19-62706E023703}">
                      <ahyp:hlinkClr xmlns:ahyp="http://schemas.microsoft.com/office/drawing/2018/hyperlinkcolor" val="tx"/>
                    </a:ext>
                  </a:extLst>
                </a:hlinkClick>
              </a:rPr>
              <a:t>제6조</a:t>
            </a:r>
            <a:r>
              <a:rPr lang="en-US" sz="1150" dirty="0">
                <a:solidFill>
                  <a:schemeClr val="tx1"/>
                </a:solidFill>
              </a:rPr>
              <a:t> 1항과 </a:t>
            </a:r>
            <a:r>
              <a:rPr lang="en-US" sz="1150" u="sng" dirty="0">
                <a:solidFill>
                  <a:schemeClr val="accent1"/>
                </a:solidFill>
                <a:hlinkClick r:id="rId7" tooltip="원문 열기">
                  <a:extLst>
                    <a:ext uri="{A12FA001-AC4F-418D-AE19-62706E023703}">
                      <ahyp:hlinkClr xmlns:ahyp="http://schemas.microsoft.com/office/drawing/2018/hyperlinkcolor" val="tx"/>
                    </a:ext>
                  </a:extLst>
                </a:hlinkClick>
              </a:rPr>
              <a:t>부속서 I</a:t>
            </a:r>
            <a:r>
              <a:rPr lang="en-US" sz="1150" dirty="0">
                <a:solidFill>
                  <a:schemeClr val="tx1"/>
                </a:solidFill>
              </a:rPr>
              <a:t>: 기계류, 완구 등 제3자 평가 대상 제품이면 고위험 (2028.8.2)</a:t>
            </a:r>
            <a:endParaRPr lang="en-US" sz="1150" dirty="0"/>
          </a:p>
        </p:txBody>
      </p:sp>
      <p:sp>
        <p:nvSpPr>
          <p:cNvPr id="24" name="cell-1-2"/>
          <p:cNvSpPr/>
          <p:nvPr/>
        </p:nvSpPr>
        <p:spPr>
          <a:xfrm>
            <a:off x="5532120" y="2825496"/>
            <a:ext cx="2880360" cy="822960"/>
          </a:xfrm>
          <a:prstGeom prst="roundRect">
            <a:avLst>
              <a:gd name="adj" fmla="val 6667"/>
            </a:avLst>
          </a:prstGeom>
          <a:solidFill>
            <a:schemeClr val="bg1"/>
          </a:solidFill>
          <a:ln w="9525">
            <a:solidFill>
              <a:schemeClr val="accent5"/>
            </a:solidFill>
            <a:prstDash val="solid"/>
          </a:ln>
        </p:spPr>
      </p:sp>
      <p:sp>
        <p:nvSpPr>
          <p:cNvPr id="25" name="cell-text-1-2"/>
          <p:cNvSpPr txBox="1"/>
          <p:nvPr/>
        </p:nvSpPr>
        <p:spPr>
          <a:xfrm>
            <a:off x="5650992" y="2825496"/>
            <a:ext cx="2642616" cy="822960"/>
          </a:xfrm>
          <a:prstGeom prst="rect">
            <a:avLst/>
          </a:prstGeom>
          <a:noFill/>
          <a:ln/>
        </p:spPr>
        <p:txBody>
          <a:bodyPr wrap="square" lIns="0" tIns="0" rIns="0" bIns="0" rtlCol="0" anchor="ctr"/>
          <a:lstStyle/>
          <a:p>
            <a:pPr marL="0" indent="0">
              <a:buNone/>
            </a:pPr>
            <a:r>
              <a:rPr lang="en-US" sz="1150" u="sng" dirty="0">
                <a:solidFill>
                  <a:schemeClr val="accent1"/>
                </a:solidFill>
                <a:hlinkClick r:id="rId8" tooltip="원문 열기">
                  <a:extLst>
                    <a:ext uri="{A12FA001-AC4F-418D-AE19-62706E023703}">
                      <ahyp:hlinkClr xmlns:ahyp="http://schemas.microsoft.com/office/drawing/2018/hyperlinkcolor" val="tx"/>
                    </a:ext>
                  </a:extLst>
                </a:hlinkClick>
              </a:rPr>
              <a:t>제2조</a:t>
            </a:r>
            <a:r>
              <a:rPr lang="en-US" sz="1150" dirty="0">
                <a:solidFill>
                  <a:schemeClr val="tx1"/>
                </a:solidFill>
              </a:rPr>
              <a:t> 4호 11개 영역에 가정용 기기 없음. 로봇 안전인증은 실외이동로봇 대상 (</a:t>
            </a:r>
            <a:r>
              <a:rPr lang="en-US" sz="1150" u="sng" dirty="0">
                <a:solidFill>
                  <a:schemeClr val="accent1"/>
                </a:solidFill>
                <a:hlinkClick r:id="rId9" tooltip="원문 열기">
                  <a:extLst>
                    <a:ext uri="{A12FA001-AC4F-418D-AE19-62706E023703}">
                      <ahyp:hlinkClr xmlns:ahyp="http://schemas.microsoft.com/office/drawing/2018/hyperlinkcolor" val="tx"/>
                    </a:ext>
                  </a:extLst>
                </a:hlinkClick>
              </a:rPr>
              <a:t>지능형로봇법 제40조의2</a:t>
            </a:r>
            <a:r>
              <a:rPr lang="en-US" sz="1150" dirty="0">
                <a:solidFill>
                  <a:schemeClr val="tx1"/>
                </a:solidFill>
              </a:rPr>
              <a:t>)</a:t>
            </a:r>
            <a:endParaRPr lang="en-US" sz="1150" dirty="0"/>
          </a:p>
        </p:txBody>
      </p:sp>
      <p:sp>
        <p:nvSpPr>
          <p:cNvPr id="26" name="cell-1-3"/>
          <p:cNvSpPr/>
          <p:nvPr/>
        </p:nvSpPr>
        <p:spPr>
          <a:xfrm>
            <a:off x="8549640" y="2825496"/>
            <a:ext cx="3090672" cy="822960"/>
          </a:xfrm>
          <a:prstGeom prst="roundRect">
            <a:avLst>
              <a:gd name="adj" fmla="val 6667"/>
            </a:avLst>
          </a:prstGeom>
          <a:solidFill>
            <a:schemeClr val="accent2"/>
          </a:solidFill>
          <a:ln w="9525">
            <a:solidFill>
              <a:schemeClr val="accent5"/>
            </a:solidFill>
            <a:prstDash val="solid"/>
          </a:ln>
        </p:spPr>
      </p:sp>
      <p:sp>
        <p:nvSpPr>
          <p:cNvPr id="27" name="cell-text-1-3"/>
          <p:cNvSpPr txBox="1"/>
          <p:nvPr/>
        </p:nvSpPr>
        <p:spPr>
          <a:xfrm>
            <a:off x="8668512" y="2825496"/>
            <a:ext cx="2852928" cy="822960"/>
          </a:xfrm>
          <a:prstGeom prst="rect">
            <a:avLst/>
          </a:prstGeom>
          <a:noFill/>
          <a:ln/>
        </p:spPr>
        <p:txBody>
          <a:bodyPr wrap="square" lIns="0" tIns="0" rIns="0" bIns="0" rtlCol="0" anchor="ctr"/>
          <a:lstStyle/>
          <a:p>
            <a:pPr marL="0" indent="0">
              <a:buNone/>
            </a:pPr>
            <a:r>
              <a:rPr lang="en-US" sz="1150" b="1" dirty="0">
                <a:solidFill>
                  <a:schemeClr val="accent3"/>
                </a:solidFill>
              </a:rPr>
              <a:t>시행령(제2조 4호 카목)으로 가정용 물리적 AI를 고영향에 추가</a:t>
            </a:r>
            <a:endParaRPr lang="en-US" sz="1150" dirty="0"/>
          </a:p>
        </p:txBody>
      </p:sp>
      <p:sp>
        <p:nvSpPr>
          <p:cNvPr id="28" name="cell-2-0"/>
          <p:cNvSpPr/>
          <p:nvPr/>
        </p:nvSpPr>
        <p:spPr>
          <a:xfrm>
            <a:off x="548640" y="3712464"/>
            <a:ext cx="1828800" cy="822960"/>
          </a:xfrm>
          <a:prstGeom prst="roundRect">
            <a:avLst>
              <a:gd name="adj" fmla="val 6667"/>
            </a:avLst>
          </a:prstGeom>
          <a:solidFill>
            <a:schemeClr val="accent2"/>
          </a:solidFill>
          <a:ln w="9525">
            <a:solidFill>
              <a:schemeClr val="accent5"/>
            </a:solidFill>
            <a:prstDash val="solid"/>
          </a:ln>
        </p:spPr>
      </p:sp>
      <p:sp>
        <p:nvSpPr>
          <p:cNvPr id="29" name="cell-text-2-0"/>
          <p:cNvSpPr txBox="1"/>
          <p:nvPr/>
        </p:nvSpPr>
        <p:spPr>
          <a:xfrm>
            <a:off x="667512" y="3712464"/>
            <a:ext cx="1591056" cy="822960"/>
          </a:xfrm>
          <a:prstGeom prst="rect">
            <a:avLst/>
          </a:prstGeom>
          <a:noFill/>
          <a:ln/>
        </p:spPr>
        <p:txBody>
          <a:bodyPr wrap="square" lIns="0" tIns="0" rIns="0" bIns="0" rtlCol="0" anchor="ctr"/>
          <a:lstStyle/>
          <a:p>
            <a:pPr marL="0" indent="0">
              <a:buNone/>
            </a:pPr>
            <a:r>
              <a:rPr lang="en-US" sz="1300" b="1" dirty="0">
                <a:solidFill>
                  <a:schemeClr val="tx1"/>
                </a:solidFill>
              </a:rPr>
              <a:t>아이와 어르신</a:t>
            </a:r>
            <a:endParaRPr lang="en-US" sz="1300" dirty="0"/>
          </a:p>
        </p:txBody>
      </p:sp>
      <p:sp>
        <p:nvSpPr>
          <p:cNvPr id="30" name="cell-2-1"/>
          <p:cNvSpPr/>
          <p:nvPr/>
        </p:nvSpPr>
        <p:spPr>
          <a:xfrm>
            <a:off x="2514600" y="3712464"/>
            <a:ext cx="2880360" cy="822960"/>
          </a:xfrm>
          <a:prstGeom prst="roundRect">
            <a:avLst>
              <a:gd name="adj" fmla="val 6667"/>
            </a:avLst>
          </a:prstGeom>
          <a:solidFill>
            <a:schemeClr val="bg1"/>
          </a:solidFill>
          <a:ln w="9525">
            <a:solidFill>
              <a:schemeClr val="accent5"/>
            </a:solidFill>
            <a:prstDash val="solid"/>
          </a:ln>
        </p:spPr>
      </p:sp>
      <p:sp>
        <p:nvSpPr>
          <p:cNvPr id="31" name="cell-text-2-1"/>
          <p:cNvSpPr txBox="1"/>
          <p:nvPr/>
        </p:nvSpPr>
        <p:spPr>
          <a:xfrm>
            <a:off x="2633472" y="3712464"/>
            <a:ext cx="2642616" cy="822960"/>
          </a:xfrm>
          <a:prstGeom prst="rect">
            <a:avLst/>
          </a:prstGeom>
          <a:noFill/>
          <a:ln/>
        </p:spPr>
        <p:txBody>
          <a:bodyPr wrap="square" lIns="0" tIns="0" rIns="0" bIns="0" rtlCol="0" anchor="ctr"/>
          <a:lstStyle/>
          <a:p>
            <a:pPr marL="0" indent="0">
              <a:buNone/>
            </a:pPr>
            <a:r>
              <a:rPr lang="en-US" sz="1150" u="sng" dirty="0">
                <a:solidFill>
                  <a:schemeClr val="accent1"/>
                </a:solidFill>
                <a:hlinkClick r:id="rId10" tooltip="원문 열기">
                  <a:extLst>
                    <a:ext uri="{A12FA001-AC4F-418D-AE19-62706E023703}">
                      <ahyp:hlinkClr xmlns:ahyp="http://schemas.microsoft.com/office/drawing/2018/hyperlinkcolor" val="tx"/>
                    </a:ext>
                  </a:extLst>
                </a:hlinkClick>
              </a:rPr>
              <a:t>제9조</a:t>
            </a:r>
            <a:r>
              <a:rPr lang="en-US" sz="1150" dirty="0">
                <a:solidFill>
                  <a:schemeClr val="tx1"/>
                </a:solidFill>
              </a:rPr>
              <a:t> 9항: 18세 미만 영향 고려. </a:t>
            </a:r>
            <a:r>
              <a:rPr lang="en-US" sz="1150" u="sng" dirty="0">
                <a:solidFill>
                  <a:schemeClr val="accent1"/>
                </a:solidFill>
                <a:hlinkClick r:id="rId11" tooltip="원문 열기">
                  <a:extLst>
                    <a:ext uri="{A12FA001-AC4F-418D-AE19-62706E023703}">
                      <ahyp:hlinkClr xmlns:ahyp="http://schemas.microsoft.com/office/drawing/2018/hyperlinkcolor" val="tx"/>
                    </a:ext>
                  </a:extLst>
                </a:hlinkClick>
              </a:rPr>
              <a:t>제5조</a:t>
            </a:r>
            <a:r>
              <a:rPr lang="en-US" sz="1150" dirty="0">
                <a:solidFill>
                  <a:schemeClr val="tx1"/>
                </a:solidFill>
              </a:rPr>
              <a:t> 1항 b: 연령 취약성 악용 금지</a:t>
            </a:r>
            <a:endParaRPr lang="en-US" sz="1150" dirty="0"/>
          </a:p>
        </p:txBody>
      </p:sp>
      <p:sp>
        <p:nvSpPr>
          <p:cNvPr id="32" name="cell-2-2"/>
          <p:cNvSpPr/>
          <p:nvPr/>
        </p:nvSpPr>
        <p:spPr>
          <a:xfrm>
            <a:off x="5532120" y="3712464"/>
            <a:ext cx="2880360" cy="822960"/>
          </a:xfrm>
          <a:prstGeom prst="roundRect">
            <a:avLst>
              <a:gd name="adj" fmla="val 6667"/>
            </a:avLst>
          </a:prstGeom>
          <a:solidFill>
            <a:schemeClr val="bg1"/>
          </a:solidFill>
          <a:ln w="9525">
            <a:solidFill>
              <a:schemeClr val="accent5"/>
            </a:solidFill>
            <a:prstDash val="solid"/>
          </a:ln>
        </p:spPr>
      </p:sp>
      <p:sp>
        <p:nvSpPr>
          <p:cNvPr id="33" name="cell-text-2-2"/>
          <p:cNvSpPr txBox="1"/>
          <p:nvPr/>
        </p:nvSpPr>
        <p:spPr>
          <a:xfrm>
            <a:off x="5650992" y="3712464"/>
            <a:ext cx="2642616" cy="822960"/>
          </a:xfrm>
          <a:prstGeom prst="rect">
            <a:avLst/>
          </a:prstGeom>
          <a:noFill/>
          <a:ln/>
        </p:spPr>
        <p:txBody>
          <a:bodyPr wrap="square" lIns="0" tIns="0" rIns="0" bIns="0" rtlCol="0" anchor="ctr"/>
          <a:lstStyle/>
          <a:p>
            <a:pPr marL="0" indent="0">
              <a:buNone/>
            </a:pPr>
            <a:r>
              <a:rPr lang="en-US" sz="1150" dirty="0">
                <a:solidFill>
                  <a:schemeClr val="tx1"/>
                </a:solidFill>
              </a:rPr>
              <a:t>시행령 </a:t>
            </a:r>
            <a:r>
              <a:rPr lang="en-US" sz="1150" u="sng" dirty="0">
                <a:solidFill>
                  <a:schemeClr val="accent1"/>
                </a:solidFill>
                <a:hlinkClick r:id="rId12" tooltip="원문 열기">
                  <a:extLst>
                    <a:ext uri="{A12FA001-AC4F-418D-AE19-62706E023703}">
                      <ahyp:hlinkClr xmlns:ahyp="http://schemas.microsoft.com/office/drawing/2018/hyperlinkcolor" val="tx"/>
                    </a:ext>
                  </a:extLst>
                </a:hlinkClick>
              </a:rPr>
              <a:t>제1조의2</a:t>
            </a:r>
            <a:r>
              <a:rPr lang="en-US" sz="1150" dirty="0">
                <a:solidFill>
                  <a:schemeClr val="tx1"/>
                </a:solidFill>
              </a:rPr>
              <a:t>: 65세 이상은 있고 아동은 없음. 영향평가는 노력의무 (</a:t>
            </a:r>
            <a:r>
              <a:rPr lang="en-US" sz="1150" u="sng" dirty="0">
                <a:solidFill>
                  <a:schemeClr val="accent1"/>
                </a:solidFill>
                <a:hlinkClick r:id="rId13" tooltip="원문 열기">
                  <a:extLst>
                    <a:ext uri="{A12FA001-AC4F-418D-AE19-62706E023703}">
                      <ahyp:hlinkClr xmlns:ahyp="http://schemas.microsoft.com/office/drawing/2018/hyperlinkcolor" val="tx"/>
                    </a:ext>
                  </a:extLst>
                </a:hlinkClick>
              </a:rPr>
              <a:t>제35조</a:t>
            </a:r>
            <a:r>
              <a:rPr lang="en-US" sz="1150" dirty="0">
                <a:solidFill>
                  <a:schemeClr val="tx1"/>
                </a:solidFill>
              </a:rPr>
              <a:t>)</a:t>
            </a:r>
            <a:endParaRPr lang="en-US" sz="1150" dirty="0"/>
          </a:p>
        </p:txBody>
      </p:sp>
      <p:sp>
        <p:nvSpPr>
          <p:cNvPr id="34" name="cell-2-3"/>
          <p:cNvSpPr/>
          <p:nvPr/>
        </p:nvSpPr>
        <p:spPr>
          <a:xfrm>
            <a:off x="8549640" y="3712464"/>
            <a:ext cx="3090672" cy="822960"/>
          </a:xfrm>
          <a:prstGeom prst="roundRect">
            <a:avLst>
              <a:gd name="adj" fmla="val 6667"/>
            </a:avLst>
          </a:prstGeom>
          <a:solidFill>
            <a:schemeClr val="accent2"/>
          </a:solidFill>
          <a:ln w="9525">
            <a:solidFill>
              <a:schemeClr val="accent5"/>
            </a:solidFill>
            <a:prstDash val="solid"/>
          </a:ln>
        </p:spPr>
      </p:sp>
      <p:sp>
        <p:nvSpPr>
          <p:cNvPr id="35" name="cell-text-2-3"/>
          <p:cNvSpPr txBox="1"/>
          <p:nvPr/>
        </p:nvSpPr>
        <p:spPr>
          <a:xfrm>
            <a:off x="8668512" y="3712464"/>
            <a:ext cx="2852928" cy="822960"/>
          </a:xfrm>
          <a:prstGeom prst="rect">
            <a:avLst/>
          </a:prstGeom>
          <a:noFill/>
          <a:ln/>
        </p:spPr>
        <p:txBody>
          <a:bodyPr wrap="square" lIns="0" tIns="0" rIns="0" bIns="0" rtlCol="0" anchor="ctr"/>
          <a:lstStyle/>
          <a:p>
            <a:pPr marL="0" indent="0">
              <a:buNone/>
            </a:pPr>
            <a:r>
              <a:rPr lang="en-US" sz="1150" b="1" dirty="0">
                <a:solidFill>
                  <a:schemeClr val="accent3"/>
                </a:solidFill>
              </a:rPr>
              <a:t>아동을 취약계층에 명시하고, 아동과 어르신 대상 기기는 영향평가 의무화</a:t>
            </a:r>
            <a:endParaRPr lang="en-US" sz="1150" dirty="0"/>
          </a:p>
        </p:txBody>
      </p:sp>
      <p:sp>
        <p:nvSpPr>
          <p:cNvPr id="36" name="cell-3-0"/>
          <p:cNvSpPr/>
          <p:nvPr/>
        </p:nvSpPr>
        <p:spPr>
          <a:xfrm>
            <a:off x="548640" y="4599432"/>
            <a:ext cx="1828800" cy="822960"/>
          </a:xfrm>
          <a:prstGeom prst="roundRect">
            <a:avLst>
              <a:gd name="adj" fmla="val 6667"/>
            </a:avLst>
          </a:prstGeom>
          <a:solidFill>
            <a:schemeClr val="accent2"/>
          </a:solidFill>
          <a:ln w="9525">
            <a:solidFill>
              <a:schemeClr val="accent5"/>
            </a:solidFill>
            <a:prstDash val="solid"/>
          </a:ln>
        </p:spPr>
      </p:sp>
      <p:sp>
        <p:nvSpPr>
          <p:cNvPr id="37" name="cell-text-3-0"/>
          <p:cNvSpPr txBox="1"/>
          <p:nvPr/>
        </p:nvSpPr>
        <p:spPr>
          <a:xfrm>
            <a:off x="667512" y="4599432"/>
            <a:ext cx="1591056" cy="822960"/>
          </a:xfrm>
          <a:prstGeom prst="rect">
            <a:avLst/>
          </a:prstGeom>
          <a:noFill/>
          <a:ln/>
        </p:spPr>
        <p:txBody>
          <a:bodyPr wrap="square" lIns="0" tIns="0" rIns="0" bIns="0" rtlCol="0" anchor="ctr"/>
          <a:lstStyle/>
          <a:p>
            <a:pPr marL="0" indent="0">
              <a:buNone/>
            </a:pPr>
            <a:r>
              <a:rPr lang="en-US" sz="1300" b="1" dirty="0">
                <a:solidFill>
                  <a:schemeClr val="tx1"/>
                </a:solidFill>
              </a:rPr>
              <a:t>사고가 나면</a:t>
            </a:r>
            <a:endParaRPr lang="en-US" sz="1300" dirty="0"/>
          </a:p>
        </p:txBody>
      </p:sp>
      <p:sp>
        <p:nvSpPr>
          <p:cNvPr id="38" name="cell-3-1"/>
          <p:cNvSpPr/>
          <p:nvPr/>
        </p:nvSpPr>
        <p:spPr>
          <a:xfrm>
            <a:off x="2514600" y="4599432"/>
            <a:ext cx="2880360" cy="822960"/>
          </a:xfrm>
          <a:prstGeom prst="roundRect">
            <a:avLst>
              <a:gd name="adj" fmla="val 6667"/>
            </a:avLst>
          </a:prstGeom>
          <a:solidFill>
            <a:schemeClr val="bg1"/>
          </a:solidFill>
          <a:ln w="9525">
            <a:solidFill>
              <a:schemeClr val="accent5"/>
            </a:solidFill>
            <a:prstDash val="solid"/>
          </a:ln>
        </p:spPr>
      </p:sp>
      <p:sp>
        <p:nvSpPr>
          <p:cNvPr id="39" name="cell-text-3-1"/>
          <p:cNvSpPr txBox="1"/>
          <p:nvPr/>
        </p:nvSpPr>
        <p:spPr>
          <a:xfrm>
            <a:off x="2633472" y="4599432"/>
            <a:ext cx="2642616" cy="822960"/>
          </a:xfrm>
          <a:prstGeom prst="rect">
            <a:avLst/>
          </a:prstGeom>
          <a:noFill/>
          <a:ln/>
        </p:spPr>
        <p:txBody>
          <a:bodyPr wrap="square" lIns="0" tIns="0" rIns="0" bIns="0" rtlCol="0" anchor="ctr"/>
          <a:lstStyle/>
          <a:p>
            <a:pPr marL="0" indent="0">
              <a:buNone/>
            </a:pPr>
            <a:r>
              <a:rPr lang="en-US" sz="1150" u="sng" dirty="0">
                <a:solidFill>
                  <a:schemeClr val="accent1"/>
                </a:solidFill>
                <a:hlinkClick r:id="rId14" tooltip="원문 열기">
                  <a:extLst>
                    <a:ext uri="{A12FA001-AC4F-418D-AE19-62706E023703}">
                      <ahyp:hlinkClr xmlns:ahyp="http://schemas.microsoft.com/office/drawing/2018/hyperlinkcolor" val="tx"/>
                    </a:ext>
                  </a:extLst>
                </a:hlinkClick>
              </a:rPr>
              <a:t>개정 제조물책임지침</a:t>
            </a:r>
            <a:r>
              <a:rPr lang="en-US" sz="1150" dirty="0">
                <a:solidFill>
                  <a:schemeClr val="tx1"/>
                </a:solidFill>
              </a:rPr>
              <a:t> (2024): 소프트웨어와 AI를 제조물에 포함</a:t>
            </a:r>
            <a:endParaRPr lang="en-US" sz="1150" dirty="0"/>
          </a:p>
        </p:txBody>
      </p:sp>
      <p:sp>
        <p:nvSpPr>
          <p:cNvPr id="40" name="cell-3-2"/>
          <p:cNvSpPr/>
          <p:nvPr/>
        </p:nvSpPr>
        <p:spPr>
          <a:xfrm>
            <a:off x="5532120" y="4599432"/>
            <a:ext cx="2880360" cy="822960"/>
          </a:xfrm>
          <a:prstGeom prst="roundRect">
            <a:avLst>
              <a:gd name="adj" fmla="val 6667"/>
            </a:avLst>
          </a:prstGeom>
          <a:solidFill>
            <a:schemeClr val="bg1"/>
          </a:solidFill>
          <a:ln w="9525">
            <a:solidFill>
              <a:schemeClr val="accent5"/>
            </a:solidFill>
            <a:prstDash val="solid"/>
          </a:ln>
        </p:spPr>
      </p:sp>
      <p:sp>
        <p:nvSpPr>
          <p:cNvPr id="41" name="cell-text-3-2"/>
          <p:cNvSpPr txBox="1"/>
          <p:nvPr/>
        </p:nvSpPr>
        <p:spPr>
          <a:xfrm>
            <a:off x="5650992" y="4599432"/>
            <a:ext cx="2642616" cy="822960"/>
          </a:xfrm>
          <a:prstGeom prst="rect">
            <a:avLst/>
          </a:prstGeom>
          <a:noFill/>
          <a:ln/>
        </p:spPr>
        <p:txBody>
          <a:bodyPr wrap="square" lIns="0" tIns="0" rIns="0" bIns="0" rtlCol="0" anchor="ctr"/>
          <a:lstStyle/>
          <a:p>
            <a:pPr marL="0" indent="0">
              <a:buNone/>
            </a:pPr>
            <a:r>
              <a:rPr lang="en-US" sz="1150" dirty="0">
                <a:solidFill>
                  <a:schemeClr val="tx1"/>
                </a:solidFill>
              </a:rPr>
              <a:t>기본법에 배상 규정 없음. </a:t>
            </a:r>
            <a:r>
              <a:rPr lang="en-US" sz="1150" u="sng" dirty="0">
                <a:solidFill>
                  <a:schemeClr val="accent1"/>
                </a:solidFill>
                <a:hlinkClick r:id="rId15" tooltip="원문 열기">
                  <a:extLst>
                    <a:ext uri="{A12FA001-AC4F-418D-AE19-62706E023703}">
                      <ahyp:hlinkClr xmlns:ahyp="http://schemas.microsoft.com/office/drawing/2018/hyperlinkcolor" val="tx"/>
                    </a:ext>
                  </a:extLst>
                </a:hlinkClick>
              </a:rPr>
              <a:t>제조물책임법 제2조</a:t>
            </a:r>
            <a:r>
              <a:rPr lang="en-US" sz="1150" dirty="0">
                <a:solidFill>
                  <a:schemeClr val="tx1"/>
                </a:solidFill>
              </a:rPr>
              <a:t>는 동산 기준이라 독립 SW가 불명확</a:t>
            </a:r>
            <a:endParaRPr lang="en-US" sz="1150" dirty="0"/>
          </a:p>
        </p:txBody>
      </p:sp>
      <p:sp>
        <p:nvSpPr>
          <p:cNvPr id="42" name="cell-3-3"/>
          <p:cNvSpPr/>
          <p:nvPr/>
        </p:nvSpPr>
        <p:spPr>
          <a:xfrm>
            <a:off x="8549640" y="4599432"/>
            <a:ext cx="3090672" cy="822960"/>
          </a:xfrm>
          <a:prstGeom prst="roundRect">
            <a:avLst>
              <a:gd name="adj" fmla="val 6667"/>
            </a:avLst>
          </a:prstGeom>
          <a:solidFill>
            <a:schemeClr val="accent2"/>
          </a:solidFill>
          <a:ln w="9525">
            <a:solidFill>
              <a:schemeClr val="accent5"/>
            </a:solidFill>
            <a:prstDash val="solid"/>
          </a:ln>
        </p:spPr>
      </p:sp>
      <p:sp>
        <p:nvSpPr>
          <p:cNvPr id="43" name="cell-text-3-3"/>
          <p:cNvSpPr txBox="1"/>
          <p:nvPr/>
        </p:nvSpPr>
        <p:spPr>
          <a:xfrm>
            <a:off x="8668512" y="4599432"/>
            <a:ext cx="2852928" cy="822960"/>
          </a:xfrm>
          <a:prstGeom prst="rect">
            <a:avLst/>
          </a:prstGeom>
          <a:noFill/>
          <a:ln/>
        </p:spPr>
        <p:txBody>
          <a:bodyPr wrap="square" lIns="0" tIns="0" rIns="0" bIns="0" rtlCol="0" anchor="ctr"/>
          <a:lstStyle/>
          <a:p>
            <a:pPr marL="0" indent="0">
              <a:buNone/>
            </a:pPr>
            <a:r>
              <a:rPr lang="en-US" sz="1150" b="1" dirty="0">
                <a:solidFill>
                  <a:schemeClr val="accent3"/>
                </a:solidFill>
              </a:rPr>
              <a:t>확신도 오차를 알리지 않은 것을 표시상 결함으로 보는 기준 마련</a:t>
            </a:r>
            <a:endParaRPr lang="en-US" sz="1150" dirty="0"/>
          </a:p>
        </p:txBody>
      </p:sp>
      <p:sp>
        <p:nvSpPr>
          <p:cNvPr id="44" name="rq"/>
          <p:cNvSpPr txBox="1"/>
          <p:nvPr/>
        </p:nvSpPr>
        <p:spPr>
          <a:xfrm>
            <a:off x="548640" y="5522976"/>
            <a:ext cx="11091672" cy="274320"/>
          </a:xfrm>
          <a:prstGeom prst="rect">
            <a:avLst/>
          </a:prstGeom>
          <a:noFill/>
          <a:ln/>
        </p:spPr>
        <p:txBody>
          <a:bodyPr wrap="square" lIns="0" tIns="0" rIns="0" bIns="0" rtlCol="0" anchor="t"/>
          <a:lstStyle/>
          <a:p>
            <a:pPr marL="0" indent="0">
              <a:buNone/>
            </a:pPr>
            <a:r>
              <a:rPr lang="en-US" sz="1250" b="1" dirty="0">
                <a:solidFill>
                  <a:schemeClr val="accent1"/>
                </a:solidFill>
              </a:rPr>
              <a:t>연구 질문  </a:t>
            </a:r>
            <a:r>
              <a:rPr lang="en-US" sz="1250" dirty="0">
                <a:solidFill>
                  <a:schemeClr val="tx1"/>
                </a:solidFill>
              </a:rPr>
              <a:t>보정 실험이 보여준 과신의 위험을 두 법은 기준으로 다루고 있는가, 없다면 기본법 고시와 시행령에 무엇을 넣어야 하는가</a:t>
            </a:r>
            <a:endParaRPr lang="en-US" sz="1250" dirty="0"/>
          </a:p>
        </p:txBody>
      </p:sp>
      <p:sp>
        <p:nvSpPr>
          <p:cNvPr id="45" name="schedule"/>
          <p:cNvSpPr txBox="1"/>
          <p:nvPr/>
        </p:nvSpPr>
        <p:spPr>
          <a:xfrm>
            <a:off x="548640" y="5824728"/>
            <a:ext cx="11091672" cy="274320"/>
          </a:xfrm>
          <a:prstGeom prst="rect">
            <a:avLst/>
          </a:prstGeom>
          <a:noFill/>
          <a:ln/>
        </p:spPr>
        <p:txBody>
          <a:bodyPr wrap="square" lIns="0" tIns="0" rIns="0" bIns="0" rtlCol="0" anchor="t"/>
          <a:lstStyle/>
          <a:p>
            <a:pPr marL="0" indent="0">
              <a:buNone/>
            </a:pPr>
            <a:r>
              <a:rPr lang="en-US" sz="1200" b="1" dirty="0">
                <a:solidFill>
                  <a:schemeClr val="accent1"/>
                </a:solidFill>
              </a:rPr>
              <a:t>일정  </a:t>
            </a:r>
            <a:r>
              <a:rPr lang="en-US" sz="1200" dirty="0">
                <a:solidFill>
                  <a:schemeClr val="tx1"/>
                </a:solidFill>
              </a:rPr>
              <a:t>10.15 발표, 11.19 연구 설계, 11.26 선행연구 갭 맵, 12.10 사례 적용 발표, 12.17 소논문 제출     </a:t>
            </a:r>
            <a:r>
              <a:rPr lang="en-US" sz="1200" b="1" dirty="0">
                <a:solidFill>
                  <a:schemeClr val="accent1"/>
                </a:solidFill>
              </a:rPr>
              <a:t>목표 학술지  </a:t>
            </a:r>
            <a:r>
              <a:rPr lang="en-US" sz="1200" dirty="0">
                <a:solidFill>
                  <a:schemeClr val="tx1"/>
                </a:solidFill>
              </a:rPr>
              <a:t>정보화정책</a:t>
            </a:r>
            <a:endParaRPr lang="en-US" sz="1200" dirty="0"/>
          </a:p>
        </p:txBody>
      </p:sp>
      <p:sp>
        <p:nvSpPr>
          <p:cNvPr id="46" name="src2"/>
          <p:cNvSpPr txBox="1"/>
          <p:nvPr/>
        </p:nvSpPr>
        <p:spPr>
          <a:xfrm>
            <a:off x="548640" y="6144768"/>
            <a:ext cx="11091672" cy="237744"/>
          </a:xfrm>
          <a:prstGeom prst="rect">
            <a:avLst/>
          </a:prstGeom>
          <a:noFill/>
          <a:ln/>
        </p:spPr>
        <p:txBody>
          <a:bodyPr wrap="square" lIns="0" tIns="0" rIns="0" bIns="0" rtlCol="0" anchor="t"/>
          <a:lstStyle/>
          <a:p>
            <a:pPr marL="0" indent="0">
              <a:buNone/>
            </a:pPr>
            <a:r>
              <a:rPr lang="en-US" sz="1000" dirty="0">
                <a:solidFill>
                  <a:schemeClr val="tx2"/>
                </a:solidFill>
              </a:rPr>
              <a:t>원문 연결: EU 제5, 9, 14, 15조는 수업 영한대역, 제6조와 부속서 I은 artificialintelligenceact.eu, 통합본은 </a:t>
            </a:r>
            <a:r>
              <a:rPr lang="en-US" sz="1000" u="sng" dirty="0">
                <a:solidFill>
                  <a:schemeClr val="accent1"/>
                </a:solidFill>
                <a:hlinkClick r:id="rId16" tooltip="원문 열기">
                  <a:extLst>
                    <a:ext uri="{A12FA001-AC4F-418D-AE19-62706E023703}">
                      <ahyp:hlinkClr xmlns:ahyp="http://schemas.microsoft.com/office/drawing/2018/hyperlinkcolor" val="tx"/>
                    </a:ext>
                  </a:extLst>
                </a:hlinkClick>
              </a:rPr>
              <a:t>EUR-Lex</a:t>
            </a:r>
            <a:r>
              <a:rPr lang="en-US" sz="1000" dirty="0">
                <a:solidFill>
                  <a:schemeClr val="tx2"/>
                </a:solidFill>
              </a:rPr>
              <a:t>, 국내법은 국가법령정보센터</a:t>
            </a:r>
            <a:endParaRPr lang="en-US" sz="1000" dirty="0"/>
          </a:p>
        </p:txBody>
      </p:sp>
    </p:spTree>
  </p:cSld>
  <p:clrMapOvr>
    <a:masterClrMapping/>
  </p:clrMapOvr>
</p:sld>
</file>

<file path=ppt/theme/theme1.xml><?xml version="1.0" encoding="utf-8"?>
<a:theme xmlns:a="http://schemas.openxmlformats.org/drawingml/2006/main" name="CalibrationGovernance">
  <a:themeElements>
    <a:clrScheme name="CalibrationGovernance">
      <a:dk1>
        <a:srgbClr val="1F2A2E"/>
      </a:dk1>
      <a:lt1>
        <a:srgbClr val="FFFFFF"/>
      </a:lt1>
      <a:dk2>
        <a:srgbClr val="5F6B6E"/>
      </a:dk2>
      <a:lt2>
        <a:srgbClr val="FAFAF7"/>
      </a:lt2>
      <a:accent1>
        <a:srgbClr val="0F766E"/>
      </a:accent1>
      <a:accent2>
        <a:srgbClr val="E3EFEC"/>
      </a:accent2>
      <a:accent3>
        <a:srgbClr val="134E4A"/>
      </a:accent3>
      <a:accent4>
        <a:srgbClr val="9A3412"/>
      </a:accent4>
      <a:accent5>
        <a:srgbClr val="D6DDDB"/>
      </a:accent5>
      <a:accent6>
        <a:srgbClr val="5F6B6E"/>
      </a:accent6>
      <a:hlink>
        <a:srgbClr val="0F766E"/>
      </a:hlink>
      <a:folHlink>
        <a:srgbClr val="134E4A"/>
      </a:folHlink>
    </a:clrScheme>
    <a:fontScheme name="CalibrationGovernance">
      <a:majorFont>
        <a:latin typeface="바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906</Words>
  <Application>Microsoft Office PowerPoint</Application>
  <PresentationFormat>와이드스크린</PresentationFormat>
  <Paragraphs>73</Paragraphs>
  <Slides>3</Slides>
  <Notes>3</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vt:i4>
      </vt:variant>
    </vt:vector>
  </HeadingPairs>
  <TitlesOfParts>
    <vt:vector size="7" baseType="lpstr">
      <vt:lpstr>맑은 고딕</vt:lpstr>
      <vt:lpstr>바탕</vt:lpstr>
      <vt:lpstr>Arial</vt:lpstr>
      <vt:lpstr>CalibrationGovernance</vt:lpstr>
      <vt:lpstr>AI의 정확도만 믿어서는 안 된다</vt:lpstr>
      <vt:lpstr>AI의 정확도만 믿어서는 안 된다</vt:lpstr>
      <vt:lpstr>기준을 법으로 꼼꼼히 정해야 한다</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소논문 연구계획서: AI의 정확도만 믿어서는 안 된다</dc:title>
  <dc:subject>PptxGenJS Presentation</dc:subject>
  <dc:creator>오경주</dc:creator>
  <cp:lastModifiedBy>michael70@konkuk.ac.kr</cp:lastModifiedBy>
  <cp:revision>5</cp:revision>
  <dcterms:created xsi:type="dcterms:W3CDTF">2026-10-13T03:30:35Z</dcterms:created>
  <dcterms:modified xsi:type="dcterms:W3CDTF">2026-10-13T12:39:56Z</dcterms:modified>
</cp:coreProperties>
</file>