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882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68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5dba052cd3dba0700a157728ae836f.png"/>
          <p:cNvPicPr>
            <a:picLocks noChangeAspect="1"/>
          </p:cNvPicPr>
          <p:nvPr/>
        </p:nvPicPr>
        <p:blipFill>
          <a:blip r:embed="rId3"/>
          <a:srcRect t="-8812" b="-8812"/>
          <a:stretch/>
        </p:blipFill>
        <p:spPr>
          <a:xfrm>
            <a:off x="5715000" y="4762195"/>
            <a:ext cx="1619402" cy="3161995"/>
          </a:xfrm>
          <a:prstGeom prst="rect">
            <a:avLst/>
          </a:prstGeom>
        </p:spPr>
      </p:pic>
      <p:pic>
        <p:nvPicPr>
          <p:cNvPr id="3" name="Image 1" descr="gen-dedup-56882c7d25fc2d02be0684c01de3a0c2.png"/>
          <p:cNvPicPr>
            <a:picLocks noChangeAspect="1"/>
          </p:cNvPicPr>
          <p:nvPr/>
        </p:nvPicPr>
        <p:blipFill>
          <a:blip r:embed="rId4"/>
          <a:srcRect t="-64" b="-64"/>
          <a:stretch/>
        </p:blipFill>
        <p:spPr>
          <a:xfrm>
            <a:off x="9868205" y="6152998"/>
            <a:ext cx="647395" cy="381305"/>
          </a:xfrm>
          <a:prstGeom prst="rect">
            <a:avLst/>
          </a:prstGeom>
        </p:spPr>
      </p:pic>
      <p:pic>
        <p:nvPicPr>
          <p:cNvPr id="4" name="Image 2" descr="gen-dedup-56882c7d25fc2d02be0684c01de3a0c2.png"/>
          <p:cNvPicPr>
            <a:picLocks noChangeAspect="1"/>
          </p:cNvPicPr>
          <p:nvPr/>
        </p:nvPicPr>
        <p:blipFill>
          <a:blip r:embed="rId4"/>
          <a:srcRect t="-64" b="-64"/>
          <a:stretch/>
        </p:blipFill>
        <p:spPr>
          <a:xfrm>
            <a:off x="13487400" y="6152998"/>
            <a:ext cx="647395" cy="3813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952805" y="8305495"/>
            <a:ext cx="16383305" cy="1485900"/>
          </a:xfrm>
          <a:prstGeom prst="roundRect">
            <a:avLst>
              <a:gd name="adj" fmla="val 8985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952805" y="4956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소논문 연구계획 발표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12573000" y="495605"/>
            <a:ext cx="476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01 연구 배경 및 목적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952805" y="914400"/>
            <a:ext cx="163833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750" b="1" kern="0" spc="-75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 기반 데이터 간접 식별 위험 </a:t>
            </a:r>
            <a:r>
              <a:rPr lang="en-US" sz="3750" b="1" kern="0" spc="-75" dirty="0" err="1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분석을</a:t>
            </a:r>
            <a:r>
              <a:rPr lang="en-US" sz="3750" b="1" kern="0" spc="-75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</a:t>
            </a:r>
            <a:r>
              <a:rPr lang="en-US" sz="3750" b="1" kern="0" spc="-75" dirty="0" err="1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통한</a:t>
            </a:r>
            <a:r>
              <a:rPr lang="en-US" sz="37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sz="3750" b="1" kern="0" spc="-75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AI 개인정보 보호 정책 연구</a:t>
            </a:r>
            <a:endParaRPr lang="en-US" sz="37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952805" y="2247595"/>
            <a:ext cx="16383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“개별적으로는 개인정보가 아닌 데이터도, 서로 </a:t>
            </a:r>
            <a:r>
              <a:rPr lang="en-US" sz="2250" b="1" kern="0" spc="-22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연결되면</a:t>
            </a:r>
            <a:r>
              <a:rPr lang="en-US" sz="2250" b="1" kern="0" spc="-2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특정 개인을 식별할 수 있다.”</a:t>
            </a:r>
            <a:endParaRPr lang="en-US" sz="22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952805" y="3133649"/>
            <a:ext cx="400507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01</a:t>
            </a:r>
            <a:endParaRPr lang="en-US" sz="27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1521562" y="3133649"/>
            <a:ext cx="30678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생성형 AI 도입 확대</a:t>
            </a:r>
            <a:endParaRPr lang="en-US" sz="20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1521562" y="3505810"/>
            <a:ext cx="40041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AI가 여러 데이터 소스를 조회·결합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6495898" y="3133649"/>
            <a:ext cx="448056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02</a:t>
            </a:r>
            <a:endParaRPr lang="en-US" sz="27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113118" y="3133649"/>
            <a:ext cx="40498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기존 보호: </a:t>
            </a:r>
            <a:r>
              <a:rPr lang="en-US" sz="2025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직접 식별정보</a:t>
            </a:r>
            <a:r>
              <a:rPr lang="en-US" sz="20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중심</a:t>
            </a:r>
            <a:endParaRPr lang="en-US" sz="20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7113118" y="3505810"/>
            <a:ext cx="44705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이름·전화번호·주민등록번호 탐지·마스킹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2039905" y="3133649"/>
            <a:ext cx="4572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03</a:t>
            </a:r>
            <a:endParaRPr lang="en-US" sz="27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2666269" y="3133649"/>
            <a:ext cx="3314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한계: </a:t>
            </a:r>
            <a:r>
              <a:rPr lang="en-US" sz="2025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 식별 위험</a:t>
            </a:r>
            <a:endParaRPr lang="en-US" sz="20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2666269" y="3505810"/>
            <a:ext cx="43059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간 관계로 특정 개인 식별 가능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52805" y="4343400"/>
            <a:ext cx="4953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647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개별 데이터 </a:t>
            </a: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· 직접 식별정보 없음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7334402" y="4343400"/>
            <a:ext cx="100017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결합 데이터 </a:t>
            </a: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· 데이터 간 관계를 통한 간접 식별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952805" y="4762195"/>
            <a:ext cx="4762195" cy="990295"/>
          </a:xfrm>
          <a:prstGeom prst="roundRect">
            <a:avLst>
              <a:gd name="adj" fmla="val 9603"/>
            </a:avLst>
          </a:prstGeom>
          <a:solidFill>
            <a:srgbClr val="F7F9FD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181405" y="4972507"/>
            <a:ext cx="1123798" cy="571500"/>
          </a:xfrm>
          <a:prstGeom prst="roundRect">
            <a:avLst>
              <a:gd name="adj" fmla="val 13280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181405" y="4972507"/>
            <a:ext cx="1124712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A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2533802" y="4915814"/>
            <a:ext cx="114482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나이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35세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2533802" y="5257800"/>
            <a:ext cx="11768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성별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남성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4641494" y="5119726"/>
            <a:ext cx="111739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8FD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위험 낮음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952805" y="5848502"/>
            <a:ext cx="4762195" cy="990295"/>
          </a:xfrm>
          <a:prstGeom prst="roundRect">
            <a:avLst>
              <a:gd name="adj" fmla="val 9603"/>
            </a:avLst>
          </a:prstGeom>
          <a:solidFill>
            <a:srgbClr val="F7F9FD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1181405" y="6057900"/>
            <a:ext cx="1123798" cy="571500"/>
          </a:xfrm>
          <a:prstGeom prst="roundRect">
            <a:avLst>
              <a:gd name="adj" fmla="val 13280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181405" y="6057900"/>
            <a:ext cx="1124712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B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2533802" y="6002122"/>
            <a:ext cx="142372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직업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개발자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2533802" y="6344107"/>
            <a:ext cx="133502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회사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A기업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4641494" y="6205118"/>
            <a:ext cx="111739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8FD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위험 낮음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952805" y="6933895"/>
            <a:ext cx="4762195" cy="990295"/>
          </a:xfrm>
          <a:prstGeom prst="roundRect">
            <a:avLst>
              <a:gd name="adj" fmla="val 9603"/>
            </a:avLst>
          </a:prstGeom>
          <a:solidFill>
            <a:srgbClr val="F7F9FD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1181405" y="7144207"/>
            <a:ext cx="1123798" cy="571500"/>
          </a:xfrm>
          <a:prstGeom prst="roundRect">
            <a:avLst>
              <a:gd name="adj" fmla="val 13280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5" name="Text 30"/>
          <p:cNvSpPr txBox="1"/>
          <p:nvPr/>
        </p:nvSpPr>
        <p:spPr>
          <a:xfrm>
            <a:off x="1181405" y="7144207"/>
            <a:ext cx="1124712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C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6" name="Text 31"/>
          <p:cNvSpPr txBox="1"/>
          <p:nvPr/>
        </p:nvSpPr>
        <p:spPr>
          <a:xfrm>
            <a:off x="2533802" y="7087514"/>
            <a:ext cx="19339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거주지역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강남구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2533802" y="7429500"/>
            <a:ext cx="16962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근무지역</a:t>
            </a:r>
            <a:r>
              <a:rPr lang="en-US" sz="19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판교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8" name="Text 33"/>
          <p:cNvSpPr txBox="1"/>
          <p:nvPr/>
        </p:nvSpPr>
        <p:spPr>
          <a:xfrm>
            <a:off x="4641494" y="7291426"/>
            <a:ext cx="111739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8FD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위험 낮음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7334402" y="5581498"/>
            <a:ext cx="2476195" cy="1524305"/>
          </a:xfrm>
          <a:prstGeom prst="roundRect">
            <a:avLst>
              <a:gd name="adj" fmla="val 8758"/>
            </a:avLst>
          </a:prstGeom>
          <a:solidFill>
            <a:srgbClr val="EAF1FD"/>
          </a:solidFill>
          <a:ln w="25400">
            <a:solidFill>
              <a:srgbClr val="1D5BD8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7612380" y="5986577"/>
            <a:ext cx="192572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결합</a:t>
            </a:r>
            <a:endParaRPr lang="en-US" sz="25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1" name="Text 36"/>
          <p:cNvSpPr txBox="1"/>
          <p:nvPr/>
        </p:nvSpPr>
        <p:spPr>
          <a:xfrm>
            <a:off x="7537399" y="6424574"/>
            <a:ext cx="207203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속성 간 관계 연결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10573207" y="5581498"/>
            <a:ext cx="2857500" cy="1524305"/>
          </a:xfrm>
          <a:prstGeom prst="roundRect">
            <a:avLst>
              <a:gd name="adj" fmla="val 8758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3" name="Text 38"/>
          <p:cNvSpPr txBox="1"/>
          <p:nvPr/>
        </p:nvSpPr>
        <p:spPr>
          <a:xfrm>
            <a:off x="10462565" y="5971946"/>
            <a:ext cx="3081528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 식별 위험</a:t>
            </a:r>
            <a:endParaRPr lang="en-US" sz="27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4" name="Text 39"/>
          <p:cNvSpPr txBox="1"/>
          <p:nvPr/>
        </p:nvSpPr>
        <p:spPr>
          <a:xfrm>
            <a:off x="10498226" y="6439205"/>
            <a:ext cx="30138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C4F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직접 식별정보 없이도 발생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14192402" y="5581498"/>
            <a:ext cx="3143707" cy="1524305"/>
          </a:xfrm>
          <a:prstGeom prst="roundRect">
            <a:avLst>
              <a:gd name="adj" fmla="val 8758"/>
            </a:avLst>
          </a:prstGeom>
          <a:solidFill>
            <a:srgbClr val="1D5B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6" name="Text 41"/>
          <p:cNvSpPr txBox="1"/>
          <p:nvPr/>
        </p:nvSpPr>
        <p:spPr>
          <a:xfrm>
            <a:off x="14841626" y="5756148"/>
            <a:ext cx="184800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특정 개인 식별</a:t>
            </a:r>
            <a:endParaRPr lang="en-US" sz="25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가능성 증가 ↑</a:t>
            </a:r>
            <a:endParaRPr lang="en-US" sz="25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7" name="Text 42"/>
          <p:cNvSpPr txBox="1"/>
          <p:nvPr/>
        </p:nvSpPr>
        <p:spPr>
          <a:xfrm>
            <a:off x="15207386" y="6655003"/>
            <a:ext cx="111739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E7FB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위험 높음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8" name="Text 43"/>
          <p:cNvSpPr txBox="1"/>
          <p:nvPr/>
        </p:nvSpPr>
        <p:spPr>
          <a:xfrm>
            <a:off x="7334402" y="7292340"/>
            <a:ext cx="10001707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※ 위 데이터는 가상의 예시이며,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실제 식별 가능성은 데이터의 분포와 추가적으로 이용 가능한 정보에 따라 달라짐.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1333195" y="8801100"/>
            <a:ext cx="1619402" cy="4956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6B8FD6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1333195" y="8801100"/>
            <a:ext cx="1619402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연구 목적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1" name="Text 46"/>
          <p:cNvSpPr txBox="1"/>
          <p:nvPr/>
        </p:nvSpPr>
        <p:spPr>
          <a:xfrm>
            <a:off x="3333902" y="8528609"/>
            <a:ext cx="13716000" cy="9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325" b="1" kern="0" spc="-23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</a:t>
            </a:r>
            <a:r>
              <a:rPr lang="en-US" sz="2325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를 활용해 데이터 간 </a:t>
            </a:r>
            <a:r>
              <a:rPr lang="en-US" sz="2325" b="1" kern="0" spc="-23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의미적 관계와 결합 가능성</a:t>
            </a:r>
            <a:r>
              <a:rPr lang="en-US" sz="2325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을 분석하고,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ts val="3488"/>
              </a:lnSpc>
              <a:buNone/>
            </a:pPr>
            <a:r>
              <a:rPr lang="en-US" sz="2325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AI 환경의 </a:t>
            </a:r>
            <a:r>
              <a:rPr lang="en-US" sz="2325" b="1" kern="0" spc="-23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 식별 위험</a:t>
            </a:r>
            <a:r>
              <a:rPr lang="en-US" sz="2325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에 대응하는 </a:t>
            </a:r>
            <a:r>
              <a:rPr lang="en-US" sz="2325" b="1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개인정보 보호 정책</a:t>
            </a:r>
            <a:r>
              <a:rPr lang="en-US" sz="2325" kern="0" spc="-23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을 제안한다.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008e377c54b8e352283d06e44406ef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3051" y="4476902"/>
            <a:ext cx="381305" cy="381305"/>
          </a:xfrm>
          <a:prstGeom prst="rect">
            <a:avLst/>
          </a:prstGeom>
        </p:spPr>
      </p:pic>
      <p:pic>
        <p:nvPicPr>
          <p:cNvPr id="3" name="Image 1" descr="gen-dedup-1008e377c54b8e352283d06e44406ef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3805" y="4476902"/>
            <a:ext cx="381305" cy="381305"/>
          </a:xfrm>
          <a:prstGeom prst="rect">
            <a:avLst/>
          </a:prstGeom>
        </p:spPr>
      </p:pic>
      <p:pic>
        <p:nvPicPr>
          <p:cNvPr id="4" name="Image 2" descr="gen-dedup-1008e377c54b8e352283d06e44406ef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53644" y="4476902"/>
            <a:ext cx="381305" cy="3813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952805" y="8858707"/>
            <a:ext cx="16383305" cy="990295"/>
          </a:xfrm>
          <a:prstGeom prst="roundRect">
            <a:avLst>
              <a:gd name="adj" fmla="val 13481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Text 1"/>
          <p:cNvSpPr txBox="1"/>
          <p:nvPr/>
        </p:nvSpPr>
        <p:spPr>
          <a:xfrm>
            <a:off x="952805" y="4956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6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소논문 연구계획 발표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12573000" y="495605"/>
            <a:ext cx="476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02 연구 내용 및 방법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952805" y="914400"/>
            <a:ext cx="16383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 기반 간접 식별 위험 분석 및 정책 검증</a:t>
            </a:r>
            <a:endParaRPr lang="en-US" sz="37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952805" y="1676095"/>
            <a:ext cx="16383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“데이터 간 </a:t>
            </a:r>
            <a:r>
              <a:rPr lang="en-US" sz="2250" b="1" kern="0" spc="-22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관계</a:t>
            </a:r>
            <a:r>
              <a:rPr lang="en-US" sz="2250" b="1" kern="0" spc="-2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를 분석해 식별 위험을 평가하고, 그 결과를 </a:t>
            </a:r>
            <a:r>
              <a:rPr lang="en-US" sz="2250" b="1" kern="0" spc="-22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AI 개인정보 보호 정책</a:t>
            </a:r>
            <a:r>
              <a:rPr lang="en-US" sz="2250" b="1" kern="0" spc="-2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에 반영한다.”</a:t>
            </a:r>
            <a:endParaRPr lang="en-US" sz="22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952805" y="2400300"/>
            <a:ext cx="4096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연구 방법 </a:t>
            </a: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· 4단계 연구 프로세스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5152644" y="2361895"/>
            <a:ext cx="3781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 = 데이터 간 관계 지도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952805" y="2838298"/>
            <a:ext cx="3781044" cy="36576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218895" y="3086100"/>
            <a:ext cx="32488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STEP 1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218895" y="3419856"/>
            <a:ext cx="32488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구성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5" name="Image 3" descr="gen-dedup-246c19707f55e35a1615c19f737f0634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1218895" y="4219956"/>
            <a:ext cx="3247949" cy="192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18895" y="4390949"/>
            <a:ext cx="3248863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​개인정보 미포함 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가상 데이터셋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구성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준식별자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포함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(나이·직업·지역)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​데이터 간 연결 관계 정의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152644" y="2838298"/>
            <a:ext cx="3781044" cy="3657600"/>
          </a:xfrm>
          <a:prstGeom prst="roundRect">
            <a:avLst>
              <a:gd name="adj" fmla="val 3650"/>
            </a:avLst>
          </a:prstGeom>
          <a:solidFill>
            <a:srgbClr val="EAF1FD"/>
          </a:solidFill>
          <a:ln w="38100">
            <a:solidFill>
              <a:srgbClr val="1D5BD8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5419649" y="3086100"/>
            <a:ext cx="32488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STEP 2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5419649" y="3419856"/>
            <a:ext cx="32488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 모델링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0" name="Image 4" descr="gen-dedup-c66fff2c852d0bb635091341f60220f0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419649" y="4219956"/>
            <a:ext cx="3247949" cy="192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19649" y="4390949"/>
            <a:ext cx="3248863" cy="1498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속성·개체 간 관계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정의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​데이터 간 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연결 경로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모델링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​데이터 조합별 식별 가능성 분석 기반 마련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353398" y="2838298"/>
            <a:ext cx="3781044" cy="365760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9620402" y="3086100"/>
            <a:ext cx="32488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STEP 3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9620402" y="3419856"/>
            <a:ext cx="32488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 식별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위험 평가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5" name="Image 5" descr="gen-dedup-246c19707f55e35a1615c19f737f0634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9620402" y="4219956"/>
            <a:ext cx="3247949" cy="192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620402" y="4390949"/>
            <a:ext cx="3248863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​데이터 조합별 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재식별 위험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평가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단일 vs 결합</a:t>
            </a: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데이터 위험 수준 비교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​위험 데이터 조합 식별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3554151" y="2838298"/>
            <a:ext cx="3781044" cy="3657600"/>
          </a:xfrm>
          <a:prstGeom prst="roundRect">
            <a:avLst>
              <a:gd name="adj" fmla="val 3650"/>
            </a:avLst>
          </a:prstGeom>
          <a:solidFill>
            <a:srgbClr val="0A1F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8" name="Text 20"/>
          <p:cNvSpPr txBox="1"/>
          <p:nvPr/>
        </p:nvSpPr>
        <p:spPr>
          <a:xfrm>
            <a:off x="13801954" y="3066898"/>
            <a:ext cx="32863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STEP 4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13801954" y="3400654"/>
            <a:ext cx="32863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AI 개인정보 보호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정책 적용</a:t>
            </a:r>
            <a:endParaRPr lang="en-US" sz="2325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30" name="Image 6" descr="gen-dedup-eb6550780d8fd4245c00c2fd53a1508c.png"/>
          <p:cNvPicPr>
            <a:picLocks noChangeAspect="1"/>
          </p:cNvPicPr>
          <p:nvPr/>
        </p:nvPicPr>
        <p:blipFill>
          <a:blip r:embed="rId6"/>
          <a:srcRect t="-396" b="-396"/>
          <a:stretch/>
        </p:blipFill>
        <p:spPr>
          <a:xfrm>
            <a:off x="13801954" y="4200754"/>
            <a:ext cx="3286354" cy="192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3801954" y="4371746"/>
            <a:ext cx="3286354" cy="1498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D5DEE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​위험 수준에 따른 </a:t>
            </a:r>
            <a:r>
              <a:rPr lang="en-US" sz="1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접근 제한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D5DEE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​고위험 조합 </a:t>
            </a:r>
            <a:r>
              <a:rPr lang="en-US" sz="18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차단 또는 마스킹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D5DEE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​AI 활용 전후 개인정보 노출 위험 비교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952805" y="6743700"/>
            <a:ext cx="8382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연구 검증 </a:t>
            </a: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· 비교 계획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952805" y="7162495"/>
            <a:ext cx="3715207" cy="1447495"/>
          </a:xfrm>
          <a:prstGeom prst="roundRect">
            <a:avLst>
              <a:gd name="adj" fmla="val 9223"/>
            </a:avLst>
          </a:prstGeom>
          <a:solidFill>
            <a:srgbClr val="F5F7FA"/>
          </a:solidFill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1218895" y="7372807"/>
            <a:ext cx="31821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기존 방식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1218895" y="7724851"/>
            <a:ext cx="31821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개별 컬럼 중심</a:t>
            </a:r>
            <a:endParaRPr lang="en-US" sz="2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3A4456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개인정보 마스킹</a:t>
            </a:r>
            <a:endParaRPr lang="en-US" sz="2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4800600" y="758220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4800600" y="7582205"/>
            <a:ext cx="609905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VS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5544007" y="7162495"/>
            <a:ext cx="3981298" cy="1447495"/>
          </a:xfrm>
          <a:prstGeom prst="roundRect">
            <a:avLst>
              <a:gd name="adj" fmla="val 9223"/>
            </a:avLst>
          </a:prstGeom>
          <a:solidFill>
            <a:srgbClr val="1D5B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5790895" y="7353605"/>
            <a:ext cx="34866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E7FB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제안 방식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5790895" y="7705649"/>
            <a:ext cx="34866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온톨로지 기반 데이터 </a:t>
            </a:r>
            <a:r>
              <a:rPr lang="en-US" sz="210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관계</a:t>
            </a:r>
            <a:r>
              <a:rPr lang="en-US" sz="21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및</a:t>
            </a:r>
            <a:r>
              <a:rPr lang="en-US" sz="2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</a:t>
            </a:r>
            <a:r>
              <a:rPr lang="en-US" sz="21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식별 위험 분석</a:t>
            </a:r>
            <a:endParaRPr lang="en-US" sz="2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1" name="Text 32"/>
          <p:cNvSpPr txBox="1"/>
          <p:nvPr/>
        </p:nvSpPr>
        <p:spPr>
          <a:xfrm>
            <a:off x="10096805" y="6743700"/>
            <a:ext cx="7239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주요 평가 지표 </a:t>
            </a:r>
            <a:r>
              <a:rPr lang="en-US" sz="1800" b="1" dirty="0">
                <a:solidFill>
                  <a:srgbClr val="8A93A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· 측정 예정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10096805" y="7162495"/>
            <a:ext cx="3571646" cy="676656"/>
          </a:xfrm>
          <a:prstGeom prst="roundRect">
            <a:avLst>
              <a:gd name="adj" fmla="val 14054"/>
            </a:avLst>
          </a:prstGeom>
          <a:noFill/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10096805" y="7162495"/>
            <a:ext cx="3572561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0" rtlCol="0" anchor="ctr"/>
          <a:lstStyle/>
          <a:p>
            <a:pPr marL="0" indent="0" algn="l">
              <a:lnSpc>
                <a:spcPct val="118947"/>
              </a:lnSpc>
              <a:buNone/>
            </a:pP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01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간접 식별 위험 탐지율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4" name="Shape 35"/>
          <p:cNvSpPr/>
          <p:nvPr/>
        </p:nvSpPr>
        <p:spPr>
          <a:xfrm>
            <a:off x="13763549" y="7162495"/>
            <a:ext cx="3571646" cy="676656"/>
          </a:xfrm>
          <a:prstGeom prst="roundRect">
            <a:avLst>
              <a:gd name="adj" fmla="val 14054"/>
            </a:avLst>
          </a:prstGeom>
          <a:noFill/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13763549" y="7162495"/>
            <a:ext cx="3572561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0" rtlCol="0" anchor="ctr"/>
          <a:lstStyle/>
          <a:p>
            <a:pPr marL="0" indent="0" algn="l">
              <a:lnSpc>
                <a:spcPct val="118947"/>
              </a:lnSpc>
              <a:buNone/>
            </a:pP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02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고위험 조합 식별 정확도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6" name="Shape 37"/>
          <p:cNvSpPr/>
          <p:nvPr/>
        </p:nvSpPr>
        <p:spPr>
          <a:xfrm>
            <a:off x="10096805" y="7934249"/>
            <a:ext cx="3571646" cy="676656"/>
          </a:xfrm>
          <a:prstGeom prst="roundRect">
            <a:avLst>
              <a:gd name="adj" fmla="val 14054"/>
            </a:avLst>
          </a:prstGeom>
          <a:noFill/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7" name="Text 38"/>
          <p:cNvSpPr txBox="1"/>
          <p:nvPr/>
        </p:nvSpPr>
        <p:spPr>
          <a:xfrm>
            <a:off x="10096805" y="7934249"/>
            <a:ext cx="3572561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0" rtlCol="0" anchor="ctr"/>
          <a:lstStyle/>
          <a:p>
            <a:pPr marL="0" indent="0" algn="l">
              <a:lnSpc>
                <a:spcPct val="118947"/>
              </a:lnSpc>
              <a:buNone/>
            </a:pP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03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개인정보 노출 위험 감소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13763549" y="7934249"/>
            <a:ext cx="3571646" cy="676656"/>
          </a:xfrm>
          <a:prstGeom prst="roundRect">
            <a:avLst>
              <a:gd name="adj" fmla="val 14054"/>
            </a:avLst>
          </a:prstGeom>
          <a:noFill/>
          <a:ln w="25400">
            <a:solidFill>
              <a:srgbClr val="C9D6EE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9" name="Text 40"/>
          <p:cNvSpPr txBox="1"/>
          <p:nvPr/>
        </p:nvSpPr>
        <p:spPr>
          <a:xfrm>
            <a:off x="13763549" y="7934249"/>
            <a:ext cx="3572561" cy="6766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0" rtlCol="0" anchor="ctr"/>
          <a:lstStyle/>
          <a:p>
            <a:pPr marL="0" indent="0" algn="l">
              <a:lnSpc>
                <a:spcPct val="118947"/>
              </a:lnSpc>
              <a:buNone/>
            </a:pPr>
            <a:r>
              <a:rPr lang="en-US" sz="1800" b="1" dirty="0">
                <a:solidFill>
                  <a:srgbClr val="1D5BD8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04</a:t>
            </a:r>
            <a:r>
              <a:rPr lang="en-US" sz="1800" b="1" dirty="0">
                <a:solidFill>
                  <a:srgbClr val="0A1F4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활용성·처리 성능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0" name="Shape 41"/>
          <p:cNvSpPr/>
          <p:nvPr/>
        </p:nvSpPr>
        <p:spPr>
          <a:xfrm>
            <a:off x="1295705" y="9105595"/>
            <a:ext cx="1619402" cy="49560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6B8FD6"/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1" name="Text 42"/>
          <p:cNvSpPr/>
          <p:nvPr/>
        </p:nvSpPr>
        <p:spPr>
          <a:xfrm>
            <a:off x="1295705" y="9105595"/>
            <a:ext cx="1619402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기대 효과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2" name="Text 43"/>
          <p:cNvSpPr txBox="1"/>
          <p:nvPr/>
        </p:nvSpPr>
        <p:spPr>
          <a:xfrm>
            <a:off x="3238805" y="8985809"/>
            <a:ext cx="13812012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기존 </a:t>
            </a:r>
            <a:r>
              <a:rPr lang="en-US" sz="1950" b="1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컬럼 중심</a:t>
            </a:r>
            <a:r>
              <a:rPr lang="en-US" sz="195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개인정보 보호의 한계를 보완하고,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데이터 간 </a:t>
            </a:r>
            <a:r>
              <a:rPr lang="en-US" sz="1950" b="1" dirty="0">
                <a:solidFill>
                  <a:srgbClr val="8FB8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관계를 고려한</a:t>
            </a:r>
            <a:r>
              <a:rPr lang="en-US" sz="195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 AI 개인정보 보호 정책의 </a:t>
            </a:r>
            <a:r>
              <a:rPr lang="en-US" sz="195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적용 가능성을 검증</a:t>
            </a:r>
            <a:r>
              <a:rPr lang="en-US" sz="1950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Pretendard" pitchFamily="34" charset="-120"/>
              </a:rPr>
              <a:t>한다.</a:t>
            </a:r>
            <a:endParaRPr lang="en-US" sz="19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401</Words>
  <Application>Microsoft Macintosh PowerPoint</Application>
  <PresentationFormat>사용자 지정</PresentationFormat>
  <Paragraphs>85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홍승표(Seungpyo Hong)</cp:lastModifiedBy>
  <cp:revision>2</cp:revision>
  <dcterms:created xsi:type="dcterms:W3CDTF">2026-10-14T10:41:46Z</dcterms:created>
  <dcterms:modified xsi:type="dcterms:W3CDTF">2026-10-14T13:10:07Z</dcterms:modified>
</cp:coreProperties>
</file>