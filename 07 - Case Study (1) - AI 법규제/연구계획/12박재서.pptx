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6501dea6114597" /><Relationship Type="http://schemas.openxmlformats.org/officeDocument/2006/relationships/extended-properties" Target="/docProps/app.xml" Id="R0c159e9be3384d7d" /><Relationship Type="http://schemas.openxmlformats.org/officeDocument/2006/relationships/officeDocument" Target="/ppt/presentation.xml" Id="R6efa3c0c93244289" /></Relationships>
</file>

<file path=ppt/presentation.xml><?xml version="1.0" encoding="utf-8"?>
<p:presentation xmlns:p="http://schemas.openxmlformats.org/presentationml/2006/main">
  <p:sldMasterIdLst>
    <p:sldMasterId xmlns:r="http://schemas.openxmlformats.org/officeDocument/2006/relationships" id="2147483648" r:id="Rb7785d71a0c94bc6"/>
  </p:sldMasterIdLst>
  <p:notesMasterIdLst>
    <p:notesMasterId xmlns:r="http://schemas.openxmlformats.org/officeDocument/2006/relationships" r:id="R9a2a6a1b7d984969"/>
  </p:notesMasterIdLst>
  <p:sldIdLst>
    <p:sldId xmlns:r="http://schemas.openxmlformats.org/officeDocument/2006/relationships" id="256" r:id="R27a77e4386f94025"/>
    <p:sldId xmlns:r="http://schemas.openxmlformats.org/officeDocument/2006/relationships" id="257" r:id="Ra06457a2a08c42d6"/>
    <p:sldId xmlns:r="http://schemas.openxmlformats.org/officeDocument/2006/relationships" id="258" r:id="R86609ff10c274b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e04ca956db4058" /><Relationship Type="http://schemas.openxmlformats.org/officeDocument/2006/relationships/slideMaster" Target="/ppt/slideMasters/slideMaster1.xml" Id="Rb7785d71a0c94bc6" /><Relationship Type="http://schemas.openxmlformats.org/officeDocument/2006/relationships/notesMaster" Target="/ppt/notesMasters/notesMaster1.xml" Id="R9a2a6a1b7d984969" /><Relationship Type="http://schemas.openxmlformats.org/officeDocument/2006/relationships/presProps" Target="/ppt/presProps.xml" Id="R3c2548fd71d64860" /><Relationship Type="http://schemas.openxmlformats.org/officeDocument/2006/relationships/tableStyles" Target="/ppt/tableStyles.xml" Id="R7286170a4aa84aad" /><Relationship Type="http://schemas.openxmlformats.org/officeDocument/2006/relationships/slide" Target="/ppt/slides/slide1.xml" Id="R27a77e4386f94025" /><Relationship Type="http://schemas.openxmlformats.org/officeDocument/2006/relationships/slide" Target="/ppt/slides/slide2.xml" Id="Ra06457a2a08c42d6" /><Relationship Type="http://schemas.openxmlformats.org/officeDocument/2006/relationships/slide" Target="/ppt/slides/slide3.xml" Id="R86609ff10c274b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2aa7d6c64641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e4bbb6d713439c" /><Relationship Type="http://schemas.openxmlformats.org/officeDocument/2006/relationships/notesMaster" Target="/ppt/notesMasters/notesMaster1.xml" Id="R36510d3ae9644a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c8e65aceae46eb" /><Relationship Type="http://schemas.openxmlformats.org/officeDocument/2006/relationships/notesMaster" Target="/ppt/notesMasters/notesMaster1.xml" Id="Rd10e6f7b750442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ac65bcf2c34d14" /><Relationship Type="http://schemas.openxmlformats.org/officeDocument/2006/relationships/notesMaster" Target="/ppt/notesMasters/notesMaster1.xml" Id="Rac8cbb83ff7c46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a:t>
            </a:r>
          </a:p>
          <a:p xmlns:a="http://schemas.openxmlformats.org/drawingml/2006/main">
            <a:r>
              <a:t>안녕하세요. 제 연구 주제는 AI의 개인정보 및 보안 위험 통제를 위한 인간 개입의 법적 요건입니다. 도구를 사용하는 AI는 답변 생성뿐 아니라 개인정보 조회와 외부 전송, 시스템 접근이나 설정 변경도 수행할 수 있습니다. 저는 이런 행동이 중대한 위험을 일으킬 수 있을 때 인간이 실제로 통제할 수 있는 절차를 법적으로 보장해야 한다고 생각합니다.</a:t>
            </a:r>
          </a:p>
          <a:p xmlns:a="http://schemas.openxmlformats.org/drawingml/2006/main">
            <a:r>
              <a:t>그런데 승인 버튼만 두는 것으로 충분할까요? 무엇을 어디로 보내는지 알 수 없거나, 거부해도 실행이 계속된다면 사람의 참여는 형식적일 수 있습니다. 따라서 중심 질문은 검토자에게 어떤 정보와 승인·거부·중단 권한을 법적으로 보장해야 하는가입니다. 여기서 HITL은 AI 학습 과정이 아니라 실제 위험 행위의 실행에 사람이 개입하는 구조를 뜻합니다.</a:t>
            </a:r>
          </a:p>
          <a:p xmlns:a="http://schemas.openxmlformats.org/drawingml/2006/main">
            <a:r>
              <a:t>출처: 연구자의 문제 설정 및 연구상 HITL 정의.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a:t>
            </a:r>
          </a:p>
          <a:p xmlns:a="http://schemas.openxmlformats.org/drawingml/2006/main">
            <a:r>
              <a:t>핵심은 검토자가 판단할 수 있는 정보와 실행을 바꿀 수 있는 권한을 함께 갖추는 것입니다. 우선 AI가 하려는 행동의 목적, 접근 대상, 개인정보의 범위, 외부 전송 목적지와 예상 위험을 확인할 수 있어야 합니다. 승인할 때는 허용 범위를 특정하고, 거부하거나 응답하지 않았을 때는 실행이 보류되어야 합니다. 또 이미 시작된 작업에서 이상 징후를 발견하면 중단하고 재개 여부를 판단할 수 있어야 합니다.</a:t>
            </a:r>
          </a:p>
          <a:p xmlns:a="http://schemas.openxmlformats.org/drawingml/2006/main">
            <a:r>
              <a:t>이 권한이 실제로 작동하려면 전문성과 검토 시간이 필요하고, 누가 어떤 근거로 승인했는지도 기록해야 합니다. 다만 명백히 위법하거나 권한 밖인 행위는 차단 대상입니다. 사람의 승인이 이를 적법하게 만들 수는 없습니다. 긴급한 피해 방지를 위한 자동 차단 역시 사람의 승인을 기다리게 해서는 안 됩니다.</a:t>
            </a:r>
          </a:p>
          <a:p xmlns:a="http://schemas.openxmlformats.org/drawingml/2006/main">
            <a:r>
              <a:t>출처: EU AI Act 제14조·제26조, 개인정보 보호법 제29조·제37조의2를 분석 대상으로 삼은 연구자의 잠정 제안. 표의 항목 모두가 현행법의 일률적 의무인 것은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[2:00–3:00]</a:t>
            </a:r>
          </a:p>
          <a:p xmlns:a="http://schemas.openxmlformats.org/drawingml/2006/main">
            <a:r>
              <a:t>연구는 비교법적 문헌 연구와 입법론으로 진행합니다. 거버넌스와 규제 정당성에서 출발해, 한국 AI 기본법의 관리·감독 의무와 EU AI Act의 인간 감독 규정을 비교하고 개인정보 보호법과의 관계도 검토하겠습니다. 특히 정보주체가 자동화된 결정의 재검토를 요구하는 권리와 운영 담당자의 실행 승인권은 구분하겠습니다.</a:t>
            </a:r>
          </a:p>
          <a:p xmlns:a="http://schemas.openxmlformats.org/drawingml/2006/main">
            <a:r>
              <a:t>분석한 요건은 개인정보 외부 전송, 접근 권한 확대, 실행 중 이상 징후라는 가상 상황에 적용해 누락과 모순을 점검하겠습니다. 최종적으로 검토자 정보·권한의 최소 기준, 개발·운영 주체의 역할과 입법적 보완안을 제안하고자 합니다. 본 연구는 실제 사고 감소를 입증하는 실험이 아니라 인간 개입 의무의 법적 내용과 범위를 논증하는 연구입니다. 감사합니다.</a:t>
            </a:r>
          </a:p>
          <a:p xmlns:a="http://schemas.openxmlformats.org/drawingml/2006/main">
            <a:r>
              <a:t>공식 법령 참고: https://law.go.kr/lsLinkCommonInfo.do?chrClsCd=010202&amp;lsJoLnkSeq=1031810839 ; https://ai-act-service-desk.ec.europa.eu/en/ai-act/article-14 ; https://ai-act-service-desk.ec.europa.eu/en/ai-act/article-26 ; https://www.law.go.kr/LSW/lsInfoP.do?ancYnChk=0&amp;lsId=011357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eb0120587a4c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97010b876b413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58f9e4184b43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108821ed56d48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304af8a8e04f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f0c9dc873a4f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F1735B-ABC5-4E96-94D1-D421C7CB8A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7C5924-2170-4A17-8636-4CB77FDB37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518A0E-8647-4400-9198-274F291104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00B91-46FD-4D28-B672-329BE0A0D9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2D97C4-CF53-4B7A-AFE1-83E5009A485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66464AD-54FE-4F70-B657-E89C1EEEEA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2ACB8C-99A6-4D11-997C-0C703C62BD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170B07B-44C7-45FE-9B86-9DC74A026C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2EF15D-CEAE-47B9-8755-82DC5F8C31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F2FEBF-D91A-4A6A-92F4-FA2C83E0BD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28195009ac4267" /><Relationship Type="http://schemas.openxmlformats.org/officeDocument/2006/relationships/slideLayout" Target="/ppt/slideLayouts/slideLayout1.xml" Id="R78a4dc71100440c8" /><Relationship Type="http://schemas.openxmlformats.org/officeDocument/2006/relationships/slideLayout" Target="/ppt/slideLayouts/slideLayout2.xml" Id="R47129dc920484768" /><Relationship Type="http://schemas.openxmlformats.org/officeDocument/2006/relationships/slideLayout" Target="/ppt/slideLayouts/slideLayout3.xml" Id="R967879bda49a45c3" /><Relationship Type="http://schemas.openxmlformats.org/officeDocument/2006/relationships/slideLayout" Target="/ppt/slideLayouts/slideLayout4.xml" Id="R7afd8e8ff2aa4d98" /><Relationship Type="http://schemas.openxmlformats.org/officeDocument/2006/relationships/slideLayout" Target="/ppt/slideLayouts/slideLayout5.xml" Id="Rafa75cad67424b4f" /><Relationship Type="http://schemas.openxmlformats.org/officeDocument/2006/relationships/slideLayout" Target="/ppt/slideLayouts/slideLayout6.xml" Id="R132f187d07b24c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a4dc71100440c8"/>
    <p:sldLayoutId xmlns:r="http://schemas.openxmlformats.org/officeDocument/2006/relationships" id="2147483650" r:id="R47129dc920484768"/>
    <p:sldLayoutId xmlns:r="http://schemas.openxmlformats.org/officeDocument/2006/relationships" id="2147483651" r:id="R967879bda49a45c3"/>
    <p:sldLayoutId xmlns:r="http://schemas.openxmlformats.org/officeDocument/2006/relationships" id="2147483652" r:id="R7afd8e8ff2aa4d98"/>
    <p:sldLayoutId xmlns:r="http://schemas.openxmlformats.org/officeDocument/2006/relationships" id="2147483653" r:id="Rafa75cad67424b4f"/>
    <p:sldLayoutId xmlns:r="http://schemas.openxmlformats.org/officeDocument/2006/relationships" id="2147483654" r:id="R132f187d07b24c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3cf02cfbfb4c86" /><Relationship Type="http://schemas.openxmlformats.org/officeDocument/2006/relationships/notesSlide" Target="/ppt/notesSlides/notesSlide1.xml" Id="Rc658fc11fc09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807446f9e7e4122" /><Relationship Type="http://schemas.openxmlformats.org/officeDocument/2006/relationships/notesSlide" Target="/ppt/notesSlides/notesSlide2.xml" Id="Rdf1357e4c3af4e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4f54d339494371" /><Relationship Type="http://schemas.openxmlformats.org/officeDocument/2006/relationships/notesSlide" Target="/ppt/notesSlides/notesSlide3.xml" Id="R55e761a4101c4b7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6C80BB-9C47-47C0-A3F7-213154766680}"/>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5B45"/>
                </a:solidFill>
                <a:latin typeface="Noto Sans KR"/>
                <a:ea typeface="Noto Sans KR"/>
                <a:cs typeface="Noto Sans KR"/>
              </a:defRPr>
            </a:defPPr>
          </a:lstStyle>
          <a:p xmlns:a="http://schemas.openxmlformats.org/drawingml/2006/main">
            <a:pPr>
              <a:defRPr sz="2700" b="1">
                <a:solidFill>
                  <a:srgbClr val="005B45"/>
                </a:solidFill>
                <a:latin typeface="Noto Sans KR"/>
                <a:ea typeface="Noto Sans KR"/>
                <a:cs typeface="Noto Sans KR"/>
              </a:defRPr>
            </a:pPr>
            <a:r>
              <a:rPr sz="2700" b="1">
                <a:solidFill>
                  <a:srgbClr val="005B45"/>
                </a:solidFill>
                <a:latin typeface="Noto Sans KR"/>
                <a:ea typeface="Noto Sans KR"/>
                <a:cs typeface="Noto Sans KR"/>
              </a:rPr>
              <a:t>AI 위험 통제와 인간 개입의 법적 요건</a:t>
            </a:r>
          </a:p>
        </p:txBody>
      </p:sp>
      <p:sp>
        <p:nvSpPr>
          <p:cNvPr id="2" name="">
            <a:extLst xmlns:a="http://schemas.openxmlformats.org/drawingml/2006/main">
              <a:ext uri="{FF2B5EF4-FFF2-40B4-BE49-F238E27FC236}">
                <a16:creationId xmlns:a16="http://schemas.microsoft.com/office/drawing/2014/main" id="{63D5DEF8-CE9A-4C0E-858A-F3CA2D4E4B4B}"/>
              </a:ext>
            </a:extLst>
          </p:cNvPr>
          <p:cNvSpPr>
            <a:spLocks xmlns:a="http://schemas.openxmlformats.org/drawingml/2006/main" noGrp="1"/>
          </p:cNvSpPr>
          <p:nvPr/>
        </p:nvSpPr>
        <p:spPr>
          <a:xfrm xmlns:a="http://schemas.openxmlformats.org/drawingml/2006/main">
            <a:off x="1104900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55555"/>
                </a:solidFill>
                <a:latin typeface="Noto Sans KR"/>
                <a:ea typeface="Noto Sans KR"/>
                <a:cs typeface="Noto Sans KR"/>
              </a:defRPr>
            </a:defPPr>
          </a:lstStyle>
          <a:p xmlns:a="http://schemas.openxmlformats.org/drawingml/2006/main">
            <a:pPr>
              <a:defRPr sz="1500" b="0">
                <a:solidFill>
                  <a:srgbClr val="555555"/>
                </a:solidFill>
                <a:latin typeface="Noto Sans KR"/>
                <a:ea typeface="Noto Sans KR"/>
                <a:cs typeface="Noto Sans KR"/>
              </a:defRPr>
            </a:pPr>
            <a:r>
              <a:rPr sz="1500" b="0">
                <a:solidFill>
                  <a:srgbClr val="555555"/>
                </a:solidFill>
                <a:latin typeface="Noto Sans KR"/>
                <a:ea typeface="Noto Sans KR"/>
                <a:cs typeface="Noto Sans KR"/>
              </a:rPr>
              <a:t>01</a:t>
            </a:r>
          </a:p>
        </p:txBody>
      </p:sp>
      <p:sp>
        <p:nvSpPr>
          <p:cNvPr id="3" name="">
            <a:extLst xmlns:a="http://schemas.openxmlformats.org/drawingml/2006/main">
              <a:ext uri="{FF2B5EF4-FFF2-40B4-BE49-F238E27FC236}">
                <a16:creationId xmlns:a16="http://schemas.microsoft.com/office/drawing/2014/main" id="{B549AF2A-89FD-4565-9DCF-188A9C1DC1EC}"/>
              </a:ext>
            </a:extLst>
          </p:cNvPr>
          <p:cNvSpPr>
            <a:spLocks xmlns:a="http://schemas.openxmlformats.org/drawingml/2006/main" noGrp="1"/>
          </p:cNvSpPr>
          <p:nvPr/>
        </p:nvSpPr>
        <p:spPr>
          <a:xfrm xmlns:a="http://schemas.openxmlformats.org/drawingml/2006/main">
            <a:off x="609600" y="1238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555555"/>
                </a:solidFill>
                <a:latin typeface="Noto Sans KR"/>
                <a:ea typeface="Noto Sans KR"/>
                <a:cs typeface="Noto Sans KR"/>
              </a:defRPr>
            </a:defPPr>
          </a:lstStyle>
          <a:p xmlns:a="http://schemas.openxmlformats.org/drawingml/2006/main">
            <a:pPr>
              <a:defRPr sz="2100" b="0">
                <a:solidFill>
                  <a:srgbClr val="555555"/>
                </a:solidFill>
                <a:latin typeface="Noto Sans KR"/>
                <a:ea typeface="Noto Sans KR"/>
                <a:cs typeface="Noto Sans KR"/>
              </a:defRPr>
            </a:pPr>
            <a:r>
              <a:rPr sz="2100" b="0">
                <a:solidFill>
                  <a:srgbClr val="555555"/>
                </a:solidFill>
                <a:latin typeface="Noto Sans KR"/>
                <a:ea typeface="Noto Sans KR"/>
                <a:cs typeface="Noto Sans KR"/>
              </a:rPr>
              <a:t>개인정보·보안 위험에 대한 HITL 연구</a:t>
            </a:r>
          </a:p>
        </p:txBody>
      </p:sp>
      <p:sp>
        <p:nvSpPr>
          <p:cNvPr id="4" name="">
            <a:extLst xmlns:a="http://schemas.openxmlformats.org/drawingml/2006/main">
              <a:ext uri="{FF2B5EF4-FFF2-40B4-BE49-F238E27FC236}">
                <a16:creationId xmlns:a16="http://schemas.microsoft.com/office/drawing/2014/main" id="{FB8EF28C-3382-4A77-9F43-E1BBD7E939B0}"/>
              </a:ext>
            </a:extLst>
          </p:cNvPr>
          <p:cNvSpPr>
            <a:spLocks xmlns:a="http://schemas.openxmlformats.org/drawingml/2006/main" noGrp="1"/>
          </p:cNvSpPr>
          <p:nvPr/>
        </p:nvSpPr>
        <p:spPr>
          <a:xfrm xmlns:a="http://schemas.openxmlformats.org/drawingml/2006/main">
            <a:off x="609600" y="22574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5B45"/>
                </a:solidFill>
                <a:latin typeface="Noto Sans KR"/>
                <a:ea typeface="Noto Sans KR"/>
                <a:cs typeface="Noto Sans KR"/>
              </a:defRPr>
            </a:defPPr>
          </a:lstStyle>
          <a:p xmlns:a="http://schemas.openxmlformats.org/drawingml/2006/main">
            <a:pPr>
              <a:defRPr sz="1950" b="1">
                <a:solidFill>
                  <a:srgbClr val="005B45"/>
                </a:solidFill>
                <a:latin typeface="Noto Sans KR"/>
                <a:ea typeface="Noto Sans KR"/>
                <a:cs typeface="Noto Sans KR"/>
              </a:defRPr>
            </a:pPr>
            <a:r>
              <a:rPr sz="1950" b="1">
                <a:solidFill>
                  <a:srgbClr val="005B45"/>
                </a:solidFill>
                <a:latin typeface="Noto Sans KR"/>
                <a:ea typeface="Noto Sans KR"/>
                <a:cs typeface="Noto Sans KR"/>
              </a:rPr>
              <a:t>연구 배경</a:t>
            </a:r>
          </a:p>
        </p:txBody>
      </p:sp>
      <p:sp>
        <p:nvSpPr>
          <p:cNvPr id="5" name="">
            <a:extLst xmlns:a="http://schemas.openxmlformats.org/drawingml/2006/main">
              <a:ext uri="{FF2B5EF4-FFF2-40B4-BE49-F238E27FC236}">
                <a16:creationId xmlns:a16="http://schemas.microsoft.com/office/drawing/2014/main" id="{1EA61979-310D-4EF4-8F67-5A4089B8676B}"/>
              </a:ext>
            </a:extLst>
          </p:cNvPr>
          <p:cNvSpPr>
            <a:spLocks xmlns:a="http://schemas.openxmlformats.org/drawingml/2006/main" noGrp="1"/>
          </p:cNvSpPr>
          <p:nvPr/>
        </p:nvSpPr>
        <p:spPr>
          <a:xfrm xmlns:a="http://schemas.openxmlformats.org/drawingml/2006/main">
            <a:off x="609600" y="2809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22222"/>
                </a:solidFill>
                <a:latin typeface="Noto Sans KR"/>
                <a:ea typeface="Noto Sans KR"/>
                <a:cs typeface="Noto Sans KR"/>
              </a:defRPr>
            </a:defPPr>
          </a:lstStyle>
          <a:p xmlns:a="http://schemas.openxmlformats.org/drawingml/2006/main">
            <a:pPr>
              <a:defRPr sz="2250" b="0">
                <a:solidFill>
                  <a:srgbClr val="222222"/>
                </a:solidFill>
                <a:latin typeface="Noto Sans KR"/>
                <a:ea typeface="Noto Sans KR"/>
                <a:cs typeface="Noto Sans KR"/>
              </a:defRPr>
            </a:pPr>
            <a:r>
              <a:rPr sz="2250" b="0">
                <a:solidFill>
                  <a:srgbClr val="222222"/>
                </a:solidFill>
                <a:latin typeface="Noto Sans KR"/>
                <a:ea typeface="Noto Sans KR"/>
                <a:cs typeface="Noto Sans KR"/>
              </a:rPr>
              <a:t>개인정보 조회·외부 전송, 시스템 접근·설정 변경</a:t>
            </a:r>
          </a:p>
          <a:p xmlns:a="http://schemas.openxmlformats.org/drawingml/2006/main">
            <a:pPr>
              <a:defRPr sz="2250" b="0">
                <a:solidFill>
                  <a:srgbClr val="222222"/>
                </a:solidFill>
                <a:latin typeface="Noto Sans KR"/>
                <a:ea typeface="Noto Sans KR"/>
                <a:cs typeface="Noto Sans KR"/>
              </a:defRPr>
            </a:pPr>
            <a:r>
              <a:rPr sz="2250" b="0">
                <a:solidFill>
                  <a:srgbClr val="222222"/>
                </a:solidFill>
                <a:latin typeface="Noto Sans KR"/>
                <a:ea typeface="Noto Sans KR"/>
                <a:cs typeface="Noto Sans KR"/>
              </a:rPr>
              <a:t>위험한 실행을 사람이 실제로 통제할 수 있는가?</a:t>
            </a:r>
          </a:p>
        </p:txBody>
      </p:sp>
      <p:sp>
        <p:nvSpPr>
          <p:cNvPr id="6" name="">
            <a:extLst xmlns:a="http://schemas.openxmlformats.org/drawingml/2006/main">
              <a:ext uri="{FF2B5EF4-FFF2-40B4-BE49-F238E27FC236}">
                <a16:creationId xmlns:a16="http://schemas.microsoft.com/office/drawing/2014/main" id="{4CAB8D4C-5447-44D3-96C0-6C55B38820E9}"/>
              </a:ext>
            </a:extLst>
          </p:cNvPr>
          <p:cNvSpPr>
            <a:spLocks xmlns:a="http://schemas.openxmlformats.org/drawingml/2006/main" noGrp="1"/>
          </p:cNvSpPr>
          <p:nvPr/>
        </p:nvSpPr>
        <p:spPr>
          <a:xfrm xmlns:a="http://schemas.openxmlformats.org/drawingml/2006/main">
            <a:off x="609600" y="4333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5B45"/>
                </a:solidFill>
                <a:latin typeface="Noto Sans KR"/>
                <a:ea typeface="Noto Sans KR"/>
                <a:cs typeface="Noto Sans KR"/>
              </a:defRPr>
            </a:defPPr>
          </a:lstStyle>
          <a:p xmlns:a="http://schemas.openxmlformats.org/drawingml/2006/main">
            <a:pPr>
              <a:defRPr sz="2025" b="1">
                <a:solidFill>
                  <a:srgbClr val="005B45"/>
                </a:solidFill>
                <a:latin typeface="Noto Sans KR"/>
                <a:ea typeface="Noto Sans KR"/>
                <a:cs typeface="Noto Sans KR"/>
              </a:defRPr>
            </a:pPr>
            <a:r>
              <a:rPr sz="2025" b="1">
                <a:solidFill>
                  <a:srgbClr val="005B45"/>
                </a:solidFill>
                <a:latin typeface="Noto Sans KR"/>
                <a:ea typeface="Noto Sans KR"/>
                <a:cs typeface="Noto Sans KR"/>
              </a:rPr>
              <a:t>중심 연구 질문</a:t>
            </a:r>
          </a:p>
        </p:txBody>
      </p:sp>
      <p:sp>
        <p:nvSpPr>
          <p:cNvPr id="7" name="">
            <a:extLst xmlns:a="http://schemas.openxmlformats.org/drawingml/2006/main">
              <a:ext uri="{FF2B5EF4-FFF2-40B4-BE49-F238E27FC236}">
                <a16:creationId xmlns:a16="http://schemas.microsoft.com/office/drawing/2014/main" id="{3F486EC5-C116-4DE4-B1E2-E1075D50EECD}"/>
              </a:ext>
            </a:extLst>
          </p:cNvPr>
          <p:cNvSpPr>
            <a:spLocks xmlns:a="http://schemas.openxmlformats.org/drawingml/2006/main" noGrp="1"/>
          </p:cNvSpPr>
          <p:nvPr/>
        </p:nvSpPr>
        <p:spPr>
          <a:xfrm xmlns:a="http://schemas.openxmlformats.org/drawingml/2006/main">
            <a:off x="609600" y="49053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22222"/>
                </a:solidFill>
                <a:latin typeface="Noto Sans KR"/>
                <a:ea typeface="Noto Sans KR"/>
                <a:cs typeface="Noto Sans KR"/>
              </a:defRPr>
            </a:defPPr>
          </a:lstStyle>
          <a:p xmlns:a="http://schemas.openxmlformats.org/drawingml/2006/main">
            <a:pPr>
              <a:defRPr sz="2400" b="0">
                <a:solidFill>
                  <a:srgbClr val="222222"/>
                </a:solidFill>
                <a:latin typeface="Noto Sans KR"/>
                <a:ea typeface="Noto Sans KR"/>
                <a:cs typeface="Noto Sans KR"/>
              </a:defRPr>
            </a:pPr>
            <a:r>
              <a:rPr sz="2400" b="0">
                <a:solidFill>
                  <a:srgbClr val="222222"/>
                </a:solidFill>
                <a:latin typeface="Noto Sans KR"/>
                <a:ea typeface="Noto Sans KR"/>
                <a:cs typeface="Noto Sans KR"/>
              </a:rPr>
              <a:t>검토자에게 어떤 정보와 승인·거부·중단 권한을</a:t>
            </a:r>
          </a:p>
          <a:p xmlns:a="http://schemas.openxmlformats.org/drawingml/2006/main">
            <a:pPr>
              <a:defRPr sz="2400" b="0">
                <a:solidFill>
                  <a:srgbClr val="222222"/>
                </a:solidFill>
                <a:latin typeface="Noto Sans KR"/>
                <a:ea typeface="Noto Sans KR"/>
                <a:cs typeface="Noto Sans KR"/>
              </a:defRPr>
            </a:pPr>
            <a:r>
              <a:rPr sz="2400" b="0">
                <a:solidFill>
                  <a:srgbClr val="222222"/>
                </a:solidFill>
                <a:latin typeface="Noto Sans KR"/>
                <a:ea typeface="Noto Sans KR"/>
                <a:cs typeface="Noto Sans KR"/>
              </a:rPr>
              <a:t>법적으로 보장해야 하는가?</a:t>
            </a:r>
          </a:p>
        </p:txBody>
      </p:sp>
    </p:spTree>
    <p:extLst>
      <p:ext uri="{BB962C8B-B14F-4D97-AF65-F5344CB8AC3E}">
        <p14:creationId xmlns:p14="http://schemas.microsoft.com/office/powerpoint/2010/main" val="10068889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9A94DC-C45B-4F3F-8EF0-1B7300C3973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5B45"/>
                </a:solidFill>
                <a:latin typeface="Noto Sans KR"/>
                <a:ea typeface="Noto Sans KR"/>
                <a:cs typeface="Noto Sans KR"/>
              </a:defRPr>
            </a:defPPr>
          </a:lstStyle>
          <a:p xmlns:a="http://schemas.openxmlformats.org/drawingml/2006/main">
            <a:pPr>
              <a:defRPr sz="2700" b="1">
                <a:solidFill>
                  <a:srgbClr val="005B45"/>
                </a:solidFill>
                <a:latin typeface="Noto Sans KR"/>
                <a:ea typeface="Noto Sans KR"/>
                <a:cs typeface="Noto Sans KR"/>
              </a:defRPr>
            </a:pPr>
            <a:r>
              <a:rPr sz="2700" b="1">
                <a:solidFill>
                  <a:srgbClr val="005B45"/>
                </a:solidFill>
                <a:latin typeface="Noto Sans KR"/>
                <a:ea typeface="Noto Sans KR"/>
                <a:cs typeface="Noto Sans KR"/>
              </a:rPr>
              <a:t>검토자에게 보장할 정보와 권한</a:t>
            </a:r>
          </a:p>
        </p:txBody>
      </p:sp>
      <p:sp>
        <p:nvSpPr>
          <p:cNvPr id="2" name="">
            <a:extLst xmlns:a="http://schemas.openxmlformats.org/drawingml/2006/main">
              <a:ext uri="{FF2B5EF4-FFF2-40B4-BE49-F238E27FC236}">
                <a16:creationId xmlns:a16="http://schemas.microsoft.com/office/drawing/2014/main" id="{B7D8B0E1-2D3E-4C29-8083-C6FF0F839FF8}"/>
              </a:ext>
            </a:extLst>
          </p:cNvPr>
          <p:cNvSpPr>
            <a:spLocks xmlns:a="http://schemas.openxmlformats.org/drawingml/2006/main" noGrp="1"/>
          </p:cNvSpPr>
          <p:nvPr/>
        </p:nvSpPr>
        <p:spPr>
          <a:xfrm xmlns:a="http://schemas.openxmlformats.org/drawingml/2006/main">
            <a:off x="1104900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55555"/>
                </a:solidFill>
                <a:latin typeface="Noto Sans KR"/>
                <a:ea typeface="Noto Sans KR"/>
                <a:cs typeface="Noto Sans KR"/>
              </a:defRPr>
            </a:defPPr>
          </a:lstStyle>
          <a:p xmlns:a="http://schemas.openxmlformats.org/drawingml/2006/main">
            <a:pPr>
              <a:defRPr sz="1500" b="0">
                <a:solidFill>
                  <a:srgbClr val="555555"/>
                </a:solidFill>
                <a:latin typeface="Noto Sans KR"/>
                <a:ea typeface="Noto Sans KR"/>
                <a:cs typeface="Noto Sans KR"/>
              </a:defRPr>
            </a:pPr>
            <a:r>
              <a:rPr sz="1500" b="0">
                <a:solidFill>
                  <a:srgbClr val="555555"/>
                </a:solidFill>
                <a:latin typeface="Noto Sans KR"/>
                <a:ea typeface="Noto Sans KR"/>
                <a:cs typeface="Noto Sans KR"/>
              </a:rPr>
              <a:t>02</a:t>
            </a:r>
          </a:p>
        </p:txBody>
      </p:sp>
      <p:graphicFrame>
        <p:nvGraphicFramePr>
          <p:cNvPr id="3" name="">
            <a:extLst xmlns:a="http://schemas.openxmlformats.org/drawingml/2006/main">
              <a:ext uri="{FF2B5EF4-FFF2-40B4-BE49-F238E27FC236}">
                <a16:creationId xmlns:a16="http://schemas.microsoft.com/office/drawing/2014/main" id="{85584D08-802C-4D65-9BF6-4BCB3B0AB279}"/>
              </a:ext>
            </a:extLst>
          </p:cNvPr>
          <p:cNvGraphicFramePr/>
          <p:nvPr/>
        </p:nvGraphicFramePr>
        <p:xfrm>
          <a:off xmlns:a="http://schemas.openxmlformats.org/drawingml/2006/main" x="609600" y="1447800"/>
          <a:ext xmlns:a="http://schemas.openxmlformats.org/drawingml/2006/main" cx="10972800" cy="3333750"/>
        </p:xfrm>
        <a:graphic xmlns:a="http://schemas.openxmlformats.org/drawingml/2006/main">
          <a:graphicData uri="http://schemas.openxmlformats.org/drawingml/2006/table">
            <a:tbl>
              <a:tblPr/>
              <a:tblGrid>
                <a:gridCol w="2714625"/>
                <a:gridCol w="8258175"/>
              </a:tblGrid>
              <a:tr h="666750">
                <a:tc>
                  <a:txBody>
                    <a:bodyPr/>
                    <a:lstStyle/>
                    <a:p>
                      <a:r>
                        <a:rPr sz="1875" b="1">
                          <a:solidFill>
                            <a:srgbClr val="005B45"/>
                          </a:solidFill>
                          <a:latin typeface="Noto Sans KR"/>
                          <a:ea typeface="Noto Sans KR"/>
                          <a:cs typeface="Noto Sans KR"/>
                        </a:rPr>
                        <a:t>검토 항목</a:t>
                      </a:r>
                    </a:p>
                  </a:txBody>
                  <a:tcPr marL="91440" marR="91440" marT="45720" marB="4572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EDF4F0"/>
                    </a:solidFill>
                  </a:tcPr>
                </a:tc>
                <a:tc>
                  <a:txBody>
                    <a:bodyPr/>
                    <a:lstStyle/>
                    <a:p>
                      <a:r>
                        <a:rPr sz="1875" b="1">
                          <a:solidFill>
                            <a:srgbClr val="005B45"/>
                          </a:solidFill>
                          <a:latin typeface="Noto Sans KR"/>
                          <a:ea typeface="Noto Sans KR"/>
                          <a:cs typeface="Noto Sans KR"/>
                        </a:rPr>
                        <a:t>법적 요건으로 검토할 내용</a:t>
                      </a:r>
                    </a:p>
                  </a:txBody>
                  <a:tcPr marL="91440" marR="91440" marT="45720" marB="45720">
                    <a:lnR w="9525">
                      <a:solidFill>
                        <a:srgbClr val="000000"/>
                      </a:solidFill>
                      <a:prstDash val="solid"/>
                    </a:lnR>
                    <a:lnT w="9525">
                      <a:solidFill>
                        <a:srgbClr val="000000"/>
                      </a:solidFill>
                      <a:prstDash val="solid"/>
                    </a:lnT>
                    <a:lnB w="9525">
                      <a:solidFill>
                        <a:srgbClr val="000000"/>
                      </a:solidFill>
                      <a:prstDash val="solid"/>
                    </a:lnB>
                    <a:solidFill>
                      <a:srgbClr val="EDF4F0"/>
                    </a:solidFill>
                  </a:tcPr>
                </a:tc>
              </a:tr>
              <a:tr h="666750">
                <a:tc>
                  <a:txBody>
                    <a:bodyPr/>
                    <a:lstStyle/>
                    <a:p>
                      <a:r>
                        <a:rPr sz="1875" b="0">
                          <a:solidFill>
                            <a:srgbClr val="222222"/>
                          </a:solidFill>
                          <a:latin typeface="Noto Sans KR"/>
                          <a:ea typeface="Noto Sans KR"/>
                          <a:cs typeface="Noto Sans KR"/>
                        </a:rPr>
                        <a:t>판단 정보</a:t>
                      </a:r>
                    </a:p>
                  </a:txBody>
                  <a:tcPr marL="91440" marR="91440" marT="45720" marB="45720">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875" b="0">
                          <a:solidFill>
                            <a:srgbClr val="222222"/>
                          </a:solidFill>
                          <a:latin typeface="Noto Sans KR"/>
                          <a:ea typeface="Noto Sans KR"/>
                          <a:cs typeface="Noto Sans KR"/>
                        </a:rPr>
                        <a:t>행위 목적·대상·범위, 개인정보, 전송 목적지와 위험</a:t>
                      </a:r>
                    </a:p>
                  </a:txBody>
                  <a:tcPr marL="91440" marR="91440" marT="45720" marB="45720">
                    <a:lnR w="9525">
                      <a:solidFill>
                        <a:srgbClr val="000000"/>
                      </a:solidFill>
                      <a:prstDash val="solid"/>
                    </a:lnR>
                    <a:lnB w="9525">
                      <a:solidFill>
                        <a:srgbClr val="000000"/>
                      </a:solidFill>
                      <a:prstDash val="solid"/>
                    </a:lnB>
                    <a:solidFill>
                      <a:srgbClr val="FFFFFF"/>
                    </a:solidFill>
                  </a:tcPr>
                </a:tc>
              </a:tr>
              <a:tr h="666750">
                <a:tc>
                  <a:txBody>
                    <a:bodyPr/>
                    <a:lstStyle/>
                    <a:p>
                      <a:r>
                        <a:rPr sz="1875" b="0">
                          <a:solidFill>
                            <a:srgbClr val="222222"/>
                          </a:solidFill>
                          <a:latin typeface="Noto Sans KR"/>
                          <a:ea typeface="Noto Sans KR"/>
                          <a:cs typeface="Noto Sans KR"/>
                        </a:rPr>
                        <a:t>승인·거부</a:t>
                      </a:r>
                    </a:p>
                  </a:txBody>
                  <a:tcPr marL="91440" marR="91440" marT="45720" marB="45720">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875" b="0">
                          <a:solidFill>
                            <a:srgbClr val="222222"/>
                          </a:solidFill>
                          <a:latin typeface="Noto Sans KR"/>
                          <a:ea typeface="Noto Sans KR"/>
                          <a:cs typeface="Noto Sans KR"/>
                        </a:rPr>
                        <a:t>허용 범위 특정, 거부·무응답 시 실행 보류</a:t>
                      </a:r>
                    </a:p>
                  </a:txBody>
                  <a:tcPr marL="91440" marR="91440" marT="45720" marB="45720">
                    <a:lnR w="9525">
                      <a:solidFill>
                        <a:srgbClr val="000000"/>
                      </a:solidFill>
                      <a:prstDash val="solid"/>
                    </a:lnR>
                    <a:lnB w="9525">
                      <a:solidFill>
                        <a:srgbClr val="000000"/>
                      </a:solidFill>
                      <a:prstDash val="solid"/>
                    </a:lnB>
                    <a:solidFill>
                      <a:srgbClr val="FFFFFF"/>
                    </a:solidFill>
                  </a:tcPr>
                </a:tc>
              </a:tr>
              <a:tr h="666750">
                <a:tc>
                  <a:txBody>
                    <a:bodyPr/>
                    <a:lstStyle/>
                    <a:p>
                      <a:r>
                        <a:rPr sz="1875" b="0">
                          <a:solidFill>
                            <a:srgbClr val="222222"/>
                          </a:solidFill>
                          <a:latin typeface="Noto Sans KR"/>
                          <a:ea typeface="Noto Sans KR"/>
                          <a:cs typeface="Noto Sans KR"/>
                        </a:rPr>
                        <a:t>중단·재개</a:t>
                      </a:r>
                    </a:p>
                  </a:txBody>
                  <a:tcPr marL="91440" marR="91440" marT="45720" marB="45720">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875" b="0">
                          <a:solidFill>
                            <a:srgbClr val="222222"/>
                          </a:solidFill>
                          <a:latin typeface="Noto Sans KR"/>
                          <a:ea typeface="Noto Sans KR"/>
                          <a:cs typeface="Noto Sans KR"/>
                        </a:rPr>
                        <a:t>위험 발견 시 중단, 안전 확인 후 재개 판단</a:t>
                      </a:r>
                    </a:p>
                  </a:txBody>
                  <a:tcPr marL="91440" marR="91440" marT="45720" marB="45720">
                    <a:lnR w="9525">
                      <a:solidFill>
                        <a:srgbClr val="000000"/>
                      </a:solidFill>
                      <a:prstDash val="solid"/>
                    </a:lnR>
                    <a:lnB w="9525">
                      <a:solidFill>
                        <a:srgbClr val="000000"/>
                      </a:solidFill>
                      <a:prstDash val="solid"/>
                    </a:lnB>
                    <a:solidFill>
                      <a:srgbClr val="FFFFFF"/>
                    </a:solidFill>
                  </a:tcPr>
                </a:tc>
              </a:tr>
              <a:tr h="666750">
                <a:tc>
                  <a:txBody>
                    <a:bodyPr/>
                    <a:lstStyle/>
                    <a:p>
                      <a:r>
                        <a:rPr sz="1875" b="0">
                          <a:solidFill>
                            <a:srgbClr val="222222"/>
                          </a:solidFill>
                          <a:latin typeface="Noto Sans KR"/>
                          <a:ea typeface="Noto Sans KR"/>
                          <a:cs typeface="Noto Sans KR"/>
                        </a:rPr>
                        <a:t>검토 여건·기록</a:t>
                      </a:r>
                    </a:p>
                  </a:txBody>
                  <a:tcPr marL="91440" marR="91440" marT="45720" marB="45720">
                    <a:lnL w="9525">
                      <a:solidFill>
                        <a:srgbClr val="000000"/>
                      </a:solidFill>
                      <a:prstDash val="solid"/>
                    </a:lnL>
                    <a:lnR w="9525">
                      <a:solidFill>
                        <a:srgbClr val="000000"/>
                      </a:solidFill>
                      <a:prstDash val="solid"/>
                    </a:lnR>
                    <a:lnB w="9525">
                      <a:solidFill>
                        <a:srgbClr val="000000"/>
                      </a:solidFill>
                      <a:prstDash val="solid"/>
                    </a:lnB>
                    <a:solidFill>
                      <a:srgbClr val="FFFFFF"/>
                    </a:solidFill>
                  </a:tcPr>
                </a:tc>
                <a:tc>
                  <a:txBody>
                    <a:bodyPr/>
                    <a:lstStyle/>
                    <a:p>
                      <a:r>
                        <a:rPr sz="1875" b="0">
                          <a:solidFill>
                            <a:srgbClr val="222222"/>
                          </a:solidFill>
                          <a:latin typeface="Noto Sans KR"/>
                          <a:ea typeface="Noto Sans KR"/>
                          <a:cs typeface="Noto Sans KR"/>
                        </a:rPr>
                        <a:t>전문성·검토 시간, 판단 근거와 실행 이력</a:t>
                      </a:r>
                    </a:p>
                  </a:txBody>
                  <a:tcPr marL="91440" marR="91440" marT="45720" marB="45720">
                    <a:lnR w="9525">
                      <a:solidFill>
                        <a:srgbClr val="000000"/>
                      </a:solidFill>
                      <a:prstDash val="solid"/>
                    </a:lnR>
                    <a:lnB w="9525">
                      <a:solidFill>
                        <a:srgbClr val="00000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CAF31A4-3E13-446B-AE41-E247534F69A0}"/>
              </a:ext>
            </a:extLst>
          </p:cNvPr>
          <p:cNvSpPr>
            <a:spLocks xmlns:a="http://schemas.openxmlformats.org/drawingml/2006/main" noGrp="1"/>
          </p:cNvSpPr>
          <p:nvPr/>
        </p:nvSpPr>
        <p:spPr>
          <a:xfrm xmlns:a="http://schemas.openxmlformats.org/drawingml/2006/main">
            <a:off x="609600" y="52197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55555"/>
                </a:solidFill>
                <a:latin typeface="Noto Sans KR"/>
                <a:ea typeface="Noto Sans KR"/>
                <a:cs typeface="Noto Sans KR"/>
              </a:defRPr>
            </a:defPPr>
          </a:lstStyle>
          <a:p xmlns:a="http://schemas.openxmlformats.org/drawingml/2006/main">
            <a:pPr>
              <a:defRPr sz="1725" b="0">
                <a:solidFill>
                  <a:srgbClr val="555555"/>
                </a:solidFill>
                <a:latin typeface="Noto Sans KR"/>
                <a:ea typeface="Noto Sans KR"/>
                <a:cs typeface="Noto Sans KR"/>
              </a:defRPr>
            </a:pPr>
            <a:r>
              <a:rPr sz="1725" b="0">
                <a:solidFill>
                  <a:srgbClr val="555555"/>
                </a:solidFill>
                <a:latin typeface="Noto Sans KR"/>
                <a:ea typeface="Noto Sans KR"/>
                <a:cs typeface="Noto Sans KR"/>
              </a:rPr>
              <a:t>잠정 제안: 현행법의 일률적 의무와 구분하여 검토</a:t>
            </a:r>
          </a:p>
        </p:txBody>
      </p:sp>
      <p:sp>
        <p:nvSpPr>
          <p:cNvPr id="5" name="">
            <a:extLst xmlns:a="http://schemas.openxmlformats.org/drawingml/2006/main">
              <a:ext uri="{FF2B5EF4-FFF2-40B4-BE49-F238E27FC236}">
                <a16:creationId xmlns:a16="http://schemas.microsoft.com/office/drawing/2014/main" id="{B988169C-DF78-442B-942A-D9790B62CF46}"/>
              </a:ext>
            </a:extLst>
          </p:cNvPr>
          <p:cNvSpPr>
            <a:spLocks xmlns:a="http://schemas.openxmlformats.org/drawingml/2006/main" noGrp="1"/>
          </p:cNvSpPr>
          <p:nvPr/>
        </p:nvSpPr>
        <p:spPr>
          <a:xfrm xmlns:a="http://schemas.openxmlformats.org/drawingml/2006/main">
            <a:off x="609600" y="57435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22222"/>
                </a:solidFill>
                <a:latin typeface="Noto Sans KR"/>
                <a:ea typeface="Noto Sans KR"/>
                <a:cs typeface="Noto Sans KR"/>
              </a:defRPr>
            </a:defPPr>
          </a:lstStyle>
          <a:p xmlns:a="http://schemas.openxmlformats.org/drawingml/2006/main">
            <a:pPr>
              <a:defRPr sz="1875" b="1">
                <a:solidFill>
                  <a:srgbClr val="222222"/>
                </a:solidFill>
                <a:latin typeface="Noto Sans KR"/>
                <a:ea typeface="Noto Sans KR"/>
                <a:cs typeface="Noto Sans KR"/>
              </a:defRPr>
            </a:pPr>
            <a:r>
              <a:rPr sz="1875" b="1">
                <a:solidFill>
                  <a:srgbClr val="222222"/>
                </a:solidFill>
                <a:latin typeface="Noto Sans KR"/>
                <a:ea typeface="Noto Sans KR"/>
                <a:cs typeface="Noto Sans KR"/>
              </a:rPr>
              <a:t>위법 행위는 차단 대상이며, 인간 승인으로 허용할 수 없음</a:t>
            </a:r>
          </a:p>
        </p:txBody>
      </p:sp>
    </p:spTree>
    <p:extLst>
      <p:ext uri="{BB962C8B-B14F-4D97-AF65-F5344CB8AC3E}">
        <p14:creationId xmlns:p14="http://schemas.microsoft.com/office/powerpoint/2010/main" val="13554704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44FD24-2614-428D-8F59-DC839C0E477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005B45"/>
                </a:solidFill>
                <a:latin typeface="Noto Sans KR"/>
                <a:ea typeface="Noto Sans KR"/>
                <a:cs typeface="Noto Sans KR"/>
              </a:defRPr>
            </a:defPPr>
          </a:lstStyle>
          <a:p xmlns:a="http://schemas.openxmlformats.org/drawingml/2006/main">
            <a:pPr>
              <a:defRPr sz="2700" b="1">
                <a:solidFill>
                  <a:srgbClr val="005B45"/>
                </a:solidFill>
                <a:latin typeface="Noto Sans KR"/>
                <a:ea typeface="Noto Sans KR"/>
                <a:cs typeface="Noto Sans KR"/>
              </a:defRPr>
            </a:pPr>
            <a:r>
              <a:rPr sz="2700" b="1">
                <a:solidFill>
                  <a:srgbClr val="005B45"/>
                </a:solidFill>
                <a:latin typeface="Noto Sans KR"/>
                <a:ea typeface="Noto Sans KR"/>
                <a:cs typeface="Noto Sans KR"/>
              </a:rPr>
              <a:t>연구 방법과 기대 성과</a:t>
            </a:r>
          </a:p>
        </p:txBody>
      </p:sp>
      <p:sp>
        <p:nvSpPr>
          <p:cNvPr id="2" name="">
            <a:extLst xmlns:a="http://schemas.openxmlformats.org/drawingml/2006/main">
              <a:ext uri="{FF2B5EF4-FFF2-40B4-BE49-F238E27FC236}">
                <a16:creationId xmlns:a16="http://schemas.microsoft.com/office/drawing/2014/main" id="{7E08EF07-DC38-4038-8C60-092C8802BEF0}"/>
              </a:ext>
            </a:extLst>
          </p:cNvPr>
          <p:cNvSpPr>
            <a:spLocks xmlns:a="http://schemas.openxmlformats.org/drawingml/2006/main" noGrp="1"/>
          </p:cNvSpPr>
          <p:nvPr/>
        </p:nvSpPr>
        <p:spPr>
          <a:xfrm xmlns:a="http://schemas.openxmlformats.org/drawingml/2006/main">
            <a:off x="11049000" y="62198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55555"/>
                </a:solidFill>
                <a:latin typeface="Noto Sans KR"/>
                <a:ea typeface="Noto Sans KR"/>
                <a:cs typeface="Noto Sans KR"/>
              </a:defRPr>
            </a:defPPr>
          </a:lstStyle>
          <a:p xmlns:a="http://schemas.openxmlformats.org/drawingml/2006/main">
            <a:pPr>
              <a:defRPr sz="1500" b="0">
                <a:solidFill>
                  <a:srgbClr val="555555"/>
                </a:solidFill>
                <a:latin typeface="Noto Sans KR"/>
                <a:ea typeface="Noto Sans KR"/>
                <a:cs typeface="Noto Sans KR"/>
              </a:defRPr>
            </a:pPr>
            <a:r>
              <a:rPr sz="1500" b="0">
                <a:solidFill>
                  <a:srgbClr val="555555"/>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6B6901B1-4497-4060-89A0-1AB97AAE9FC0}"/>
              </a:ext>
            </a:extLst>
          </p:cNvPr>
          <p:cNvSpPr>
            <a:spLocks xmlns:a="http://schemas.openxmlformats.org/drawingml/2006/main" noGrp="1"/>
          </p:cNvSpPr>
          <p:nvPr/>
        </p:nvSpPr>
        <p:spPr>
          <a:xfrm xmlns:a="http://schemas.openxmlformats.org/drawingml/2006/main">
            <a:off x="609600" y="1524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5B45"/>
                </a:solidFill>
                <a:latin typeface="Noto Sans KR"/>
                <a:ea typeface="Noto Sans KR"/>
                <a:cs typeface="Noto Sans KR"/>
              </a:defRPr>
            </a:defPPr>
          </a:lstStyle>
          <a:p xmlns:a="http://schemas.openxmlformats.org/drawingml/2006/main">
            <a:pPr>
              <a:defRPr sz="2100" b="1">
                <a:solidFill>
                  <a:srgbClr val="005B45"/>
                </a:solidFill>
                <a:latin typeface="Noto Sans KR"/>
                <a:ea typeface="Noto Sans KR"/>
                <a:cs typeface="Noto Sans KR"/>
              </a:defRPr>
            </a:pPr>
            <a:r>
              <a:rPr sz="2100" b="1">
                <a:solidFill>
                  <a:srgbClr val="005B45"/>
                </a:solidFill>
                <a:latin typeface="Noto Sans KR"/>
                <a:ea typeface="Noto Sans KR"/>
                <a:cs typeface="Noto Sans KR"/>
              </a:rPr>
              <a:t>법제 비교와 입법적 검토</a:t>
            </a:r>
          </a:p>
        </p:txBody>
      </p:sp>
      <p:sp>
        <p:nvSpPr>
          <p:cNvPr id="4" name="">
            <a:extLst xmlns:a="http://schemas.openxmlformats.org/drawingml/2006/main">
              <a:ext uri="{FF2B5EF4-FFF2-40B4-BE49-F238E27FC236}">
                <a16:creationId xmlns:a16="http://schemas.microsoft.com/office/drawing/2014/main" id="{1B86F4EE-CA22-4160-9E59-4EDAE3DB9544}"/>
              </a:ext>
            </a:extLst>
          </p:cNvPr>
          <p:cNvSpPr>
            <a:spLocks xmlns:a="http://schemas.openxmlformats.org/drawingml/2006/main" noGrp="1"/>
          </p:cNvSpPr>
          <p:nvPr/>
        </p:nvSpPr>
        <p:spPr>
          <a:xfrm xmlns:a="http://schemas.openxmlformats.org/drawingml/2006/main">
            <a:off x="609600" y="20574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22222"/>
                </a:solidFill>
                <a:latin typeface="Noto Sans KR"/>
                <a:ea typeface="Noto Sans KR"/>
                <a:cs typeface="Noto Sans KR"/>
              </a:defRPr>
            </a:defPPr>
          </a:lstStyle>
          <a:p xmlns:a="http://schemas.openxmlformats.org/drawingml/2006/main">
            <a:pPr>
              <a:defRPr sz="2025" b="0">
                <a:solidFill>
                  <a:srgbClr val="222222"/>
                </a:solidFill>
                <a:latin typeface="Noto Sans KR"/>
                <a:ea typeface="Noto Sans KR"/>
                <a:cs typeface="Noto Sans KR"/>
              </a:defRPr>
            </a:pPr>
            <a:r>
              <a:rPr sz="2025" b="0">
                <a:solidFill>
                  <a:srgbClr val="222222"/>
                </a:solidFill>
                <a:latin typeface="Noto Sans KR"/>
                <a:ea typeface="Noto Sans KR"/>
                <a:cs typeface="Noto Sans KR"/>
              </a:rPr>
              <a:t>AI 기본법의 관리·감독, EU의 인간 감독, 개인정보 보호법</a:t>
            </a:r>
          </a:p>
          <a:p xmlns:a="http://schemas.openxmlformats.org/drawingml/2006/main">
            <a:pPr>
              <a:defRPr sz="2025" b="0">
                <a:solidFill>
                  <a:srgbClr val="222222"/>
                </a:solidFill>
                <a:latin typeface="Noto Sans KR"/>
                <a:ea typeface="Noto Sans KR"/>
                <a:cs typeface="Noto Sans KR"/>
              </a:defRPr>
            </a:pPr>
            <a:r>
              <a:rPr sz="2025" b="0">
                <a:solidFill>
                  <a:srgbClr val="222222"/>
                </a:solidFill>
                <a:latin typeface="Noto Sans KR"/>
                <a:ea typeface="Noto Sans KR"/>
                <a:cs typeface="Noto Sans KR"/>
              </a:rPr>
              <a:t>관련 법령의 의무 내용과 적용 범위를 비교</a:t>
            </a:r>
          </a:p>
        </p:txBody>
      </p:sp>
      <p:sp>
        <p:nvSpPr>
          <p:cNvPr id="5" name="">
            <a:extLst xmlns:a="http://schemas.openxmlformats.org/drawingml/2006/main">
              <a:ext uri="{FF2B5EF4-FFF2-40B4-BE49-F238E27FC236}">
                <a16:creationId xmlns:a16="http://schemas.microsoft.com/office/drawing/2014/main" id="{B9B534F2-E076-47EC-8BBC-4DA8D4B3129F}"/>
              </a:ext>
            </a:extLst>
          </p:cNvPr>
          <p:cNvSpPr>
            <a:spLocks xmlns:a="http://schemas.openxmlformats.org/drawingml/2006/main" noGrp="1"/>
          </p:cNvSpPr>
          <p:nvPr/>
        </p:nvSpPr>
        <p:spPr>
          <a:xfrm xmlns:a="http://schemas.openxmlformats.org/drawingml/2006/main">
            <a:off x="609600" y="33051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5B45"/>
                </a:solidFill>
                <a:latin typeface="Noto Sans KR"/>
                <a:ea typeface="Noto Sans KR"/>
                <a:cs typeface="Noto Sans KR"/>
              </a:defRPr>
            </a:defPPr>
          </a:lstStyle>
          <a:p xmlns:a="http://schemas.openxmlformats.org/drawingml/2006/main">
            <a:pPr>
              <a:defRPr sz="2100" b="1">
                <a:solidFill>
                  <a:srgbClr val="005B45"/>
                </a:solidFill>
                <a:latin typeface="Noto Sans KR"/>
                <a:ea typeface="Noto Sans KR"/>
                <a:cs typeface="Noto Sans KR"/>
              </a:defRPr>
            </a:pPr>
            <a:r>
              <a:rPr sz="2100" b="1">
                <a:solidFill>
                  <a:srgbClr val="005B45"/>
                </a:solidFill>
                <a:latin typeface="Noto Sans KR"/>
                <a:ea typeface="Noto Sans KR"/>
                <a:cs typeface="Noto Sans KR"/>
              </a:rPr>
              <a:t>가상 상황으로 기준 점검</a:t>
            </a:r>
          </a:p>
        </p:txBody>
      </p:sp>
      <p:sp>
        <p:nvSpPr>
          <p:cNvPr id="6" name="">
            <a:extLst xmlns:a="http://schemas.openxmlformats.org/drawingml/2006/main">
              <a:ext uri="{FF2B5EF4-FFF2-40B4-BE49-F238E27FC236}">
                <a16:creationId xmlns:a16="http://schemas.microsoft.com/office/drawing/2014/main" id="{C64A7796-6434-4F67-947D-E57C0EAC51B7}"/>
              </a:ext>
            </a:extLst>
          </p:cNvPr>
          <p:cNvSpPr>
            <a:spLocks xmlns:a="http://schemas.openxmlformats.org/drawingml/2006/main" noGrp="1"/>
          </p:cNvSpPr>
          <p:nvPr/>
        </p:nvSpPr>
        <p:spPr>
          <a:xfrm xmlns:a="http://schemas.openxmlformats.org/drawingml/2006/main">
            <a:off x="609600" y="38385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22222"/>
                </a:solidFill>
                <a:latin typeface="Noto Sans KR"/>
                <a:ea typeface="Noto Sans KR"/>
                <a:cs typeface="Noto Sans KR"/>
              </a:defRPr>
            </a:defPPr>
          </a:lstStyle>
          <a:p xmlns:a="http://schemas.openxmlformats.org/drawingml/2006/main">
            <a:pPr>
              <a:defRPr sz="2025" b="0">
                <a:solidFill>
                  <a:srgbClr val="222222"/>
                </a:solidFill>
                <a:latin typeface="Noto Sans KR"/>
                <a:ea typeface="Noto Sans KR"/>
                <a:cs typeface="Noto Sans KR"/>
              </a:defRPr>
            </a:pPr>
            <a:r>
              <a:rPr sz="2025" b="0">
                <a:solidFill>
                  <a:srgbClr val="222222"/>
                </a:solidFill>
                <a:latin typeface="Noto Sans KR"/>
                <a:ea typeface="Noto Sans KR"/>
                <a:cs typeface="Noto Sans KR"/>
              </a:rPr>
              <a:t>개인정보 외부 전송, 접근 권한 확대, 실행 중 이상 징후</a:t>
            </a:r>
          </a:p>
        </p:txBody>
      </p:sp>
      <p:sp>
        <p:nvSpPr>
          <p:cNvPr id="7" name="">
            <a:extLst xmlns:a="http://schemas.openxmlformats.org/drawingml/2006/main">
              <a:ext uri="{FF2B5EF4-FFF2-40B4-BE49-F238E27FC236}">
                <a16:creationId xmlns:a16="http://schemas.microsoft.com/office/drawing/2014/main" id="{FBBE67AA-BC82-4676-B4A8-B9F043755285}"/>
              </a:ext>
            </a:extLst>
          </p:cNvPr>
          <p:cNvSpPr>
            <a:spLocks xmlns:a="http://schemas.openxmlformats.org/drawingml/2006/main" noGrp="1"/>
          </p:cNvSpPr>
          <p:nvPr/>
        </p:nvSpPr>
        <p:spPr>
          <a:xfrm xmlns:a="http://schemas.openxmlformats.org/drawingml/2006/main">
            <a:off x="609600" y="48196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5B45"/>
                </a:solidFill>
                <a:latin typeface="Noto Sans KR"/>
                <a:ea typeface="Noto Sans KR"/>
                <a:cs typeface="Noto Sans KR"/>
              </a:defRPr>
            </a:defPPr>
          </a:lstStyle>
          <a:p xmlns:a="http://schemas.openxmlformats.org/drawingml/2006/main">
            <a:pPr>
              <a:defRPr sz="2100" b="1">
                <a:solidFill>
                  <a:srgbClr val="005B45"/>
                </a:solidFill>
                <a:latin typeface="Noto Sans KR"/>
                <a:ea typeface="Noto Sans KR"/>
                <a:cs typeface="Noto Sans KR"/>
              </a:defRPr>
            </a:pPr>
            <a:r>
              <a:rPr sz="2100" b="1">
                <a:solidFill>
                  <a:srgbClr val="005B45"/>
                </a:solidFill>
                <a:latin typeface="Noto Sans KR"/>
                <a:ea typeface="Noto Sans KR"/>
                <a:cs typeface="Noto Sans KR"/>
              </a:rPr>
              <a:t>기대 성과</a:t>
            </a:r>
          </a:p>
        </p:txBody>
      </p:sp>
      <p:sp>
        <p:nvSpPr>
          <p:cNvPr id="8" name="">
            <a:extLst xmlns:a="http://schemas.openxmlformats.org/drawingml/2006/main">
              <a:ext uri="{FF2B5EF4-FFF2-40B4-BE49-F238E27FC236}">
                <a16:creationId xmlns:a16="http://schemas.microsoft.com/office/drawing/2014/main" id="{EB09EF0F-3A10-442D-A7AD-F1D3CF586743}"/>
              </a:ext>
            </a:extLst>
          </p:cNvPr>
          <p:cNvSpPr>
            <a:spLocks xmlns:a="http://schemas.openxmlformats.org/drawingml/2006/main" noGrp="1"/>
          </p:cNvSpPr>
          <p:nvPr/>
        </p:nvSpPr>
        <p:spPr>
          <a:xfrm xmlns:a="http://schemas.openxmlformats.org/drawingml/2006/main">
            <a:off x="609600" y="53530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22222"/>
                </a:solidFill>
                <a:latin typeface="Noto Sans KR"/>
                <a:ea typeface="Noto Sans KR"/>
                <a:cs typeface="Noto Sans KR"/>
              </a:defRPr>
            </a:defPPr>
          </a:lstStyle>
          <a:p xmlns:a="http://schemas.openxmlformats.org/drawingml/2006/main">
            <a:pPr>
              <a:defRPr sz="2025" b="0">
                <a:solidFill>
                  <a:srgbClr val="222222"/>
                </a:solidFill>
                <a:latin typeface="Noto Sans KR"/>
                <a:ea typeface="Noto Sans KR"/>
                <a:cs typeface="Noto Sans KR"/>
              </a:defRPr>
            </a:pPr>
            <a:r>
              <a:rPr sz="2025" b="0">
                <a:solidFill>
                  <a:srgbClr val="222222"/>
                </a:solidFill>
                <a:latin typeface="Noto Sans KR"/>
                <a:ea typeface="Noto Sans KR"/>
                <a:cs typeface="Noto Sans KR"/>
              </a:rPr>
              <a:t>정보·권한의 최소 요건, 주체별 역할, 입법적 보완안</a:t>
            </a:r>
          </a:p>
        </p:txBody>
      </p:sp>
      <p:sp>
        <p:nvSpPr>
          <p:cNvPr id="9" name="">
            <a:extLst xmlns:a="http://schemas.openxmlformats.org/drawingml/2006/main">
              <a:ext uri="{FF2B5EF4-FFF2-40B4-BE49-F238E27FC236}">
                <a16:creationId xmlns:a16="http://schemas.microsoft.com/office/drawing/2014/main" id="{3D38EE0C-EFA7-488A-960A-2C4BD5C4B438}"/>
              </a:ext>
            </a:extLst>
          </p:cNvPr>
          <p:cNvSpPr>
            <a:spLocks xmlns:a="http://schemas.openxmlformats.org/drawingml/2006/main" noGrp="1"/>
          </p:cNvSpPr>
          <p:nvPr/>
        </p:nvSpPr>
        <p:spPr>
          <a:xfrm xmlns:a="http://schemas.openxmlformats.org/drawingml/2006/main">
            <a:off x="609600" y="60674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55555"/>
                </a:solidFill>
                <a:latin typeface="Noto Sans KR"/>
                <a:ea typeface="Noto Sans KR"/>
                <a:cs typeface="Noto Sans KR"/>
              </a:defRPr>
            </a:defPPr>
          </a:lstStyle>
          <a:p xmlns:a="http://schemas.openxmlformats.org/drawingml/2006/main">
            <a:pPr>
              <a:defRPr sz="1575" b="0">
                <a:solidFill>
                  <a:srgbClr val="555555"/>
                </a:solidFill>
                <a:latin typeface="Noto Sans KR"/>
                <a:ea typeface="Noto Sans KR"/>
                <a:cs typeface="Noto Sans KR"/>
              </a:defRPr>
            </a:pPr>
            <a:r>
              <a:rPr sz="1575" b="0">
                <a:solidFill>
                  <a:srgbClr val="555555"/>
                </a:solidFill>
                <a:latin typeface="Noto Sans KR"/>
                <a:ea typeface="Noto Sans KR"/>
                <a:cs typeface="Noto Sans KR"/>
              </a:rPr>
              <a:t>문헌·규범 연구이며 실제 사고 감소 효과의 검증은 후속 과제</a:t>
            </a:r>
          </a:p>
        </p:txBody>
      </p:sp>
    </p:spTree>
    <p:extLst>
      <p:ext uri="{BB962C8B-B14F-4D97-AF65-F5344CB8AC3E}">
        <p14:creationId xmlns:p14="http://schemas.microsoft.com/office/powerpoint/2010/main" val="1058441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2026-10-14T03:52:36.7560000Z</dcterms:created>
  <dcterms:modified xsi:type="dcterms:W3CDTF">2026-10-14T03:52:36.7560000Z</dcterms:modified>
</coreProperties>
</file>