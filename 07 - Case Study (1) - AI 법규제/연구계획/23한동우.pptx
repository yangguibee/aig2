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07강 발표 1, 소논문 연구계획서를 발표하겠습니다. 제 주제는 EU AI Act와 한국 AI 기본법의 규제 방식을 비교하는 것입니다. 한쪽은 113조, 다른 쪽은 43조로 분량부터 다른 두 법이 같은 위험을 어떻게 다르게 다루는지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EU는 13장 113조의 규정이고, 한국은 6장 43조의 기본법입니다. 제재도 EU는 최대 매출 7%, 한국은 최대 3천만 원의 과태료로 크게 다릅니다. 2강의 브뤼셀 효과에 따르면 EU 기준이 세계 기준이 될 수 있지만, AI에서 GDPR만큼 강한지는 아직 확정되지 않았습니다. 그래서 연구 질문은 세 가지입니다. 첫째, 의무 조문이 어떤 규제 유형으로 구성되는가. 둘째, 같은 위험을 다루는 조문의 강도와 이행 방식은 어떻게 다른가. 셋째, 개념은 수렴하는데 집행 방식은 갈라지는가입니다.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방법은 조문 코딩입니다. 투명성, 고위험·고영향 의무, 사전 평가, 제재의 네 쌍을 골라 조문의 동사를 기준으로 명령·통제, 성과 기반, 공동, 자율의 네 유형으로 분류합니다. 제 가설은 투명성 표시처럼 개념은 수렴하지만, 고위험 의무와 평가와 제재 같은 집행 방식은 갈라진다는 것입니다. EU는 별표 목록을 대조하게 하고, 한국은 시행령에 위임해 문서로 증명하게 하는 구조입니다. 분류 결과는 브래드포드의 브뤼셀 효과 다섯 조건에 대입해 해석합니다. 기대효과는 학문적으로 조문 비교 틀을 제시하고, 실무적으로 EU에 진출하는 기업의 대응 체크리스트를 만들 수 있다는 점입니다. 한계는 한국법이 시행 초기라 집행 사례가 아직 없다는 것이고, 12월 17일 소논문으로 완성하겠습니다.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N_TITLE_ONLY">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N_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1920240"/>
            <a:ext cx="6766560" cy="2103120"/>
          </a:xfrm>
          <a:prstGeom prst="rect">
            <a:avLst/>
          </a:prstGeom>
          <a:noFill/>
          <a:ln/>
        </p:spPr>
        <p:txBody>
          <a:bodyPr wrap="square" lIns="0" tIns="0" rIns="0" bIns="0" rtlCol="0" anchor="t"/>
          <a:lstStyle/>
          <a:p>
            <a:pPr indent="0" marL="0">
              <a:buNone/>
            </a:pPr>
            <a:r>
              <a:rPr lang="en-US" sz="4000" b="1" dirty="0">
                <a:solidFill>
                  <a:schemeClr val="bg1"/>
                </a:solidFill>
                <a:latin typeface="Malgun Gothic" pitchFamily="34" charset="0"/>
                <a:ea typeface="Malgun Gothic" pitchFamily="34" charset="-122"/>
                <a:cs typeface="Malgun Gothic" pitchFamily="34" charset="-120"/>
              </a:rPr>
              <a:t>EU AI Act와</a:t>
            </a:r>
            <a:endParaRPr lang="en-US" sz="4000" dirty="0"/>
          </a:p>
          <a:p>
            <a:pPr indent="0" marL="0">
              <a:buNone/>
            </a:pPr>
            <a:r>
              <a:rPr lang="en-US" sz="4000" b="1" dirty="0">
                <a:solidFill>
                  <a:schemeClr val="bg1"/>
                </a:solidFill>
                <a:latin typeface="Malgun Gothic" pitchFamily="34" charset="0"/>
                <a:ea typeface="Malgun Gothic" pitchFamily="34" charset="-122"/>
                <a:cs typeface="Malgun Gothic" pitchFamily="34" charset="-120"/>
              </a:rPr>
              <a:t>한국 AI 기본법의</a:t>
            </a:r>
            <a:endParaRPr lang="en-US" sz="4000" dirty="0"/>
          </a:p>
          <a:p>
            <a:pPr indent="0" marL="0">
              <a:buNone/>
            </a:pPr>
            <a:r>
              <a:rPr lang="en-US" sz="4000" b="1" dirty="0">
                <a:solidFill>
                  <a:schemeClr val="bg1"/>
                </a:solidFill>
                <a:latin typeface="Malgun Gothic" pitchFamily="34" charset="0"/>
                <a:ea typeface="Malgun Gothic" pitchFamily="34" charset="-122"/>
                <a:cs typeface="Malgun Gothic" pitchFamily="34" charset="-120"/>
              </a:rPr>
              <a:t>규제 방식 비교</a:t>
            </a:r>
            <a:endParaRPr lang="en-US" sz="4000" dirty="0"/>
          </a:p>
        </p:txBody>
      </p:sp>
      <p:sp>
        <p:nvSpPr>
          <p:cNvPr id="3" name="cover-sub"/>
          <p:cNvSpPr txBox="1"/>
          <p:nvPr/>
        </p:nvSpPr>
        <p:spPr>
          <a:xfrm>
            <a:off x="731520" y="4251960"/>
            <a:ext cx="6766560" cy="457200"/>
          </a:xfrm>
          <a:prstGeom prst="rect">
            <a:avLst/>
          </a:prstGeom>
          <a:noFill/>
          <a:ln/>
        </p:spPr>
        <p:txBody>
          <a:bodyPr wrap="square" lIns="0" tIns="0" rIns="0" bIns="0" rtlCol="0" anchor="t"/>
          <a:lstStyle/>
          <a:p>
            <a:pPr indent="0" marL="0">
              <a:buNone/>
            </a:pPr>
            <a:r>
              <a:rPr lang="en-US" sz="2000" dirty="0">
                <a:solidFill>
                  <a:schemeClr val="bg2"/>
                </a:solidFill>
                <a:latin typeface="Malgun Gothic" pitchFamily="34" charset="0"/>
                <a:ea typeface="Malgun Gothic" pitchFamily="34" charset="-122"/>
                <a:cs typeface="Malgun Gothic" pitchFamily="34" charset="-120"/>
              </a:rPr>
              <a:t>조문 코딩을 통한 '브뤼셀 효과' 수렴·분기 검증</a:t>
            </a:r>
            <a:endParaRPr lang="en-US" sz="2000" dirty="0"/>
          </a:p>
        </p:txBody>
      </p:sp>
      <p:sp>
        <p:nvSpPr>
          <p:cNvPr id="4" name="cover-name"/>
          <p:cNvSpPr txBox="1"/>
          <p:nvPr/>
        </p:nvSpPr>
        <p:spPr>
          <a:xfrm>
            <a:off x="731520" y="5486400"/>
            <a:ext cx="6766560" cy="36576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한동우  ·  정보보안 전공</a:t>
            </a:r>
            <a:endParaRPr lang="en-US" sz="1800" dirty="0"/>
          </a:p>
        </p:txBody>
      </p:sp>
      <p:sp>
        <p:nvSpPr>
          <p:cNvPr id="5" name="cover-date"/>
          <p:cNvSpPr txBox="1"/>
          <p:nvPr/>
        </p:nvSpPr>
        <p:spPr>
          <a:xfrm>
            <a:off x="731520" y="5943600"/>
            <a:ext cx="6766560" cy="320040"/>
          </a:xfrm>
          <a:prstGeom prst="rect">
            <a:avLst/>
          </a:prstGeom>
          <a:noFill/>
          <a:ln/>
        </p:spPr>
        <p:txBody>
          <a:bodyPr wrap="square" lIns="0" tIns="0" rIns="0" bIns="0" rtlCol="0" anchor="t"/>
          <a:lstStyle/>
          <a:p>
            <a:pPr indent="0" marL="0">
              <a:buNone/>
            </a:pPr>
            <a:r>
              <a:rPr lang="en-US" sz="1400" dirty="0">
                <a:solidFill>
                  <a:schemeClr val="accent5"/>
                </a:solidFill>
                <a:latin typeface="Malgun Gothic" pitchFamily="34" charset="0"/>
                <a:ea typeface="Malgun Gothic" pitchFamily="34" charset="-122"/>
                <a:cs typeface="Malgun Gothic" pitchFamily="34" charset="-120"/>
              </a:rPr>
              <a:t>2026.10.15</a:t>
            </a:r>
            <a:endParaRPr lang="en-US" sz="1400" dirty="0"/>
          </a:p>
        </p:txBody>
      </p:sp>
      <p:sp>
        <p:nvSpPr>
          <p:cNvPr id="6" name="cover-eu"/>
          <p:cNvSpPr/>
          <p:nvPr/>
        </p:nvSpPr>
        <p:spPr>
          <a:xfrm>
            <a:off x="8001000" y="1920240"/>
            <a:ext cx="3456432" cy="1783080"/>
          </a:xfrm>
          <a:prstGeom prst="roundRect">
            <a:avLst>
              <a:gd name="adj" fmla="val 4103"/>
            </a:avLst>
          </a:prstGeom>
          <a:solidFill>
            <a:schemeClr val="accent3"/>
          </a:solidFill>
          <a:ln w="12700">
            <a:solidFill>
              <a:schemeClr val="accent3"/>
            </a:solidFill>
            <a:prstDash val="solid"/>
          </a:ln>
        </p:spPr>
      </p:sp>
      <p:sp>
        <p:nvSpPr>
          <p:cNvPr id="7" name="cover-eu-num"/>
          <p:cNvSpPr txBox="1"/>
          <p:nvPr/>
        </p:nvSpPr>
        <p:spPr>
          <a:xfrm>
            <a:off x="8275320" y="2057400"/>
            <a:ext cx="2926080" cy="914400"/>
          </a:xfrm>
          <a:prstGeom prst="rect">
            <a:avLst/>
          </a:prstGeom>
          <a:noFill/>
          <a:ln/>
        </p:spPr>
        <p:txBody>
          <a:bodyPr wrap="square" lIns="0" tIns="0" rIns="0" bIns="0" rtlCol="0" anchor="ctr"/>
          <a:lstStyle/>
          <a:p>
            <a:pPr indent="0" marL="0">
              <a:buNone/>
            </a:pPr>
            <a:r>
              <a:rPr lang="en-US" sz="4800" b="1" dirty="0">
                <a:solidFill>
                  <a:schemeClr val="bg1"/>
                </a:solidFill>
                <a:latin typeface="Malgun Gothic" pitchFamily="34" charset="0"/>
                <a:ea typeface="Malgun Gothic" pitchFamily="34" charset="-122"/>
                <a:cs typeface="Malgun Gothic" pitchFamily="34" charset="-120"/>
              </a:rPr>
              <a:t>113조</a:t>
            </a:r>
            <a:endParaRPr lang="en-US" sz="4800" dirty="0"/>
          </a:p>
        </p:txBody>
      </p:sp>
      <p:sp>
        <p:nvSpPr>
          <p:cNvPr id="8" name="cover-eu-label"/>
          <p:cNvSpPr txBox="1"/>
          <p:nvPr/>
        </p:nvSpPr>
        <p:spPr>
          <a:xfrm>
            <a:off x="8275320" y="3017520"/>
            <a:ext cx="2926080" cy="457200"/>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EU AI Act · 13장 규정</a:t>
            </a:r>
            <a:endParaRPr lang="en-US" sz="1400" dirty="0"/>
          </a:p>
        </p:txBody>
      </p:sp>
      <p:sp>
        <p:nvSpPr>
          <p:cNvPr id="9" name="cover-kr"/>
          <p:cNvSpPr/>
          <p:nvPr/>
        </p:nvSpPr>
        <p:spPr>
          <a:xfrm>
            <a:off x="8001000" y="3886200"/>
            <a:ext cx="3456432" cy="1783080"/>
          </a:xfrm>
          <a:prstGeom prst="roundRect">
            <a:avLst>
              <a:gd name="adj" fmla="val 4103"/>
            </a:avLst>
          </a:prstGeom>
          <a:solidFill>
            <a:schemeClr val="bg2"/>
          </a:solidFill>
          <a:ln w="12700">
            <a:solidFill>
              <a:schemeClr val="bg2"/>
            </a:solidFill>
            <a:prstDash val="solid"/>
          </a:ln>
        </p:spPr>
      </p:sp>
      <p:sp>
        <p:nvSpPr>
          <p:cNvPr id="10" name="cover-kr-num"/>
          <p:cNvSpPr txBox="1"/>
          <p:nvPr/>
        </p:nvSpPr>
        <p:spPr>
          <a:xfrm>
            <a:off x="8275320" y="4023360"/>
            <a:ext cx="2926080" cy="914400"/>
          </a:xfrm>
          <a:prstGeom prst="rect">
            <a:avLst/>
          </a:prstGeom>
          <a:noFill/>
          <a:ln/>
        </p:spPr>
        <p:txBody>
          <a:bodyPr wrap="square" lIns="0" tIns="0" rIns="0" bIns="0" rtlCol="0" anchor="ctr"/>
          <a:lstStyle/>
          <a:p>
            <a:pPr indent="0" marL="0">
              <a:buNone/>
            </a:pPr>
            <a:r>
              <a:rPr lang="en-US" sz="4800" b="1" dirty="0">
                <a:solidFill>
                  <a:schemeClr val="tx2"/>
                </a:solidFill>
                <a:latin typeface="Malgun Gothic" pitchFamily="34" charset="0"/>
                <a:ea typeface="Malgun Gothic" pitchFamily="34" charset="-122"/>
                <a:cs typeface="Malgun Gothic" pitchFamily="34" charset="-120"/>
              </a:rPr>
              <a:t>43조</a:t>
            </a:r>
            <a:endParaRPr lang="en-US" sz="4800" dirty="0"/>
          </a:p>
        </p:txBody>
      </p:sp>
      <p:sp>
        <p:nvSpPr>
          <p:cNvPr id="11" name="cover-kr-label"/>
          <p:cNvSpPr txBox="1"/>
          <p:nvPr/>
        </p:nvSpPr>
        <p:spPr>
          <a:xfrm>
            <a:off x="8275320" y="4983480"/>
            <a:ext cx="2926080" cy="457200"/>
          </a:xfrm>
          <a:prstGeom prst="rect">
            <a:avLst/>
          </a:prstGeom>
          <a:noFill/>
          <a:ln/>
        </p:spPr>
        <p:txBody>
          <a:bodyPr wrap="square" lIns="0" tIns="0" rIns="0" bIns="0" rtlCol="0" anchor="ctr"/>
          <a:lstStyle/>
          <a:p>
            <a:pPr indent="0" marL="0">
              <a:buNone/>
            </a:pPr>
            <a:r>
              <a:rPr lang="en-US" sz="1400" dirty="0">
                <a:solidFill>
                  <a:schemeClr val="tx2"/>
                </a:solidFill>
                <a:latin typeface="Malgun Gothic" pitchFamily="34" charset="0"/>
                <a:ea typeface="Malgun Gothic" pitchFamily="34" charset="-122"/>
                <a:cs typeface="Malgun Gothic" pitchFamily="34" charset="-120"/>
              </a:rPr>
              <a:t>한국 AI 기본법 · 6장 기본법</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640080"/>
            <a:ext cx="11091672" cy="960120"/>
          </a:xfrm>
          <a:prstGeom prst="rect">
            <a:avLst/>
          </a:prstGeom>
          <a:noFill/>
          <a:ln/>
        </p:spPr>
        <p:txBody>
          <a:bodyPr wrap="square" lIns="0" tIns="0" rIns="0" bIns="0" rtlCol="0" anchor="ctr"/>
          <a:lstStyle/>
          <a:p>
            <a:pPr indent="0" marL="0">
              <a:buNone/>
            </a:pPr>
            <a:r>
              <a:rPr lang="en-US" sz="2600" b="1" dirty="0">
                <a:solidFill>
                  <a:schemeClr val="tx2"/>
                </a:solidFill>
                <a:latin typeface="Malgun Gothic" pitchFamily="34" charset="0"/>
                <a:ea typeface="Malgun Gothic" pitchFamily="34" charset="-122"/>
                <a:cs typeface="Malgun Gothic" pitchFamily="34" charset="-120"/>
              </a:rPr>
              <a:t>EU AI Act와 한국 AI 기본법, 같은 위험을 어떻게 다르게 규율하는가</a:t>
            </a:r>
            <a:endParaRPr lang="en-US" sz="2600" dirty="0"/>
          </a:p>
        </p:txBody>
      </p:sp>
      <p:sp>
        <p:nvSpPr>
          <p:cNvPr id="3" name="bg-board"/>
          <p:cNvSpPr/>
          <p:nvPr/>
        </p:nvSpPr>
        <p:spPr>
          <a:xfrm>
            <a:off x="548640" y="1783080"/>
            <a:ext cx="5257800" cy="3520440"/>
          </a:xfrm>
          <a:prstGeom prst="roundRect">
            <a:avLst>
              <a:gd name="adj" fmla="val 2078"/>
            </a:avLst>
          </a:prstGeom>
          <a:solidFill>
            <a:schemeClr val="bg2"/>
          </a:solidFill>
          <a:ln w="12700">
            <a:solidFill>
              <a:schemeClr val="bg2"/>
            </a:solidFill>
            <a:prstDash val="solid"/>
          </a:ln>
        </p:spPr>
      </p:sp>
      <p:sp>
        <p:nvSpPr>
          <p:cNvPr id="4" name="board-title"/>
          <p:cNvSpPr txBox="1"/>
          <p:nvPr/>
        </p:nvSpPr>
        <p:spPr>
          <a:xfrm>
            <a:off x="777240" y="1920240"/>
            <a:ext cx="4846320" cy="365760"/>
          </a:xfrm>
          <a:prstGeom prst="rect">
            <a:avLst/>
          </a:prstGeom>
          <a:noFill/>
          <a:ln/>
        </p:spPr>
        <p:txBody>
          <a:bodyPr wrap="square" lIns="0" tIns="0" rIns="0" bIns="0" rtlCol="0" anchor="t"/>
          <a:lstStyle/>
          <a:p>
            <a:pPr indent="0" marL="0">
              <a:buNone/>
            </a:pPr>
            <a:r>
              <a:rPr lang="en-US" sz="1600" b="1" dirty="0">
                <a:solidFill>
                  <a:schemeClr val="tx2"/>
                </a:solidFill>
                <a:latin typeface="Malgun Gothic" pitchFamily="34" charset="0"/>
                <a:ea typeface="Malgun Gothic" pitchFamily="34" charset="-122"/>
                <a:cs typeface="Malgun Gothic" pitchFamily="34" charset="-120"/>
              </a:rPr>
              <a:t>연구 배경 · 같은 위험, 다른 설계</a:t>
            </a:r>
            <a:endParaRPr lang="en-US" sz="1600" dirty="0"/>
          </a:p>
        </p:txBody>
      </p:sp>
      <p:sp>
        <p:nvSpPr>
          <p:cNvPr id="5" name="pill-eu"/>
          <p:cNvSpPr/>
          <p:nvPr/>
        </p:nvSpPr>
        <p:spPr>
          <a:xfrm>
            <a:off x="2103120" y="2395728"/>
            <a:ext cx="1737360" cy="365760"/>
          </a:xfrm>
          <a:prstGeom prst="roundRect">
            <a:avLst>
              <a:gd name="adj" fmla="val 20000"/>
            </a:avLst>
          </a:prstGeom>
          <a:solidFill>
            <a:schemeClr val="accent3"/>
          </a:solidFill>
          <a:ln w="12700">
            <a:solidFill>
              <a:schemeClr val="accent3"/>
            </a:solidFill>
            <a:prstDash val="solid"/>
          </a:ln>
        </p:spPr>
      </p:sp>
      <p:sp>
        <p:nvSpPr>
          <p:cNvPr id="6" name="pill-eu-t"/>
          <p:cNvSpPr txBox="1"/>
          <p:nvPr/>
        </p:nvSpPr>
        <p:spPr>
          <a:xfrm>
            <a:off x="2103120" y="2395728"/>
            <a:ext cx="17373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EU AI Act</a:t>
            </a:r>
            <a:endParaRPr lang="en-US" sz="1400" dirty="0"/>
          </a:p>
        </p:txBody>
      </p:sp>
      <p:sp>
        <p:nvSpPr>
          <p:cNvPr id="7" name="pill-kr"/>
          <p:cNvSpPr/>
          <p:nvPr/>
        </p:nvSpPr>
        <p:spPr>
          <a:xfrm>
            <a:off x="3977640" y="2395728"/>
            <a:ext cx="1645920" cy="365760"/>
          </a:xfrm>
          <a:prstGeom prst="roundRect">
            <a:avLst>
              <a:gd name="adj" fmla="val 20000"/>
            </a:avLst>
          </a:prstGeom>
          <a:solidFill>
            <a:schemeClr val="accent6"/>
          </a:solidFill>
          <a:ln w="12700">
            <a:solidFill>
              <a:schemeClr val="accent6"/>
            </a:solidFill>
            <a:prstDash val="solid"/>
          </a:ln>
        </p:spPr>
      </p:sp>
      <p:sp>
        <p:nvSpPr>
          <p:cNvPr id="8" name="pill-kr-t"/>
          <p:cNvSpPr txBox="1"/>
          <p:nvPr/>
        </p:nvSpPr>
        <p:spPr>
          <a:xfrm>
            <a:off x="3977640" y="2395728"/>
            <a:ext cx="16459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한국 AI 기본법</a:t>
            </a:r>
            <a:endParaRPr lang="en-US" sz="1400" dirty="0"/>
          </a:p>
        </p:txBody>
      </p:sp>
      <p:sp>
        <p:nvSpPr>
          <p:cNvPr id="9" name="row0-label"/>
          <p:cNvSpPr txBox="1"/>
          <p:nvPr/>
        </p:nvSpPr>
        <p:spPr>
          <a:xfrm>
            <a:off x="777240" y="2880360"/>
            <a:ext cx="1280160" cy="502920"/>
          </a:xfrm>
          <a:prstGeom prst="rect">
            <a:avLst/>
          </a:prstGeom>
          <a:noFill/>
          <a:ln/>
        </p:spPr>
        <p:txBody>
          <a:bodyPr wrap="square" lIns="0" tIns="0" rIns="0" bIns="0" rtlCol="0" anchor="ctr"/>
          <a:lstStyle/>
          <a:p>
            <a:pPr indent="0" marL="0">
              <a:buNone/>
            </a:pPr>
            <a:r>
              <a:rPr lang="en-US" sz="1300" dirty="0">
                <a:solidFill>
                  <a:schemeClr val="accent4"/>
                </a:solidFill>
                <a:latin typeface="Malgun Gothic" pitchFamily="34" charset="0"/>
                <a:ea typeface="Malgun Gothic" pitchFamily="34" charset="-122"/>
                <a:cs typeface="Malgun Gothic" pitchFamily="34" charset="-120"/>
              </a:rPr>
              <a:t>법 형식</a:t>
            </a:r>
            <a:endParaRPr lang="en-US" sz="1300" dirty="0"/>
          </a:p>
        </p:txBody>
      </p:sp>
      <p:sp>
        <p:nvSpPr>
          <p:cNvPr id="10" name="row0-eu"/>
          <p:cNvSpPr txBox="1"/>
          <p:nvPr/>
        </p:nvSpPr>
        <p:spPr>
          <a:xfrm>
            <a:off x="2103120" y="2880360"/>
            <a:ext cx="178308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규정 · 13장 113조</a:t>
            </a:r>
            <a:endParaRPr lang="en-US" sz="1300" dirty="0"/>
          </a:p>
        </p:txBody>
      </p:sp>
      <p:sp>
        <p:nvSpPr>
          <p:cNvPr id="11" name="row0-kr"/>
          <p:cNvSpPr txBox="1"/>
          <p:nvPr/>
        </p:nvSpPr>
        <p:spPr>
          <a:xfrm>
            <a:off x="3977640" y="2880360"/>
            <a:ext cx="173736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기본법 · 6장 43조</a:t>
            </a:r>
            <a:endParaRPr lang="en-US" sz="1300" dirty="0"/>
          </a:p>
        </p:txBody>
      </p:sp>
      <p:sp>
        <p:nvSpPr>
          <p:cNvPr id="12" name="row1-label"/>
          <p:cNvSpPr txBox="1"/>
          <p:nvPr/>
        </p:nvSpPr>
        <p:spPr>
          <a:xfrm>
            <a:off x="777240" y="3465576"/>
            <a:ext cx="1280160" cy="502920"/>
          </a:xfrm>
          <a:prstGeom prst="rect">
            <a:avLst/>
          </a:prstGeom>
          <a:noFill/>
          <a:ln/>
        </p:spPr>
        <p:txBody>
          <a:bodyPr wrap="square" lIns="0" tIns="0" rIns="0" bIns="0" rtlCol="0" anchor="ctr"/>
          <a:lstStyle/>
          <a:p>
            <a:pPr indent="0" marL="0">
              <a:buNone/>
            </a:pPr>
            <a:r>
              <a:rPr lang="en-US" sz="1300" dirty="0">
                <a:solidFill>
                  <a:schemeClr val="accent4"/>
                </a:solidFill>
                <a:latin typeface="Malgun Gothic" pitchFamily="34" charset="0"/>
                <a:ea typeface="Malgun Gothic" pitchFamily="34" charset="-122"/>
                <a:cs typeface="Malgun Gothic" pitchFamily="34" charset="-120"/>
              </a:rPr>
              <a:t>규제 접근</a:t>
            </a:r>
            <a:endParaRPr lang="en-US" sz="1300" dirty="0"/>
          </a:p>
        </p:txBody>
      </p:sp>
      <p:sp>
        <p:nvSpPr>
          <p:cNvPr id="13" name="row1-eu"/>
          <p:cNvSpPr txBox="1"/>
          <p:nvPr/>
        </p:nvSpPr>
        <p:spPr>
          <a:xfrm>
            <a:off x="2103120" y="3465576"/>
            <a:ext cx="178308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위험 4단계 분류</a:t>
            </a:r>
            <a:endParaRPr lang="en-US" sz="1300" dirty="0"/>
          </a:p>
        </p:txBody>
      </p:sp>
      <p:sp>
        <p:nvSpPr>
          <p:cNvPr id="14" name="row1-kr"/>
          <p:cNvSpPr txBox="1"/>
          <p:nvPr/>
        </p:nvSpPr>
        <p:spPr>
          <a:xfrm>
            <a:off x="3977640" y="3465576"/>
            <a:ext cx="173736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고영향·생성형 이원</a:t>
            </a:r>
            <a:endParaRPr lang="en-US" sz="1300" dirty="0"/>
          </a:p>
        </p:txBody>
      </p:sp>
      <p:sp>
        <p:nvSpPr>
          <p:cNvPr id="15" name="row2-label"/>
          <p:cNvSpPr txBox="1"/>
          <p:nvPr/>
        </p:nvSpPr>
        <p:spPr>
          <a:xfrm>
            <a:off x="777240" y="4050792"/>
            <a:ext cx="1280160" cy="502920"/>
          </a:xfrm>
          <a:prstGeom prst="rect">
            <a:avLst/>
          </a:prstGeom>
          <a:noFill/>
          <a:ln/>
        </p:spPr>
        <p:txBody>
          <a:bodyPr wrap="square" lIns="0" tIns="0" rIns="0" bIns="0" rtlCol="0" anchor="ctr"/>
          <a:lstStyle/>
          <a:p>
            <a:pPr indent="0" marL="0">
              <a:buNone/>
            </a:pPr>
            <a:r>
              <a:rPr lang="en-US" sz="1300" dirty="0">
                <a:solidFill>
                  <a:schemeClr val="accent4"/>
                </a:solidFill>
                <a:latin typeface="Malgun Gothic" pitchFamily="34" charset="0"/>
                <a:ea typeface="Malgun Gothic" pitchFamily="34" charset="-122"/>
                <a:cs typeface="Malgun Gothic" pitchFamily="34" charset="-120"/>
              </a:rPr>
              <a:t>기본 지향</a:t>
            </a:r>
            <a:endParaRPr lang="en-US" sz="1300" dirty="0"/>
          </a:p>
        </p:txBody>
      </p:sp>
      <p:sp>
        <p:nvSpPr>
          <p:cNvPr id="16" name="row2-eu"/>
          <p:cNvSpPr txBox="1"/>
          <p:nvPr/>
        </p:nvSpPr>
        <p:spPr>
          <a:xfrm>
            <a:off x="2103120" y="4050792"/>
            <a:ext cx="178308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강한 규제·기본권</a:t>
            </a:r>
            <a:endParaRPr lang="en-US" sz="1300" dirty="0"/>
          </a:p>
        </p:txBody>
      </p:sp>
      <p:sp>
        <p:nvSpPr>
          <p:cNvPr id="17" name="row2-kr"/>
          <p:cNvSpPr txBox="1"/>
          <p:nvPr/>
        </p:nvSpPr>
        <p:spPr>
          <a:xfrm>
            <a:off x="3977640" y="4050792"/>
            <a:ext cx="173736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진흥 우선·최소 규제</a:t>
            </a:r>
            <a:endParaRPr lang="en-US" sz="1300" dirty="0"/>
          </a:p>
        </p:txBody>
      </p:sp>
      <p:sp>
        <p:nvSpPr>
          <p:cNvPr id="18" name="row3-label"/>
          <p:cNvSpPr txBox="1"/>
          <p:nvPr/>
        </p:nvSpPr>
        <p:spPr>
          <a:xfrm>
            <a:off x="777240" y="4636008"/>
            <a:ext cx="1280160" cy="502920"/>
          </a:xfrm>
          <a:prstGeom prst="rect">
            <a:avLst/>
          </a:prstGeom>
          <a:noFill/>
          <a:ln/>
        </p:spPr>
        <p:txBody>
          <a:bodyPr wrap="square" lIns="0" tIns="0" rIns="0" bIns="0" rtlCol="0" anchor="ctr"/>
          <a:lstStyle/>
          <a:p>
            <a:pPr indent="0" marL="0">
              <a:buNone/>
            </a:pPr>
            <a:r>
              <a:rPr lang="en-US" sz="1300" dirty="0">
                <a:solidFill>
                  <a:schemeClr val="accent4"/>
                </a:solidFill>
                <a:latin typeface="Malgun Gothic" pitchFamily="34" charset="0"/>
                <a:ea typeface="Malgun Gothic" pitchFamily="34" charset="-122"/>
                <a:cs typeface="Malgun Gothic" pitchFamily="34" charset="-120"/>
              </a:rPr>
              <a:t>제재 상한</a:t>
            </a:r>
            <a:endParaRPr lang="en-US" sz="1300" dirty="0"/>
          </a:p>
        </p:txBody>
      </p:sp>
      <p:sp>
        <p:nvSpPr>
          <p:cNvPr id="19" name="row3-eu"/>
          <p:cNvSpPr txBox="1"/>
          <p:nvPr/>
        </p:nvSpPr>
        <p:spPr>
          <a:xfrm>
            <a:off x="2103120" y="4636008"/>
            <a:ext cx="178308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매출 7%</a:t>
            </a:r>
            <a:endParaRPr lang="en-US" sz="1300" dirty="0"/>
          </a:p>
        </p:txBody>
      </p:sp>
      <p:sp>
        <p:nvSpPr>
          <p:cNvPr id="20" name="row3-kr"/>
          <p:cNvSpPr txBox="1"/>
          <p:nvPr/>
        </p:nvSpPr>
        <p:spPr>
          <a:xfrm>
            <a:off x="3977640" y="4636008"/>
            <a:ext cx="173736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과태료 3천만 원</a:t>
            </a:r>
            <a:endParaRPr lang="en-US" sz="1300" dirty="0"/>
          </a:p>
        </p:txBody>
      </p:sp>
      <p:sp>
        <p:nvSpPr>
          <p:cNvPr id="21" name="rq-title"/>
          <p:cNvSpPr txBox="1"/>
          <p:nvPr/>
        </p:nvSpPr>
        <p:spPr>
          <a:xfrm>
            <a:off x="6172200" y="1783080"/>
            <a:ext cx="5468112" cy="365760"/>
          </a:xfrm>
          <a:prstGeom prst="rect">
            <a:avLst/>
          </a:prstGeom>
          <a:noFill/>
          <a:ln/>
        </p:spPr>
        <p:txBody>
          <a:bodyPr wrap="square" lIns="0" tIns="0" rIns="0" bIns="0" rtlCol="0" anchor="t"/>
          <a:lstStyle/>
          <a:p>
            <a:pPr indent="0" marL="0">
              <a:buNone/>
            </a:pPr>
            <a:r>
              <a:rPr lang="en-US" sz="1600" b="1" dirty="0">
                <a:solidFill>
                  <a:schemeClr val="tx2"/>
                </a:solidFill>
                <a:latin typeface="Malgun Gothic" pitchFamily="34" charset="0"/>
                <a:ea typeface="Malgun Gothic" pitchFamily="34" charset="-122"/>
                <a:cs typeface="Malgun Gothic" pitchFamily="34" charset="-120"/>
              </a:rPr>
              <a:t>연구 질문</a:t>
            </a:r>
            <a:endParaRPr lang="en-US" sz="1600" dirty="0"/>
          </a:p>
        </p:txBody>
      </p:sp>
      <p:sp>
        <p:nvSpPr>
          <p:cNvPr id="22" name="rq0-card"/>
          <p:cNvSpPr/>
          <p:nvPr/>
        </p:nvSpPr>
        <p:spPr>
          <a:xfrm>
            <a:off x="6172200" y="2240280"/>
            <a:ext cx="5468112" cy="932688"/>
          </a:xfrm>
          <a:prstGeom prst="roundRect">
            <a:avLst>
              <a:gd name="adj" fmla="val 7843"/>
            </a:avLst>
          </a:prstGeom>
          <a:solidFill>
            <a:schemeClr val="bg1"/>
          </a:solidFill>
          <a:ln w="12700">
            <a:solidFill>
              <a:schemeClr val="bg1"/>
            </a:solidFill>
            <a:prstDash val="solid"/>
          </a:ln>
        </p:spPr>
      </p:sp>
      <p:sp>
        <p:nvSpPr>
          <p:cNvPr id="23" name="rq0-frame"/>
          <p:cNvSpPr/>
          <p:nvPr/>
        </p:nvSpPr>
        <p:spPr>
          <a:xfrm>
            <a:off x="6172200" y="2240280"/>
            <a:ext cx="5468112" cy="932688"/>
          </a:xfrm>
          <a:prstGeom prst="roundRect">
            <a:avLst>
              <a:gd name="adj" fmla="val 7843"/>
            </a:avLst>
          </a:prstGeom>
          <a:solidFill>
            <a:schemeClr val="bg1"/>
          </a:solidFill>
          <a:ln w="12700">
            <a:solidFill>
              <a:schemeClr val="accent5"/>
            </a:solidFill>
            <a:prstDash val="solid"/>
          </a:ln>
        </p:spPr>
      </p:sp>
      <p:sp>
        <p:nvSpPr>
          <p:cNvPr id="24" name="rq0-circle"/>
          <p:cNvSpPr/>
          <p:nvPr/>
        </p:nvSpPr>
        <p:spPr>
          <a:xfrm>
            <a:off x="6355080" y="2478024"/>
            <a:ext cx="457200" cy="457200"/>
          </a:xfrm>
          <a:prstGeom prst="ellipse">
            <a:avLst/>
          </a:prstGeom>
          <a:solidFill>
            <a:schemeClr val="accent2"/>
          </a:solidFill>
          <a:ln w="12700">
            <a:solidFill>
              <a:schemeClr val="accent2"/>
            </a:solidFill>
            <a:prstDash val="solid"/>
          </a:ln>
        </p:spPr>
      </p:sp>
      <p:sp>
        <p:nvSpPr>
          <p:cNvPr id="25" name="rq0-num"/>
          <p:cNvSpPr txBox="1"/>
          <p:nvPr/>
        </p:nvSpPr>
        <p:spPr>
          <a:xfrm>
            <a:off x="6355080" y="24780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1</a:t>
            </a:r>
            <a:endParaRPr lang="en-US" sz="1600" dirty="0"/>
          </a:p>
        </p:txBody>
      </p:sp>
      <p:sp>
        <p:nvSpPr>
          <p:cNvPr id="26" name="rq0-text"/>
          <p:cNvSpPr txBox="1"/>
          <p:nvPr/>
        </p:nvSpPr>
        <p:spPr>
          <a:xfrm>
            <a:off x="6995160" y="2313432"/>
            <a:ext cx="4480560" cy="786384"/>
          </a:xfrm>
          <a:prstGeom prst="rect">
            <a:avLst/>
          </a:prstGeom>
          <a:noFill/>
          <a:ln/>
        </p:spPr>
        <p:txBody>
          <a:bodyPr wrap="square" lIns="0" tIns="0" rIns="0" bIns="0" rtlCol="0" anchor="ctr"/>
          <a:lstStyle/>
          <a:p>
            <a:pPr indent="0" marL="0">
              <a:buNone/>
            </a:pPr>
            <a:r>
              <a:rPr lang="en-US" sz="1400" dirty="0">
                <a:solidFill>
                  <a:schemeClr val="tx1"/>
                </a:solidFill>
                <a:latin typeface="Malgun Gothic" pitchFamily="34" charset="0"/>
                <a:ea typeface="Malgun Gothic" pitchFamily="34" charset="-122"/>
                <a:cs typeface="Malgun Gothic" pitchFamily="34" charset="-120"/>
              </a:rPr>
              <a:t>두 법의 의무 조문은 명령·통제, 성과 기반, 공동, 자율 중 어떤 규제 유형으로 구성되는가?</a:t>
            </a:r>
            <a:endParaRPr lang="en-US" sz="1400" dirty="0"/>
          </a:p>
        </p:txBody>
      </p:sp>
      <p:sp>
        <p:nvSpPr>
          <p:cNvPr id="27" name="rq1-card"/>
          <p:cNvSpPr/>
          <p:nvPr/>
        </p:nvSpPr>
        <p:spPr>
          <a:xfrm>
            <a:off x="6172200" y="3291840"/>
            <a:ext cx="5468112" cy="932688"/>
          </a:xfrm>
          <a:prstGeom prst="roundRect">
            <a:avLst>
              <a:gd name="adj" fmla="val 7843"/>
            </a:avLst>
          </a:prstGeom>
          <a:solidFill>
            <a:schemeClr val="bg1"/>
          </a:solidFill>
          <a:ln w="12700">
            <a:solidFill>
              <a:schemeClr val="bg1"/>
            </a:solidFill>
            <a:prstDash val="solid"/>
          </a:ln>
        </p:spPr>
      </p:sp>
      <p:sp>
        <p:nvSpPr>
          <p:cNvPr id="28" name="rq1-frame"/>
          <p:cNvSpPr/>
          <p:nvPr/>
        </p:nvSpPr>
        <p:spPr>
          <a:xfrm>
            <a:off x="6172200" y="3291840"/>
            <a:ext cx="5468112" cy="932688"/>
          </a:xfrm>
          <a:prstGeom prst="roundRect">
            <a:avLst>
              <a:gd name="adj" fmla="val 7843"/>
            </a:avLst>
          </a:prstGeom>
          <a:solidFill>
            <a:schemeClr val="bg1"/>
          </a:solidFill>
          <a:ln w="12700">
            <a:solidFill>
              <a:schemeClr val="accent5"/>
            </a:solidFill>
            <a:prstDash val="solid"/>
          </a:ln>
        </p:spPr>
      </p:sp>
      <p:sp>
        <p:nvSpPr>
          <p:cNvPr id="29" name="rq1-circle"/>
          <p:cNvSpPr/>
          <p:nvPr/>
        </p:nvSpPr>
        <p:spPr>
          <a:xfrm>
            <a:off x="6355080" y="3529584"/>
            <a:ext cx="457200" cy="457200"/>
          </a:xfrm>
          <a:prstGeom prst="ellipse">
            <a:avLst/>
          </a:prstGeom>
          <a:solidFill>
            <a:schemeClr val="accent2"/>
          </a:solidFill>
          <a:ln w="12700">
            <a:solidFill>
              <a:schemeClr val="accent2"/>
            </a:solidFill>
            <a:prstDash val="solid"/>
          </a:ln>
        </p:spPr>
      </p:sp>
      <p:sp>
        <p:nvSpPr>
          <p:cNvPr id="30" name="rq1-num"/>
          <p:cNvSpPr txBox="1"/>
          <p:nvPr/>
        </p:nvSpPr>
        <p:spPr>
          <a:xfrm>
            <a:off x="6355080" y="35295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2</a:t>
            </a:r>
            <a:endParaRPr lang="en-US" sz="1600" dirty="0"/>
          </a:p>
        </p:txBody>
      </p:sp>
      <p:sp>
        <p:nvSpPr>
          <p:cNvPr id="31" name="rq1-text"/>
          <p:cNvSpPr txBox="1"/>
          <p:nvPr/>
        </p:nvSpPr>
        <p:spPr>
          <a:xfrm>
            <a:off x="6995160" y="3364992"/>
            <a:ext cx="4480560" cy="786384"/>
          </a:xfrm>
          <a:prstGeom prst="rect">
            <a:avLst/>
          </a:prstGeom>
          <a:noFill/>
          <a:ln/>
        </p:spPr>
        <p:txBody>
          <a:bodyPr wrap="square" lIns="0" tIns="0" rIns="0" bIns="0" rtlCol="0" anchor="ctr"/>
          <a:lstStyle/>
          <a:p>
            <a:pPr indent="0" marL="0">
              <a:buNone/>
            </a:pPr>
            <a:r>
              <a:rPr lang="en-US" sz="1400" dirty="0">
                <a:solidFill>
                  <a:schemeClr val="tx1"/>
                </a:solidFill>
                <a:latin typeface="Malgun Gothic" pitchFamily="34" charset="0"/>
                <a:ea typeface="Malgun Gothic" pitchFamily="34" charset="-122"/>
                <a:cs typeface="Malgun Gothic" pitchFamily="34" charset="-120"/>
              </a:rPr>
              <a:t>같은 위험(투명성, 고위험·고영향)을 다루는 조문의 강도와 이행 방식은 어떻게 다른가?</a:t>
            </a:r>
            <a:endParaRPr lang="en-US" sz="1400" dirty="0"/>
          </a:p>
        </p:txBody>
      </p:sp>
      <p:sp>
        <p:nvSpPr>
          <p:cNvPr id="32" name="rq2-card"/>
          <p:cNvSpPr/>
          <p:nvPr/>
        </p:nvSpPr>
        <p:spPr>
          <a:xfrm>
            <a:off x="6172200" y="4343400"/>
            <a:ext cx="5468112" cy="932688"/>
          </a:xfrm>
          <a:prstGeom prst="roundRect">
            <a:avLst>
              <a:gd name="adj" fmla="val 7843"/>
            </a:avLst>
          </a:prstGeom>
          <a:solidFill>
            <a:schemeClr val="bg1"/>
          </a:solidFill>
          <a:ln w="12700">
            <a:solidFill>
              <a:schemeClr val="bg1"/>
            </a:solidFill>
            <a:prstDash val="solid"/>
          </a:ln>
        </p:spPr>
      </p:sp>
      <p:sp>
        <p:nvSpPr>
          <p:cNvPr id="33" name="rq2-frame"/>
          <p:cNvSpPr/>
          <p:nvPr/>
        </p:nvSpPr>
        <p:spPr>
          <a:xfrm>
            <a:off x="6172200" y="4343400"/>
            <a:ext cx="5468112" cy="932688"/>
          </a:xfrm>
          <a:prstGeom prst="roundRect">
            <a:avLst>
              <a:gd name="adj" fmla="val 7843"/>
            </a:avLst>
          </a:prstGeom>
          <a:solidFill>
            <a:schemeClr val="bg1"/>
          </a:solidFill>
          <a:ln w="12700">
            <a:solidFill>
              <a:schemeClr val="accent5"/>
            </a:solidFill>
            <a:prstDash val="solid"/>
          </a:ln>
        </p:spPr>
      </p:sp>
      <p:sp>
        <p:nvSpPr>
          <p:cNvPr id="34" name="rq2-circle"/>
          <p:cNvSpPr/>
          <p:nvPr/>
        </p:nvSpPr>
        <p:spPr>
          <a:xfrm>
            <a:off x="6355080" y="4581144"/>
            <a:ext cx="457200" cy="457200"/>
          </a:xfrm>
          <a:prstGeom prst="ellipse">
            <a:avLst/>
          </a:prstGeom>
          <a:solidFill>
            <a:schemeClr val="accent2"/>
          </a:solidFill>
          <a:ln w="12700">
            <a:solidFill>
              <a:schemeClr val="accent2"/>
            </a:solidFill>
            <a:prstDash val="solid"/>
          </a:ln>
        </p:spPr>
      </p:sp>
      <p:sp>
        <p:nvSpPr>
          <p:cNvPr id="35" name="rq2-num"/>
          <p:cNvSpPr txBox="1"/>
          <p:nvPr/>
        </p:nvSpPr>
        <p:spPr>
          <a:xfrm>
            <a:off x="6355080" y="45811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3</a:t>
            </a:r>
            <a:endParaRPr lang="en-US" sz="1600" dirty="0"/>
          </a:p>
        </p:txBody>
      </p:sp>
      <p:sp>
        <p:nvSpPr>
          <p:cNvPr id="36" name="rq2-text"/>
          <p:cNvSpPr txBox="1"/>
          <p:nvPr/>
        </p:nvSpPr>
        <p:spPr>
          <a:xfrm>
            <a:off x="6995160" y="4416552"/>
            <a:ext cx="4480560" cy="786384"/>
          </a:xfrm>
          <a:prstGeom prst="rect">
            <a:avLst/>
          </a:prstGeom>
          <a:noFill/>
          <a:ln/>
        </p:spPr>
        <p:txBody>
          <a:bodyPr wrap="square" lIns="0" tIns="0" rIns="0" bIns="0" rtlCol="0" anchor="ctr"/>
          <a:lstStyle/>
          <a:p>
            <a:pPr indent="0" marL="0">
              <a:buNone/>
            </a:pPr>
            <a:r>
              <a:rPr lang="en-US" sz="1400" dirty="0">
                <a:solidFill>
                  <a:schemeClr val="tx1"/>
                </a:solidFill>
                <a:latin typeface="Malgun Gothic" pitchFamily="34" charset="0"/>
                <a:ea typeface="Malgun Gothic" pitchFamily="34" charset="-122"/>
                <a:cs typeface="Malgun Gothic" pitchFamily="34" charset="-120"/>
              </a:rPr>
              <a:t>한국법은 EU 개념을 공유하면서 집행 방식은 달리하는가? (개념 수렴 vs 방식 분기)</a:t>
            </a:r>
            <a:endParaRPr lang="en-US" sz="1400" dirty="0"/>
          </a:p>
        </p:txBody>
      </p:sp>
      <p:sp>
        <p:nvSpPr>
          <p:cNvPr id="37" name="gap-bg"/>
          <p:cNvSpPr/>
          <p:nvPr/>
        </p:nvSpPr>
        <p:spPr>
          <a:xfrm>
            <a:off x="548640" y="5486400"/>
            <a:ext cx="11091672" cy="868680"/>
          </a:xfrm>
          <a:prstGeom prst="roundRect">
            <a:avLst>
              <a:gd name="adj" fmla="val 8421"/>
            </a:avLst>
          </a:prstGeom>
          <a:solidFill>
            <a:schemeClr val="accent1"/>
          </a:solidFill>
          <a:ln w="12700">
            <a:solidFill>
              <a:schemeClr val="accent1"/>
            </a:solidFill>
            <a:prstDash val="solid"/>
          </a:ln>
        </p:spPr>
      </p:sp>
      <p:sp>
        <p:nvSpPr>
          <p:cNvPr id="38" name="gap-label"/>
          <p:cNvSpPr txBox="1"/>
          <p:nvPr/>
        </p:nvSpPr>
        <p:spPr>
          <a:xfrm>
            <a:off x="822960" y="5486400"/>
            <a:ext cx="1188720" cy="868680"/>
          </a:xfrm>
          <a:prstGeom prst="rect">
            <a:avLst/>
          </a:prstGeom>
          <a:noFill/>
          <a:ln/>
        </p:spPr>
        <p:txBody>
          <a:bodyPr wrap="square" lIns="0" tIns="0" rIns="0" bIns="0" rtlCol="0" anchor="ctr"/>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연구 공백</a:t>
            </a:r>
            <a:endParaRPr lang="en-US" sz="1600" dirty="0"/>
          </a:p>
        </p:txBody>
      </p:sp>
      <p:sp>
        <p:nvSpPr>
          <p:cNvPr id="39" name="gap-text"/>
          <p:cNvSpPr txBox="1"/>
          <p:nvPr/>
        </p:nvSpPr>
        <p:spPr>
          <a:xfrm>
            <a:off x="2057400" y="5486400"/>
            <a:ext cx="9372600" cy="868680"/>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브뤼셀 효과(2강)가 AI에서 GDPR만큼 강한지는 아직 확정되지 않았다. 한국법의 '개념'은 EU와 계보를 공유하지만 '규제 방식'은 다르다 — 이 간극을 조문 수준에서 검증한다.</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640080"/>
            <a:ext cx="11091672" cy="960120"/>
          </a:xfrm>
          <a:prstGeom prst="rect">
            <a:avLst/>
          </a:prstGeom>
          <a:noFill/>
          <a:ln/>
        </p:spPr>
        <p:txBody>
          <a:bodyPr wrap="square" lIns="0" tIns="0" rIns="0" bIns="0" rtlCol="0" anchor="ctr"/>
          <a:lstStyle/>
          <a:p>
            <a:pPr indent="0" marL="0">
              <a:buNone/>
            </a:pPr>
            <a:r>
              <a:rPr lang="en-US" sz="2600" b="1" dirty="0">
                <a:solidFill>
                  <a:schemeClr val="tx2"/>
                </a:solidFill>
                <a:latin typeface="Malgun Gothic" pitchFamily="34" charset="0"/>
                <a:ea typeface="Malgun Gothic" pitchFamily="34" charset="-122"/>
                <a:cs typeface="Malgun Gothic" pitchFamily="34" charset="-120"/>
              </a:rPr>
              <a:t>연구 설계 · 조문을 코딩해 '수렴'과 '분기'를 가려낸다</a:t>
            </a:r>
            <a:endParaRPr lang="en-US" sz="2600" dirty="0"/>
          </a:p>
        </p:txBody>
      </p:sp>
      <p:graphicFrame>
        <p:nvGraphicFramePr>
          <p:cNvPr id="4" name="compare-table"/>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914400"/>
        </p:xfrm>
        <a:graphic>
          <a:graphicData uri="http://schemas.openxmlformats.org/drawingml/2006/table">
            <a:tbl>
              <a:tblPr/>
              <a:tblGrid>
                <a:gridCol w="1600200"/>
                <a:gridCol w="1691640"/>
                <a:gridCol w="1783080"/>
                <a:gridCol w="1874520"/>
              </a:tblGrid>
              <a:tr h="411480">
                <a:tc>
                  <a:txBody>
                    <a:bodyPr/>
                    <a:lstStyle/>
                    <a:p>
                      <a:pPr algn="ctr" indent="0" marL="0">
                        <a:buNone/>
                      </a:pPr>
                      <a:r>
                        <a:rPr lang="en-US" sz="1300" b="1" dirty="0">
                          <a:solidFill>
                            <a:schemeClr val="bg1"/>
                          </a:solidFill>
                          <a:latin typeface="Malgun Gothic" pitchFamily="34" charset="0"/>
                          <a:ea typeface="Malgun Gothic" pitchFamily="34" charset="-122"/>
                          <a:cs typeface="Malgun Gothic" pitchFamily="34" charset="-120"/>
                        </a:rPr>
                        <a:t>비교 쌍</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latin typeface="Malgun Gothic" pitchFamily="34" charset="0"/>
                          <a:ea typeface="Malgun Gothic" pitchFamily="34" charset="-122"/>
                          <a:cs typeface="Malgun Gothic" pitchFamily="34" charset="-120"/>
                        </a:rPr>
                        <a:t>EU AI Act</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latin typeface="Malgun Gothic" pitchFamily="34" charset="0"/>
                          <a:ea typeface="Malgun Gothic" pitchFamily="34" charset="-122"/>
                          <a:cs typeface="Malgun Gothic" pitchFamily="34" charset="-120"/>
                        </a:rPr>
                        <a:t>한국 AI 기본법</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latin typeface="Malgun Gothic" pitchFamily="34" charset="0"/>
                          <a:ea typeface="Malgun Gothic" pitchFamily="34" charset="-122"/>
                          <a:cs typeface="Malgun Gothic" pitchFamily="34" charset="-120"/>
                        </a:rPr>
                        <a:t>가설</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r>
              <a:tr h="621792">
                <a:tc>
                  <a:txBody>
                    <a:bodyPr/>
                    <a:lstStyle/>
                    <a:p>
                      <a:pPr algn="l" indent="0" marL="0">
                        <a:buNone/>
                      </a:pPr>
                      <a:r>
                        <a:rPr lang="en-US" sz="1200" b="1" dirty="0">
                          <a:solidFill>
                            <a:schemeClr val="tx2"/>
                          </a:solidFill>
                          <a:latin typeface="Malgun Gothic" pitchFamily="34" charset="0"/>
                          <a:ea typeface="Malgun Gothic" pitchFamily="34" charset="-122"/>
                          <a:cs typeface="Malgun Gothic" pitchFamily="34" charset="-120"/>
                        </a:rPr>
                        <a:t>투명성 표시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제50조</a:t>
                      </a:r>
                      <a:endParaRPr lang="en-US" sz="1200" dirty="0">
                        <a:latin typeface="Malgun Gothic" charset="0"/>
                        <a:ea typeface="Malgun Gothic" charset="0"/>
                        <a:cs typeface="Malgun Gothic" charset="0"/>
                      </a:endParaRPr>
                    </a:p>
                    <a:p>
                      <a:pPr algn="ctr" indent="0" marL="0">
                        <a:buNone/>
                      </a:pPr>
                      <a:r>
                        <a:rPr lang="en-US" sz="1200" dirty="0">
                          <a:solidFill>
                            <a:schemeClr val="tx1"/>
                          </a:solidFill>
                          <a:latin typeface="Malgun Gothic" pitchFamily="34" charset="0"/>
                          <a:ea typeface="Malgun Gothic" pitchFamily="34" charset="-122"/>
                          <a:cs typeface="Malgun Gothic" pitchFamily="34" charset="-120"/>
                        </a:rPr>
                        <a:t>표시·고지 의무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제31조</a:t>
                      </a:r>
                      <a:endParaRPr lang="en-US" sz="1200" dirty="0">
                        <a:latin typeface="Malgun Gothic" charset="0"/>
                        <a:ea typeface="Malgun Gothic" charset="0"/>
                        <a:cs typeface="Malgun Gothic" charset="0"/>
                      </a:endParaRPr>
                    </a:p>
                    <a:p>
                      <a:pPr algn="ctr" indent="0" marL="0">
                        <a:buNone/>
                      </a:pPr>
                      <a:r>
                        <a:rPr lang="en-US" sz="1200" dirty="0">
                          <a:solidFill>
                            <a:schemeClr val="tx1"/>
                          </a:solidFill>
                          <a:latin typeface="Malgun Gothic" pitchFamily="34" charset="0"/>
                          <a:ea typeface="Malgun Gothic" pitchFamily="34" charset="-122"/>
                          <a:cs typeface="Malgun Gothic" pitchFamily="34" charset="-120"/>
                        </a:rPr>
                        <a:t>표시·고지 의무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6"/>
                          </a:solidFill>
                          <a:latin typeface="Malgun Gothic" pitchFamily="34" charset="0"/>
                          <a:ea typeface="Malgun Gothic" pitchFamily="34" charset="-122"/>
                          <a:cs typeface="Malgun Gothic" pitchFamily="34" charset="-120"/>
                        </a:rPr>
                        <a:t>수렴</a:t>
                      </a:r>
                      <a:endParaRPr lang="en-US" sz="1200" dirty="0">
                        <a:latin typeface="Malgun Gothic" charset="0"/>
                        <a:ea typeface="Malgun Gothic" charset="0"/>
                        <a:cs typeface="Malgun Gothic" charset="0"/>
                      </a:endParaRPr>
                    </a:p>
                    <a:p>
                      <a:pPr algn="ctr" indent="0" marL="0">
                        <a:buNone/>
                      </a:pPr>
                      <a:r>
                        <a:rPr lang="en-US" sz="1200" b="1" dirty="0">
                          <a:solidFill>
                            <a:schemeClr val="accent6"/>
                          </a:solidFill>
                          <a:latin typeface="Malgun Gothic" pitchFamily="34" charset="0"/>
                          <a:ea typeface="Malgun Gothic" pitchFamily="34" charset="-122"/>
                          <a:cs typeface="Malgun Gothic" pitchFamily="34" charset="-120"/>
                        </a:rPr>
                        <a:t>(명령·통제)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21792">
                <a:tc>
                  <a:txBody>
                    <a:bodyPr/>
                    <a:lstStyle/>
                    <a:p>
                      <a:pPr algn="l" indent="0" marL="0">
                        <a:buNone/>
                      </a:pPr>
                      <a:r>
                        <a:rPr lang="en-US" sz="1200" b="1" dirty="0">
                          <a:solidFill>
                            <a:schemeClr val="tx2"/>
                          </a:solidFill>
                          <a:latin typeface="Malgun Gothic" pitchFamily="34" charset="0"/>
                          <a:ea typeface="Malgun Gothic" pitchFamily="34" charset="-122"/>
                          <a:cs typeface="Malgun Gothic" pitchFamily="34" charset="-120"/>
                        </a:rPr>
                        <a:t>고위험·고영향 의무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제8~15조</a:t>
                      </a:r>
                      <a:endParaRPr lang="en-US" sz="1200" dirty="0">
                        <a:latin typeface="Malgun Gothic" charset="0"/>
                        <a:ea typeface="Malgun Gothic" charset="0"/>
                        <a:cs typeface="Malgun Gothic" charset="0"/>
                      </a:endParaRPr>
                    </a:p>
                    <a:p>
                      <a:pPr algn="ctr" indent="0" marL="0">
                        <a:buNone/>
                      </a:pPr>
                      <a:r>
                        <a:rPr lang="en-US" sz="1200" dirty="0">
                          <a:solidFill>
                            <a:schemeClr val="tx1"/>
                          </a:solidFill>
                          <a:latin typeface="Malgun Gothic" pitchFamily="34" charset="0"/>
                          <a:ea typeface="Malgun Gothic" pitchFamily="34" charset="-122"/>
                          <a:cs typeface="Malgun Gothic" pitchFamily="34" charset="-120"/>
                        </a:rPr>
                        <a:t>별표 목록 중심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제33~34조</a:t>
                      </a:r>
                      <a:endParaRPr lang="en-US" sz="1200" dirty="0">
                        <a:latin typeface="Malgun Gothic" charset="0"/>
                        <a:ea typeface="Malgun Gothic" charset="0"/>
                        <a:cs typeface="Malgun Gothic" charset="0"/>
                      </a:endParaRPr>
                    </a:p>
                    <a:p>
                      <a:pPr algn="ctr" indent="0" marL="0">
                        <a:buNone/>
                      </a:pPr>
                      <a:r>
                        <a:rPr lang="en-US" sz="1200" dirty="0">
                          <a:solidFill>
                            <a:schemeClr val="tx1"/>
                          </a:solidFill>
                          <a:latin typeface="Malgun Gothic" pitchFamily="34" charset="0"/>
                          <a:ea typeface="Malgun Gothic" pitchFamily="34" charset="-122"/>
                          <a:cs typeface="Malgun Gothic" pitchFamily="34" charset="-120"/>
                        </a:rPr>
                        <a:t>시행령 위임 중심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latin typeface="Malgun Gothic" pitchFamily="34" charset="0"/>
                          <a:ea typeface="Malgun Gothic" pitchFamily="34" charset="-122"/>
                          <a:cs typeface="Malgun Gothic" pitchFamily="34" charset="-120"/>
                        </a:rPr>
                        <a:t>분기</a:t>
                      </a:r>
                      <a:endParaRPr lang="en-US" sz="1200" dirty="0">
                        <a:latin typeface="Malgun Gothic" charset="0"/>
                        <a:ea typeface="Malgun Gothic" charset="0"/>
                        <a:cs typeface="Malgun Gothic" charset="0"/>
                      </a:endParaRPr>
                    </a:p>
                    <a:p>
                      <a:pPr algn="ctr" indent="0" marL="0">
                        <a:buNone/>
                      </a:pPr>
                      <a:r>
                        <a:rPr lang="en-US" sz="1200" b="1" dirty="0">
                          <a:solidFill>
                            <a:schemeClr val="accent2"/>
                          </a:solidFill>
                          <a:latin typeface="Malgun Gothic" pitchFamily="34" charset="0"/>
                          <a:ea typeface="Malgun Gothic" pitchFamily="34" charset="-122"/>
                          <a:cs typeface="Malgun Gothic" pitchFamily="34" charset="-120"/>
                        </a:rPr>
                        <a:t>(목록 대조 vs 문서 증명)</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21792">
                <a:tc>
                  <a:txBody>
                    <a:bodyPr/>
                    <a:lstStyle/>
                    <a:p>
                      <a:pPr algn="l" indent="0" marL="0">
                        <a:buNone/>
                      </a:pPr>
                      <a:r>
                        <a:rPr lang="en-US" sz="1200" b="1" dirty="0">
                          <a:solidFill>
                            <a:schemeClr val="tx2"/>
                          </a:solidFill>
                          <a:latin typeface="Malgun Gothic" pitchFamily="34" charset="0"/>
                          <a:ea typeface="Malgun Gothic" pitchFamily="34" charset="-122"/>
                          <a:cs typeface="Malgun Gothic" pitchFamily="34" charset="-120"/>
                        </a:rPr>
                        <a:t>사전 평가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적합성 평가</a:t>
                      </a:r>
                      <a:endParaRPr lang="en-US" sz="1200" dirty="0">
                        <a:latin typeface="Malgun Gothic" charset="0"/>
                        <a:ea typeface="Malgun Gothic" charset="0"/>
                        <a:cs typeface="Malgun Gothic" charset="0"/>
                      </a:endParaRPr>
                    </a:p>
                    <a:p>
                      <a:pPr algn="ctr" indent="0" marL="0">
                        <a:buNone/>
                      </a:pPr>
                      <a:r>
                        <a:rPr lang="en-US" sz="1200" dirty="0">
                          <a:solidFill>
                            <a:schemeClr val="tx1"/>
                          </a:solidFill>
                          <a:latin typeface="Malgun Gothic" pitchFamily="34" charset="0"/>
                          <a:ea typeface="Malgun Gothic" pitchFamily="34" charset="-122"/>
                          <a:cs typeface="Malgun Gothic" pitchFamily="34" charset="-120"/>
                        </a:rPr>
                        <a:t>(의무)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제35조 영향평가</a:t>
                      </a:r>
                      <a:endParaRPr lang="en-US" sz="1200" dirty="0">
                        <a:latin typeface="Malgun Gothic" charset="0"/>
                        <a:ea typeface="Malgun Gothic" charset="0"/>
                        <a:cs typeface="Malgun Gothic" charset="0"/>
                      </a:endParaRPr>
                    </a:p>
                    <a:p>
                      <a:pPr algn="ctr" indent="0" marL="0">
                        <a:buNone/>
                      </a:pPr>
                      <a:r>
                        <a:rPr lang="en-US" sz="1200" dirty="0">
                          <a:solidFill>
                            <a:schemeClr val="tx1"/>
                          </a:solidFill>
                          <a:latin typeface="Malgun Gothic" pitchFamily="34" charset="0"/>
                          <a:ea typeface="Malgun Gothic" pitchFamily="34" charset="-122"/>
                          <a:cs typeface="Malgun Gothic" pitchFamily="34" charset="-120"/>
                        </a:rPr>
                        <a:t>(노력 의무)</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latin typeface="Malgun Gothic" pitchFamily="34" charset="0"/>
                          <a:ea typeface="Malgun Gothic" pitchFamily="34" charset="-122"/>
                          <a:cs typeface="Malgun Gothic" pitchFamily="34" charset="-120"/>
                        </a:rPr>
                        <a:t>분기</a:t>
                      </a:r>
                      <a:endParaRPr lang="en-US" sz="1200" dirty="0">
                        <a:latin typeface="Malgun Gothic" charset="0"/>
                        <a:ea typeface="Malgun Gothic" charset="0"/>
                        <a:cs typeface="Malgun Gothic" charset="0"/>
                      </a:endParaRPr>
                    </a:p>
                    <a:p>
                      <a:pPr algn="ctr" indent="0" marL="0">
                        <a:buNone/>
                      </a:pPr>
                      <a:r>
                        <a:rPr lang="en-US" sz="1200" b="1" dirty="0">
                          <a:solidFill>
                            <a:schemeClr val="accent2"/>
                          </a:solidFill>
                          <a:latin typeface="Malgun Gothic" pitchFamily="34" charset="0"/>
                          <a:ea typeface="Malgun Gothic" pitchFamily="34" charset="-122"/>
                          <a:cs typeface="Malgun Gothic" pitchFamily="34" charset="-120"/>
                        </a:rPr>
                        <a:t>(의무 vs 노력)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21792">
                <a:tc>
                  <a:txBody>
                    <a:bodyPr/>
                    <a:lstStyle/>
                    <a:p>
                      <a:pPr algn="l" indent="0" marL="0">
                        <a:buNone/>
                      </a:pPr>
                      <a:r>
                        <a:rPr lang="en-US" sz="1200" b="1" dirty="0">
                          <a:solidFill>
                            <a:schemeClr val="tx2"/>
                          </a:solidFill>
                          <a:latin typeface="Malgun Gothic" pitchFamily="34" charset="0"/>
                          <a:ea typeface="Malgun Gothic" pitchFamily="34" charset="-122"/>
                          <a:cs typeface="Malgun Gothic" pitchFamily="34" charset="-120"/>
                        </a:rPr>
                        <a:t>제재</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최대 매출 7%</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Malgun Gothic" pitchFamily="34" charset="0"/>
                          <a:ea typeface="Malgun Gothic" pitchFamily="34" charset="-122"/>
                          <a:cs typeface="Malgun Gothic" pitchFamily="34" charset="-120"/>
                        </a:rPr>
                        <a:t>과태료 최대 3천만 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latin typeface="Malgun Gothic" pitchFamily="34" charset="0"/>
                          <a:ea typeface="Malgun Gothic" pitchFamily="34" charset="-122"/>
                          <a:cs typeface="Malgun Gothic" pitchFamily="34" charset="-120"/>
                        </a:rPr>
                        <a:t>분기</a:t>
                      </a:r>
                      <a:endParaRPr lang="en-US" sz="1200" dirty="0">
                        <a:latin typeface="Malgun Gothic" charset="0"/>
                        <a:ea typeface="Malgun Gothic" charset="0"/>
                        <a:cs typeface="Malgun Gothic" charset="0"/>
                      </a:endParaRPr>
                    </a:p>
                    <a:p>
                      <a:pPr algn="ctr" indent="0" marL="0">
                        <a:buNone/>
                      </a:pPr>
                      <a:r>
                        <a:rPr lang="en-US" sz="1200" b="1" dirty="0">
                          <a:solidFill>
                            <a:schemeClr val="accent2"/>
                          </a:solidFill>
                          <a:latin typeface="Malgun Gothic" pitchFamily="34" charset="0"/>
                          <a:ea typeface="Malgun Gothic" pitchFamily="34" charset="-122"/>
                          <a:cs typeface="Malgun Gothic" pitchFamily="34" charset="-120"/>
                        </a:rPr>
                        <a:t>(강 vs 약)</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4" name="method-title"/>
          <p:cNvSpPr txBox="1"/>
          <p:nvPr/>
        </p:nvSpPr>
        <p:spPr>
          <a:xfrm>
            <a:off x="548640" y="4736592"/>
            <a:ext cx="6949440" cy="320040"/>
          </a:xfrm>
          <a:prstGeom prst="rect">
            <a:avLst/>
          </a:prstGeom>
          <a:noFill/>
          <a:ln/>
        </p:spPr>
        <p:txBody>
          <a:bodyPr wrap="square" lIns="0" tIns="0" rIns="0" bIns="0" rtlCol="0" anchor="t"/>
          <a:lstStyle/>
          <a:p>
            <a:pPr indent="0" marL="0">
              <a:buNone/>
            </a:pPr>
            <a:r>
              <a:rPr lang="en-US" sz="1600" b="1" dirty="0">
                <a:solidFill>
                  <a:schemeClr val="tx2"/>
                </a:solidFill>
                <a:latin typeface="Malgun Gothic" pitchFamily="34" charset="0"/>
                <a:ea typeface="Malgun Gothic" pitchFamily="34" charset="-122"/>
                <a:cs typeface="Malgun Gothic" pitchFamily="34" charset="-120"/>
              </a:rPr>
              <a:t>연구 방법 · 법령 문헌 분석 + 조문 코딩</a:t>
            </a:r>
            <a:endParaRPr lang="en-US" sz="1600" dirty="0"/>
          </a:p>
        </p:txBody>
      </p:sp>
      <p:sp>
        <p:nvSpPr>
          <p:cNvPr id="5" name="step0-card"/>
          <p:cNvSpPr/>
          <p:nvPr/>
        </p:nvSpPr>
        <p:spPr>
          <a:xfrm>
            <a:off x="548640" y="5102352"/>
            <a:ext cx="2231136" cy="987552"/>
          </a:xfrm>
          <a:prstGeom prst="roundRect">
            <a:avLst>
              <a:gd name="adj" fmla="val 7407"/>
            </a:avLst>
          </a:prstGeom>
          <a:solidFill>
            <a:schemeClr val="bg2"/>
          </a:solidFill>
          <a:ln w="12700">
            <a:solidFill>
              <a:schemeClr val="bg2"/>
            </a:solidFill>
            <a:prstDash val="solid"/>
          </a:ln>
        </p:spPr>
      </p:sp>
      <p:sp>
        <p:nvSpPr>
          <p:cNvPr id="6" name="step0-circle"/>
          <p:cNvSpPr/>
          <p:nvPr/>
        </p:nvSpPr>
        <p:spPr>
          <a:xfrm>
            <a:off x="658368" y="5175504"/>
            <a:ext cx="329184" cy="329184"/>
          </a:xfrm>
          <a:prstGeom prst="ellipse">
            <a:avLst/>
          </a:prstGeom>
          <a:solidFill>
            <a:schemeClr val="accent1"/>
          </a:solidFill>
          <a:ln w="12700">
            <a:solidFill>
              <a:schemeClr val="accent1"/>
            </a:solidFill>
            <a:prstDash val="solid"/>
          </a:ln>
        </p:spPr>
      </p:sp>
      <p:sp>
        <p:nvSpPr>
          <p:cNvPr id="7" name="step0-num"/>
          <p:cNvSpPr txBox="1"/>
          <p:nvPr/>
        </p:nvSpPr>
        <p:spPr>
          <a:xfrm>
            <a:off x="658368" y="5175504"/>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1</a:t>
            </a:r>
            <a:endParaRPr lang="en-US" sz="1600" dirty="0"/>
          </a:p>
        </p:txBody>
      </p:sp>
      <p:sp>
        <p:nvSpPr>
          <p:cNvPr id="8" name="step0-title"/>
          <p:cNvSpPr txBox="1"/>
          <p:nvPr/>
        </p:nvSpPr>
        <p:spPr>
          <a:xfrm>
            <a:off x="1060704" y="5175504"/>
            <a:ext cx="1645920" cy="329184"/>
          </a:xfrm>
          <a:prstGeom prst="rect">
            <a:avLst/>
          </a:prstGeom>
          <a:noFill/>
          <a:ln/>
        </p:spPr>
        <p:txBody>
          <a:bodyPr wrap="square" lIns="0" tIns="0" rIns="0" bIns="0" rtlCol="0" anchor="ctr"/>
          <a:lstStyle/>
          <a:p>
            <a:pPr indent="0" marL="0">
              <a:buNone/>
            </a:pPr>
            <a:r>
              <a:rPr lang="en-US" sz="1400" b="1" dirty="0">
                <a:solidFill>
                  <a:schemeClr val="tx2"/>
                </a:solidFill>
                <a:latin typeface="Malgun Gothic" pitchFamily="34" charset="0"/>
                <a:ea typeface="Malgun Gothic" pitchFamily="34" charset="-122"/>
                <a:cs typeface="Malgun Gothic" pitchFamily="34" charset="-120"/>
              </a:rPr>
              <a:t>원문 수집</a:t>
            </a:r>
            <a:endParaRPr lang="en-US" sz="1400" dirty="0"/>
          </a:p>
        </p:txBody>
      </p:sp>
      <p:sp>
        <p:nvSpPr>
          <p:cNvPr id="9" name="step0-desc"/>
          <p:cNvSpPr txBox="1"/>
          <p:nvPr/>
        </p:nvSpPr>
        <p:spPr>
          <a:xfrm>
            <a:off x="676656" y="5559552"/>
            <a:ext cx="2011680" cy="502920"/>
          </a:xfrm>
          <a:prstGeom prst="rect">
            <a:avLst/>
          </a:prstGeom>
          <a:noFill/>
          <a:ln/>
        </p:spPr>
        <p:txBody>
          <a:bodyPr wrap="square" lIns="0" tIns="0" rIns="0" bIns="0" rtlCol="0" anchor="t"/>
          <a:lstStyle/>
          <a:p>
            <a:pPr indent="0" marL="0">
              <a:buNone/>
            </a:pPr>
            <a:r>
              <a:rPr lang="en-US" sz="1200" dirty="0">
                <a:solidFill>
                  <a:schemeClr val="tx1"/>
                </a:solidFill>
                <a:latin typeface="Malgun Gothic" pitchFamily="34" charset="0"/>
                <a:ea typeface="Malgun Gothic" pitchFamily="34" charset="-122"/>
                <a:cs typeface="Malgun Gothic" pitchFamily="34" charset="-120"/>
              </a:rPr>
              <a:t>EU 관보·law.go.kr 원문</a:t>
            </a:r>
            <a:endParaRPr lang="en-US" sz="1200" dirty="0"/>
          </a:p>
          <a:p>
            <a:pPr indent="0" marL="0">
              <a:buNone/>
            </a:pPr>
            <a:r>
              <a:rPr lang="en-US" sz="1200" dirty="0">
                <a:solidFill>
                  <a:schemeClr val="tx1"/>
                </a:solidFill>
                <a:latin typeface="Malgun Gothic" pitchFamily="34" charset="0"/>
                <a:ea typeface="Malgun Gothic" pitchFamily="34" charset="-122"/>
                <a:cs typeface="Malgun Gothic" pitchFamily="34" charset="-120"/>
              </a:rPr>
              <a:t>시행령·고시 포함</a:t>
            </a:r>
            <a:endParaRPr lang="en-US" sz="1200" dirty="0"/>
          </a:p>
        </p:txBody>
      </p:sp>
      <p:sp>
        <p:nvSpPr>
          <p:cNvPr id="10" name="step1-card"/>
          <p:cNvSpPr/>
          <p:nvPr/>
        </p:nvSpPr>
        <p:spPr>
          <a:xfrm>
            <a:off x="2907792" y="5102352"/>
            <a:ext cx="2231136" cy="987552"/>
          </a:xfrm>
          <a:prstGeom prst="roundRect">
            <a:avLst>
              <a:gd name="adj" fmla="val 7407"/>
            </a:avLst>
          </a:prstGeom>
          <a:solidFill>
            <a:schemeClr val="bg2"/>
          </a:solidFill>
          <a:ln w="12700">
            <a:solidFill>
              <a:schemeClr val="bg2"/>
            </a:solidFill>
            <a:prstDash val="solid"/>
          </a:ln>
        </p:spPr>
      </p:sp>
      <p:sp>
        <p:nvSpPr>
          <p:cNvPr id="11" name="step1-circle"/>
          <p:cNvSpPr/>
          <p:nvPr/>
        </p:nvSpPr>
        <p:spPr>
          <a:xfrm>
            <a:off x="3017520" y="5175504"/>
            <a:ext cx="329184" cy="329184"/>
          </a:xfrm>
          <a:prstGeom prst="ellipse">
            <a:avLst/>
          </a:prstGeom>
          <a:solidFill>
            <a:schemeClr val="accent1"/>
          </a:solidFill>
          <a:ln w="12700">
            <a:solidFill>
              <a:schemeClr val="accent1"/>
            </a:solidFill>
            <a:prstDash val="solid"/>
          </a:ln>
        </p:spPr>
      </p:sp>
      <p:sp>
        <p:nvSpPr>
          <p:cNvPr id="12" name="step1-num"/>
          <p:cNvSpPr txBox="1"/>
          <p:nvPr/>
        </p:nvSpPr>
        <p:spPr>
          <a:xfrm>
            <a:off x="3017520" y="5175504"/>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2</a:t>
            </a:r>
            <a:endParaRPr lang="en-US" sz="1600" dirty="0"/>
          </a:p>
        </p:txBody>
      </p:sp>
      <p:sp>
        <p:nvSpPr>
          <p:cNvPr id="13" name="step1-title"/>
          <p:cNvSpPr txBox="1"/>
          <p:nvPr/>
        </p:nvSpPr>
        <p:spPr>
          <a:xfrm>
            <a:off x="3419856" y="5175504"/>
            <a:ext cx="1645920" cy="329184"/>
          </a:xfrm>
          <a:prstGeom prst="rect">
            <a:avLst/>
          </a:prstGeom>
          <a:noFill/>
          <a:ln/>
        </p:spPr>
        <p:txBody>
          <a:bodyPr wrap="square" lIns="0" tIns="0" rIns="0" bIns="0" rtlCol="0" anchor="ctr"/>
          <a:lstStyle/>
          <a:p>
            <a:pPr indent="0" marL="0">
              <a:buNone/>
            </a:pPr>
            <a:r>
              <a:rPr lang="en-US" sz="1400" b="1" dirty="0">
                <a:solidFill>
                  <a:schemeClr val="tx2"/>
                </a:solidFill>
                <a:latin typeface="Malgun Gothic" pitchFamily="34" charset="0"/>
                <a:ea typeface="Malgun Gothic" pitchFamily="34" charset="-122"/>
                <a:cs typeface="Malgun Gothic" pitchFamily="34" charset="-120"/>
              </a:rPr>
              <a:t>조문 코딩</a:t>
            </a:r>
            <a:endParaRPr lang="en-US" sz="1400" dirty="0"/>
          </a:p>
        </p:txBody>
      </p:sp>
      <p:sp>
        <p:nvSpPr>
          <p:cNvPr id="14" name="step1-desc"/>
          <p:cNvSpPr txBox="1"/>
          <p:nvPr/>
        </p:nvSpPr>
        <p:spPr>
          <a:xfrm>
            <a:off x="3035808" y="5559552"/>
            <a:ext cx="2011680" cy="502920"/>
          </a:xfrm>
          <a:prstGeom prst="rect">
            <a:avLst/>
          </a:prstGeom>
          <a:noFill/>
          <a:ln/>
        </p:spPr>
        <p:txBody>
          <a:bodyPr wrap="square" lIns="0" tIns="0" rIns="0" bIns="0" rtlCol="0" anchor="t"/>
          <a:lstStyle/>
          <a:p>
            <a:pPr indent="0" marL="0">
              <a:buNone/>
            </a:pPr>
            <a:r>
              <a:rPr lang="en-US" sz="1200" dirty="0">
                <a:solidFill>
                  <a:schemeClr val="tx1"/>
                </a:solidFill>
                <a:latin typeface="Malgun Gothic" pitchFamily="34" charset="0"/>
                <a:ea typeface="Malgun Gothic" pitchFamily="34" charset="-122"/>
                <a:cs typeface="Malgun Gothic" pitchFamily="34" charset="-120"/>
              </a:rPr>
              <a:t>동사로 4유형 판별</a:t>
            </a:r>
            <a:endParaRPr lang="en-US" sz="1200" dirty="0"/>
          </a:p>
          <a:p>
            <a:pPr indent="0" marL="0">
              <a:buNone/>
            </a:pPr>
            <a:r>
              <a:rPr lang="en-US" sz="1200" dirty="0">
                <a:solidFill>
                  <a:schemeClr val="tx1"/>
                </a:solidFill>
                <a:latin typeface="Malgun Gothic" pitchFamily="34" charset="0"/>
                <a:ea typeface="Malgun Gothic" pitchFamily="34" charset="-122"/>
                <a:cs typeface="Malgun Gothic" pitchFamily="34" charset="-120"/>
              </a:rPr>
              <a:t>위임·제재 수준 기록</a:t>
            </a:r>
            <a:endParaRPr lang="en-US" sz="1200" dirty="0"/>
          </a:p>
        </p:txBody>
      </p:sp>
      <p:sp>
        <p:nvSpPr>
          <p:cNvPr id="15" name="step2-card"/>
          <p:cNvSpPr/>
          <p:nvPr/>
        </p:nvSpPr>
        <p:spPr>
          <a:xfrm>
            <a:off x="5266944" y="5102352"/>
            <a:ext cx="2231136" cy="987552"/>
          </a:xfrm>
          <a:prstGeom prst="roundRect">
            <a:avLst>
              <a:gd name="adj" fmla="val 7407"/>
            </a:avLst>
          </a:prstGeom>
          <a:solidFill>
            <a:schemeClr val="bg2"/>
          </a:solidFill>
          <a:ln w="12700">
            <a:solidFill>
              <a:schemeClr val="bg2"/>
            </a:solidFill>
            <a:prstDash val="solid"/>
          </a:ln>
        </p:spPr>
      </p:sp>
      <p:sp>
        <p:nvSpPr>
          <p:cNvPr id="16" name="step2-circle"/>
          <p:cNvSpPr/>
          <p:nvPr/>
        </p:nvSpPr>
        <p:spPr>
          <a:xfrm>
            <a:off x="5376672" y="5175504"/>
            <a:ext cx="329184" cy="329184"/>
          </a:xfrm>
          <a:prstGeom prst="ellipse">
            <a:avLst/>
          </a:prstGeom>
          <a:solidFill>
            <a:schemeClr val="accent1"/>
          </a:solidFill>
          <a:ln w="12700">
            <a:solidFill>
              <a:schemeClr val="accent1"/>
            </a:solidFill>
            <a:prstDash val="solid"/>
          </a:ln>
        </p:spPr>
      </p:sp>
      <p:sp>
        <p:nvSpPr>
          <p:cNvPr id="17" name="step2-num"/>
          <p:cNvSpPr txBox="1"/>
          <p:nvPr/>
        </p:nvSpPr>
        <p:spPr>
          <a:xfrm>
            <a:off x="5376672" y="5175504"/>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latin typeface="Malgun Gothic" pitchFamily="34" charset="0"/>
                <a:ea typeface="Malgun Gothic" pitchFamily="34" charset="-122"/>
                <a:cs typeface="Malgun Gothic" pitchFamily="34" charset="-120"/>
              </a:rPr>
              <a:t>3</a:t>
            </a:r>
            <a:endParaRPr lang="en-US" sz="1600" dirty="0"/>
          </a:p>
        </p:txBody>
      </p:sp>
      <p:sp>
        <p:nvSpPr>
          <p:cNvPr id="18" name="step2-title"/>
          <p:cNvSpPr txBox="1"/>
          <p:nvPr/>
        </p:nvSpPr>
        <p:spPr>
          <a:xfrm>
            <a:off x="5779008" y="5175504"/>
            <a:ext cx="1645920" cy="329184"/>
          </a:xfrm>
          <a:prstGeom prst="rect">
            <a:avLst/>
          </a:prstGeom>
          <a:noFill/>
          <a:ln/>
        </p:spPr>
        <p:txBody>
          <a:bodyPr wrap="square" lIns="0" tIns="0" rIns="0" bIns="0" rtlCol="0" anchor="ctr"/>
          <a:lstStyle/>
          <a:p>
            <a:pPr indent="0" marL="0">
              <a:buNone/>
            </a:pPr>
            <a:r>
              <a:rPr lang="en-US" sz="1400" b="1" dirty="0">
                <a:solidFill>
                  <a:schemeClr val="tx2"/>
                </a:solidFill>
                <a:latin typeface="Malgun Gothic" pitchFamily="34" charset="0"/>
                <a:ea typeface="Malgun Gothic" pitchFamily="34" charset="-122"/>
                <a:cs typeface="Malgun Gothic" pitchFamily="34" charset="-120"/>
              </a:rPr>
              <a:t>의미 해석</a:t>
            </a:r>
            <a:endParaRPr lang="en-US" sz="1400" dirty="0"/>
          </a:p>
        </p:txBody>
      </p:sp>
      <p:sp>
        <p:nvSpPr>
          <p:cNvPr id="19" name="step2-desc"/>
          <p:cNvSpPr txBox="1"/>
          <p:nvPr/>
        </p:nvSpPr>
        <p:spPr>
          <a:xfrm>
            <a:off x="5394960" y="5559552"/>
            <a:ext cx="2011680" cy="502920"/>
          </a:xfrm>
          <a:prstGeom prst="rect">
            <a:avLst/>
          </a:prstGeom>
          <a:noFill/>
          <a:ln/>
        </p:spPr>
        <p:txBody>
          <a:bodyPr wrap="square" lIns="0" tIns="0" rIns="0" bIns="0" rtlCol="0" anchor="t"/>
          <a:lstStyle/>
          <a:p>
            <a:pPr indent="0" marL="0">
              <a:buNone/>
            </a:pPr>
            <a:r>
              <a:rPr lang="en-US" sz="1200" dirty="0">
                <a:solidFill>
                  <a:schemeClr val="tx1"/>
                </a:solidFill>
                <a:latin typeface="Malgun Gothic" pitchFamily="34" charset="0"/>
                <a:ea typeface="Malgun Gothic" pitchFamily="34" charset="-122"/>
                <a:cs typeface="Malgun Gothic" pitchFamily="34" charset="-120"/>
              </a:rPr>
              <a:t>브뤼셀 효과 5조건</a:t>
            </a:r>
            <a:endParaRPr lang="en-US" sz="1200" dirty="0"/>
          </a:p>
          <a:p>
            <a:pPr indent="0" marL="0">
              <a:buNone/>
            </a:pPr>
            <a:r>
              <a:rPr lang="en-US" sz="1200" dirty="0">
                <a:solidFill>
                  <a:schemeClr val="tx1"/>
                </a:solidFill>
                <a:latin typeface="Malgun Gothic" pitchFamily="34" charset="0"/>
                <a:ea typeface="Malgun Gothic" pitchFamily="34" charset="-122"/>
                <a:cs typeface="Malgun Gothic" pitchFamily="34" charset="-120"/>
              </a:rPr>
              <a:t>(Bradford)에 대입</a:t>
            </a:r>
            <a:endParaRPr lang="en-US" sz="1200" dirty="0"/>
          </a:p>
        </p:txBody>
      </p:sp>
      <p:sp>
        <p:nvSpPr>
          <p:cNvPr id="20" name="effect-bg"/>
          <p:cNvSpPr/>
          <p:nvPr/>
        </p:nvSpPr>
        <p:spPr>
          <a:xfrm>
            <a:off x="7818120" y="1737360"/>
            <a:ext cx="3822192" cy="2148840"/>
          </a:xfrm>
          <a:prstGeom prst="roundRect">
            <a:avLst>
              <a:gd name="adj" fmla="val 3404"/>
            </a:avLst>
          </a:prstGeom>
          <a:solidFill>
            <a:schemeClr val="accent1"/>
          </a:solidFill>
          <a:ln w="12700">
            <a:solidFill>
              <a:schemeClr val="accent1"/>
            </a:solidFill>
            <a:prstDash val="solid"/>
          </a:ln>
        </p:spPr>
      </p:sp>
      <p:sp>
        <p:nvSpPr>
          <p:cNvPr id="21" name="effect-title"/>
          <p:cNvSpPr txBox="1"/>
          <p:nvPr/>
        </p:nvSpPr>
        <p:spPr>
          <a:xfrm>
            <a:off x="8046720" y="1847088"/>
            <a:ext cx="3383280" cy="320040"/>
          </a:xfrm>
          <a:prstGeom prst="rect">
            <a:avLst/>
          </a:prstGeom>
          <a:noFill/>
          <a:ln/>
        </p:spPr>
        <p:txBody>
          <a:bodyPr wrap="square" lIns="0" tIns="0" rIns="0" bIns="0" rtlCol="0" anchor="t"/>
          <a:lstStyle/>
          <a:p>
            <a:pPr indent="0" marL="0">
              <a:buNone/>
            </a:pPr>
            <a:r>
              <a:rPr lang="en-US" sz="1600" b="1" dirty="0">
                <a:solidFill>
                  <a:schemeClr val="bg1"/>
                </a:solidFill>
                <a:latin typeface="Malgun Gothic" pitchFamily="34" charset="0"/>
                <a:ea typeface="Malgun Gothic" pitchFamily="34" charset="-122"/>
                <a:cs typeface="Malgun Gothic" pitchFamily="34" charset="-120"/>
              </a:rPr>
              <a:t>기대효과</a:t>
            </a:r>
            <a:endParaRPr lang="en-US" sz="1600" dirty="0"/>
          </a:p>
        </p:txBody>
      </p:sp>
      <p:sp>
        <p:nvSpPr>
          <p:cNvPr id="22" name="effect-body"/>
          <p:cNvSpPr txBox="1"/>
          <p:nvPr/>
        </p:nvSpPr>
        <p:spPr>
          <a:xfrm>
            <a:off x="8046720" y="2240280"/>
            <a:ext cx="3383280" cy="1600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학문: 조문 단위 규제 유형 코딩 틀 제시</a:t>
            </a:r>
            <a:endParaRPr lang="en-US" sz="1400" dirty="0"/>
          </a:p>
          <a:p>
            <a:pPr marL="342900" indent="-342900">
              <a:spcAft>
                <a:spcPts val="8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실무: EU 진출 기업의 '목록 대조 + 문서 증명' 이중 대응 체크리스트</a:t>
            </a:r>
            <a:endParaRPr lang="en-US" sz="1400" dirty="0"/>
          </a:p>
          <a:p>
            <a:pPr marL="342900" indent="-342900">
              <a:spcAft>
                <a:spcPts val="8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정책: 시행령·가이드라인 보완 시사점</a:t>
            </a:r>
            <a:endParaRPr lang="en-US" sz="1400" dirty="0"/>
          </a:p>
        </p:txBody>
      </p:sp>
      <p:sp>
        <p:nvSpPr>
          <p:cNvPr id="23" name="prior-bg"/>
          <p:cNvSpPr/>
          <p:nvPr/>
        </p:nvSpPr>
        <p:spPr>
          <a:xfrm>
            <a:off x="7818120" y="4023360"/>
            <a:ext cx="3822192" cy="2066544"/>
          </a:xfrm>
          <a:prstGeom prst="roundRect">
            <a:avLst>
              <a:gd name="adj" fmla="val 3540"/>
            </a:avLst>
          </a:prstGeom>
          <a:solidFill>
            <a:schemeClr val="bg2"/>
          </a:solidFill>
          <a:ln w="12700">
            <a:solidFill>
              <a:schemeClr val="bg2"/>
            </a:solidFill>
            <a:prstDash val="solid"/>
          </a:ln>
        </p:spPr>
      </p:sp>
      <p:sp>
        <p:nvSpPr>
          <p:cNvPr id="24" name="prior-title"/>
          <p:cNvSpPr txBox="1"/>
          <p:nvPr/>
        </p:nvSpPr>
        <p:spPr>
          <a:xfrm>
            <a:off x="8046720" y="4114800"/>
            <a:ext cx="3383280" cy="320040"/>
          </a:xfrm>
          <a:prstGeom prst="rect">
            <a:avLst/>
          </a:prstGeom>
          <a:noFill/>
          <a:ln/>
        </p:spPr>
        <p:txBody>
          <a:bodyPr wrap="square" lIns="0" tIns="0" rIns="0" bIns="0" rtlCol="0" anchor="t"/>
          <a:lstStyle/>
          <a:p>
            <a:pPr indent="0" marL="0">
              <a:buNone/>
            </a:pPr>
            <a:r>
              <a:rPr lang="en-US" sz="1600" b="1" dirty="0">
                <a:solidFill>
                  <a:schemeClr val="tx2"/>
                </a:solidFill>
                <a:latin typeface="Malgun Gothic" pitchFamily="34" charset="0"/>
                <a:ea typeface="Malgun Gothic" pitchFamily="34" charset="-122"/>
                <a:cs typeface="Malgun Gothic" pitchFamily="34" charset="-120"/>
              </a:rPr>
              <a:t>주요 선행연구 (2강)</a:t>
            </a:r>
            <a:endParaRPr lang="en-US" sz="1600" dirty="0"/>
          </a:p>
        </p:txBody>
      </p:sp>
      <p:sp>
        <p:nvSpPr>
          <p:cNvPr id="25" name="prior-body"/>
          <p:cNvSpPr txBox="1"/>
          <p:nvPr/>
        </p:nvSpPr>
        <p:spPr>
          <a:xfrm>
            <a:off x="8046720" y="4480560"/>
            <a:ext cx="3383280" cy="1508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Malgun Gothic" pitchFamily="34" charset="0"/>
                <a:ea typeface="Malgun Gothic" pitchFamily="34" charset="-122"/>
                <a:cs typeface="Malgun Gothic" pitchFamily="34" charset="-120"/>
              </a:rPr>
              <a:t>백수원(2025) 고영향 AI의 기본권 논의</a:t>
            </a:r>
            <a:endParaRPr lang="en-US" sz="1300" dirty="0"/>
          </a:p>
          <a:p>
            <a:pPr marL="342900" indent="-342900">
              <a:spcAft>
                <a:spcPts val="600"/>
              </a:spcAft>
              <a:buSzPct val="100000"/>
              <a:buChar char="•"/>
            </a:pPr>
            <a:r>
              <a:rPr lang="en-US" sz="1300" dirty="0">
                <a:solidFill>
                  <a:schemeClr val="tx1"/>
                </a:solidFill>
                <a:latin typeface="Malgun Gothic" pitchFamily="34" charset="0"/>
                <a:ea typeface="Malgun Gothic" pitchFamily="34" charset="-122"/>
                <a:cs typeface="Malgun Gothic" pitchFamily="34" charset="-120"/>
              </a:rPr>
              <a:t>우지숙·김수지(2024) AI 거버넌스의 신뢰 개념과 정책 유형화</a:t>
            </a:r>
            <a:endParaRPr lang="en-US" sz="1300" dirty="0"/>
          </a:p>
          <a:p>
            <a:pPr marL="342900" indent="-342900">
              <a:spcAft>
                <a:spcPts val="600"/>
              </a:spcAft>
              <a:buSzPct val="100000"/>
              <a:buChar char="•"/>
            </a:pPr>
            <a:r>
              <a:rPr lang="en-US" sz="1300" dirty="0">
                <a:solidFill>
                  <a:schemeClr val="tx1"/>
                </a:solidFill>
                <a:latin typeface="Malgun Gothic" pitchFamily="34" charset="0"/>
                <a:ea typeface="Malgun Gothic" pitchFamily="34" charset="-122"/>
                <a:cs typeface="Malgun Gothic" pitchFamily="34" charset="-120"/>
              </a:rPr>
              <a:t>Bradford(2020) The Brussels Effect</a:t>
            </a:r>
            <a:endParaRPr lang="en-US" sz="1300" dirty="0"/>
          </a:p>
        </p:txBody>
      </p:sp>
      <p:sp>
        <p:nvSpPr>
          <p:cNvPr id="26" name="limit-sched"/>
          <p:cNvSpPr txBox="1"/>
          <p:nvPr/>
        </p:nvSpPr>
        <p:spPr>
          <a:xfrm>
            <a:off x="548640" y="6217920"/>
            <a:ext cx="10424160" cy="274320"/>
          </a:xfrm>
          <a:prstGeom prst="rect">
            <a:avLst/>
          </a:prstGeom>
          <a:noFill/>
          <a:ln/>
        </p:spPr>
        <p:txBody>
          <a:bodyPr wrap="square" lIns="0" tIns="0" rIns="0" bIns="0" rtlCol="0" anchor="ctr"/>
          <a:lstStyle/>
          <a:p>
            <a:pPr indent="0" marL="0">
              <a:buNone/>
            </a:pPr>
            <a:r>
              <a:rPr lang="en-US" sz="1200" b="1" dirty="0">
                <a:solidFill>
                  <a:schemeClr val="accent2"/>
                </a:solidFill>
                <a:latin typeface="Malgun Gothic" pitchFamily="34" charset="0"/>
                <a:ea typeface="Malgun Gothic" pitchFamily="34" charset="-122"/>
                <a:cs typeface="Malgun Gothic" pitchFamily="34" charset="-120"/>
              </a:rPr>
              <a:t>한계 </a:t>
            </a:r>
            <a:pPr indent="0" marL="0">
              <a:buNone/>
            </a:pPr>
            <a:r>
              <a:rPr lang="en-US" sz="1200" dirty="0">
                <a:solidFill>
                  <a:schemeClr val="tx1"/>
                </a:solidFill>
                <a:latin typeface="Malgun Gothic" pitchFamily="34" charset="0"/>
                <a:ea typeface="Malgun Gothic" pitchFamily="34" charset="-122"/>
                <a:cs typeface="Malgun Gothic" pitchFamily="34" charset="-120"/>
              </a:rPr>
              <a:t>시행 초기라 집행 사례·판례 미형성  |  </a:t>
            </a:r>
            <a:pPr indent="0" marL="0">
              <a:buNone/>
            </a:pPr>
            <a:r>
              <a:rPr lang="en-US" sz="1200" b="1" dirty="0">
                <a:solidFill>
                  <a:schemeClr val="accent2"/>
                </a:solidFill>
                <a:latin typeface="Malgun Gothic" pitchFamily="34" charset="0"/>
                <a:ea typeface="Malgun Gothic" pitchFamily="34" charset="-122"/>
                <a:cs typeface="Malgun Gothic" pitchFamily="34" charset="-120"/>
              </a:rPr>
              <a:t>일정 </a:t>
            </a:r>
            <a:pPr indent="0" marL="0">
              <a:buNone/>
            </a:pPr>
            <a:r>
              <a:rPr lang="en-US" sz="1200" dirty="0">
                <a:solidFill>
                  <a:schemeClr val="tx1"/>
                </a:solidFill>
                <a:latin typeface="Malgun Gothic" pitchFamily="34" charset="0"/>
                <a:ea typeface="Malgun Gothic" pitchFamily="34" charset="-122"/>
                <a:cs typeface="Malgun Gothic" pitchFamily="34" charset="-120"/>
              </a:rPr>
              <a:t>11월 선행연구(13주) → 12.10 Case Study 2 → 12.17 소논문(hwp 10p) 제출</a:t>
            </a:r>
            <a:endParaRPr lang="en-US" sz="12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AIG Research Plan">
  <a:themeElements>
    <a:clrScheme name="AIG Research Plan">
      <a:dk1>
        <a:srgbClr val="1B2330"/>
      </a:dk1>
      <a:lt1>
        <a:srgbClr val="FFFFFF"/>
      </a:lt1>
      <a:dk2>
        <a:srgbClr val="14213D"/>
      </a:dk2>
      <a:lt2>
        <a:srgbClr val="F3F5F8"/>
      </a:lt2>
      <a:accent1>
        <a:srgbClr val="14213D"/>
      </a:accent1>
      <a:accent2>
        <a:srgbClr val="B45309"/>
      </a:accent2>
      <a:accent3>
        <a:srgbClr val="2B4C7E"/>
      </a:accent3>
      <a:accent4>
        <a:srgbClr val="64748B"/>
      </a:accent4>
      <a:accent5>
        <a:srgbClr val="94A3B8"/>
      </a:accent5>
      <a:accent6>
        <a:srgbClr val="0F766E"/>
      </a:accent6>
      <a:hlink>
        <a:srgbClr val="2B4C7E"/>
      </a:hlink>
      <a:folHlink>
        <a:srgbClr val="64748B"/>
      </a:folHlink>
    </a:clrScheme>
    <a:fontScheme name="AIG Research Plan">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AI Act와 한국 AI 기본법의 규제 방식 비교</dc:title>
  <dc:subject>PptxGenJS Presentation</dc:subject>
  <dc:creator>한동우</dc:creator>
  <cp:lastModifiedBy>한동우</cp:lastModifiedBy>
  <cp:revision>1</cp:revision>
  <dcterms:created xsi:type="dcterms:W3CDTF">2026-10-15T01:55:26Z</dcterms:created>
  <dcterms:modified xsi:type="dcterms:W3CDTF">2026-10-15T01:55:26Z</dcterms:modified>
</cp:coreProperties>
</file>