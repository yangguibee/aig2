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연구계획서" id="{2bcd0f33-6ab9-f677-8da8-575637c1f2bf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대본은 대화창 참고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기업 HR 시스템 AI 도입의 법적 쟁점과 거버넌스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소논문 연구계획서  |  AI거버넌스를 위한 법규제  |  사유진</a:t>
            </a:r>
            <a:endParaRPr lang="en-US" sz="1200" dirty="0"/>
          </a:p>
        </p:txBody>
      </p:sp>
      <p:sp>
        <p:nvSpPr>
          <p:cNvPr id="4" name="card-problem"/>
          <p:cNvSpPr/>
          <p:nvPr/>
        </p:nvSpPr>
        <p:spPr>
          <a:xfrm>
            <a:off x="457200" y="1371600"/>
            <a:ext cx="402336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</p:spPr>
      </p:sp>
      <p:sp>
        <p:nvSpPr>
          <p:cNvPr id="5" name="h-problem"/>
          <p:cNvSpPr txBox="1"/>
          <p:nvPr/>
        </p:nvSpPr>
        <p:spPr>
          <a:xfrm>
            <a:off x="68580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왜 문제인가</a:t>
            </a:r>
            <a:endParaRPr lang="en-US" sz="1700" dirty="0"/>
          </a:p>
        </p:txBody>
      </p:sp>
      <p:sp>
        <p:nvSpPr>
          <p:cNvPr id="6" name="row-problem1"/>
          <p:cNvSpPr/>
          <p:nvPr/>
        </p:nvSpPr>
        <p:spPr>
          <a:xfrm>
            <a:off x="640080" y="201168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7" name="num-problem1"/>
          <p:cNvSpPr txBox="1"/>
          <p:nvPr/>
        </p:nvSpPr>
        <p:spPr>
          <a:xfrm>
            <a:off x="777240" y="219456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-problem1"/>
          <p:cNvSpPr txBox="1"/>
          <p:nvPr/>
        </p:nvSpPr>
        <p:spPr>
          <a:xfrm>
            <a:off x="1325880" y="2057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HR 영역 AI 도입 확산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(채용·평가·배치)</a:t>
            </a:r>
            <a:endParaRPr lang="en-US" sz="1500" dirty="0"/>
          </a:p>
        </p:txBody>
      </p:sp>
      <p:sp>
        <p:nvSpPr>
          <p:cNvPr id="9" name="row-problem2"/>
          <p:cNvSpPr/>
          <p:nvPr/>
        </p:nvSpPr>
        <p:spPr>
          <a:xfrm>
            <a:off x="640080" y="288036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0" name="num-problem2"/>
          <p:cNvSpPr txBox="1"/>
          <p:nvPr/>
        </p:nvSpPr>
        <p:spPr>
          <a:xfrm>
            <a:off x="777240" y="306324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-problem2"/>
          <p:cNvSpPr txBox="1"/>
          <p:nvPr/>
        </p:nvSpPr>
        <p:spPr>
          <a:xfrm>
            <a:off x="1325880" y="2926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인사 결정은 개인의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권리·기회에 직접 영향</a:t>
            </a:r>
            <a:endParaRPr lang="en-US" sz="1500" dirty="0"/>
          </a:p>
        </p:txBody>
      </p:sp>
      <p:sp>
        <p:nvSpPr>
          <p:cNvPr id="12" name="row-problem3"/>
          <p:cNvSpPr/>
          <p:nvPr/>
        </p:nvSpPr>
        <p:spPr>
          <a:xfrm>
            <a:off x="640080" y="374904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3" name="num-problem3"/>
          <p:cNvSpPr txBox="1"/>
          <p:nvPr/>
        </p:nvSpPr>
        <p:spPr>
          <a:xfrm>
            <a:off x="777240" y="393192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-problem3"/>
          <p:cNvSpPr txBox="1"/>
          <p:nvPr/>
        </p:nvSpPr>
        <p:spPr>
          <a:xfrm>
            <a:off x="1325880" y="3794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법적 의무와 시스템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구현 기준이 불명확</a:t>
            </a:r>
            <a:endParaRPr lang="en-US" sz="1500" dirty="0"/>
          </a:p>
        </p:txBody>
      </p:sp>
      <p:sp>
        <p:nvSpPr>
          <p:cNvPr id="15" name="card-rq"/>
          <p:cNvSpPr/>
          <p:nvPr/>
        </p:nvSpPr>
        <p:spPr>
          <a:xfrm>
            <a:off x="4663440" y="1371600"/>
            <a:ext cx="402336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</p:spPr>
      </p:sp>
      <p:sp>
        <p:nvSpPr>
          <p:cNvPr id="16" name="h-rq"/>
          <p:cNvSpPr txBox="1"/>
          <p:nvPr/>
        </p:nvSpPr>
        <p:spPr>
          <a:xfrm>
            <a:off x="489204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연구 질문</a:t>
            </a:r>
            <a:endParaRPr lang="en-US" sz="1700" dirty="0"/>
          </a:p>
        </p:txBody>
      </p:sp>
      <p:sp>
        <p:nvSpPr>
          <p:cNvPr id="17" name="row-rq1"/>
          <p:cNvSpPr/>
          <p:nvPr/>
        </p:nvSpPr>
        <p:spPr>
          <a:xfrm>
            <a:off x="4846320" y="201168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8" name="tag-rq1"/>
          <p:cNvSpPr txBox="1"/>
          <p:nvPr/>
        </p:nvSpPr>
        <p:spPr>
          <a:xfrm>
            <a:off x="4983480" y="2194560"/>
            <a:ext cx="5486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RQ1</a:t>
            </a:r>
            <a:endParaRPr lang="en-US" sz="1400" dirty="0"/>
          </a:p>
        </p:txBody>
      </p:sp>
      <p:sp>
        <p:nvSpPr>
          <p:cNvPr id="19" name="text-rq1"/>
          <p:cNvSpPr txBox="1"/>
          <p:nvPr/>
        </p:nvSpPr>
        <p:spPr>
          <a:xfrm>
            <a:off x="566928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HR AI는 AI 기본법상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고영향 AI인가?</a:t>
            </a:r>
            <a:endParaRPr lang="en-US" sz="1500" dirty="0"/>
          </a:p>
        </p:txBody>
      </p:sp>
      <p:sp>
        <p:nvSpPr>
          <p:cNvPr id="20" name="row-rq2"/>
          <p:cNvSpPr/>
          <p:nvPr/>
        </p:nvSpPr>
        <p:spPr>
          <a:xfrm>
            <a:off x="4846320" y="288036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21" name="tag-rq2"/>
          <p:cNvSpPr txBox="1"/>
          <p:nvPr/>
        </p:nvSpPr>
        <p:spPr>
          <a:xfrm>
            <a:off x="4983480" y="3063240"/>
            <a:ext cx="5486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RQ2</a:t>
            </a:r>
            <a:endParaRPr lang="en-US" sz="1400" dirty="0"/>
          </a:p>
        </p:txBody>
      </p:sp>
      <p:sp>
        <p:nvSpPr>
          <p:cNvPr id="22" name="text-rq2"/>
          <p:cNvSpPr txBox="1"/>
          <p:nvPr/>
        </p:nvSpPr>
        <p:spPr>
          <a:xfrm>
            <a:off x="566928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관련 법령상 기업의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의무는 무엇인가?</a:t>
            </a:r>
            <a:endParaRPr lang="en-US" sz="1500" dirty="0"/>
          </a:p>
        </p:txBody>
      </p:sp>
      <p:sp>
        <p:nvSpPr>
          <p:cNvPr id="23" name="row-rq3"/>
          <p:cNvSpPr/>
          <p:nvPr/>
        </p:nvSpPr>
        <p:spPr>
          <a:xfrm>
            <a:off x="4846320" y="374904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24" name="tag-rq3"/>
          <p:cNvSpPr txBox="1"/>
          <p:nvPr/>
        </p:nvSpPr>
        <p:spPr>
          <a:xfrm>
            <a:off x="4983480" y="3931920"/>
            <a:ext cx="5486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RQ3</a:t>
            </a:r>
            <a:endParaRPr lang="en-US" sz="1400" dirty="0"/>
          </a:p>
        </p:txBody>
      </p:sp>
      <p:sp>
        <p:nvSpPr>
          <p:cNvPr id="25" name="text-rq3"/>
          <p:cNvSpPr txBox="1"/>
          <p:nvPr/>
        </p:nvSpPr>
        <p:spPr>
          <a:xfrm>
            <a:off x="5669280" y="3794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어떤 거버넌스 체계로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구현할 것인가?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연구 방법 및 기대효과</a:t>
            </a:r>
            <a:endParaRPr lang="en-US" sz="2400" dirty="0"/>
          </a:p>
        </p:txBody>
      </p:sp>
      <p:sp>
        <p:nvSpPr>
          <p:cNvPr id="3" name="h-method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연구 방법</a:t>
            </a:r>
            <a:endParaRPr lang="en-US" sz="1700" dirty="0"/>
          </a:p>
        </p:txBody>
      </p:sp>
      <p:sp>
        <p:nvSpPr>
          <p:cNvPr id="4" name="card-step1"/>
          <p:cNvSpPr/>
          <p:nvPr/>
        </p:nvSpPr>
        <p:spPr>
          <a:xfrm>
            <a:off x="457200" y="1417320"/>
            <a:ext cx="24688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5" name="num-step1"/>
          <p:cNvSpPr txBox="1"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itle-step1"/>
          <p:cNvSpPr txBox="1"/>
          <p:nvPr/>
        </p:nvSpPr>
        <p:spPr>
          <a:xfrm>
            <a:off x="114300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법령 분석</a:t>
            </a:r>
            <a:endParaRPr lang="en-US" sz="1600" dirty="0"/>
          </a:p>
        </p:txBody>
      </p:sp>
      <p:sp>
        <p:nvSpPr>
          <p:cNvPr id="7" name="desc-step1"/>
          <p:cNvSpPr txBox="1"/>
          <p:nvPr/>
        </p:nvSpPr>
        <p:spPr>
          <a:xfrm>
            <a:off x="640080" y="2011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기본법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개인정보보호법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채용절차법</a:t>
            </a:r>
            <a:endParaRPr lang="en-US" sz="1300" dirty="0"/>
          </a:p>
        </p:txBody>
      </p:sp>
      <p:sp>
        <p:nvSpPr>
          <p:cNvPr id="8" name="arrow1"/>
          <p:cNvSpPr/>
          <p:nvPr/>
        </p:nvSpPr>
        <p:spPr>
          <a:xfrm>
            <a:off x="2980944" y="2011680"/>
            <a:ext cx="301752" cy="32004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9" name="card-step2"/>
          <p:cNvSpPr/>
          <p:nvPr/>
        </p:nvSpPr>
        <p:spPr>
          <a:xfrm>
            <a:off x="3337560" y="1417320"/>
            <a:ext cx="24688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0" name="num-step2"/>
          <p:cNvSpPr txBox="1"/>
          <p:nvPr/>
        </p:nvSpPr>
        <p:spPr>
          <a:xfrm>
            <a:off x="3520440" y="155448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itle-step2"/>
          <p:cNvSpPr txBox="1"/>
          <p:nvPr/>
        </p:nvSpPr>
        <p:spPr>
          <a:xfrm>
            <a:off x="402336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비교법 검토</a:t>
            </a:r>
            <a:endParaRPr lang="en-US" sz="1600" dirty="0"/>
          </a:p>
        </p:txBody>
      </p:sp>
      <p:sp>
        <p:nvSpPr>
          <p:cNvPr id="12" name="desc-step2"/>
          <p:cNvSpPr txBox="1"/>
          <p:nvPr/>
        </p:nvSpPr>
        <p:spPr>
          <a:xfrm>
            <a:off x="3520440" y="2011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EU AI 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고용 분야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고위험 AI 규정</a:t>
            </a:r>
            <a:endParaRPr lang="en-US" sz="1300" dirty="0"/>
          </a:p>
        </p:txBody>
      </p:sp>
      <p:sp>
        <p:nvSpPr>
          <p:cNvPr id="13" name="arrow2"/>
          <p:cNvSpPr/>
          <p:nvPr/>
        </p:nvSpPr>
        <p:spPr>
          <a:xfrm>
            <a:off x="5861304" y="2011680"/>
            <a:ext cx="301752" cy="32004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4" name="card-step3"/>
          <p:cNvSpPr/>
          <p:nvPr/>
        </p:nvSpPr>
        <p:spPr>
          <a:xfrm>
            <a:off x="6217920" y="1417320"/>
            <a:ext cx="24688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5" name="num-step3"/>
          <p:cNvSpPr txBox="1"/>
          <p:nvPr/>
        </p:nvSpPr>
        <p:spPr>
          <a:xfrm>
            <a:off x="6400800" y="1554480"/>
            <a:ext cx="36576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itle-step3"/>
          <p:cNvSpPr txBox="1"/>
          <p:nvPr/>
        </p:nvSpPr>
        <p:spPr>
          <a:xfrm>
            <a:off x="690372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거버넌스 설계</a:t>
            </a:r>
            <a:endParaRPr lang="en-US" sz="1600" dirty="0"/>
          </a:p>
        </p:txBody>
      </p:sp>
      <p:sp>
        <p:nvSpPr>
          <p:cNvPr id="17" name="desc-step3"/>
          <p:cNvSpPr txBox="1"/>
          <p:nvPr/>
        </p:nvSpPr>
        <p:spPr>
          <a:xfrm>
            <a:off x="6400800" y="2011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고영향 판별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체크리스트 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HR 시스템 통제 항목</a:t>
            </a:r>
            <a:endParaRPr lang="en-US" sz="1300" dirty="0"/>
          </a:p>
        </p:txBody>
      </p:sp>
      <p:sp>
        <p:nvSpPr>
          <p:cNvPr id="18" name="h-effect"/>
          <p:cNvSpPr txBox="1"/>
          <p:nvPr/>
        </p:nvSpPr>
        <p:spPr>
          <a:xfrm>
            <a:off x="45720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기대효과</a:t>
            </a:r>
            <a:endParaRPr lang="en-US" sz="1700" dirty="0"/>
          </a:p>
        </p:txBody>
      </p:sp>
      <p:sp>
        <p:nvSpPr>
          <p:cNvPr id="19" name="card-effect1"/>
          <p:cNvSpPr/>
          <p:nvPr/>
        </p:nvSpPr>
        <p:spPr>
          <a:xfrm>
            <a:off x="457200" y="352044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</p:sp>
      <p:sp>
        <p:nvSpPr>
          <p:cNvPr id="20" name="title-effect1"/>
          <p:cNvSpPr txBox="1"/>
          <p:nvPr/>
        </p:nvSpPr>
        <p:spPr>
          <a:xfrm>
            <a:off x="68580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법적 리스크 점검 기준</a:t>
            </a:r>
            <a:endParaRPr lang="en-US" sz="1700" dirty="0"/>
          </a:p>
        </p:txBody>
      </p:sp>
      <p:sp>
        <p:nvSpPr>
          <p:cNvPr id="21" name="desc-effect1"/>
          <p:cNvSpPr txBox="1"/>
          <p:nvPr/>
        </p:nvSpPr>
        <p:spPr>
          <a:xfrm>
            <a:off x="68580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HR AI를 도입하는 기업이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바로 활용할 수 있는 기준 제시</a:t>
            </a:r>
            <a:endParaRPr lang="en-US" sz="1300" dirty="0"/>
          </a:p>
        </p:txBody>
      </p:sp>
      <p:sp>
        <p:nvSpPr>
          <p:cNvPr id="22" name="card-effect2"/>
          <p:cNvSpPr/>
          <p:nvPr/>
        </p:nvSpPr>
        <p:spPr>
          <a:xfrm>
            <a:off x="4663440" y="352044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</p:sp>
      <p:sp>
        <p:nvSpPr>
          <p:cNvPr id="23" name="title-effect2"/>
          <p:cNvSpPr txBox="1"/>
          <p:nvPr/>
        </p:nvSpPr>
        <p:spPr>
          <a:xfrm>
            <a:off x="489204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시스템 통제 항목</a:t>
            </a:r>
            <a:endParaRPr lang="en-US" sz="1700" dirty="0"/>
          </a:p>
        </p:txBody>
      </p:sp>
      <p:sp>
        <p:nvSpPr>
          <p:cNvPr id="24" name="desc-effect2"/>
          <p:cNvSpPr txBox="1"/>
          <p:nvPr/>
        </p:nvSpPr>
        <p:spPr>
          <a:xfrm>
            <a:off x="489204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평가 이력·승인·인적 개입·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설명 절차 등 구현 관점 도출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Plan">
  <a:themeElements>
    <a:clrScheme name="ResearchPlan">
      <a:dk1>
        <a:srgbClr val="1F2937"/>
      </a:dk1>
      <a:lt1>
        <a:srgbClr val="FFFFFF"/>
      </a:lt1>
      <a:dk2>
        <a:srgbClr val="1E3A5F"/>
      </a:dk2>
      <a:lt2>
        <a:srgbClr val="EEF3F9"/>
      </a:lt2>
      <a:accent1>
        <a:srgbClr val="2563EB"/>
      </a:accent1>
      <a:accent2>
        <a:srgbClr val="0F766E"/>
      </a:accent2>
      <a:accent3>
        <a:srgbClr val="B45309"/>
      </a:accent3>
      <a:accent4>
        <a:srgbClr val="7C3AED"/>
      </a:accent4>
      <a:accent5>
        <a:srgbClr val="DC2626"/>
      </a:accent5>
      <a:accent6>
        <a:srgbClr val="64748B"/>
      </a:accent6>
      <a:hlink>
        <a:srgbClr val="2563EB"/>
      </a:hlink>
      <a:folHlink>
        <a:srgbClr val="7C3AED"/>
      </a:folHlink>
    </a:clrScheme>
    <a:fontScheme name="ResearchPlan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AI 거버넌스 소논문 연구계획서</dc:title>
  <dc:subject>PptxGenJS Presentation</dc:subject>
  <dc:creator>PptxGenJS</dc:creator>
  <cp:lastModifiedBy>PptxGenJS</cp:lastModifiedBy>
  <cp:revision>1</cp:revision>
  <dcterms:created xsi:type="dcterms:W3CDTF">2026-10-13T00:23:41Z</dcterms:created>
  <dcterms:modified xsi:type="dcterms:W3CDTF">2026-10-13T00:23:41Z</dcterms:modified>
</cp:coreProperties>
</file>