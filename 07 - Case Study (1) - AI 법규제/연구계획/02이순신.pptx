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1d13c8aa444f37" /><Relationship Type="http://schemas.openxmlformats.org/officeDocument/2006/relationships/extended-properties" Target="/docProps/app.xml" Id="Rc574c759bc5f4290" /><Relationship Type="http://schemas.openxmlformats.org/officeDocument/2006/relationships/officeDocument" Target="/ppt/presentation.xml" Id="Rd44f992612dc46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54cc826b0d4dee"/>
  </p:sldMasterIdLst>
  <p:notesMasterIdLst>
    <p:notesMasterId xmlns:r="http://schemas.openxmlformats.org/officeDocument/2006/relationships" r:id="Rdc984ddd3a094920"/>
  </p:notesMasterIdLst>
  <p:sldIdLst>
    <p:sldId xmlns:r="http://schemas.openxmlformats.org/officeDocument/2006/relationships" id="256" r:id="Re1e63adf997a4bd4"/>
    <p:sldId xmlns:r="http://schemas.openxmlformats.org/officeDocument/2006/relationships" id="257" r:id="R5f14086b1408429b"/>
    <p:sldId xmlns:r="http://schemas.openxmlformats.org/officeDocument/2006/relationships" id="258" r:id="R7f9c9d0a372c474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894759c2b64ec7" /><Relationship Type="http://schemas.openxmlformats.org/officeDocument/2006/relationships/slideMaster" Target="/ppt/slideMasters/slideMaster1.xml" Id="R4354cc826b0d4dee" /><Relationship Type="http://schemas.openxmlformats.org/officeDocument/2006/relationships/notesMaster" Target="/ppt/notesMasters/notesMaster1.xml" Id="Rdc984ddd3a094920" /><Relationship Type="http://schemas.openxmlformats.org/officeDocument/2006/relationships/presProps" Target="/ppt/presProps.xml" Id="Rf2abb86e8838464c" /><Relationship Type="http://schemas.openxmlformats.org/officeDocument/2006/relationships/viewProps" Target="/ppt/viewProps.xml" Id="Rf08d66a502bf4432" /><Relationship Type="http://schemas.openxmlformats.org/officeDocument/2006/relationships/tableStyles" Target="/ppt/tableStyles.xml" Id="R18655d449092406b" /><Relationship Type="http://schemas.openxmlformats.org/officeDocument/2006/relationships/slide" Target="/ppt/slides/slide1.xml" Id="Re1e63adf997a4bd4" /><Relationship Type="http://schemas.openxmlformats.org/officeDocument/2006/relationships/slide" Target="/ppt/slides/slide2.xml" Id="R5f14086b1408429b" /><Relationship Type="http://schemas.openxmlformats.org/officeDocument/2006/relationships/slide" Target="/ppt/slides/slide3.xml" Id="R7f9c9d0a372c47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b9867b8d4147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1d2e2c68cf4a87" /><Relationship Type="http://schemas.openxmlformats.org/officeDocument/2006/relationships/notesMaster" Target="/ppt/notesMasters/notesMaster1.xml" Id="R2b41081bd5dd4a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8cb0f9829a4e58" /><Relationship Type="http://schemas.openxmlformats.org/officeDocument/2006/relationships/notesMaster" Target="/ppt/notesMasters/notesMaster1.xml" Id="R69fff6d7223a41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c13bfc748c4fbb" /><Relationship Type="http://schemas.openxmlformats.org/officeDocument/2006/relationships/notesMaster" Target="/ppt/notesMasters/notesMaster1.xml" Id="R1afa2fdf474440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  <a:r>
              <a:t>발표</a:t>
            </a:r>
            <a:r>
              <a:t> </a:t>
            </a:r>
            <a:r>
              <a:t>대본</a:t>
            </a:r>
            <a:r>
              <a:t> · 약 45초]</a:t>
            </a:r>
            <a:endParaRPr/>
          </a:p>
          <a:p xmlns:a="http://schemas.openxmlformats.org/drawingml/2006/main">
            <a:r>
              <a:t>안녕하세요</a:t>
            </a:r>
            <a:r>
              <a:t>. </a:t>
            </a:r>
            <a:r>
              <a:t>정보보안학과 이순신입니다</a:t>
            </a:r>
            <a:r>
              <a:t>.</a:t>
            </a:r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급하게</a:t>
            </a:r>
            <a:r>
              <a:t> </a:t>
            </a:r>
            <a:r>
              <a:t>송금해야</a:t>
            </a:r>
            <a:r>
              <a:t> </a:t>
            </a:r>
            <a:r>
              <a:t>하는데</a:t>
            </a:r>
            <a:r>
              <a:t>, </a:t>
            </a:r>
            <a:r>
              <a:t>은행</a:t>
            </a:r>
            <a:r>
              <a:t> </a:t>
            </a:r>
            <a:r>
              <a:t>앱에서</a:t>
            </a:r>
            <a:r>
              <a:t> </a:t>
            </a:r>
            <a:r>
              <a:t>거래를</a:t>
            </a:r>
            <a:r>
              <a:t> </a:t>
            </a:r>
            <a:r>
              <a:t>막으면</a:t>
            </a:r>
            <a:r>
              <a:t> </a:t>
            </a:r>
            <a:r>
              <a:t>어떠시겠습니까</a:t>
            </a:r>
            <a:r>
              <a:t>?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보이스피싱을</a:t>
            </a:r>
            <a:r>
              <a:t> </a:t>
            </a:r>
            <a:r>
              <a:t>막아준</a:t>
            </a:r>
            <a:r>
              <a:t> </a:t>
            </a:r>
            <a:r>
              <a:t>거라면</a:t>
            </a:r>
            <a:r>
              <a:t> </a:t>
            </a:r>
            <a:r>
              <a:t>다행입니다</a:t>
            </a:r>
            <a:r>
              <a:t>. </a:t>
            </a:r>
            <a:r>
              <a:t>그런데</a:t>
            </a:r>
            <a:r>
              <a:t> </a:t>
            </a:r>
            <a:r>
              <a:t>정상</a:t>
            </a:r>
            <a:r>
              <a:t> </a:t>
            </a:r>
            <a:r>
              <a:t>거래였고</a:t>
            </a:r>
            <a:r>
              <a:t>, </a:t>
            </a:r>
            <a:r>
              <a:t>당장</a:t>
            </a:r>
            <a:r>
              <a:t> </a:t>
            </a:r>
            <a:r>
              <a:t>해제할</a:t>
            </a:r>
            <a:r>
              <a:t> </a:t>
            </a:r>
            <a:r>
              <a:t>방법도</a:t>
            </a:r>
            <a:r>
              <a:t> </a:t>
            </a:r>
            <a:r>
              <a:t>없다면</a:t>
            </a:r>
            <a:r>
              <a:t> </a:t>
            </a:r>
            <a:r>
              <a:t>이야기가</a:t>
            </a:r>
            <a:r>
              <a:t> </a:t>
            </a:r>
            <a:r>
              <a:t>달라집니다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오늘은</a:t>
            </a:r>
            <a:r>
              <a:t> 이 </a:t>
            </a:r>
            <a:r>
              <a:t>상황을</a:t>
            </a:r>
            <a:r>
              <a:t> </a:t>
            </a:r>
            <a:r>
              <a:t>가정해</a:t>
            </a:r>
            <a:r>
              <a:t> </a:t>
            </a:r>
            <a:r>
              <a:t>보겠습니다</a:t>
            </a:r>
            <a:r>
              <a:t>. </a:t>
            </a:r>
            <a:r>
              <a:t>같은</a:t>
            </a:r>
            <a:r>
              <a:t> </a:t>
            </a:r>
            <a:r>
              <a:t>이상거래</a:t>
            </a:r>
            <a:r>
              <a:t> </a:t>
            </a:r>
            <a:r>
              <a:t>탐지</a:t>
            </a:r>
            <a:r>
              <a:t> </a:t>
            </a:r>
            <a:r>
              <a:t>AI라도</a:t>
            </a:r>
            <a:r>
              <a:t>, </a:t>
            </a:r>
            <a:r>
              <a:t>직원에게</a:t>
            </a:r>
            <a:r>
              <a:t> </a:t>
            </a:r>
            <a:r>
              <a:t>알림만</a:t>
            </a:r>
            <a:r>
              <a:t> </a:t>
            </a:r>
            <a:r>
              <a:t>보낼</a:t>
            </a:r>
            <a:r>
              <a:t> 수 </a:t>
            </a:r>
            <a:r>
              <a:t>있고</a:t>
            </a:r>
            <a:r>
              <a:t> </a:t>
            </a:r>
            <a:r>
              <a:t>고객의</a:t>
            </a:r>
            <a:r>
              <a:t> </a:t>
            </a:r>
            <a:r>
              <a:t>거래를</a:t>
            </a:r>
            <a:r>
              <a:t> </a:t>
            </a:r>
            <a:r>
              <a:t>직접</a:t>
            </a:r>
            <a:r>
              <a:t> </a:t>
            </a:r>
            <a:r>
              <a:t>막을</a:t>
            </a:r>
            <a:r>
              <a:t> </a:t>
            </a:r>
            <a:r>
              <a:t>수도</a:t>
            </a:r>
            <a:r>
              <a:t> </a:t>
            </a:r>
            <a:r>
              <a:t>있습니다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제가</a:t>
            </a:r>
            <a:r>
              <a:t> </a:t>
            </a:r>
            <a:r>
              <a:t>연구하려는</a:t>
            </a:r>
            <a:r>
              <a:t> </a:t>
            </a:r>
            <a:r>
              <a:t>대상은</a:t>
            </a:r>
            <a:r>
              <a:t> AI </a:t>
            </a:r>
            <a:r>
              <a:t>판단에</a:t>
            </a:r>
            <a:r>
              <a:t> </a:t>
            </a:r>
            <a:r>
              <a:t>따라</a:t>
            </a:r>
            <a:r>
              <a:t> </a:t>
            </a:r>
            <a:r>
              <a:t>금융서비스를</a:t>
            </a:r>
            <a:r>
              <a:t> </a:t>
            </a:r>
            <a:r>
              <a:t>제한하는</a:t>
            </a:r>
            <a:r>
              <a:t> </a:t>
            </a:r>
            <a:r>
              <a:t>경우입니다</a:t>
            </a:r>
            <a:r>
              <a:t>. </a:t>
            </a:r>
            <a:r>
              <a:t>이때</a:t>
            </a:r>
            <a:r>
              <a:t> </a:t>
            </a:r>
            <a:r>
              <a:t>국내</a:t>
            </a:r>
            <a:r>
              <a:t> </a:t>
            </a:r>
            <a:r>
              <a:t>인공지능기본법상</a:t>
            </a:r>
            <a:r>
              <a:t> </a:t>
            </a:r>
            <a:r>
              <a:t>고영향</a:t>
            </a:r>
            <a:r>
              <a:t> </a:t>
            </a:r>
            <a:r>
              <a:t>여부를</a:t>
            </a:r>
            <a:r>
              <a:t> </a:t>
            </a:r>
            <a:r>
              <a:t>어떤</a:t>
            </a:r>
            <a:r>
              <a:t> </a:t>
            </a:r>
            <a:r>
              <a:t>기준으로</a:t>
            </a:r>
            <a:r>
              <a:t> </a:t>
            </a:r>
            <a:r>
              <a:t>판단할</a:t>
            </a:r>
            <a:r>
              <a:t> 수 </a:t>
            </a:r>
            <a:r>
              <a:t>있는지</a:t>
            </a:r>
            <a:r>
              <a:t> </a:t>
            </a:r>
            <a:r>
              <a:t>살펴보겠습니다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</a:t>
            </a:r>
            <a:r>
              <a:t>연구</a:t>
            </a:r>
            <a:r>
              <a:t> </a:t>
            </a:r>
            <a:r>
              <a:t>제목</a:t>
            </a:r>
            <a:r>
              <a:t>]</a:t>
            </a:r>
          </a:p>
          <a:p xmlns:a="http://schemas.openxmlformats.org/drawingml/2006/main">
            <a:r>
              <a:t>금융보안</a:t>
            </a:r>
            <a:r>
              <a:t> </a:t>
            </a:r>
            <a:r>
              <a:t>AI의</a:t>
            </a:r>
            <a:r>
              <a:t> </a:t>
            </a:r>
            <a:r>
              <a:t>고영향</a:t>
            </a:r>
            <a:r>
              <a:t> </a:t>
            </a:r>
            <a:r>
              <a:t>해당성</a:t>
            </a:r>
            <a:r>
              <a:t> </a:t>
            </a:r>
            <a:r>
              <a:t>판단기준</a:t>
            </a:r>
            <a:r>
              <a:t> </a:t>
            </a:r>
            <a:r>
              <a:t>연구</a:t>
            </a:r>
            <a:r>
              <a:t> — </a:t>
            </a:r>
            <a:r>
              <a:t>이상거래</a:t>
            </a:r>
            <a:r>
              <a:t> </a:t>
            </a:r>
            <a:r>
              <a:t>탐지에</a:t>
            </a:r>
            <a:r>
              <a:t> </a:t>
            </a:r>
            <a:r>
              <a:t>따른</a:t>
            </a:r>
            <a:r>
              <a:t> </a:t>
            </a:r>
            <a:r>
              <a:t>금융서비스</a:t>
            </a:r>
            <a:r>
              <a:t> </a:t>
            </a:r>
            <a:r>
              <a:t>제한을</a:t>
            </a:r>
            <a:r>
              <a:t> </a:t>
            </a:r>
            <a:r>
              <a:t>중심으로</a:t>
            </a:r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[</a:t>
            </a:r>
            <a:r>
              <a:t>범위</a:t>
            </a:r>
            <a:r>
              <a:t>]</a:t>
            </a:r>
          </a:p>
          <a:p xmlns:a="http://schemas.openxmlformats.org/drawingml/2006/main">
            <a:r>
              <a:t>정상</a:t>
            </a:r>
            <a:r>
              <a:t> </a:t>
            </a:r>
            <a:r>
              <a:t>고객</a:t>
            </a:r>
            <a:r>
              <a:t> </a:t>
            </a:r>
            <a:r>
              <a:t>차단은</a:t>
            </a:r>
            <a:r>
              <a:t> </a:t>
            </a:r>
            <a:r>
              <a:t>연구의</a:t>
            </a:r>
            <a:r>
              <a:t> </a:t>
            </a:r>
            <a:r>
              <a:t>문제를</a:t>
            </a:r>
            <a:r>
              <a:t> </a:t>
            </a:r>
            <a:r>
              <a:t>설명하기</a:t>
            </a:r>
            <a:r>
              <a:t> </a:t>
            </a:r>
            <a:r>
              <a:t>위한</a:t>
            </a:r>
            <a:r>
              <a:t> </a:t>
            </a:r>
            <a:r>
              <a:t>가정</a:t>
            </a:r>
            <a:r>
              <a:t> </a:t>
            </a:r>
            <a:r>
              <a:t>사례다</a:t>
            </a:r>
            <a:r>
              <a:t>. </a:t>
            </a:r>
            <a:r>
              <a:t>특정</a:t>
            </a:r>
            <a:r>
              <a:t> </a:t>
            </a:r>
            <a:r>
              <a:t>금융회사의</a:t>
            </a:r>
            <a:r>
              <a:t> </a:t>
            </a:r>
            <a:r>
              <a:t>사고나</a:t>
            </a:r>
            <a:r>
              <a:t> </a:t>
            </a:r>
            <a:r>
              <a:t>측정</a:t>
            </a:r>
            <a:r>
              <a:t> </a:t>
            </a:r>
            <a:r>
              <a:t>결과를</a:t>
            </a:r>
            <a:r>
              <a:t> </a:t>
            </a:r>
            <a:r>
              <a:t>의미하지</a:t>
            </a:r>
            <a:r>
              <a:t> </a:t>
            </a:r>
            <a:r>
              <a:t>않는다</a:t>
            </a:r>
            <a:r>
              <a:t>. </a:t>
            </a:r>
            <a:r>
              <a:t>연구는</a:t>
            </a:r>
            <a:r>
              <a:t> </a:t>
            </a:r>
            <a:r>
              <a:t>계획</a:t>
            </a:r>
            <a:r>
              <a:t> </a:t>
            </a:r>
            <a:r>
              <a:t>단계다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</a:t>
            </a:r>
            <a:r>
              <a:t>디자인</a:t>
            </a:r>
            <a:r>
              <a:t> </a:t>
            </a:r>
            <a:r>
              <a:t>출처</a:t>
            </a:r>
            <a:r>
              <a:t>]</a:t>
            </a:r>
          </a:p>
          <a:p xmlns:a="http://schemas.openxmlformats.org/drawingml/2006/main">
            <a:r>
              <a:t>사용자가</a:t>
            </a:r>
            <a:r>
              <a:t> </a:t>
            </a:r>
            <a:r>
              <a:t>첨부한</a:t>
            </a:r>
            <a:r>
              <a:t> </a:t>
            </a:r>
            <a:r>
              <a:t>건국대학교</a:t>
            </a:r>
            <a:r>
              <a:t> </a:t>
            </a:r>
            <a:r>
              <a:t>로고</a:t>
            </a:r>
            <a:r>
              <a:t> </a:t>
            </a:r>
            <a:r>
              <a:t>PNG를</a:t>
            </a:r>
            <a:r>
              <a:t> </a:t>
            </a:r>
            <a:r>
              <a:t>원본</a:t>
            </a:r>
            <a:r>
              <a:t> </a:t>
            </a:r>
            <a:r>
              <a:t>비율로</a:t>
            </a:r>
            <a:r>
              <a:t> </a:t>
            </a:r>
            <a:r>
              <a:t>사용했다</a:t>
            </a:r>
            <a:r>
              <a:t>. </a:t>
            </a:r>
            <a:r>
              <a:t>녹색</a:t>
            </a:r>
            <a:r>
              <a:t> </a:t>
            </a:r>
            <a:r>
              <a:t>계열은</a:t>
            </a:r>
            <a:r>
              <a:t> </a:t>
            </a:r>
            <a:r>
              <a:t>첨부</a:t>
            </a:r>
            <a:r>
              <a:t> </a:t>
            </a:r>
            <a:r>
              <a:t>이미지에</a:t>
            </a:r>
            <a:r>
              <a:t> </a:t>
            </a:r>
            <a:r>
              <a:t>맞춘</a:t>
            </a:r>
            <a:r>
              <a:t> </a:t>
            </a:r>
            <a:r>
              <a:t>디자인</a:t>
            </a:r>
            <a:r>
              <a:t> </a:t>
            </a:r>
            <a:r>
              <a:t>색상이며</a:t>
            </a:r>
            <a:r>
              <a:t>, </a:t>
            </a:r>
            <a:r>
              <a:t>공식</a:t>
            </a:r>
            <a:r>
              <a:t> CI </a:t>
            </a:r>
            <a:r>
              <a:t>색상</a:t>
            </a:r>
            <a:r>
              <a:t> </a:t>
            </a:r>
            <a:r>
              <a:t>코드임을</a:t>
            </a:r>
            <a:r>
              <a:t> </a:t>
            </a:r>
            <a:r>
              <a:t>주장하지</a:t>
            </a:r>
            <a:r>
              <a:t> </a:t>
            </a:r>
            <a:r>
              <a:t>않는다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  <a:r>
              <a:t>발표</a:t>
            </a:r>
            <a:r>
              <a:t> </a:t>
            </a:r>
            <a:r>
              <a:t>대본</a:t>
            </a:r>
            <a:r>
              <a:t> · 약 65초]</a:t>
            </a:r>
          </a:p>
          <a:p xmlns:a="http://schemas.openxmlformats.org/drawingml/2006/main">
            <a:r>
              <a:t>여기서</a:t>
            </a:r>
            <a:r>
              <a:t> </a:t>
            </a:r>
            <a:r>
              <a:t>먼저</a:t>
            </a:r>
            <a:r>
              <a:t> </a:t>
            </a:r>
            <a:r>
              <a:t>확인할</a:t>
            </a:r>
            <a:r>
              <a:t> </a:t>
            </a:r>
            <a:r>
              <a:t>전제가</a:t>
            </a:r>
            <a:r>
              <a:t> </a:t>
            </a:r>
            <a:r>
              <a:t>있습니다</a:t>
            </a:r>
            <a:r>
              <a:t>. </a:t>
            </a:r>
            <a:r>
              <a:t>금융회사가</a:t>
            </a:r>
            <a:r>
              <a:t> </a:t>
            </a:r>
            <a:r>
              <a:t>쓰는</a:t>
            </a:r>
            <a:r>
              <a:t> </a:t>
            </a:r>
            <a:r>
              <a:t>AI라고</a:t>
            </a:r>
            <a:r>
              <a:t> </a:t>
            </a:r>
            <a:r>
              <a:t>해서</a:t>
            </a:r>
            <a:r>
              <a:t> </a:t>
            </a:r>
            <a:r>
              <a:t>모두</a:t>
            </a:r>
            <a:r>
              <a:t> </a:t>
            </a:r>
            <a:r>
              <a:t>고영향</a:t>
            </a:r>
            <a:r>
              <a:t> </a:t>
            </a:r>
            <a:r>
              <a:t>AI가</a:t>
            </a:r>
            <a:r>
              <a:t> </a:t>
            </a:r>
            <a:r>
              <a:t>되는</a:t>
            </a:r>
            <a:r>
              <a:t> </a:t>
            </a:r>
            <a:r>
              <a:t>것은</a:t>
            </a:r>
            <a:r>
              <a:t> </a:t>
            </a:r>
            <a:r>
              <a:t>아닙니다</a:t>
            </a:r>
            <a:r>
              <a:t>. </a:t>
            </a:r>
            <a:r>
              <a:t>활용</a:t>
            </a:r>
            <a:r>
              <a:t> </a:t>
            </a:r>
            <a:r>
              <a:t>영역과</a:t>
            </a:r>
            <a:r>
              <a:t> </a:t>
            </a:r>
            <a:r>
              <a:t>사람에게</a:t>
            </a:r>
            <a:r>
              <a:t> </a:t>
            </a:r>
            <a:r>
              <a:t>미치는</a:t>
            </a:r>
            <a:r>
              <a:t> </a:t>
            </a:r>
            <a:r>
              <a:t>영향을</a:t>
            </a:r>
            <a:r>
              <a:t> </a:t>
            </a:r>
            <a:r>
              <a:t>함께</a:t>
            </a:r>
            <a:r>
              <a:t> </a:t>
            </a:r>
            <a:r>
              <a:t>봐야</a:t>
            </a:r>
            <a:r>
              <a:t> </a:t>
            </a:r>
            <a:r>
              <a:t>합니다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그렇다면</a:t>
            </a:r>
            <a:r>
              <a:t> </a:t>
            </a:r>
            <a:r>
              <a:t>화면의</a:t>
            </a:r>
            <a:r>
              <a:t> 네 </a:t>
            </a:r>
            <a:r>
              <a:t>경우를</a:t>
            </a:r>
            <a:r>
              <a:t> </a:t>
            </a:r>
            <a:r>
              <a:t>같은</a:t>
            </a:r>
            <a:r>
              <a:t> </a:t>
            </a:r>
            <a:r>
              <a:t>수준으로</a:t>
            </a:r>
            <a:r>
              <a:t> 볼 수 </a:t>
            </a:r>
            <a:r>
              <a:t>있을까요</a:t>
            </a:r>
            <a:r>
              <a:t>? </a:t>
            </a:r>
            <a:r>
              <a:t>알림만</a:t>
            </a:r>
            <a:r>
              <a:t> </a:t>
            </a:r>
            <a:r>
              <a:t>제공하는</a:t>
            </a:r>
            <a:r>
              <a:t> </a:t>
            </a:r>
            <a:r>
              <a:t>경우와</a:t>
            </a:r>
            <a:r>
              <a:t> </a:t>
            </a:r>
            <a:r>
              <a:t>계정을</a:t>
            </a:r>
            <a:r>
              <a:t> </a:t>
            </a:r>
            <a:r>
              <a:t>장기간</a:t>
            </a:r>
            <a:r>
              <a:t> </a:t>
            </a:r>
            <a:r>
              <a:t>제한하는</a:t>
            </a:r>
            <a:r>
              <a:t> </a:t>
            </a:r>
            <a:r>
              <a:t>경우는</a:t>
            </a:r>
            <a:r>
              <a:t> </a:t>
            </a:r>
            <a:r>
              <a:t>고객이</a:t>
            </a:r>
            <a:r>
              <a:t> </a:t>
            </a:r>
            <a:r>
              <a:t>겪는</a:t>
            </a:r>
            <a:r>
              <a:t> </a:t>
            </a:r>
            <a:r>
              <a:t>결과가</a:t>
            </a:r>
            <a:r>
              <a:t> </a:t>
            </a:r>
            <a:r>
              <a:t>다릅니다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국내</a:t>
            </a:r>
            <a:r>
              <a:t> </a:t>
            </a:r>
            <a:r>
              <a:t>시행령에도</a:t>
            </a:r>
            <a:r>
              <a:t> </a:t>
            </a:r>
            <a:r>
              <a:t>영향과</a:t>
            </a:r>
            <a:r>
              <a:t> </a:t>
            </a:r>
            <a:r>
              <a:t>중대성</a:t>
            </a:r>
            <a:r>
              <a:t> </a:t>
            </a:r>
            <a:r>
              <a:t>등을</a:t>
            </a:r>
            <a:r>
              <a:t> </a:t>
            </a:r>
            <a:r>
              <a:t>고려하는</a:t>
            </a:r>
            <a:r>
              <a:t> </a:t>
            </a:r>
            <a:r>
              <a:t>기준이</a:t>
            </a:r>
            <a:r>
              <a:t> </a:t>
            </a:r>
            <a:r>
              <a:t>있습니다</a:t>
            </a:r>
            <a:r>
              <a:t>. 제 </a:t>
            </a:r>
            <a:r>
              <a:t>질문은</a:t>
            </a:r>
            <a:r>
              <a:t> 그 </a:t>
            </a:r>
            <a:r>
              <a:t>기준을</a:t>
            </a:r>
            <a:r>
              <a:t> </a:t>
            </a:r>
            <a:r>
              <a:t>실제</a:t>
            </a:r>
            <a:r>
              <a:t> </a:t>
            </a:r>
            <a:r>
              <a:t>거래</a:t>
            </a:r>
            <a:r>
              <a:t> </a:t>
            </a:r>
            <a:r>
              <a:t>제한</a:t>
            </a:r>
            <a:r>
              <a:t> </a:t>
            </a:r>
            <a:r>
              <a:t>상황에</a:t>
            </a:r>
            <a:r>
              <a:t> </a:t>
            </a:r>
            <a:r>
              <a:t>적용했을</a:t>
            </a:r>
            <a:r>
              <a:t> 때, </a:t>
            </a:r>
            <a:r>
              <a:t>판단이</a:t>
            </a:r>
            <a:r>
              <a:t> </a:t>
            </a:r>
            <a:r>
              <a:t>일관되게</a:t>
            </a:r>
            <a:r>
              <a:t> </a:t>
            </a:r>
            <a:r>
              <a:t>나오는가입니다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EU는</a:t>
            </a:r>
            <a:r>
              <a:t> </a:t>
            </a:r>
            <a:r>
              <a:t>신용평가</a:t>
            </a:r>
            <a:r>
              <a:t> </a:t>
            </a:r>
            <a:r>
              <a:t>관련</a:t>
            </a:r>
            <a:r>
              <a:t> </a:t>
            </a:r>
            <a:r>
              <a:t>고위험</a:t>
            </a:r>
            <a:r>
              <a:t> </a:t>
            </a:r>
            <a:r>
              <a:t>항목에서</a:t>
            </a:r>
            <a:r>
              <a:t> </a:t>
            </a:r>
            <a:r>
              <a:t>금융사기</a:t>
            </a:r>
            <a:r>
              <a:t> </a:t>
            </a:r>
            <a:r>
              <a:t>탐지</a:t>
            </a:r>
            <a:r>
              <a:t> </a:t>
            </a:r>
            <a:r>
              <a:t>목적의</a:t>
            </a:r>
            <a:r>
              <a:t> </a:t>
            </a:r>
            <a:r>
              <a:t>AI에</a:t>
            </a:r>
            <a:r>
              <a:t> </a:t>
            </a:r>
            <a:r>
              <a:t>예외를</a:t>
            </a:r>
            <a:r>
              <a:t> </a:t>
            </a:r>
            <a:r>
              <a:t>두고</a:t>
            </a:r>
            <a:r>
              <a:t> </a:t>
            </a:r>
            <a:r>
              <a:t>있습니다</a:t>
            </a:r>
            <a:r>
              <a:t>. </a:t>
            </a:r>
            <a:r>
              <a:t>국내에서도</a:t>
            </a:r>
            <a:r>
              <a:t> </a:t>
            </a:r>
            <a:r>
              <a:t>같은</a:t>
            </a:r>
            <a:r>
              <a:t> </a:t>
            </a:r>
            <a:r>
              <a:t>결론이</a:t>
            </a:r>
            <a:r>
              <a:t> </a:t>
            </a:r>
            <a:r>
              <a:t>나오는지</a:t>
            </a:r>
            <a:r>
              <a:t>, </a:t>
            </a:r>
            <a:r>
              <a:t>다르다면</a:t>
            </a:r>
            <a:r>
              <a:t> 그 </a:t>
            </a:r>
            <a:r>
              <a:t>이유가</a:t>
            </a:r>
            <a:r>
              <a:t> </a:t>
            </a:r>
            <a:r>
              <a:t>무엇인지</a:t>
            </a:r>
            <a:r>
              <a:t> </a:t>
            </a:r>
            <a:r>
              <a:t>비교하겠습니다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기존</a:t>
            </a:r>
            <a:r>
              <a:t> </a:t>
            </a:r>
            <a:r>
              <a:t>연구가</a:t>
            </a:r>
            <a:r>
              <a:t> </a:t>
            </a:r>
            <a:r>
              <a:t>금융</a:t>
            </a:r>
            <a:r>
              <a:t> </a:t>
            </a:r>
            <a:r>
              <a:t>AI의</a:t>
            </a:r>
            <a:r>
              <a:t> </a:t>
            </a:r>
            <a:r>
              <a:t>규제</a:t>
            </a:r>
            <a:r>
              <a:t> </a:t>
            </a:r>
            <a:r>
              <a:t>구조를</a:t>
            </a:r>
            <a:r>
              <a:t> </a:t>
            </a:r>
            <a:r>
              <a:t>설명했다면</a:t>
            </a:r>
            <a:r>
              <a:t>, </a:t>
            </a:r>
            <a:r>
              <a:t>저는</a:t>
            </a:r>
            <a:r>
              <a:t> </a:t>
            </a:r>
            <a:r>
              <a:t>제한</a:t>
            </a:r>
            <a:r>
              <a:t> </a:t>
            </a:r>
            <a:r>
              <a:t>기간과</a:t>
            </a:r>
            <a:r>
              <a:t> </a:t>
            </a:r>
            <a:r>
              <a:t>범위</a:t>
            </a:r>
            <a:r>
              <a:t>, </a:t>
            </a:r>
            <a:r>
              <a:t>해제</a:t>
            </a:r>
            <a:r>
              <a:t> </a:t>
            </a:r>
            <a:r>
              <a:t>가능성</a:t>
            </a:r>
            <a:r>
              <a:t>, </a:t>
            </a:r>
            <a:r>
              <a:t>사람의</a:t>
            </a:r>
            <a:r>
              <a:t> </a:t>
            </a:r>
            <a:r>
              <a:t>실질적인</a:t>
            </a:r>
            <a:r>
              <a:t> </a:t>
            </a:r>
            <a:r>
              <a:t>개입을</a:t>
            </a:r>
            <a:r>
              <a:t> </a:t>
            </a:r>
            <a:r>
              <a:t>구체적인</a:t>
            </a:r>
            <a:r>
              <a:t> </a:t>
            </a:r>
            <a:r>
              <a:t>사례에</a:t>
            </a:r>
            <a:r>
              <a:t> </a:t>
            </a:r>
            <a:r>
              <a:t>대입하겠습니다</a:t>
            </a:r>
            <a:r>
              <a:t>. </a:t>
            </a:r>
            <a:r>
              <a:t>규제</a:t>
            </a:r>
            <a:r>
              <a:t> </a:t>
            </a:r>
            <a:r>
              <a:t>공백이</a:t>
            </a:r>
            <a:r>
              <a:t> </a:t>
            </a:r>
            <a:r>
              <a:t>있다는</a:t>
            </a:r>
            <a:r>
              <a:t> </a:t>
            </a:r>
            <a:r>
              <a:t>결론은</a:t>
            </a:r>
            <a:r>
              <a:t> 이 </a:t>
            </a:r>
            <a:r>
              <a:t>분석</a:t>
            </a:r>
            <a:r>
              <a:t> </a:t>
            </a:r>
            <a:r>
              <a:t>이후에</a:t>
            </a:r>
            <a:r>
              <a:t> </a:t>
            </a:r>
            <a:r>
              <a:t>판단하겠습니다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</a:t>
            </a:r>
            <a:r>
              <a:t>해석</a:t>
            </a:r>
            <a:r>
              <a:t> </a:t>
            </a:r>
            <a:r>
              <a:t>범위</a:t>
            </a:r>
            <a:r>
              <a:t>]</a:t>
            </a:r>
          </a:p>
          <a:p xmlns:a="http://schemas.openxmlformats.org/drawingml/2006/main">
            <a:r>
              <a:t>표의</a:t>
            </a:r>
            <a:r>
              <a:t> 세 </a:t>
            </a:r>
            <a:r>
              <a:t>열은</a:t>
            </a:r>
            <a:r>
              <a:t> </a:t>
            </a:r>
            <a:r>
              <a:t>판단</a:t>
            </a:r>
            <a:r>
              <a:t> </a:t>
            </a:r>
            <a:r>
              <a:t>근거</a:t>
            </a:r>
            <a:r>
              <a:t>, </a:t>
            </a:r>
            <a:r>
              <a:t>시나리오</a:t>
            </a:r>
            <a:r>
              <a:t>, </a:t>
            </a:r>
            <a:r>
              <a:t>질문의</a:t>
            </a:r>
            <a:r>
              <a:t> </a:t>
            </a:r>
            <a:r>
              <a:t>독립적인</a:t>
            </a:r>
            <a:r>
              <a:t> </a:t>
            </a:r>
            <a:r>
              <a:t>목록이다</a:t>
            </a:r>
            <a:r>
              <a:t>. </a:t>
            </a:r>
            <a:r>
              <a:t>같은</a:t>
            </a:r>
            <a:r>
              <a:t> </a:t>
            </a:r>
            <a:r>
              <a:t>행끼리</a:t>
            </a:r>
            <a:r>
              <a:t> </a:t>
            </a:r>
            <a:r>
              <a:t>일대일</a:t>
            </a:r>
            <a:r>
              <a:t> </a:t>
            </a:r>
            <a:r>
              <a:t>법적</a:t>
            </a:r>
            <a:r>
              <a:t> </a:t>
            </a:r>
            <a:r>
              <a:t>대응을</a:t>
            </a:r>
            <a:r>
              <a:t> </a:t>
            </a:r>
            <a:r>
              <a:t>의미하지</a:t>
            </a:r>
            <a:r>
              <a:t> </a:t>
            </a:r>
            <a:r>
              <a:t>않는다</a:t>
            </a:r>
            <a:r>
              <a:t>. 네 </a:t>
            </a:r>
            <a:r>
              <a:t>시나리오는</a:t>
            </a:r>
            <a:r>
              <a:t> </a:t>
            </a:r>
            <a:r>
              <a:t>확정된</a:t>
            </a:r>
            <a:r>
              <a:t> </a:t>
            </a:r>
            <a:r>
              <a:t>법적</a:t>
            </a:r>
            <a:r>
              <a:t> </a:t>
            </a:r>
            <a:r>
              <a:t>분류나</a:t>
            </a:r>
            <a:r>
              <a:t> </a:t>
            </a:r>
            <a:r>
              <a:t>현장</a:t>
            </a:r>
            <a:r>
              <a:t> </a:t>
            </a:r>
            <a:r>
              <a:t>실증</a:t>
            </a:r>
            <a:r>
              <a:t> </a:t>
            </a:r>
            <a:r>
              <a:t>결과가</a:t>
            </a:r>
            <a:r>
              <a:t> </a:t>
            </a:r>
            <a:r>
              <a:t>아니다</a:t>
            </a:r>
            <a:r>
              <a:t>.</a:t>
            </a:r>
          </a:p>
          <a:p xmlns:a="http://schemas.openxmlformats.org/drawingml/2006/main">
            <a:r>
              <a:t>국내</a:t>
            </a:r>
            <a:r>
              <a:t> </a:t>
            </a:r>
            <a:r>
              <a:t>고영향</a:t>
            </a:r>
            <a:r>
              <a:t> </a:t>
            </a:r>
            <a:r>
              <a:t>해당성과</a:t>
            </a:r>
            <a:r>
              <a:t> EU </a:t>
            </a:r>
            <a:r>
              <a:t>고위험</a:t>
            </a:r>
            <a:r>
              <a:t> </a:t>
            </a:r>
            <a:r>
              <a:t>분류는</a:t>
            </a:r>
            <a:r>
              <a:t> </a:t>
            </a:r>
            <a:r>
              <a:t>동일하지</a:t>
            </a:r>
            <a:r>
              <a:t> </a:t>
            </a:r>
            <a:r>
              <a:t>않다</a:t>
            </a:r>
            <a:r>
              <a:t>. EU Annex III 5(b)의 </a:t>
            </a:r>
            <a:r>
              <a:t>사기</a:t>
            </a:r>
            <a:r>
              <a:t> </a:t>
            </a:r>
            <a:r>
              <a:t>탐지</a:t>
            </a:r>
            <a:r>
              <a:t> </a:t>
            </a:r>
            <a:r>
              <a:t>예외는</a:t>
            </a:r>
            <a:r>
              <a:t> </a:t>
            </a:r>
            <a:r>
              <a:t>다른</a:t>
            </a:r>
            <a:r>
              <a:t> </a:t>
            </a:r>
            <a:r>
              <a:t>조항과</a:t>
            </a:r>
            <a:r>
              <a:t> </a:t>
            </a:r>
            <a:r>
              <a:t>인접</a:t>
            </a:r>
            <a:r>
              <a:t> </a:t>
            </a:r>
            <a:r>
              <a:t>법률의</a:t>
            </a:r>
            <a:r>
              <a:t> </a:t>
            </a:r>
            <a:r>
              <a:t>의무까지</a:t>
            </a:r>
            <a:r>
              <a:t> </a:t>
            </a:r>
            <a:r>
              <a:t>면제한다는</a:t>
            </a:r>
            <a:r>
              <a:t> </a:t>
            </a:r>
            <a:r>
              <a:t>뜻이</a:t>
            </a:r>
            <a:r>
              <a:t> </a:t>
            </a:r>
            <a:r>
              <a:t>아니다</a:t>
            </a:r>
            <a:r>
              <a:t>. </a:t>
            </a:r>
            <a:r>
              <a:t>사람의</a:t>
            </a:r>
            <a:r>
              <a:t> </a:t>
            </a:r>
            <a:r>
              <a:t>형식적인</a:t>
            </a:r>
            <a:r>
              <a:t> </a:t>
            </a:r>
            <a:r>
              <a:t>승인만으로</a:t>
            </a:r>
            <a:r>
              <a:t> </a:t>
            </a:r>
            <a:r>
              <a:t>고영향에서</a:t>
            </a:r>
            <a:r>
              <a:t> </a:t>
            </a:r>
            <a:r>
              <a:t>제외된다고</a:t>
            </a:r>
            <a:r>
              <a:t> </a:t>
            </a:r>
            <a:r>
              <a:t>가정하지</a:t>
            </a:r>
            <a:r>
              <a:t> </a:t>
            </a:r>
            <a:r>
              <a:t>않는다</a:t>
            </a:r>
            <a:r>
              <a:t>.</a:t>
            </a:r>
          </a:p>
          <a:p xmlns:a="http://schemas.openxmlformats.org/drawingml/2006/main">
            <a:r>
              <a:t>기존</a:t>
            </a:r>
            <a:r>
              <a:t> </a:t>
            </a:r>
            <a:r>
              <a:t>고영향</a:t>
            </a:r>
            <a:r>
              <a:t> </a:t>
            </a:r>
            <a:r>
              <a:t>판단</a:t>
            </a:r>
            <a:r>
              <a:t> </a:t>
            </a:r>
            <a:r>
              <a:t>가이드라인</a:t>
            </a:r>
            <a:r>
              <a:t> 및 </a:t>
            </a:r>
            <a:r>
              <a:t>금융</a:t>
            </a:r>
            <a:r>
              <a:t> AI </a:t>
            </a:r>
            <a:r>
              <a:t>위험관리</a:t>
            </a:r>
            <a:r>
              <a:t> </a:t>
            </a:r>
            <a:r>
              <a:t>프레임워크의</a:t>
            </a:r>
            <a:r>
              <a:t> </a:t>
            </a:r>
            <a:r>
              <a:t>관련</a:t>
            </a:r>
            <a:r>
              <a:t> </a:t>
            </a:r>
            <a:r>
              <a:t>항목을</a:t>
            </a:r>
            <a:r>
              <a:t> </a:t>
            </a:r>
            <a:r>
              <a:t>먼저</a:t>
            </a:r>
            <a:r>
              <a:t> </a:t>
            </a:r>
            <a:r>
              <a:t>대조한다</a:t>
            </a:r>
            <a:r>
              <a:t>. </a:t>
            </a:r>
            <a:r>
              <a:t>금융</a:t>
            </a:r>
            <a:r>
              <a:t> </a:t>
            </a:r>
            <a:r>
              <a:t>가이드라인의</a:t>
            </a:r>
            <a:r>
              <a:t> </a:t>
            </a:r>
            <a:r>
              <a:t>자율규제와</a:t>
            </a:r>
            <a:r>
              <a:t> </a:t>
            </a:r>
            <a:r>
              <a:t>법정</a:t>
            </a:r>
            <a:r>
              <a:t> </a:t>
            </a:r>
            <a:r>
              <a:t>의무를</a:t>
            </a:r>
            <a:r>
              <a:t> </a:t>
            </a:r>
            <a:r>
              <a:t>구분한다</a:t>
            </a:r>
            <a:r>
              <a:t>. </a:t>
            </a:r>
            <a:r>
              <a:t>기존</a:t>
            </a:r>
            <a:r>
              <a:t> </a:t>
            </a:r>
            <a:r>
              <a:t>선행연구의</a:t>
            </a:r>
            <a:r>
              <a:t> </a:t>
            </a:r>
            <a:r>
              <a:t>전체</a:t>
            </a:r>
            <a:r>
              <a:t> </a:t>
            </a:r>
            <a:r>
              <a:t>원문</a:t>
            </a:r>
            <a:r>
              <a:t> </a:t>
            </a:r>
            <a:r>
              <a:t>검토</a:t>
            </a:r>
            <a:r>
              <a:t> 및 </a:t>
            </a:r>
            <a:r>
              <a:t>연구</a:t>
            </a:r>
            <a:r>
              <a:t> </a:t>
            </a:r>
            <a:r>
              <a:t>신규성</a:t>
            </a:r>
            <a:r>
              <a:t> </a:t>
            </a:r>
            <a:r>
              <a:t>확정은</a:t>
            </a:r>
            <a:r>
              <a:t> </a:t>
            </a:r>
            <a:r>
              <a:t>후속</a:t>
            </a:r>
            <a:r>
              <a:t> </a:t>
            </a:r>
            <a:r>
              <a:t>과제다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</a:t>
            </a:r>
            <a:r>
              <a:t>근거</a:t>
            </a:r>
            <a:r>
              <a:t> 및 </a:t>
            </a:r>
            <a:r>
              <a:t>선행연구</a:t>
            </a:r>
            <a:r>
              <a:t>]</a:t>
            </a:r>
          </a:p>
          <a:p xmlns:a="http://schemas.openxmlformats.org/drawingml/2006/main">
            <a:r>
              <a:t>인공지능기본법</a:t>
            </a:r>
            <a:r>
              <a:t> 제2조 제4호: https://www.law.go.kr/LSW/lsSideInfoP.do?docCls=jo&amp;joBrNo=00&amp;joNo=0002&amp;lsiSeq=282791&amp;urlMode=lsScJoRltInfoR</a:t>
            </a:r>
          </a:p>
          <a:p xmlns:a="http://schemas.openxmlformats.org/drawingml/2006/main">
            <a:r>
              <a:t>시행령</a:t>
            </a:r>
            <a:r>
              <a:t> 제25조 제2항: https://www.law.go.kr/lsLinkCommonInfo.do?chrClsCd=010202&amp;lspttninfSeq=198079</a:t>
            </a:r>
          </a:p>
          <a:p xmlns:a="http://schemas.openxmlformats.org/drawingml/2006/main">
            <a:r>
              <a:t>고영향</a:t>
            </a:r>
            <a:r>
              <a:t> </a:t>
            </a:r>
            <a:r>
              <a:t>판단</a:t>
            </a:r>
            <a:r>
              <a:t> </a:t>
            </a:r>
            <a:r>
              <a:t>가이드라인</a:t>
            </a:r>
            <a:r>
              <a:t> </a:t>
            </a:r>
            <a:r>
              <a:t>공개·수정</a:t>
            </a:r>
            <a:r>
              <a:t> </a:t>
            </a:r>
            <a:r>
              <a:t>안내</a:t>
            </a:r>
            <a:r>
              <a:t>: https://www.nia.or.kr/site/nia_kor/ex/bbs/View.do?bcIdx=28987&amp;cbIdx=99835&amp;deptCode=undefined</a:t>
            </a:r>
          </a:p>
          <a:p xmlns:a="http://schemas.openxmlformats.org/drawingml/2006/main">
            <a:r>
              <a:t>금융위원회</a:t>
            </a:r>
            <a:r>
              <a:t> </a:t>
            </a:r>
            <a:r>
              <a:t>금융분야</a:t>
            </a:r>
            <a:r>
              <a:t> </a:t>
            </a:r>
            <a:r>
              <a:t>인공지능</a:t>
            </a:r>
            <a:r>
              <a:t> </a:t>
            </a:r>
            <a:r>
              <a:t>가이드라인</a:t>
            </a:r>
            <a:r>
              <a:t> </a:t>
            </a:r>
            <a:r>
              <a:t>공식</a:t>
            </a:r>
            <a:r>
              <a:t> </a:t>
            </a:r>
            <a:r>
              <a:t>안내</a:t>
            </a:r>
            <a:r>
              <a:t>: https://fsc.go.kr/po010102/87142?curPage=23&amp;srchBeginDt=&amp;srchCtgry=&amp;srchEndDt=&amp;srchKey=&amp;srchText=</a:t>
            </a:r>
          </a:p>
          <a:p xmlns:a="http://schemas.openxmlformats.org/drawingml/2006/main">
            <a:r>
              <a:t>EU AI Act 제6조 및 Annex III 5(b): https://eur-lex.europa.eu/legal-content/EN/TXT/HTML/?uri=CELEX:02024R1689-20260727</a:t>
            </a:r>
          </a:p>
          <a:p xmlns:a="http://schemas.openxmlformats.org/drawingml/2006/main">
            <a:r>
              <a:t>Hacker, P. &amp; Eber, M. (2025). The Future of Credit Underwriting and Insurance Under the EU AI Act: Implications for Europe and Beyond. Harvard Data Science Review, 7(3). https://hdsr.mitpress.mit.edu/pub/19cwd6qx</a:t>
            </a:r>
          </a:p>
          <a:p xmlns:a="http://schemas.openxmlformats.org/drawingml/2006/main">
            <a:r>
              <a:t>윤혜선</a:t>
            </a:r>
            <a:r>
              <a:t>(2024). </a:t>
            </a:r>
            <a:r>
              <a:t>금융부문</a:t>
            </a:r>
            <a:r>
              <a:t> AI </a:t>
            </a:r>
            <a:r>
              <a:t>규제</a:t>
            </a:r>
            <a:r>
              <a:t> </a:t>
            </a:r>
            <a:r>
              <a:t>체계에</a:t>
            </a:r>
            <a:r>
              <a:t> </a:t>
            </a:r>
            <a:r>
              <a:t>관한</a:t>
            </a:r>
            <a:r>
              <a:t> </a:t>
            </a:r>
            <a:r>
              <a:t>연구</a:t>
            </a:r>
            <a:r>
              <a:t>: </a:t>
            </a:r>
            <a:r>
              <a:t>EU의</a:t>
            </a:r>
            <a:r>
              <a:t> </a:t>
            </a:r>
            <a:r>
              <a:t>입법례를</a:t>
            </a:r>
            <a:r>
              <a:t> </a:t>
            </a:r>
            <a:r>
              <a:t>중심으로</a:t>
            </a:r>
            <a:r>
              <a:t>. </a:t>
            </a:r>
            <a:r>
              <a:t>경제규제와</a:t>
            </a:r>
            <a:r>
              <a:t> 법, 17(2), 76–106. https://www.riss.kr/link?id=A109440674</a:t>
            </a:r>
          </a:p>
          <a:p xmlns:a="http://schemas.openxmlformats.org/drawingml/2006/main">
            <a:r>
              <a:t>출처</a:t>
            </a:r>
            <a:r>
              <a:t> </a:t>
            </a:r>
            <a:r>
              <a:t>확인</a:t>
            </a:r>
            <a:r>
              <a:t> </a:t>
            </a:r>
            <a:r>
              <a:t>기준</a:t>
            </a:r>
            <a:r>
              <a:t>: 2026-10-10 </a:t>
            </a:r>
            <a:r>
              <a:t>대화의</a:t>
            </a:r>
            <a:r>
              <a:t> </a:t>
            </a:r>
            <a:r>
              <a:t>공식</a:t>
            </a:r>
            <a:r>
              <a:t> </a:t>
            </a:r>
            <a:r>
              <a:t>조문</a:t>
            </a:r>
            <a:r>
              <a:t> 및 </a:t>
            </a:r>
            <a:r>
              <a:t>공개</a:t>
            </a:r>
            <a:r>
              <a:t> </a:t>
            </a:r>
            <a:r>
              <a:t>안내</a:t>
            </a:r>
            <a:r>
              <a:t> </a:t>
            </a:r>
            <a:r>
              <a:t>확인</a:t>
            </a:r>
            <a:r>
              <a:t> </a:t>
            </a:r>
            <a:r>
              <a:t>결과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  <a:r>
              <a:t>발표</a:t>
            </a:r>
            <a:r>
              <a:t> </a:t>
            </a:r>
            <a:r>
              <a:t>대본</a:t>
            </a:r>
            <a:r>
              <a:t> · 약 75초]</a:t>
            </a:r>
          </a:p>
          <a:p xmlns:a="http://schemas.openxmlformats.org/drawingml/2006/main">
            <a:r>
              <a:t>연구는</a:t>
            </a:r>
            <a:r>
              <a:t> </a:t>
            </a:r>
            <a:r>
              <a:t>같은</a:t>
            </a:r>
            <a:r>
              <a:t> </a:t>
            </a:r>
            <a:r>
              <a:t>상황을</a:t>
            </a:r>
            <a:r>
              <a:t> </a:t>
            </a:r>
            <a:r>
              <a:t>여러</a:t>
            </a:r>
            <a:r>
              <a:t> </a:t>
            </a:r>
            <a:r>
              <a:t>사람이</a:t>
            </a:r>
            <a:r>
              <a:t> </a:t>
            </a:r>
            <a:r>
              <a:t>판단해도</a:t>
            </a:r>
            <a:r>
              <a:t> </a:t>
            </a:r>
            <a:r>
              <a:t>근거를</a:t>
            </a:r>
            <a:r>
              <a:t> </a:t>
            </a:r>
            <a:r>
              <a:t>따라갈</a:t>
            </a:r>
            <a:r>
              <a:t> 수 </a:t>
            </a:r>
            <a:r>
              <a:t>있게</a:t>
            </a:r>
            <a:r>
              <a:t> </a:t>
            </a:r>
            <a:r>
              <a:t>설계하겠습니다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먼저</a:t>
            </a:r>
            <a:r>
              <a:t> </a:t>
            </a:r>
            <a:r>
              <a:t>법률과</a:t>
            </a:r>
            <a:r>
              <a:t> </a:t>
            </a:r>
            <a:r>
              <a:t>시행령</a:t>
            </a:r>
            <a:r>
              <a:t>, </a:t>
            </a:r>
            <a:r>
              <a:t>기존</a:t>
            </a:r>
            <a:r>
              <a:t> </a:t>
            </a:r>
            <a:r>
              <a:t>가이드라인의</a:t>
            </a:r>
            <a:r>
              <a:t> </a:t>
            </a:r>
            <a:r>
              <a:t>판단</a:t>
            </a:r>
            <a:r>
              <a:t> </a:t>
            </a:r>
            <a:r>
              <a:t>항목을</a:t>
            </a:r>
            <a:r>
              <a:t> </a:t>
            </a:r>
            <a:r>
              <a:t>대조합니다</a:t>
            </a:r>
            <a:r>
              <a:t>. </a:t>
            </a:r>
            <a:r>
              <a:t>그다음</a:t>
            </a:r>
            <a:r>
              <a:t> </a:t>
            </a:r>
            <a:r>
              <a:t>거래</a:t>
            </a:r>
            <a:r>
              <a:t> </a:t>
            </a:r>
            <a:r>
              <a:t>제한</a:t>
            </a:r>
            <a:r>
              <a:t> </a:t>
            </a:r>
            <a:r>
              <a:t>시나리오를</a:t>
            </a:r>
            <a:r>
              <a:t> </a:t>
            </a:r>
            <a:r>
              <a:t>구성할</a:t>
            </a:r>
            <a:r>
              <a:t> </a:t>
            </a:r>
            <a:r>
              <a:t>계획입니다</a:t>
            </a:r>
            <a:r>
              <a:t>. </a:t>
            </a:r>
            <a:r>
              <a:t>제한</a:t>
            </a:r>
            <a:r>
              <a:t> </a:t>
            </a:r>
            <a:r>
              <a:t>기간이나</a:t>
            </a:r>
            <a:r>
              <a:t> </a:t>
            </a:r>
            <a:r>
              <a:t>범위</a:t>
            </a:r>
            <a:r>
              <a:t>, </a:t>
            </a:r>
            <a:r>
              <a:t>해제</a:t>
            </a:r>
            <a:r>
              <a:t> </a:t>
            </a:r>
            <a:r>
              <a:t>절차처럼</a:t>
            </a:r>
            <a:r>
              <a:t> </a:t>
            </a:r>
            <a:r>
              <a:t>비교할</a:t>
            </a:r>
            <a:r>
              <a:t> </a:t>
            </a:r>
            <a:r>
              <a:t>조건을</a:t>
            </a:r>
            <a:r>
              <a:t> </a:t>
            </a:r>
            <a:r>
              <a:t>정하고</a:t>
            </a:r>
            <a:r>
              <a:t>, </a:t>
            </a:r>
            <a:r>
              <a:t>조건이</a:t>
            </a:r>
            <a:r>
              <a:t> </a:t>
            </a:r>
            <a:r>
              <a:t>달라질</a:t>
            </a:r>
            <a:r>
              <a:t> 때 </a:t>
            </a:r>
            <a:r>
              <a:t>판단이</a:t>
            </a:r>
            <a:r>
              <a:t> </a:t>
            </a:r>
            <a:r>
              <a:t>어떻게</a:t>
            </a:r>
            <a:r>
              <a:t> </a:t>
            </a:r>
            <a:r>
              <a:t>바뀌는지</a:t>
            </a:r>
            <a:r>
              <a:t> </a:t>
            </a:r>
            <a:r>
              <a:t>확인하겠습니다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기존</a:t>
            </a:r>
            <a:r>
              <a:t> </a:t>
            </a:r>
            <a:r>
              <a:t>기준을</a:t>
            </a:r>
            <a:r>
              <a:t> </a:t>
            </a:r>
            <a:r>
              <a:t>먼저</a:t>
            </a:r>
            <a:r>
              <a:t> </a:t>
            </a:r>
            <a:r>
              <a:t>적용하고</a:t>
            </a:r>
            <a:r>
              <a:t>, </a:t>
            </a:r>
            <a:r>
              <a:t>판단이</a:t>
            </a:r>
            <a:r>
              <a:t> </a:t>
            </a:r>
            <a:r>
              <a:t>갈리는</a:t>
            </a:r>
            <a:r>
              <a:t> </a:t>
            </a:r>
            <a:r>
              <a:t>부분에</a:t>
            </a:r>
            <a:r>
              <a:t> </a:t>
            </a:r>
            <a:r>
              <a:t>보완</a:t>
            </a:r>
            <a:r>
              <a:t> </a:t>
            </a:r>
            <a:r>
              <a:t>기준을</a:t>
            </a:r>
            <a:r>
              <a:t> </a:t>
            </a:r>
            <a:r>
              <a:t>제안하겠습니다</a:t>
            </a:r>
            <a:r>
              <a:t>. </a:t>
            </a:r>
            <a:r>
              <a:t>이후</a:t>
            </a:r>
            <a:r>
              <a:t> </a:t>
            </a:r>
            <a:r>
              <a:t>금융보안과</a:t>
            </a:r>
            <a:r>
              <a:t> </a:t>
            </a:r>
            <a:r>
              <a:t>법률</a:t>
            </a:r>
            <a:r>
              <a:t> </a:t>
            </a:r>
            <a:r>
              <a:t>전문가에게</a:t>
            </a:r>
            <a:r>
              <a:t> </a:t>
            </a:r>
            <a:r>
              <a:t>같은</a:t>
            </a:r>
            <a:r>
              <a:t> </a:t>
            </a:r>
            <a:r>
              <a:t>사례를</a:t>
            </a:r>
            <a:r>
              <a:t> </a:t>
            </a:r>
            <a:r>
              <a:t>독립적으로</a:t>
            </a:r>
            <a:r>
              <a:t> </a:t>
            </a:r>
            <a:r>
              <a:t>검토받겠습니다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신뢰도는</a:t>
            </a:r>
            <a:r>
              <a:t> </a:t>
            </a:r>
            <a:r>
              <a:t>평가자</a:t>
            </a:r>
            <a:r>
              <a:t> 간 </a:t>
            </a:r>
            <a:r>
              <a:t>판단</a:t>
            </a:r>
            <a:r>
              <a:t> </a:t>
            </a:r>
            <a:r>
              <a:t>일치도와</a:t>
            </a:r>
            <a:r>
              <a:t> </a:t>
            </a:r>
            <a:r>
              <a:t>불일치</a:t>
            </a:r>
            <a:r>
              <a:t> </a:t>
            </a:r>
            <a:r>
              <a:t>사유로</a:t>
            </a:r>
            <a:r>
              <a:t> </a:t>
            </a:r>
            <a:r>
              <a:t>확인합니다</a:t>
            </a:r>
            <a:r>
              <a:t>. </a:t>
            </a:r>
            <a:r>
              <a:t>타당성은</a:t>
            </a:r>
            <a:r>
              <a:t> 각 </a:t>
            </a:r>
            <a:r>
              <a:t>항목이</a:t>
            </a:r>
            <a:r>
              <a:t> 법 </a:t>
            </a:r>
            <a:r>
              <a:t>조항에</a:t>
            </a:r>
            <a:r>
              <a:t> </a:t>
            </a:r>
            <a:r>
              <a:t>근거하는지</a:t>
            </a:r>
            <a:r>
              <a:t>, </a:t>
            </a:r>
            <a:r>
              <a:t>중요한</a:t>
            </a:r>
            <a:r>
              <a:t> </a:t>
            </a:r>
            <a:r>
              <a:t>영향을</a:t>
            </a:r>
            <a:r>
              <a:t> </a:t>
            </a:r>
            <a:r>
              <a:t>놓치지</a:t>
            </a:r>
            <a:r>
              <a:t> </a:t>
            </a:r>
            <a:r>
              <a:t>않는지</a:t>
            </a:r>
            <a:r>
              <a:t> </a:t>
            </a:r>
            <a:r>
              <a:t>검토하겠습니다</a:t>
            </a:r>
            <a:r>
              <a:t>. </a:t>
            </a:r>
            <a:r>
              <a:t>서로</a:t>
            </a:r>
            <a:r>
              <a:t> </a:t>
            </a:r>
            <a:r>
              <a:t>같은</a:t>
            </a:r>
            <a:r>
              <a:t> </a:t>
            </a:r>
            <a:r>
              <a:t>답을</a:t>
            </a:r>
            <a:r>
              <a:t> </a:t>
            </a:r>
            <a:r>
              <a:t>했다는</a:t>
            </a:r>
            <a:r>
              <a:t> </a:t>
            </a:r>
            <a:r>
              <a:t>사실만으로</a:t>
            </a:r>
            <a:r>
              <a:t> </a:t>
            </a:r>
            <a:r>
              <a:t>법적으로</a:t>
            </a:r>
            <a:r>
              <a:t> </a:t>
            </a:r>
            <a:r>
              <a:t>옳다고</a:t>
            </a:r>
            <a:r>
              <a:t> </a:t>
            </a:r>
            <a:r>
              <a:t>결론</a:t>
            </a:r>
            <a:r>
              <a:t> </a:t>
            </a:r>
            <a:r>
              <a:t>내리지는</a:t>
            </a:r>
            <a:r>
              <a:t> </a:t>
            </a:r>
            <a:r>
              <a:t>않겠습니다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최종</a:t>
            </a:r>
            <a:r>
              <a:t> </a:t>
            </a:r>
            <a:r>
              <a:t>산출물은</a:t>
            </a:r>
            <a:r>
              <a:t> </a:t>
            </a:r>
            <a:r>
              <a:t>판단</a:t>
            </a:r>
            <a:r>
              <a:t> </a:t>
            </a:r>
            <a:r>
              <a:t>절차도와</a:t>
            </a:r>
            <a:r>
              <a:t> </a:t>
            </a:r>
            <a:r>
              <a:t>근거표</a:t>
            </a:r>
            <a:r>
              <a:t>, </a:t>
            </a:r>
            <a:r>
              <a:t>지침</a:t>
            </a:r>
            <a:r>
              <a:t> </a:t>
            </a:r>
            <a:r>
              <a:t>보완안입니다</a:t>
            </a:r>
            <a:r>
              <a:t>. </a:t>
            </a:r>
            <a:r>
              <a:t>현장에서</a:t>
            </a:r>
            <a:r>
              <a:t> 왜 </a:t>
            </a:r>
            <a:r>
              <a:t>고영향으로</a:t>
            </a:r>
            <a:r>
              <a:t> </a:t>
            </a:r>
            <a:r>
              <a:t>판단했는지</a:t>
            </a:r>
            <a:r>
              <a:t>, </a:t>
            </a:r>
            <a:r>
              <a:t>무엇이</a:t>
            </a:r>
            <a:r>
              <a:t> </a:t>
            </a:r>
            <a:r>
              <a:t>불명확해</a:t>
            </a:r>
            <a:r>
              <a:t> </a:t>
            </a:r>
            <a:r>
              <a:t>추가</a:t>
            </a:r>
            <a:r>
              <a:t> </a:t>
            </a:r>
            <a:r>
              <a:t>확인이</a:t>
            </a:r>
            <a:r>
              <a:t> </a:t>
            </a:r>
            <a:r>
              <a:t>필요한지</a:t>
            </a:r>
            <a:r>
              <a:t> </a:t>
            </a:r>
            <a:r>
              <a:t>설명할</a:t>
            </a:r>
            <a:r>
              <a:t> 수 </a:t>
            </a:r>
            <a:r>
              <a:t>있는</a:t>
            </a:r>
            <a:r>
              <a:t> </a:t>
            </a:r>
            <a:r>
              <a:t>기준을</a:t>
            </a:r>
            <a:r>
              <a:t> </a:t>
            </a:r>
            <a:r>
              <a:t>제시하는</a:t>
            </a:r>
            <a:r>
              <a:t> </a:t>
            </a:r>
            <a:r>
              <a:t>것이</a:t>
            </a:r>
            <a:r>
              <a:t> </a:t>
            </a:r>
            <a:r>
              <a:t>목표입니다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</a:t>
            </a:r>
            <a:r>
              <a:t>연구설계</a:t>
            </a:r>
            <a:r>
              <a:t> </a:t>
            </a:r>
            <a:r>
              <a:t>상세</a:t>
            </a:r>
            <a:r>
              <a:t>]</a:t>
            </a:r>
          </a:p>
          <a:p xmlns:a="http://schemas.openxmlformats.org/drawingml/2006/main">
            <a:r>
              <a:t>12개 </a:t>
            </a:r>
            <a:r>
              <a:t>사례는</a:t>
            </a:r>
            <a:r>
              <a:t> </a:t>
            </a:r>
            <a:r>
              <a:t>계획</a:t>
            </a:r>
            <a:r>
              <a:t> </a:t>
            </a:r>
            <a:r>
              <a:t>수량이며</a:t>
            </a:r>
            <a:r>
              <a:t> </a:t>
            </a:r>
            <a:r>
              <a:t>연구</a:t>
            </a:r>
            <a:r>
              <a:t> </a:t>
            </a:r>
            <a:r>
              <a:t>결과가</a:t>
            </a:r>
            <a:r>
              <a:t> </a:t>
            </a:r>
            <a:r>
              <a:t>아니다</a:t>
            </a:r>
            <a:r>
              <a:t>. </a:t>
            </a:r>
            <a:r>
              <a:t>기본</a:t>
            </a:r>
            <a:r>
              <a:t> </a:t>
            </a:r>
            <a:r>
              <a:t>상황을</a:t>
            </a:r>
            <a:r>
              <a:t> </a:t>
            </a:r>
            <a:r>
              <a:t>통제하고</a:t>
            </a:r>
            <a:r>
              <a:t> </a:t>
            </a:r>
            <a:r>
              <a:t>제한</a:t>
            </a:r>
            <a:r>
              <a:t> </a:t>
            </a:r>
            <a:r>
              <a:t>기간·범위·가역성·인간</a:t>
            </a:r>
            <a:r>
              <a:t> </a:t>
            </a:r>
            <a:r>
              <a:t>개입</a:t>
            </a:r>
            <a:r>
              <a:t> </a:t>
            </a:r>
            <a:r>
              <a:t>조건을</a:t>
            </a:r>
            <a:r>
              <a:t> </a:t>
            </a:r>
            <a:r>
              <a:t>비교한다</a:t>
            </a:r>
            <a:r>
              <a:t>. </a:t>
            </a:r>
            <a:r>
              <a:t>실재</a:t>
            </a:r>
            <a:r>
              <a:t> </a:t>
            </a:r>
            <a:r>
              <a:t>사고와</a:t>
            </a:r>
            <a:r>
              <a:t> </a:t>
            </a:r>
            <a:r>
              <a:t>합성</a:t>
            </a:r>
            <a:r>
              <a:t> </a:t>
            </a:r>
            <a:r>
              <a:t>시나리오를</a:t>
            </a:r>
            <a:r>
              <a:t> </a:t>
            </a:r>
            <a:r>
              <a:t>구분한다</a:t>
            </a:r>
            <a:r>
              <a:t>. </a:t>
            </a:r>
            <a:r>
              <a:t>사례</a:t>
            </a:r>
            <a:r>
              <a:t> </a:t>
            </a:r>
            <a:r>
              <a:t>선정</a:t>
            </a:r>
            <a:r>
              <a:t> </a:t>
            </a:r>
            <a:r>
              <a:t>기준과</a:t>
            </a:r>
            <a:r>
              <a:t> </a:t>
            </a:r>
            <a:r>
              <a:t>제외</a:t>
            </a:r>
            <a:r>
              <a:t> </a:t>
            </a:r>
            <a:r>
              <a:t>기준을</a:t>
            </a:r>
            <a:r>
              <a:t> </a:t>
            </a:r>
            <a:r>
              <a:t>기록한다</a:t>
            </a:r>
            <a:r>
              <a:t>.</a:t>
            </a:r>
          </a:p>
          <a:p xmlns:a="http://schemas.openxmlformats.org/drawingml/2006/main">
            <a:r>
              <a:t>기존</a:t>
            </a:r>
            <a:r>
              <a:t> </a:t>
            </a:r>
            <a:r>
              <a:t>기준과</a:t>
            </a:r>
            <a:r>
              <a:t> </a:t>
            </a:r>
            <a:r>
              <a:t>제안</a:t>
            </a:r>
            <a:r>
              <a:t> </a:t>
            </a:r>
            <a:r>
              <a:t>기준의</a:t>
            </a:r>
            <a:r>
              <a:t> </a:t>
            </a:r>
            <a:r>
              <a:t>평가</a:t>
            </a:r>
            <a:r>
              <a:t> </a:t>
            </a:r>
            <a:r>
              <a:t>순서에</a:t>
            </a:r>
            <a:r>
              <a:t> </a:t>
            </a:r>
            <a:r>
              <a:t>따른</a:t>
            </a:r>
            <a:r>
              <a:t> </a:t>
            </a:r>
            <a:r>
              <a:t>학습</a:t>
            </a:r>
            <a:r>
              <a:t> </a:t>
            </a:r>
            <a:r>
              <a:t>효과를</a:t>
            </a:r>
            <a:r>
              <a:t> </a:t>
            </a:r>
            <a:r>
              <a:t>줄이도록</a:t>
            </a:r>
            <a:r>
              <a:t> </a:t>
            </a:r>
            <a:r>
              <a:t>평가</a:t>
            </a:r>
            <a:r>
              <a:t> </a:t>
            </a:r>
            <a:r>
              <a:t>순서</a:t>
            </a:r>
            <a:r>
              <a:t> </a:t>
            </a:r>
            <a:r>
              <a:t>교차</a:t>
            </a:r>
            <a:r>
              <a:t> </a:t>
            </a:r>
            <a:r>
              <a:t>배치</a:t>
            </a:r>
            <a:r>
              <a:t> </a:t>
            </a:r>
            <a:r>
              <a:t>또는</a:t>
            </a:r>
            <a:r>
              <a:t> </a:t>
            </a:r>
            <a:r>
              <a:t>평가자</a:t>
            </a:r>
            <a:r>
              <a:t> </a:t>
            </a:r>
            <a:r>
              <a:t>집단</a:t>
            </a:r>
            <a:r>
              <a:t> </a:t>
            </a:r>
            <a:r>
              <a:t>분리</a:t>
            </a:r>
            <a:r>
              <a:t> </a:t>
            </a:r>
            <a:r>
              <a:t>등을</a:t>
            </a:r>
            <a:r>
              <a:t> </a:t>
            </a:r>
            <a:r>
              <a:t>설계한다</a:t>
            </a:r>
            <a:r>
              <a:t>. </a:t>
            </a:r>
            <a:r>
              <a:t>전문가</a:t>
            </a:r>
            <a:r>
              <a:t> </a:t>
            </a:r>
            <a:r>
              <a:t>수·자격</a:t>
            </a:r>
            <a:r>
              <a:t> </a:t>
            </a:r>
            <a:r>
              <a:t>기준·평가</a:t>
            </a:r>
            <a:r>
              <a:t> </a:t>
            </a:r>
            <a:r>
              <a:t>절차·일치도</a:t>
            </a:r>
            <a:r>
              <a:t> </a:t>
            </a:r>
            <a:r>
              <a:t>지표는</a:t>
            </a:r>
            <a:r>
              <a:t> </a:t>
            </a:r>
            <a:r>
              <a:t>예비검토</a:t>
            </a:r>
            <a:r>
              <a:t> 후 </a:t>
            </a:r>
            <a:r>
              <a:t>확정한다</a:t>
            </a:r>
            <a:r>
              <a:t>. </a:t>
            </a:r>
            <a:r>
              <a:t>표본이</a:t>
            </a:r>
            <a:r>
              <a:t> </a:t>
            </a:r>
            <a:r>
              <a:t>작으면</a:t>
            </a:r>
            <a:r>
              <a:t> </a:t>
            </a:r>
            <a:r>
              <a:t>결과를</a:t>
            </a:r>
            <a:r>
              <a:t> </a:t>
            </a:r>
            <a:r>
              <a:t>탐색적</a:t>
            </a:r>
            <a:r>
              <a:t> </a:t>
            </a:r>
            <a:r>
              <a:t>검토로</a:t>
            </a:r>
            <a:r>
              <a:t> </a:t>
            </a:r>
            <a:r>
              <a:t>제한한다</a:t>
            </a:r>
            <a:r>
              <a:t>.</a:t>
            </a:r>
          </a:p>
          <a:p xmlns:a="http://schemas.openxmlformats.org/drawingml/2006/main">
            <a:r>
              <a:t>평가자</a:t>
            </a:r>
            <a:r>
              <a:t> </a:t>
            </a:r>
            <a:r>
              <a:t>일치도는</a:t>
            </a:r>
            <a:r>
              <a:t> </a:t>
            </a:r>
            <a:r>
              <a:t>신뢰도</a:t>
            </a:r>
            <a:r>
              <a:t> </a:t>
            </a:r>
            <a:r>
              <a:t>지표다</a:t>
            </a:r>
            <a:r>
              <a:t>. </a:t>
            </a:r>
            <a:r>
              <a:t>법적</a:t>
            </a:r>
            <a:r>
              <a:t> </a:t>
            </a:r>
            <a:r>
              <a:t>정합성과</a:t>
            </a:r>
            <a:r>
              <a:t> </a:t>
            </a:r>
            <a:r>
              <a:t>내용타당성을</a:t>
            </a:r>
            <a:r>
              <a:t> </a:t>
            </a:r>
            <a:r>
              <a:t>별도로</a:t>
            </a:r>
            <a:r>
              <a:t> </a:t>
            </a:r>
            <a:r>
              <a:t>검토한다</a:t>
            </a:r>
            <a:r>
              <a:t>. </a:t>
            </a:r>
            <a:r>
              <a:t>동일한</a:t>
            </a:r>
            <a:r>
              <a:t> </a:t>
            </a:r>
            <a:r>
              <a:t>오해에</a:t>
            </a:r>
            <a:r>
              <a:t> </a:t>
            </a:r>
            <a:r>
              <a:t>의한</a:t>
            </a:r>
            <a:r>
              <a:t> </a:t>
            </a:r>
            <a:r>
              <a:t>높은</a:t>
            </a:r>
            <a:r>
              <a:t> </a:t>
            </a:r>
            <a:r>
              <a:t>일치도</a:t>
            </a:r>
            <a:r>
              <a:t> </a:t>
            </a:r>
            <a:r>
              <a:t>가능성을</a:t>
            </a:r>
            <a:r>
              <a:t> </a:t>
            </a:r>
            <a:r>
              <a:t>고려하여</a:t>
            </a:r>
            <a:r>
              <a:t> </a:t>
            </a:r>
            <a:r>
              <a:t>판단</a:t>
            </a:r>
            <a:r>
              <a:t> </a:t>
            </a:r>
            <a:r>
              <a:t>사유와</a:t>
            </a:r>
            <a:r>
              <a:t> </a:t>
            </a:r>
            <a:r>
              <a:t>반대</a:t>
            </a:r>
            <a:r>
              <a:t> </a:t>
            </a:r>
            <a:r>
              <a:t>사례를</a:t>
            </a:r>
            <a:r>
              <a:t> </a:t>
            </a:r>
            <a:r>
              <a:t>분석한다</a:t>
            </a:r>
            <a:r>
              <a:t>.</a:t>
            </a:r>
          </a:p>
          <a:p xmlns:a="http://schemas.openxmlformats.org/drawingml/2006/main">
            <a:r>
              <a:t>법적</a:t>
            </a:r>
            <a:r>
              <a:t> </a:t>
            </a:r>
            <a:r>
              <a:t>해당성</a:t>
            </a:r>
            <a:r>
              <a:t> </a:t>
            </a:r>
            <a:r>
              <a:t>판단을</a:t>
            </a:r>
            <a:r>
              <a:t> </a:t>
            </a:r>
            <a:r>
              <a:t>자의적인</a:t>
            </a:r>
            <a:r>
              <a:t> </a:t>
            </a:r>
            <a:r>
              <a:t>위험</a:t>
            </a:r>
            <a:r>
              <a:t> </a:t>
            </a:r>
            <a:r>
              <a:t>총점으로</a:t>
            </a:r>
            <a:r>
              <a:t> </a:t>
            </a:r>
            <a:r>
              <a:t>대체하지</a:t>
            </a:r>
            <a:r>
              <a:t> </a:t>
            </a:r>
            <a:r>
              <a:t>않는다</a:t>
            </a:r>
            <a:r>
              <a:t>. </a:t>
            </a:r>
            <a:r>
              <a:t>제안</a:t>
            </a:r>
            <a:r>
              <a:t> </a:t>
            </a:r>
            <a:r>
              <a:t>절차는</a:t>
            </a:r>
            <a:r>
              <a:t> </a:t>
            </a:r>
            <a:r>
              <a:t>사업자의</a:t>
            </a:r>
            <a:r>
              <a:t> </a:t>
            </a:r>
            <a:r>
              <a:t>사전</a:t>
            </a:r>
            <a:r>
              <a:t> </a:t>
            </a:r>
            <a:r>
              <a:t>검토를</a:t>
            </a:r>
            <a:r>
              <a:t> </a:t>
            </a:r>
            <a:r>
              <a:t>돕는</a:t>
            </a:r>
            <a:r>
              <a:t> </a:t>
            </a:r>
            <a:r>
              <a:t>도구이며</a:t>
            </a:r>
            <a:r>
              <a:t> </a:t>
            </a:r>
            <a:r>
              <a:t>공식</a:t>
            </a:r>
            <a:r>
              <a:t> </a:t>
            </a:r>
            <a:r>
              <a:t>확인을</a:t>
            </a:r>
            <a:r>
              <a:t> </a:t>
            </a:r>
            <a:r>
              <a:t>대체하지</a:t>
            </a:r>
            <a:r>
              <a:t> </a:t>
            </a:r>
            <a:r>
              <a:t>않는다</a:t>
            </a:r>
            <a:r>
              <a:t>. </a:t>
            </a:r>
            <a:r>
              <a:t>법령</a:t>
            </a:r>
            <a:r>
              <a:t> </a:t>
            </a:r>
            <a:r>
              <a:t>개정</a:t>
            </a:r>
            <a:r>
              <a:t> </a:t>
            </a:r>
            <a:r>
              <a:t>필요성을</a:t>
            </a:r>
            <a:r>
              <a:t> </a:t>
            </a:r>
            <a:r>
              <a:t>미리</a:t>
            </a:r>
            <a:r>
              <a:t> </a:t>
            </a:r>
            <a:r>
              <a:t>전제하지</a:t>
            </a:r>
            <a:r>
              <a:t> </a:t>
            </a:r>
            <a:r>
              <a:t>않고</a:t>
            </a:r>
            <a:r>
              <a:t> </a:t>
            </a:r>
            <a:r>
              <a:t>현행</a:t>
            </a:r>
            <a:r>
              <a:t> </a:t>
            </a:r>
            <a:r>
              <a:t>해석·지침</a:t>
            </a:r>
            <a:r>
              <a:t> </a:t>
            </a:r>
            <a:r>
              <a:t>보완으로</a:t>
            </a:r>
            <a:r>
              <a:t> </a:t>
            </a:r>
            <a:r>
              <a:t>해결</a:t>
            </a:r>
            <a:r>
              <a:t> </a:t>
            </a:r>
            <a:r>
              <a:t>가능한지도</a:t>
            </a:r>
            <a:r>
              <a:t> </a:t>
            </a:r>
            <a:r>
              <a:t>검토한다</a:t>
            </a:r>
            <a:r>
              <a:t>.</a:t>
            </a:r>
          </a:p>
          <a:p xmlns:a="http://schemas.openxmlformats.org/drawingml/2006/main">
            <a:r>
              <a:t>표의</a:t>
            </a:r>
            <a:r>
              <a:t> 각 </a:t>
            </a:r>
            <a:r>
              <a:t>열은</a:t>
            </a:r>
            <a:r>
              <a:t> </a:t>
            </a:r>
            <a:r>
              <a:t>분석</a:t>
            </a:r>
            <a:r>
              <a:t> </a:t>
            </a:r>
            <a:r>
              <a:t>절차</a:t>
            </a:r>
            <a:r>
              <a:t>, </a:t>
            </a:r>
            <a:r>
              <a:t>검증</a:t>
            </a:r>
            <a:r>
              <a:t> </a:t>
            </a:r>
            <a:r>
              <a:t>항목</a:t>
            </a:r>
            <a:r>
              <a:t>, </a:t>
            </a:r>
            <a:r>
              <a:t>산출물</a:t>
            </a:r>
            <a:r>
              <a:t> </a:t>
            </a:r>
            <a:r>
              <a:t>목록이며</a:t>
            </a:r>
            <a:r>
              <a:t> </a:t>
            </a:r>
            <a:r>
              <a:t>같은</a:t>
            </a:r>
            <a:r>
              <a:t> </a:t>
            </a:r>
            <a:r>
              <a:t>행끼리만</a:t>
            </a:r>
            <a:r>
              <a:t> </a:t>
            </a:r>
            <a:r>
              <a:t>연결되는</a:t>
            </a:r>
            <a:r>
              <a:t> </a:t>
            </a:r>
            <a:r>
              <a:t>구조가</a:t>
            </a:r>
            <a:r>
              <a:t> </a:t>
            </a:r>
            <a:r>
              <a:t>아니다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</a:t>
            </a:r>
            <a:r>
              <a:t>방법의</a:t>
            </a:r>
            <a:r>
              <a:t> </a:t>
            </a:r>
            <a:r>
              <a:t>근거</a:t>
            </a:r>
            <a:r>
              <a:t>]</a:t>
            </a:r>
          </a:p>
          <a:p xmlns:a="http://schemas.openxmlformats.org/drawingml/2006/main">
            <a:r>
              <a:t>법률과</a:t>
            </a:r>
            <a:r>
              <a:t> </a:t>
            </a:r>
            <a:r>
              <a:t>비교법</a:t>
            </a:r>
            <a:r>
              <a:t> </a:t>
            </a:r>
            <a:r>
              <a:t>자료는</a:t>
            </a:r>
            <a:r>
              <a:t> 2장 </a:t>
            </a:r>
            <a:r>
              <a:t>출처와</a:t>
            </a:r>
            <a:r>
              <a:t> </a:t>
            </a:r>
            <a:r>
              <a:t>같다</a:t>
            </a:r>
            <a:r>
              <a:t>. 12개 </a:t>
            </a:r>
            <a:r>
              <a:t>시나리오</a:t>
            </a:r>
            <a:r>
              <a:t>, </a:t>
            </a:r>
            <a:r>
              <a:t>전문가</a:t>
            </a:r>
            <a:r>
              <a:t> </a:t>
            </a:r>
            <a:r>
              <a:t>검토</a:t>
            </a:r>
            <a:r>
              <a:t> 및 </a:t>
            </a:r>
            <a:r>
              <a:t>산출물은</a:t>
            </a:r>
            <a:r>
              <a:t> </a:t>
            </a:r>
            <a:r>
              <a:t>연구자가</a:t>
            </a:r>
            <a:r>
              <a:t> </a:t>
            </a:r>
            <a:r>
              <a:t>제안하는</a:t>
            </a:r>
            <a:r>
              <a:t> </a:t>
            </a:r>
            <a:r>
              <a:t>연구계획이다</a:t>
            </a:r>
            <a:r>
              <a:t>. </a:t>
            </a:r>
            <a:r>
              <a:t>효과와</a:t>
            </a:r>
            <a:r>
              <a:t> </a:t>
            </a:r>
            <a:r>
              <a:t>신규성은</a:t>
            </a:r>
            <a:r>
              <a:t> </a:t>
            </a:r>
            <a:r>
              <a:t>아직</a:t>
            </a:r>
            <a:r>
              <a:t> </a:t>
            </a:r>
            <a:r>
              <a:t>검증하지</a:t>
            </a:r>
            <a:r>
              <a:t> </a:t>
            </a:r>
            <a:r>
              <a:t>않았다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f33990df0345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a3c619c704e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1b61ba9634d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4b80a848548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6b9c312bf4a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eefd33b2e4d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6BC02E-D73F-4499-BFE9-D27289D75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7A5C69-066C-4136-8FB1-4D38709857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B3A4E4-EA31-42A8-8820-49894A0043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B42D4F-7F95-479C-9B68-7BD60419D4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F2E43C-9234-4701-A0DD-4D6FC15136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D066E4-5FD9-4C4B-855E-BBF229C7B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A18A4E-6E6D-4BCF-97DE-D5456450F8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58CB5C-5C6E-4880-896D-DC1A72DB85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3F6E8E-1F0E-4B05-A371-7FB534600E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35CFC6-DBEF-49EF-BFD2-D7F938F51E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d38081230744f9" /><Relationship Type="http://schemas.openxmlformats.org/officeDocument/2006/relationships/slideLayout" Target="/ppt/slideLayouts/slideLayout1.xml" Id="R071d59dd0fb243dd" /><Relationship Type="http://schemas.openxmlformats.org/officeDocument/2006/relationships/slideLayout" Target="/ppt/slideLayouts/slideLayout2.xml" Id="R19ccc2962e9e4cee" /><Relationship Type="http://schemas.openxmlformats.org/officeDocument/2006/relationships/slideLayout" Target="/ppt/slideLayouts/slideLayout3.xml" Id="R3a44bfa01a2043f0" /><Relationship Type="http://schemas.openxmlformats.org/officeDocument/2006/relationships/slideLayout" Target="/ppt/slideLayouts/slideLayout4.xml" Id="R8cd4f8c0009841a9" /><Relationship Type="http://schemas.openxmlformats.org/officeDocument/2006/relationships/slideLayout" Target="/ppt/slideLayouts/slideLayout5.xml" Id="Re9ae6ce143ae47b1" /><Relationship Type="http://schemas.openxmlformats.org/officeDocument/2006/relationships/slideLayout" Target="/ppt/slideLayouts/slideLayout6.xml" Id="Rf7fe04d6e85945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1d59dd0fb243dd"/>
    <p:sldLayoutId xmlns:r="http://schemas.openxmlformats.org/officeDocument/2006/relationships" id="2147483650" r:id="R19ccc2962e9e4cee"/>
    <p:sldLayoutId xmlns:r="http://schemas.openxmlformats.org/officeDocument/2006/relationships" id="2147483651" r:id="R3a44bfa01a2043f0"/>
    <p:sldLayoutId xmlns:r="http://schemas.openxmlformats.org/officeDocument/2006/relationships" id="2147483652" r:id="R8cd4f8c0009841a9"/>
    <p:sldLayoutId xmlns:r="http://schemas.openxmlformats.org/officeDocument/2006/relationships" id="2147483653" r:id="Re9ae6ce143ae47b1"/>
    <p:sldLayoutId xmlns:r="http://schemas.openxmlformats.org/officeDocument/2006/relationships" id="2147483654" r:id="Rf7fe04d6e85945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67555c02a434b" /><Relationship Type="http://schemas.openxmlformats.org/officeDocument/2006/relationships/image" Target="/ppt/media/image.png" Id="R7a93251d83e54002" /><Relationship Type="http://schemas.openxmlformats.org/officeDocument/2006/relationships/notesSlide" Target="/ppt/notesSlides/notesSlide1.xml" Id="R613a654b1d6c43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764d6f089c413b" /><Relationship Type="http://schemas.openxmlformats.org/officeDocument/2006/relationships/notesSlide" Target="/ppt/notesSlides/notesSlide2.xml" Id="Rf3f366b1a2754e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075db27d74938" /><Relationship Type="http://schemas.openxmlformats.org/officeDocument/2006/relationships/notesSlide" Target="/ppt/notesSlides/notesSlide3.xml" Id="R62e6038ad61745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5453277A-377D-411F-A73F-ED55D8D5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AI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거버넌스 기반의 연구방법론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소논문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연구계획</a:t>
            </a:r>
            <a:endParaRPr sz="1500" b="1">
              <a:solidFill>
                <a:srgbClr val="009B3A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2FEEE41-F132-4509-9AB4-CEAB4572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687E119-6D8A-4613-83EB-DCD4A4D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rPr>
              <a:t>금융보안 AI의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2CE925B-ED22-4FE0-904F-DE374B29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rPr>
              <a:t>고영향 해당성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C008BC6-332C-4056-8AC9-310465FD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rPr>
              <a:t>판단기준 연구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286FCA1-B718-4304-BC73-9C432560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198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076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60766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0766B"/>
                </a:solidFill>
                <a:latin typeface="Malgun Gothic"/>
                <a:ea typeface="Malgun Gothic"/>
                <a:cs typeface="Malgun Gothic"/>
              </a:rPr>
              <a:t>건국대학교 정보통신대학원 정보보안학과 이순신</a:t>
            </a:r>
            <a:endParaRPr sz="1425" b="0">
              <a:solidFill>
                <a:srgbClr val="60766B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CEE94-6DFA-4593-A563-523D4AE55E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3251d83e54002"/>
          <a:stretch xmlns:a="http://schemas.openxmlformats.org/drawingml/2006/main"/>
        </p:blipFill>
        <p:spPr>
          <a:xfrm xmlns:a="http://schemas.openxmlformats.org/drawingml/2006/main">
            <a:off x="7620000" y="1076325"/>
            <a:ext cx="3886200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00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44883685-0548-4AD0-92AC-7D666AC4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AI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거버넌스 기반의 연구방법론 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소논문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 연구계획</a:t>
            </a:r>
          </a:p>
        </p:txBody>
      </p:sp>
      <p:sp>
        <p:nvSpPr>
          <p:cNvPr id="2" name="text-12">
            <a:extLst xmlns:a="http://schemas.openxmlformats.org/drawingml/2006/main">
              <a:ext uri="{FF2B5EF4-FFF2-40B4-BE49-F238E27FC236}">
                <a16:creationId xmlns:a16="http://schemas.microsoft.com/office/drawing/2014/main" id="{FAD888BB-729B-4AD2-821B-11AC5632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text-13">
            <a:extLst xmlns:a="http://schemas.openxmlformats.org/drawingml/2006/main">
              <a:ext uri="{FF2B5EF4-FFF2-40B4-BE49-F238E27FC236}">
                <a16:creationId xmlns:a16="http://schemas.microsoft.com/office/drawing/2014/main" id="{583391FB-66F1-4A1D-B2F9-BCDE1209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39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rPr>
              <a:t>고영향 판단 경계</a:t>
            </a:r>
          </a:p>
        </p:txBody>
      </p:sp>
      <p:graphicFrame>
        <p:nvGraphicFramePr>
          <p:cNvPr id="4" name="표 3">
            <a:extLst xmlns:a="http://schemas.openxmlformats.org/drawingml/2006/main">
              <a:ext uri="{FF2B5EF4-FFF2-40B4-BE49-F238E27FC236}">
                <a16:creationId xmlns:a16="http://schemas.microsoft.com/office/drawing/2014/main" id="{800C9EE1-F6C6-490F-8FC8-5A62976947C1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근거</a:t>
                      </a:r>
                    </a:p>
                  </a:txBody>
                  <a:tcPr marL="228600" marR="152400" marT="133350" marB="114300" anchor="ctr">
                    <a:solidFill>
                      <a:srgbClr val="0756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시나리오</a:t>
                      </a:r>
                    </a:p>
                  </a:txBody>
                  <a:tcPr marL="228600" marR="152400" marT="133350" marB="114300" anchor="ctr">
                    <a:solidFill>
                      <a:srgbClr val="0756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연구 질문</a:t>
                      </a:r>
                    </a:p>
                  </a:txBody>
                  <a:tcPr marL="228600" marR="152400" marT="133350" marB="114300" anchor="ctr">
                    <a:solidFill>
                      <a:srgbClr val="0756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국내</a:t>
                      </a: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법령</a:t>
                      </a:r>
                      <a:endParaRPr sz="2400" b="0">
                        <a:solidFill>
                          <a:srgbClr val="17352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의심 알림</a:t>
                      </a:r>
                    </a:p>
                  </a:txBody>
                  <a:tcPr marL="228600" marR="152400" marT="133350" marB="114300" anchor="ctr">
                    <a:solidFill>
                      <a:srgbClr val="EDF7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목적과 결과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금융 지침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인증</a:t>
                      </a:r>
                    </a:p>
                  </a:txBody>
                  <a:tcPr marL="228600" marR="152400" marT="133350" marB="114300" anchor="ctr">
                    <a:solidFill>
                      <a:srgbClr val="EDF7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제한의 중대성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 비교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</a:t>
                      </a: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보류</a:t>
                      </a:r>
                      <a:endParaRPr sz="2400" b="1">
                        <a:solidFill>
                          <a:srgbClr val="075638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228600" marR="152400" marT="133350" marB="114300" anchor="ctr">
                    <a:solidFill>
                      <a:srgbClr val="EDF7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개입의 실효성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</a:t>
                      </a: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연구</a:t>
                      </a:r>
                      <a:endParaRPr sz="2400" b="0">
                        <a:solidFill>
                          <a:srgbClr val="17352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</a:t>
                      </a: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제한</a:t>
                      </a:r>
                      <a:endParaRPr sz="2400" b="1">
                        <a:solidFill>
                          <a:srgbClr val="075638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228600" marR="152400" marT="133350" marB="114300" anchor="ctr">
                    <a:solidFill>
                      <a:srgbClr val="EDF7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판단의</a:t>
                      </a: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일관성</a:t>
                      </a:r>
                      <a:endParaRPr sz="2400" b="0">
                        <a:solidFill>
                          <a:srgbClr val="17352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10">
            <a:extLst xmlns:a="http://schemas.openxmlformats.org/drawingml/2006/main">
              <a:ext uri="{FF2B5EF4-FFF2-40B4-BE49-F238E27FC236}">
                <a16:creationId xmlns:a16="http://schemas.microsoft.com/office/drawing/2014/main" id="{3271C698-BD4F-6022-E898-0151EA53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198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076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60766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0766B"/>
                </a:solidFill>
                <a:latin typeface="Malgun Gothic"/>
                <a:ea typeface="Malgun Gothic"/>
                <a:cs typeface="Malgun Gothic"/>
              </a:rPr>
              <a:t>건국대학교 정보통신대학원 정보보안학과 이순신</a:t>
            </a:r>
            <a:endParaRPr sz="1425" b="0">
              <a:solidFill>
                <a:srgbClr val="60766B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21126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98EED9CB-C704-4530-AAA2-52263313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AI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거버넌스 기반의 연구방법론 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소논문</a:t>
            </a:r>
            <a:r>
              <a:rPr sz="1500" b="1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 연구계획</a:t>
            </a:r>
          </a:p>
        </p:txBody>
      </p:sp>
      <p:sp>
        <p:nvSpPr>
          <p:cNvPr id="2" name="text-17">
            <a:extLst xmlns:a="http://schemas.openxmlformats.org/drawingml/2006/main">
              <a:ext uri="{FF2B5EF4-FFF2-40B4-BE49-F238E27FC236}">
                <a16:creationId xmlns:a16="http://schemas.microsoft.com/office/drawing/2014/main" id="{DCE83941-B275-454D-90BC-A7E77FE6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3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009B3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09B3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text-18">
            <a:extLst xmlns:a="http://schemas.openxmlformats.org/drawingml/2006/main">
              <a:ext uri="{FF2B5EF4-FFF2-40B4-BE49-F238E27FC236}">
                <a16:creationId xmlns:a16="http://schemas.microsoft.com/office/drawing/2014/main" id="{819921BB-D3D6-4D43-B292-E05CA56A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39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075638"/>
                </a:solidFill>
                <a:latin typeface="Malgun Gothic"/>
                <a:ea typeface="Malgun Gothic"/>
                <a:cs typeface="Malgun Gothic"/>
              </a:rPr>
              <a:t>판단기준 검증</a:t>
            </a:r>
          </a:p>
        </p:txBody>
      </p:sp>
      <p:graphicFrame>
        <p:nvGraphicFramePr>
          <p:cNvPr id="4" name="표 3">
            <a:extLst xmlns:a="http://schemas.openxmlformats.org/drawingml/2006/main">
              <a:ext uri="{FF2B5EF4-FFF2-40B4-BE49-F238E27FC236}">
                <a16:creationId xmlns:a16="http://schemas.microsoft.com/office/drawing/2014/main" id="{BD3582E2-E5D3-4480-A6BA-F6BB6773A3FB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819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절차</a:t>
                      </a:r>
                    </a:p>
                  </a:txBody>
                  <a:tcPr marL="228600" marR="152400" marT="133350" marB="114300" anchor="ctr">
                    <a:solidFill>
                      <a:srgbClr val="0756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항목</a:t>
                      </a:r>
                    </a:p>
                  </a:txBody>
                  <a:tcPr marL="228600" marR="152400" marT="133350" marB="114300" anchor="ctr">
                    <a:solidFill>
                      <a:srgbClr val="0756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산출물</a:t>
                      </a:r>
                    </a:p>
                  </a:txBody>
                  <a:tcPr marL="228600" marR="152400" marT="133350" marB="114300" anchor="ctr">
                    <a:solidFill>
                      <a:srgbClr val="07563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조항 대조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법적 정합성</a:t>
                      </a:r>
                    </a:p>
                  </a:txBody>
                  <a:tcPr marL="228600" marR="152400" marT="133350" marB="114300" anchor="ctr">
                    <a:solidFill>
                      <a:srgbClr val="EDF7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절차도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사례 적용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평가자 일치</a:t>
                      </a:r>
                    </a:p>
                  </a:txBody>
                  <a:tcPr marL="228600" marR="152400" marT="133350" marB="114300" anchor="ctr">
                    <a:solidFill>
                      <a:srgbClr val="EDF7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근거표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보완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1">
                          <a:solidFill>
                            <a:srgbClr val="0756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전문가 타당성</a:t>
                      </a:r>
                    </a:p>
                  </a:txBody>
                  <a:tcPr marL="228600" marR="152400" marT="133350" marB="114300" anchor="ctr">
                    <a:solidFill>
                      <a:srgbClr val="EDF7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 b="0">
                          <a:solidFill>
                            <a:srgbClr val="1735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지침 보완안</a:t>
                      </a:r>
                    </a:p>
                  </a:txBody>
                  <a:tcPr marL="228600" marR="15240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C5DB4E1-34D5-10CD-A8B0-1477B4E2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198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076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60766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0766B"/>
                </a:solidFill>
                <a:latin typeface="Malgun Gothic"/>
                <a:ea typeface="Malgun Gothic"/>
                <a:cs typeface="Malgun Gothic"/>
              </a:rPr>
              <a:t>건국대학교 정보통신대학원 정보보안학과 이순신</a:t>
            </a:r>
            <a:endParaRPr sz="1425" b="0">
              <a:solidFill>
                <a:srgbClr val="60766B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03221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2026-10-10T06:07:50.8810000Z</dcterms:created>
  <dcterms:modified xsi:type="dcterms:W3CDTF">2026-10-10T06:07:50.8810000Z</dcterms:modified>
</coreProperties>
</file>