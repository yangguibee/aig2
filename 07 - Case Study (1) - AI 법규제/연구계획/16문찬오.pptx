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오늘 발표할 연구계획의 주제는 AI 기반 안전관리 시스템 도입과 중대재해처벌법상 안전보건 확보 의무의 이행입니다.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이 연구를 시작하게 된 배경은 세 가지입니다. 첫째, 2024년 1월부터 중대재해처벌법이 상시근로자 5인 이상 50인 미만 사업장까지 확대 적용되었습니다. 이제 작은 사업장도 안전보건관리체계를 갖춰야 합니다. 둘째, 정부는 AI CCTV나 위험구역 접근 감지 장치 같은 스마트 안전장비의 도입 비용을 지원하고 있고, 현장에서도 AI 안전관리 시스템이 빠르게 늘고 있습니다. 셋째, 그런데 AI 장비를 도입하면 법이 요구하는 의무를 다한 것으로 볼 수 있는지는 아직 기준이 분명하지 않습니다. 중대재해처벌법에 관한 연구는 많지만, AI와 직접 연결한 연구는 예비 검토에서 확인되지 않았습니다. 그래서 이 연구는 AI 안전관리 시스템이 법적 의무 이행에 어떻게 기여할 수 있는지 밝히고자 합니다. 연구 질문은 세 가지입니다. AI가 안전 및 보건 확보의무의 어느 부분을 도울 수 있는지, 법원은 의무 이행을 어떤 기준으로 판단해 왔는지, 그리고 AI 도입이 형식적인 이행에 그치지 않으려면 무엇을 보완해야 하는지입니다.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연구 방법은 세 가지 문서 분석입니다. 중대재해처벌법과 시행령, 산업안전보건법의 의무 조항을 분석하고, 유해·위험요인 확인과 개선 의무가 쟁점이 된 판결 7건을 골라 법원의 판단 기준을 살펴보고 선행연구의 18건 분석과 비교하며, 스마트 안전장비 지원사업 같은 정책 문서를 검토합니다. 분석 틀은 안전관리를 감지, 경보와 보고, 조치, 점검과 개선의 네 단계로 나눈 것입니다. 이는 시행령 제4조 제3호가 요구하는, 유해·위험요인을 확인하고 개선하는 절차와 반기 1회 이상 점검에 근거합니다. AI는 앞의 감지와 경보에 강하지만, 법이 주로 묻는 것은 그 뒤에 실제로 조치하고 개선했는지일 것으로 예상합니다. 따라서 AI 경보 이후의 조치 절차까지 체계에 담겨야 의무 이행으로 인정될 수 있다는 것이 이 연구의 가설입니다. 다만 AI CCTV는 근로자 감시와 개인정보 문제도 함께 따르므로, 노사 협의와 개인정보 보호도 함께 검토하겠습니다. 이상으로 발표를 마치겠습니다.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 주셔서 감사합니다. 질문이나 의견이 있으시면 말씀해 주십시오.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228"/>
        </a:solidFill>
      </p:bgPr>
    </p:bg>
    <p:spTree>
      <p:nvGrpSpPr>
        <p:cNvPr id="1" name=""/>
        <p:cNvGrpSpPr/>
        <p:nvPr/>
      </p:nvGrpSpPr>
      <p:grpSpPr>
        <a:xfrm>
          <a:off x="0" y="0"/>
          <a:ext cx="0" cy="0"/>
          <a:chOff x="0" y="0"/>
          <a:chExt cx="0" cy="0"/>
        </a:xfrm>
      </p:grpSpPr>
      <p:sp>
        <p:nvSpPr>
          <p:cNvPr id="2" name="Text 0"/>
          <p:cNvSpPr txBox="1"/>
          <p:nvPr/>
        </p:nvSpPr>
        <p:spPr>
          <a:xfrm>
            <a:off x="731520" y="640080"/>
            <a:ext cx="3657600" cy="411480"/>
          </a:xfrm>
          <a:prstGeom prst="rect">
            <a:avLst/>
          </a:prstGeom>
          <a:noFill/>
          <a:ln/>
        </p:spPr>
        <p:txBody>
          <a:bodyPr wrap="square" lIns="0" tIns="0" rIns="0" bIns="0" rtlCol="0" anchor="ctr"/>
          <a:lstStyle/>
          <a:p>
            <a:pPr indent="0" marL="0">
              <a:buNone/>
            </a:pPr>
            <a:r>
              <a:rPr lang="en-US" sz="1600" b="1" dirty="0">
                <a:solidFill>
                  <a:srgbClr val="E3A72F"/>
                </a:solidFill>
                <a:latin typeface="맑은 고딕" pitchFamily="34" charset="0"/>
                <a:ea typeface="맑은 고딕" pitchFamily="34" charset="-122"/>
                <a:cs typeface="맑은 고딕" pitchFamily="34" charset="-120"/>
              </a:rPr>
              <a:t>연구계획 발표</a:t>
            </a:r>
            <a:endParaRPr lang="en-US" sz="1600" dirty="0"/>
          </a:p>
        </p:txBody>
      </p:sp>
      <p:sp>
        <p:nvSpPr>
          <p:cNvPr id="3" name="hard hat badge"/>
          <p:cNvSpPr/>
          <p:nvPr/>
        </p:nvSpPr>
        <p:spPr>
          <a:xfrm>
            <a:off x="10332720" y="548640"/>
            <a:ext cx="1097280" cy="1097280"/>
          </a:xfrm>
          <a:prstGeom prst="ellipse">
            <a:avLst/>
          </a:prstGeom>
          <a:solidFill>
            <a:srgbClr val="E3A72F"/>
          </a:solidFill>
          <a:ln w="12700">
            <a:solidFill>
              <a:srgbClr val="E3A72F"/>
            </a:solidFill>
            <a:prstDash val="solid"/>
          </a:ln>
        </p:spPr>
      </p:sp>
      <p:pic>
        <p:nvPicPr>
          <p:cNvPr id="4" name="hard hat icon" descr="preencoded.png">    </p:cNvPr>
          <p:cNvPicPr>
            <a:picLocks noChangeAspect="1"/>
          </p:cNvPicPr>
          <p:nvPr/>
        </p:nvPicPr>
        <p:blipFill>
          <a:blip r:embed="rId1"/>
          <a:stretch>
            <a:fillRect/>
          </a:stretch>
        </p:blipFill>
        <p:spPr>
          <a:xfrm>
            <a:off x="10607040" y="822960"/>
            <a:ext cx="548640" cy="548640"/>
          </a:xfrm>
          <a:prstGeom prst="rect">
            <a:avLst/>
          </a:prstGeom>
        </p:spPr>
      </p:pic>
      <p:sp>
        <p:nvSpPr>
          <p:cNvPr id="5" name="Text 2"/>
          <p:cNvSpPr txBox="1"/>
          <p:nvPr/>
        </p:nvSpPr>
        <p:spPr>
          <a:xfrm>
            <a:off x="731520" y="2103120"/>
            <a:ext cx="10789920" cy="1554480"/>
          </a:xfrm>
          <a:prstGeom prst="rect">
            <a:avLst/>
          </a:prstGeom>
          <a:noFill/>
          <a:ln/>
        </p:spPr>
        <p:txBody>
          <a:bodyPr wrap="square" lIns="0" tIns="0" rIns="0" bIns="0" rtlCol="0" anchor="t"/>
          <a:lstStyle/>
          <a:p>
            <a:pPr indent="0" marL="0">
              <a:lnSpc>
                <a:spcPct val="115000"/>
              </a:lnSpc>
              <a:buNone/>
            </a:pPr>
            <a:r>
              <a:rPr lang="en-US" sz="3400" b="1" dirty="0">
                <a:solidFill>
                  <a:srgbClr val="F3F1EB"/>
                </a:solidFill>
                <a:latin typeface="맑은 고딕" pitchFamily="34" charset="0"/>
                <a:ea typeface="맑은 고딕" pitchFamily="34" charset="-122"/>
                <a:cs typeface="맑은 고딕" pitchFamily="34" charset="-120"/>
              </a:rPr>
              <a:t>AI 기반 안전관리 시스템 도입과</a:t>
            </a:r>
            <a:endParaRPr lang="en-US" sz="3400" dirty="0"/>
          </a:p>
          <a:p>
            <a:pPr indent="0" marL="0">
              <a:lnSpc>
                <a:spcPct val="115000"/>
              </a:lnSpc>
              <a:buNone/>
            </a:pPr>
            <a:r>
              <a:rPr lang="en-US" sz="3400" b="1" dirty="0">
                <a:solidFill>
                  <a:srgbClr val="F3F1EB"/>
                </a:solidFill>
                <a:latin typeface="맑은 고딕" pitchFamily="34" charset="0"/>
                <a:ea typeface="맑은 고딕" pitchFamily="34" charset="-122"/>
                <a:cs typeface="맑은 고딕" pitchFamily="34" charset="-120"/>
              </a:rPr>
              <a:t>중대재해처벌법상 안전보건 확보 의무의 이행</a:t>
            </a:r>
            <a:endParaRPr lang="en-US" sz="3400" dirty="0"/>
          </a:p>
        </p:txBody>
      </p:sp>
      <p:sp>
        <p:nvSpPr>
          <p:cNvPr id="6" name="Text 3"/>
          <p:cNvSpPr txBox="1"/>
          <p:nvPr/>
        </p:nvSpPr>
        <p:spPr>
          <a:xfrm>
            <a:off x="731520" y="3749040"/>
            <a:ext cx="10058400" cy="502920"/>
          </a:xfrm>
          <a:prstGeom prst="rect">
            <a:avLst/>
          </a:prstGeom>
          <a:noFill/>
          <a:ln/>
        </p:spPr>
        <p:txBody>
          <a:bodyPr wrap="square" lIns="0" tIns="0" rIns="0" bIns="0" rtlCol="0" anchor="ctr"/>
          <a:lstStyle/>
          <a:p>
            <a:pPr indent="0" marL="0">
              <a:buNone/>
            </a:pPr>
            <a:r>
              <a:rPr lang="en-US" sz="2000" dirty="0">
                <a:solidFill>
                  <a:srgbClr val="B9C0C8"/>
                </a:solidFill>
                <a:latin typeface="맑은 고딕" pitchFamily="34" charset="0"/>
                <a:ea typeface="맑은 고딕" pitchFamily="34" charset="-122"/>
                <a:cs typeface="맑은 고딕" pitchFamily="34" charset="-120"/>
              </a:rPr>
              <a:t>판결과 정책 분석을 중심으로</a:t>
            </a:r>
            <a:endParaRPr lang="en-US" sz="2000" dirty="0"/>
          </a:p>
        </p:txBody>
      </p:sp>
      <p:sp>
        <p:nvSpPr>
          <p:cNvPr id="7" name="Text 4"/>
          <p:cNvSpPr txBox="1"/>
          <p:nvPr/>
        </p:nvSpPr>
        <p:spPr>
          <a:xfrm>
            <a:off x="731520" y="5760720"/>
            <a:ext cx="10515600" cy="411480"/>
          </a:xfrm>
          <a:prstGeom prst="rect">
            <a:avLst/>
          </a:prstGeom>
          <a:noFill/>
          <a:ln/>
        </p:spPr>
        <p:txBody>
          <a:bodyPr wrap="square" lIns="0" tIns="0" rIns="0" bIns="0" rtlCol="0" anchor="ctr"/>
          <a:lstStyle/>
          <a:p>
            <a:pPr indent="0" marL="0">
              <a:buNone/>
            </a:pPr>
            <a:r>
              <a:rPr lang="en-US" sz="1600" dirty="0">
                <a:solidFill>
                  <a:srgbClr val="B9C0C8"/>
                </a:solidFill>
                <a:latin typeface="맑은 고딕" pitchFamily="34" charset="0"/>
                <a:ea typeface="맑은 고딕" pitchFamily="34" charset="-122"/>
                <a:cs typeface="맑은 고딕" pitchFamily="34" charset="-120"/>
              </a:rPr>
              <a:t>AI거버넌스기반의 연구방법론   |   2026. 10. 15.   |   문찬오</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E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640080"/>
          </a:xfrm>
          <a:prstGeom prst="rect">
            <a:avLst/>
          </a:prstGeom>
          <a:noFill/>
          <a:ln/>
        </p:spPr>
        <p:txBody>
          <a:bodyPr wrap="square" lIns="0" tIns="0" rIns="0" bIns="0" rtlCol="0" anchor="ctr"/>
          <a:lstStyle/>
          <a:p>
            <a:pPr indent="0" marL="0">
              <a:buNone/>
            </a:pPr>
            <a:r>
              <a:rPr lang="en-US" sz="3000" b="1" dirty="0">
                <a:solidFill>
                  <a:srgbClr val="1D2228"/>
                </a:solidFill>
                <a:latin typeface="맑은 고딕" pitchFamily="34" charset="0"/>
                <a:ea typeface="맑은 고딕" pitchFamily="34" charset="-122"/>
                <a:cs typeface="맑은 고딕" pitchFamily="34" charset="-120"/>
              </a:rPr>
              <a:t>연구 배경과 목적</a:t>
            </a:r>
            <a:endParaRPr lang="en-US" sz="3000" dirty="0"/>
          </a:p>
        </p:txBody>
      </p:sp>
      <p:sp>
        <p:nvSpPr>
          <p:cNvPr id="3" name="background 1 badge"/>
          <p:cNvSpPr/>
          <p:nvPr/>
        </p:nvSpPr>
        <p:spPr>
          <a:xfrm>
            <a:off x="640080" y="1417320"/>
            <a:ext cx="548640" cy="548640"/>
          </a:xfrm>
          <a:prstGeom prst="ellipse">
            <a:avLst/>
          </a:prstGeom>
          <a:solidFill>
            <a:srgbClr val="2D5F8B"/>
          </a:solidFill>
          <a:ln w="12700">
            <a:solidFill>
              <a:srgbClr val="2D5F8B"/>
            </a:solidFill>
            <a:prstDash val="solid"/>
          </a:ln>
        </p:spPr>
      </p:sp>
      <p:pic>
        <p:nvPicPr>
          <p:cNvPr id="4" name="background 1 icon"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5" name="Text 2"/>
          <p:cNvSpPr txBox="1"/>
          <p:nvPr/>
        </p:nvSpPr>
        <p:spPr>
          <a:xfrm>
            <a:off x="1417320" y="1417320"/>
            <a:ext cx="4846320" cy="384048"/>
          </a:xfrm>
          <a:prstGeom prst="rect">
            <a:avLst/>
          </a:prstGeom>
          <a:noFill/>
          <a:ln/>
        </p:spPr>
        <p:txBody>
          <a:bodyPr wrap="square" lIns="0" tIns="0" rIns="0" bIns="0" rtlCol="0" anchor="ctr"/>
          <a:lstStyle/>
          <a:p>
            <a:pPr indent="0" marL="0">
              <a:buNone/>
            </a:pPr>
            <a:r>
              <a:rPr lang="en-US" sz="1700" b="1" dirty="0">
                <a:solidFill>
                  <a:srgbClr val="1D2228"/>
                </a:solidFill>
                <a:latin typeface="맑은 고딕" pitchFamily="34" charset="0"/>
                <a:ea typeface="맑은 고딕" pitchFamily="34" charset="-122"/>
                <a:cs typeface="맑은 고딕" pitchFamily="34" charset="-120"/>
              </a:rPr>
              <a:t>중대재해처벌법 적용 확대</a:t>
            </a:r>
            <a:endParaRPr lang="en-US" sz="1700" dirty="0"/>
          </a:p>
        </p:txBody>
      </p:sp>
      <p:sp>
        <p:nvSpPr>
          <p:cNvPr id="6" name="Text 3"/>
          <p:cNvSpPr txBox="1"/>
          <p:nvPr/>
        </p:nvSpPr>
        <p:spPr>
          <a:xfrm>
            <a:off x="1417320" y="1828800"/>
            <a:ext cx="4846320" cy="914400"/>
          </a:xfrm>
          <a:prstGeom prst="rect">
            <a:avLst/>
          </a:prstGeom>
          <a:noFill/>
          <a:ln/>
        </p:spPr>
        <p:txBody>
          <a:bodyPr wrap="square" lIns="0" tIns="0" rIns="0" bIns="0" rtlCol="0" anchor="t"/>
          <a:lstStyle/>
          <a:p>
            <a:pPr indent="0" marL="0">
              <a:lnSpc>
                <a:spcPct val="115000"/>
              </a:lnSpc>
              <a:buNone/>
            </a:pPr>
            <a:r>
              <a:rPr lang="en-US" sz="1400" dirty="0">
                <a:solidFill>
                  <a:srgbClr val="4A5059"/>
                </a:solidFill>
                <a:latin typeface="맑은 고딕" pitchFamily="34" charset="0"/>
                <a:ea typeface="맑은 고딕" pitchFamily="34" charset="-122"/>
                <a:cs typeface="맑은 고딕" pitchFamily="34" charset="-120"/>
              </a:rPr>
              <a:t>2024년 1월부터 상시근로자 5인 이상 50인 미만 사업장까지 확대 적용되어, 작은 사업장도 안전보건관리체계를 갖춰야 한다.</a:t>
            </a:r>
            <a:endParaRPr lang="en-US" sz="1400" dirty="0"/>
          </a:p>
        </p:txBody>
      </p:sp>
      <p:sp>
        <p:nvSpPr>
          <p:cNvPr id="7" name="background 2 badge"/>
          <p:cNvSpPr/>
          <p:nvPr/>
        </p:nvSpPr>
        <p:spPr>
          <a:xfrm>
            <a:off x="640080" y="2926080"/>
            <a:ext cx="548640" cy="548640"/>
          </a:xfrm>
          <a:prstGeom prst="ellipse">
            <a:avLst/>
          </a:prstGeom>
          <a:solidFill>
            <a:srgbClr val="2D5F8B"/>
          </a:solidFill>
          <a:ln w="12700">
            <a:solidFill>
              <a:srgbClr val="2D5F8B"/>
            </a:solidFill>
            <a:prstDash val="solid"/>
          </a:ln>
        </p:spPr>
      </p:sp>
      <p:pic>
        <p:nvPicPr>
          <p:cNvPr id="8" name="background 2 icon" descr="preencoded.png">    </p:cNvPr>
          <p:cNvPicPr>
            <a:picLocks noChangeAspect="1"/>
          </p:cNvPicPr>
          <p:nvPr/>
        </p:nvPicPr>
        <p:blipFill>
          <a:blip r:embed="rId2"/>
          <a:stretch>
            <a:fillRect/>
          </a:stretch>
        </p:blipFill>
        <p:spPr>
          <a:xfrm>
            <a:off x="777240" y="3063240"/>
            <a:ext cx="274320" cy="274320"/>
          </a:xfrm>
          <a:prstGeom prst="rect">
            <a:avLst/>
          </a:prstGeom>
        </p:spPr>
      </p:pic>
      <p:sp>
        <p:nvSpPr>
          <p:cNvPr id="9" name="Text 5"/>
          <p:cNvSpPr txBox="1"/>
          <p:nvPr/>
        </p:nvSpPr>
        <p:spPr>
          <a:xfrm>
            <a:off x="1417320" y="2926080"/>
            <a:ext cx="4846320" cy="384048"/>
          </a:xfrm>
          <a:prstGeom prst="rect">
            <a:avLst/>
          </a:prstGeom>
          <a:noFill/>
          <a:ln/>
        </p:spPr>
        <p:txBody>
          <a:bodyPr wrap="square" lIns="0" tIns="0" rIns="0" bIns="0" rtlCol="0" anchor="ctr"/>
          <a:lstStyle/>
          <a:p>
            <a:pPr indent="0" marL="0">
              <a:buNone/>
            </a:pPr>
            <a:r>
              <a:rPr lang="en-US" sz="1700" b="1" dirty="0">
                <a:solidFill>
                  <a:srgbClr val="1D2228"/>
                </a:solidFill>
                <a:latin typeface="맑은 고딕" pitchFamily="34" charset="0"/>
                <a:ea typeface="맑은 고딕" pitchFamily="34" charset="-122"/>
                <a:cs typeface="맑은 고딕" pitchFamily="34" charset="-120"/>
              </a:rPr>
              <a:t>AI 안전기술의 확산</a:t>
            </a:r>
            <a:endParaRPr lang="en-US" sz="1700" dirty="0"/>
          </a:p>
        </p:txBody>
      </p:sp>
      <p:sp>
        <p:nvSpPr>
          <p:cNvPr id="10" name="Text 6"/>
          <p:cNvSpPr txBox="1"/>
          <p:nvPr/>
        </p:nvSpPr>
        <p:spPr>
          <a:xfrm>
            <a:off x="1417320" y="3337560"/>
            <a:ext cx="4846320" cy="914400"/>
          </a:xfrm>
          <a:prstGeom prst="rect">
            <a:avLst/>
          </a:prstGeom>
          <a:noFill/>
          <a:ln/>
        </p:spPr>
        <p:txBody>
          <a:bodyPr wrap="square" lIns="0" tIns="0" rIns="0" bIns="0" rtlCol="0" anchor="t"/>
          <a:lstStyle/>
          <a:p>
            <a:pPr indent="0" marL="0">
              <a:lnSpc>
                <a:spcPct val="115000"/>
              </a:lnSpc>
              <a:buNone/>
            </a:pPr>
            <a:r>
              <a:rPr lang="en-US" sz="1400" dirty="0">
                <a:solidFill>
                  <a:srgbClr val="4A5059"/>
                </a:solidFill>
                <a:latin typeface="맑은 고딕" pitchFamily="34" charset="0"/>
                <a:ea typeface="맑은 고딕" pitchFamily="34" charset="-122"/>
                <a:cs typeface="맑은 고딕" pitchFamily="34" charset="-120"/>
              </a:rPr>
              <a:t>정부가 AI CCTV, 위험구역 접근 감지 같은 스마트 안전장비의 도입 비용을 지원하고 있다.</a:t>
            </a:r>
            <a:endParaRPr lang="en-US" sz="1400" dirty="0"/>
          </a:p>
        </p:txBody>
      </p:sp>
      <p:sp>
        <p:nvSpPr>
          <p:cNvPr id="11" name="background 3 badge"/>
          <p:cNvSpPr/>
          <p:nvPr/>
        </p:nvSpPr>
        <p:spPr>
          <a:xfrm>
            <a:off x="640080" y="4434840"/>
            <a:ext cx="548640" cy="548640"/>
          </a:xfrm>
          <a:prstGeom prst="ellipse">
            <a:avLst/>
          </a:prstGeom>
          <a:solidFill>
            <a:srgbClr val="2D5F8B"/>
          </a:solidFill>
          <a:ln w="12700">
            <a:solidFill>
              <a:srgbClr val="2D5F8B"/>
            </a:solidFill>
            <a:prstDash val="solid"/>
          </a:ln>
        </p:spPr>
      </p:sp>
      <p:pic>
        <p:nvPicPr>
          <p:cNvPr id="12" name="background 3 icon" descr="preencoded.png">    </p:cNvPr>
          <p:cNvPicPr>
            <a:picLocks noChangeAspect="1"/>
          </p:cNvPicPr>
          <p:nvPr/>
        </p:nvPicPr>
        <p:blipFill>
          <a:blip r:embed="rId3"/>
          <a:stretch>
            <a:fillRect/>
          </a:stretch>
        </p:blipFill>
        <p:spPr>
          <a:xfrm>
            <a:off x="777240" y="4572000"/>
            <a:ext cx="274320" cy="274320"/>
          </a:xfrm>
          <a:prstGeom prst="rect">
            <a:avLst/>
          </a:prstGeom>
        </p:spPr>
      </p:pic>
      <p:sp>
        <p:nvSpPr>
          <p:cNvPr id="13" name="Text 8"/>
          <p:cNvSpPr txBox="1"/>
          <p:nvPr/>
        </p:nvSpPr>
        <p:spPr>
          <a:xfrm>
            <a:off x="1417320" y="4434840"/>
            <a:ext cx="4846320" cy="384048"/>
          </a:xfrm>
          <a:prstGeom prst="rect">
            <a:avLst/>
          </a:prstGeom>
          <a:noFill/>
          <a:ln/>
        </p:spPr>
        <p:txBody>
          <a:bodyPr wrap="square" lIns="0" tIns="0" rIns="0" bIns="0" rtlCol="0" anchor="ctr"/>
          <a:lstStyle/>
          <a:p>
            <a:pPr indent="0" marL="0">
              <a:buNone/>
            </a:pPr>
            <a:r>
              <a:rPr lang="en-US" sz="1700" b="1" dirty="0">
                <a:solidFill>
                  <a:srgbClr val="1D2228"/>
                </a:solidFill>
                <a:latin typeface="맑은 고딕" pitchFamily="34" charset="0"/>
                <a:ea typeface="맑은 고딕" pitchFamily="34" charset="-122"/>
                <a:cs typeface="맑은 고딕" pitchFamily="34" charset="-120"/>
              </a:rPr>
              <a:t>판단 기준의 공백</a:t>
            </a:r>
            <a:endParaRPr lang="en-US" sz="1700" dirty="0"/>
          </a:p>
        </p:txBody>
      </p:sp>
      <p:sp>
        <p:nvSpPr>
          <p:cNvPr id="14" name="Text 9"/>
          <p:cNvSpPr txBox="1"/>
          <p:nvPr/>
        </p:nvSpPr>
        <p:spPr>
          <a:xfrm>
            <a:off x="1417320" y="4846320"/>
            <a:ext cx="4846320" cy="914400"/>
          </a:xfrm>
          <a:prstGeom prst="rect">
            <a:avLst/>
          </a:prstGeom>
          <a:noFill/>
          <a:ln/>
        </p:spPr>
        <p:txBody>
          <a:bodyPr wrap="square" lIns="0" tIns="0" rIns="0" bIns="0" rtlCol="0" anchor="t"/>
          <a:lstStyle/>
          <a:p>
            <a:pPr indent="0" marL="0">
              <a:lnSpc>
                <a:spcPct val="115000"/>
              </a:lnSpc>
              <a:buNone/>
            </a:pPr>
            <a:r>
              <a:rPr lang="en-US" sz="1400" dirty="0">
                <a:solidFill>
                  <a:srgbClr val="4A5059"/>
                </a:solidFill>
                <a:latin typeface="맑은 고딕" pitchFamily="34" charset="0"/>
                <a:ea typeface="맑은 고딕" pitchFamily="34" charset="-122"/>
                <a:cs typeface="맑은 고딕" pitchFamily="34" charset="-120"/>
              </a:rPr>
              <a:t>AI 장비 도입이 의무 이행으로 인정되는지 기준이 불분명하고, AI와 중대재해처벌법을 직접 연결한 연구는 예비 검토에서 확인되지 않았다.</a:t>
            </a:r>
            <a:endParaRPr lang="en-US" sz="1400" dirty="0"/>
          </a:p>
        </p:txBody>
      </p:sp>
      <p:sp>
        <p:nvSpPr>
          <p:cNvPr id="15" name="purpose card"/>
          <p:cNvSpPr/>
          <p:nvPr/>
        </p:nvSpPr>
        <p:spPr>
          <a:xfrm>
            <a:off x="6629400" y="1325880"/>
            <a:ext cx="4937760" cy="4617720"/>
          </a:xfrm>
          <a:prstGeom prst="roundRect">
            <a:avLst>
              <a:gd name="adj" fmla="val 2970"/>
            </a:avLst>
          </a:prstGeom>
          <a:solidFill>
            <a:srgbClr val="1D2228"/>
          </a:solidFill>
          <a:ln w="12700">
            <a:solidFill>
              <a:srgbClr val="1D2228"/>
            </a:solidFill>
            <a:prstDash val="solid"/>
          </a:ln>
        </p:spPr>
      </p:sp>
      <p:sp>
        <p:nvSpPr>
          <p:cNvPr id="16" name="Text 11"/>
          <p:cNvSpPr txBox="1"/>
          <p:nvPr/>
        </p:nvSpPr>
        <p:spPr>
          <a:xfrm>
            <a:off x="6995160" y="1600200"/>
            <a:ext cx="4206240" cy="365760"/>
          </a:xfrm>
          <a:prstGeom prst="rect">
            <a:avLst/>
          </a:prstGeom>
          <a:noFill/>
          <a:ln/>
        </p:spPr>
        <p:txBody>
          <a:bodyPr wrap="square" lIns="0" tIns="0" rIns="0" bIns="0" rtlCol="0" anchor="ctr"/>
          <a:lstStyle/>
          <a:p>
            <a:pPr indent="0" marL="0">
              <a:buNone/>
            </a:pPr>
            <a:r>
              <a:rPr lang="en-US" sz="1700" b="1" dirty="0">
                <a:solidFill>
                  <a:srgbClr val="E3A72F"/>
                </a:solidFill>
                <a:latin typeface="맑은 고딕" pitchFamily="34" charset="0"/>
                <a:ea typeface="맑은 고딕" pitchFamily="34" charset="-122"/>
                <a:cs typeface="맑은 고딕" pitchFamily="34" charset="-120"/>
              </a:rPr>
              <a:t>연구 목적</a:t>
            </a:r>
            <a:endParaRPr lang="en-US" sz="1700" dirty="0"/>
          </a:p>
        </p:txBody>
      </p:sp>
      <p:sp>
        <p:nvSpPr>
          <p:cNvPr id="17" name="Text 12"/>
          <p:cNvSpPr txBox="1"/>
          <p:nvPr/>
        </p:nvSpPr>
        <p:spPr>
          <a:xfrm>
            <a:off x="6995160" y="2011680"/>
            <a:ext cx="4206240" cy="914400"/>
          </a:xfrm>
          <a:prstGeom prst="rect">
            <a:avLst/>
          </a:prstGeom>
          <a:noFill/>
          <a:ln/>
        </p:spPr>
        <p:txBody>
          <a:bodyPr wrap="square" lIns="0" tIns="0" rIns="0" bIns="0" rtlCol="0" anchor="t"/>
          <a:lstStyle/>
          <a:p>
            <a:pPr indent="0" marL="0">
              <a:lnSpc>
                <a:spcPct val="115000"/>
              </a:lnSpc>
              <a:buNone/>
            </a:pPr>
            <a:r>
              <a:rPr lang="en-US" sz="1400" dirty="0">
                <a:solidFill>
                  <a:srgbClr val="E6E3DA"/>
                </a:solidFill>
                <a:latin typeface="맑은 고딕" pitchFamily="34" charset="0"/>
                <a:ea typeface="맑은 고딕" pitchFamily="34" charset="-122"/>
                <a:cs typeface="맑은 고딕" pitchFamily="34" charset="-120"/>
              </a:rPr>
              <a:t>AI 안전관리 시스템이 중대재해처벌법상 의무 이행에 어떻게 기여할 수 있는지 밝히고, 제도 보완 방향을 제시한다.</a:t>
            </a:r>
            <a:endParaRPr lang="en-US" sz="1400" dirty="0"/>
          </a:p>
        </p:txBody>
      </p:sp>
      <p:sp>
        <p:nvSpPr>
          <p:cNvPr id="18" name="card divider"/>
          <p:cNvSpPr/>
          <p:nvPr/>
        </p:nvSpPr>
        <p:spPr>
          <a:xfrm>
            <a:off x="6995160" y="3063240"/>
            <a:ext cx="4206240" cy="0"/>
          </a:xfrm>
          <a:prstGeom prst="line">
            <a:avLst/>
          </a:prstGeom>
          <a:noFill/>
          <a:ln w="12700">
            <a:solidFill>
              <a:srgbClr val="3A424C"/>
            </a:solidFill>
            <a:prstDash val="solid"/>
          </a:ln>
        </p:spPr>
      </p:sp>
      <p:sp>
        <p:nvSpPr>
          <p:cNvPr id="19" name="Text 14"/>
          <p:cNvSpPr txBox="1"/>
          <p:nvPr/>
        </p:nvSpPr>
        <p:spPr>
          <a:xfrm>
            <a:off x="6995160" y="3246120"/>
            <a:ext cx="4206240" cy="365760"/>
          </a:xfrm>
          <a:prstGeom prst="rect">
            <a:avLst/>
          </a:prstGeom>
          <a:noFill/>
          <a:ln/>
        </p:spPr>
        <p:txBody>
          <a:bodyPr wrap="square" lIns="0" tIns="0" rIns="0" bIns="0" rtlCol="0" anchor="ctr"/>
          <a:lstStyle/>
          <a:p>
            <a:pPr indent="0" marL="0">
              <a:buNone/>
            </a:pPr>
            <a:r>
              <a:rPr lang="en-US" sz="1700" b="1" dirty="0">
                <a:solidFill>
                  <a:srgbClr val="E3A72F"/>
                </a:solidFill>
                <a:latin typeface="맑은 고딕" pitchFamily="34" charset="0"/>
                <a:ea typeface="맑은 고딕" pitchFamily="34" charset="-122"/>
                <a:cs typeface="맑은 고딕" pitchFamily="34" charset="-120"/>
              </a:rPr>
              <a:t>연구 질문</a:t>
            </a:r>
            <a:endParaRPr lang="en-US" sz="1700" dirty="0"/>
          </a:p>
        </p:txBody>
      </p:sp>
      <p:sp>
        <p:nvSpPr>
          <p:cNvPr id="20" name="Text 15"/>
          <p:cNvSpPr txBox="1"/>
          <p:nvPr/>
        </p:nvSpPr>
        <p:spPr>
          <a:xfrm>
            <a:off x="6995160" y="3703320"/>
            <a:ext cx="4206240" cy="658368"/>
          </a:xfrm>
          <a:prstGeom prst="rect">
            <a:avLst/>
          </a:prstGeom>
          <a:noFill/>
          <a:ln/>
        </p:spPr>
        <p:txBody>
          <a:bodyPr wrap="square" lIns="0" tIns="0" rIns="0" bIns="0" rtlCol="0" anchor="t"/>
          <a:lstStyle/>
          <a:p>
            <a:pPr indent="0" marL="0">
              <a:lnSpc>
                <a:spcPct val="110000"/>
              </a:lnSpc>
              <a:buNone/>
            </a:pPr>
            <a:r>
              <a:rPr lang="en-US" sz="1400" b="1" dirty="0">
                <a:solidFill>
                  <a:srgbClr val="E3A72F"/>
                </a:solidFill>
                <a:latin typeface="맑은 고딕" pitchFamily="34" charset="0"/>
                <a:ea typeface="맑은 고딕" pitchFamily="34" charset="-122"/>
                <a:cs typeface="맑은 고딕" pitchFamily="34" charset="-120"/>
              </a:rPr>
              <a:t>RQ1  </a:t>
            </a:r>
            <a:pPr indent="0" marL="0">
              <a:lnSpc>
                <a:spcPct val="110000"/>
              </a:lnSpc>
              <a:buNone/>
            </a:pPr>
            <a:r>
              <a:rPr lang="en-US" sz="1400" dirty="0">
                <a:solidFill>
                  <a:srgbClr val="E6E3DA"/>
                </a:solidFill>
                <a:latin typeface="맑은 고딕" pitchFamily="34" charset="0"/>
                <a:ea typeface="맑은 고딕" pitchFamily="34" charset="-122"/>
                <a:cs typeface="맑은 고딕" pitchFamily="34" charset="-120"/>
              </a:rPr>
              <a:t>AI는 안전 및 보건 확보의무의 어느 부분을 도울 수 있는가?</a:t>
            </a:r>
            <a:endParaRPr lang="en-US" sz="1400" dirty="0"/>
          </a:p>
        </p:txBody>
      </p:sp>
      <p:sp>
        <p:nvSpPr>
          <p:cNvPr id="21" name="Text 16"/>
          <p:cNvSpPr txBox="1"/>
          <p:nvPr/>
        </p:nvSpPr>
        <p:spPr>
          <a:xfrm>
            <a:off x="6995160" y="4416552"/>
            <a:ext cx="4206240" cy="658368"/>
          </a:xfrm>
          <a:prstGeom prst="rect">
            <a:avLst/>
          </a:prstGeom>
          <a:noFill/>
          <a:ln/>
        </p:spPr>
        <p:txBody>
          <a:bodyPr wrap="square" lIns="0" tIns="0" rIns="0" bIns="0" rtlCol="0" anchor="t"/>
          <a:lstStyle/>
          <a:p>
            <a:pPr indent="0" marL="0">
              <a:lnSpc>
                <a:spcPct val="110000"/>
              </a:lnSpc>
              <a:buNone/>
            </a:pPr>
            <a:r>
              <a:rPr lang="en-US" sz="1400" b="1" dirty="0">
                <a:solidFill>
                  <a:srgbClr val="E3A72F"/>
                </a:solidFill>
                <a:latin typeface="맑은 고딕" pitchFamily="34" charset="0"/>
                <a:ea typeface="맑은 고딕" pitchFamily="34" charset="-122"/>
                <a:cs typeface="맑은 고딕" pitchFamily="34" charset="-120"/>
              </a:rPr>
              <a:t>RQ2  </a:t>
            </a:r>
            <a:pPr indent="0" marL="0">
              <a:lnSpc>
                <a:spcPct val="110000"/>
              </a:lnSpc>
              <a:buNone/>
            </a:pPr>
            <a:r>
              <a:rPr lang="en-US" sz="1400" dirty="0">
                <a:solidFill>
                  <a:srgbClr val="E6E3DA"/>
                </a:solidFill>
                <a:latin typeface="맑은 고딕" pitchFamily="34" charset="0"/>
                <a:ea typeface="맑은 고딕" pitchFamily="34" charset="-122"/>
                <a:cs typeface="맑은 고딕" pitchFamily="34" charset="-120"/>
              </a:rPr>
              <a:t>법원은 의무 이행을 어떤 기준으로 판단해 왔는가?</a:t>
            </a:r>
            <a:endParaRPr lang="en-US" sz="1400" dirty="0"/>
          </a:p>
        </p:txBody>
      </p:sp>
      <p:sp>
        <p:nvSpPr>
          <p:cNvPr id="22" name="Text 17"/>
          <p:cNvSpPr txBox="1"/>
          <p:nvPr/>
        </p:nvSpPr>
        <p:spPr>
          <a:xfrm>
            <a:off x="6995160" y="5129784"/>
            <a:ext cx="4206240" cy="658368"/>
          </a:xfrm>
          <a:prstGeom prst="rect">
            <a:avLst/>
          </a:prstGeom>
          <a:noFill/>
          <a:ln/>
        </p:spPr>
        <p:txBody>
          <a:bodyPr wrap="square" lIns="0" tIns="0" rIns="0" bIns="0" rtlCol="0" anchor="t"/>
          <a:lstStyle/>
          <a:p>
            <a:pPr indent="0" marL="0">
              <a:lnSpc>
                <a:spcPct val="110000"/>
              </a:lnSpc>
              <a:buNone/>
            </a:pPr>
            <a:r>
              <a:rPr lang="en-US" sz="1400" b="1" dirty="0">
                <a:solidFill>
                  <a:srgbClr val="E3A72F"/>
                </a:solidFill>
                <a:latin typeface="맑은 고딕" pitchFamily="34" charset="0"/>
                <a:ea typeface="맑은 고딕" pitchFamily="34" charset="-122"/>
                <a:cs typeface="맑은 고딕" pitchFamily="34" charset="-120"/>
              </a:rPr>
              <a:t>RQ3  </a:t>
            </a:r>
            <a:pPr indent="0" marL="0">
              <a:lnSpc>
                <a:spcPct val="110000"/>
              </a:lnSpc>
              <a:buNone/>
            </a:pPr>
            <a:r>
              <a:rPr lang="en-US" sz="1400" dirty="0">
                <a:solidFill>
                  <a:srgbClr val="E6E3DA"/>
                </a:solidFill>
                <a:latin typeface="맑은 고딕" pitchFamily="34" charset="0"/>
                <a:ea typeface="맑은 고딕" pitchFamily="34" charset="-122"/>
                <a:cs typeface="맑은 고딕" pitchFamily="34" charset="-120"/>
              </a:rPr>
              <a:t>AI 도입이 형식적 이행에 그치지 않으려면 무엇을 보완해야 하는가?</a:t>
            </a:r>
            <a:endParaRPr lang="en-US" sz="1400" dirty="0"/>
          </a:p>
        </p:txBody>
      </p:sp>
      <p:sp>
        <p:nvSpPr>
          <p:cNvPr id="23" name="Text 18"/>
          <p:cNvSpPr txBox="1"/>
          <p:nvPr/>
        </p:nvSpPr>
        <p:spPr>
          <a:xfrm>
            <a:off x="640080" y="6263640"/>
            <a:ext cx="2743200" cy="274320"/>
          </a:xfrm>
          <a:prstGeom prst="rect">
            <a:avLst/>
          </a:prstGeom>
          <a:noFill/>
          <a:ln/>
        </p:spPr>
        <p:txBody>
          <a:bodyPr wrap="square" lIns="0" tIns="0" rIns="0" bIns="0" rtlCol="0" anchor="ctr"/>
          <a:lstStyle/>
          <a:p>
            <a:pPr indent="0" marL="0">
              <a:buNone/>
            </a:pPr>
            <a:r>
              <a:rPr lang="en-US" sz="1100" dirty="0">
                <a:solidFill>
                  <a:srgbClr val="6B7079"/>
                </a:solidFill>
                <a:latin typeface="맑은 고딕" pitchFamily="34" charset="0"/>
                <a:ea typeface="맑은 고딕" pitchFamily="34" charset="-122"/>
                <a:cs typeface="맑은 고딕" pitchFamily="34" charset="-120"/>
              </a:rPr>
              <a:t>연구계획 1 / 2</a:t>
            </a:r>
            <a:endParaRPr lang="en-US" sz="1100" dirty="0"/>
          </a:p>
        </p:txBody>
      </p:sp>
      <p:sp>
        <p:nvSpPr>
          <p:cNvPr id="24" name="Text 19"/>
          <p:cNvSpPr txBox="1"/>
          <p:nvPr/>
        </p:nvSpPr>
        <p:spPr>
          <a:xfrm>
            <a:off x="5623560" y="6263640"/>
            <a:ext cx="5943600" cy="274320"/>
          </a:xfrm>
          <a:prstGeom prst="rect">
            <a:avLst/>
          </a:prstGeom>
          <a:noFill/>
          <a:ln/>
        </p:spPr>
        <p:txBody>
          <a:bodyPr wrap="square" lIns="0" tIns="0" rIns="0" bIns="0" rtlCol="0" anchor="ctr"/>
          <a:lstStyle/>
          <a:p>
            <a:pPr algn="r" indent="0" marL="0">
              <a:buNone/>
            </a:pPr>
            <a:r>
              <a:rPr lang="en-US" sz="1100" dirty="0">
                <a:solidFill>
                  <a:srgbClr val="6B7079"/>
                </a:solidFill>
                <a:latin typeface="맑은 고딕" pitchFamily="34" charset="0"/>
                <a:ea typeface="맑은 고딕" pitchFamily="34" charset="-122"/>
                <a:cs typeface="맑은 고딕" pitchFamily="34" charset="-120"/>
              </a:rPr>
              <a:t>출처: 국가법령정보센터, 고용노동부·안전보건공단</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7E0"/>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640080"/>
          </a:xfrm>
          <a:prstGeom prst="rect">
            <a:avLst/>
          </a:prstGeom>
          <a:noFill/>
          <a:ln/>
        </p:spPr>
        <p:txBody>
          <a:bodyPr wrap="square" lIns="0" tIns="0" rIns="0" bIns="0" rtlCol="0" anchor="ctr"/>
          <a:lstStyle/>
          <a:p>
            <a:pPr indent="0" marL="0">
              <a:buNone/>
            </a:pPr>
            <a:r>
              <a:rPr lang="en-US" sz="3000" b="1" dirty="0">
                <a:solidFill>
                  <a:srgbClr val="1D2228"/>
                </a:solidFill>
                <a:latin typeface="맑은 고딕" pitchFamily="34" charset="0"/>
                <a:ea typeface="맑은 고딕" pitchFamily="34" charset="-122"/>
                <a:cs typeface="맑은 고딕" pitchFamily="34" charset="-120"/>
              </a:rPr>
              <a:t>연구 방법과 분석 틀</a:t>
            </a:r>
            <a:endParaRPr lang="en-US" sz="3000" dirty="0"/>
          </a:p>
        </p:txBody>
      </p:sp>
      <p:sp>
        <p:nvSpPr>
          <p:cNvPr id="3" name="method card 1"/>
          <p:cNvSpPr/>
          <p:nvPr/>
        </p:nvSpPr>
        <p:spPr>
          <a:xfrm>
            <a:off x="640080" y="1280160"/>
            <a:ext cx="3520440" cy="1234440"/>
          </a:xfrm>
          <a:prstGeom prst="roundRect">
            <a:avLst>
              <a:gd name="adj" fmla="val 8889"/>
            </a:avLst>
          </a:prstGeom>
          <a:solidFill>
            <a:srgbClr val="F7F6F2"/>
          </a:solidFill>
          <a:ln w="9525">
            <a:solidFill>
              <a:srgbClr val="D6D3CA"/>
            </a:solidFill>
            <a:prstDash val="solid"/>
          </a:ln>
        </p:spPr>
      </p:sp>
      <p:sp>
        <p:nvSpPr>
          <p:cNvPr id="4" name="Text 2"/>
          <p:cNvSpPr txBox="1"/>
          <p:nvPr/>
        </p:nvSpPr>
        <p:spPr>
          <a:xfrm>
            <a:off x="868680" y="1417320"/>
            <a:ext cx="3063240" cy="347472"/>
          </a:xfrm>
          <a:prstGeom prst="rect">
            <a:avLst/>
          </a:prstGeom>
          <a:noFill/>
          <a:ln/>
        </p:spPr>
        <p:txBody>
          <a:bodyPr wrap="square" lIns="0" tIns="0" rIns="0" bIns="0" rtlCol="0" anchor="ctr"/>
          <a:lstStyle/>
          <a:p>
            <a:pPr indent="0" marL="0">
              <a:buNone/>
            </a:pPr>
            <a:r>
              <a:rPr lang="en-US" sz="1600" b="1" dirty="0">
                <a:solidFill>
                  <a:srgbClr val="2D5F8B"/>
                </a:solidFill>
                <a:latin typeface="맑은 고딕" pitchFamily="34" charset="0"/>
                <a:ea typeface="맑은 고딕" pitchFamily="34" charset="-122"/>
                <a:cs typeface="맑은 고딕" pitchFamily="34" charset="-120"/>
              </a:rPr>
              <a:t>법령 분석</a:t>
            </a:r>
            <a:endParaRPr lang="en-US" sz="1600" dirty="0"/>
          </a:p>
        </p:txBody>
      </p:sp>
      <p:sp>
        <p:nvSpPr>
          <p:cNvPr id="5" name="Text 3"/>
          <p:cNvSpPr txBox="1"/>
          <p:nvPr/>
        </p:nvSpPr>
        <p:spPr>
          <a:xfrm>
            <a:off x="868680" y="1810512"/>
            <a:ext cx="3063240" cy="640080"/>
          </a:xfrm>
          <a:prstGeom prst="rect">
            <a:avLst/>
          </a:prstGeom>
          <a:noFill/>
          <a:ln/>
        </p:spPr>
        <p:txBody>
          <a:bodyPr wrap="square" lIns="0" tIns="0" rIns="0" bIns="0" rtlCol="0" anchor="t"/>
          <a:lstStyle/>
          <a:p>
            <a:pPr indent="0" marL="0">
              <a:buNone/>
            </a:pPr>
            <a:r>
              <a:rPr lang="en-US" sz="1400" dirty="0">
                <a:solidFill>
                  <a:srgbClr val="4A5059"/>
                </a:solidFill>
                <a:latin typeface="맑은 고딕" pitchFamily="34" charset="0"/>
                <a:ea typeface="맑은 고딕" pitchFamily="34" charset="-122"/>
                <a:cs typeface="맑은 고딕" pitchFamily="34" charset="-120"/>
              </a:rPr>
              <a:t>중대재해처벌법과 시행령, 산업안전보건법의 의무 조항</a:t>
            </a:r>
            <a:endParaRPr lang="en-US" sz="1400" dirty="0"/>
          </a:p>
        </p:txBody>
      </p:sp>
      <p:sp>
        <p:nvSpPr>
          <p:cNvPr id="6" name="method card 2"/>
          <p:cNvSpPr/>
          <p:nvPr/>
        </p:nvSpPr>
        <p:spPr>
          <a:xfrm>
            <a:off x="4343400" y="1280160"/>
            <a:ext cx="3520440" cy="1234440"/>
          </a:xfrm>
          <a:prstGeom prst="roundRect">
            <a:avLst>
              <a:gd name="adj" fmla="val 8889"/>
            </a:avLst>
          </a:prstGeom>
          <a:solidFill>
            <a:srgbClr val="F7F6F2"/>
          </a:solidFill>
          <a:ln w="9525">
            <a:solidFill>
              <a:srgbClr val="D6D3CA"/>
            </a:solidFill>
            <a:prstDash val="solid"/>
          </a:ln>
        </p:spPr>
      </p:sp>
      <p:sp>
        <p:nvSpPr>
          <p:cNvPr id="7" name="Text 5"/>
          <p:cNvSpPr txBox="1"/>
          <p:nvPr/>
        </p:nvSpPr>
        <p:spPr>
          <a:xfrm>
            <a:off x="4572000" y="1417320"/>
            <a:ext cx="3063240" cy="347472"/>
          </a:xfrm>
          <a:prstGeom prst="rect">
            <a:avLst/>
          </a:prstGeom>
          <a:noFill/>
          <a:ln/>
        </p:spPr>
        <p:txBody>
          <a:bodyPr wrap="square" lIns="0" tIns="0" rIns="0" bIns="0" rtlCol="0" anchor="ctr"/>
          <a:lstStyle/>
          <a:p>
            <a:pPr indent="0" marL="0">
              <a:buNone/>
            </a:pPr>
            <a:r>
              <a:rPr lang="en-US" sz="1600" b="1" dirty="0">
                <a:solidFill>
                  <a:srgbClr val="2D5F8B"/>
                </a:solidFill>
                <a:latin typeface="맑은 고딕" pitchFamily="34" charset="0"/>
                <a:ea typeface="맑은 고딕" pitchFamily="34" charset="-122"/>
                <a:cs typeface="맑은 고딕" pitchFamily="34" charset="-120"/>
              </a:rPr>
              <a:t>판결 분석</a:t>
            </a:r>
            <a:endParaRPr lang="en-US" sz="1600" dirty="0"/>
          </a:p>
        </p:txBody>
      </p:sp>
      <p:sp>
        <p:nvSpPr>
          <p:cNvPr id="8" name="Text 6"/>
          <p:cNvSpPr txBox="1"/>
          <p:nvPr/>
        </p:nvSpPr>
        <p:spPr>
          <a:xfrm>
            <a:off x="4572000" y="1810512"/>
            <a:ext cx="3063240" cy="640080"/>
          </a:xfrm>
          <a:prstGeom prst="rect">
            <a:avLst/>
          </a:prstGeom>
          <a:noFill/>
          <a:ln/>
        </p:spPr>
        <p:txBody>
          <a:bodyPr wrap="square" lIns="0" tIns="0" rIns="0" bIns="0" rtlCol="0" anchor="t"/>
          <a:lstStyle/>
          <a:p>
            <a:pPr indent="0" marL="0">
              <a:buNone/>
            </a:pPr>
            <a:r>
              <a:rPr lang="en-US" sz="1400" dirty="0">
                <a:solidFill>
                  <a:srgbClr val="4A5059"/>
                </a:solidFill>
                <a:latin typeface="맑은 고딕" pitchFamily="34" charset="0"/>
                <a:ea typeface="맑은 고딕" pitchFamily="34" charset="-122"/>
                <a:cs typeface="맑은 고딕" pitchFamily="34" charset="-120"/>
              </a:rPr>
              <a:t>유해·위험요인 확인·개선 의무가 쟁점인 판결 7건 (선행연구 18건과 비교)</a:t>
            </a:r>
            <a:endParaRPr lang="en-US" sz="1400" dirty="0"/>
          </a:p>
        </p:txBody>
      </p:sp>
      <p:sp>
        <p:nvSpPr>
          <p:cNvPr id="9" name="method card 3"/>
          <p:cNvSpPr/>
          <p:nvPr/>
        </p:nvSpPr>
        <p:spPr>
          <a:xfrm>
            <a:off x="8046720" y="1280160"/>
            <a:ext cx="3520440" cy="1234440"/>
          </a:xfrm>
          <a:prstGeom prst="roundRect">
            <a:avLst>
              <a:gd name="adj" fmla="val 8889"/>
            </a:avLst>
          </a:prstGeom>
          <a:solidFill>
            <a:srgbClr val="F7F6F2"/>
          </a:solidFill>
          <a:ln w="9525">
            <a:solidFill>
              <a:srgbClr val="D6D3CA"/>
            </a:solidFill>
            <a:prstDash val="solid"/>
          </a:ln>
        </p:spPr>
      </p:sp>
      <p:sp>
        <p:nvSpPr>
          <p:cNvPr id="10" name="Text 8"/>
          <p:cNvSpPr txBox="1"/>
          <p:nvPr/>
        </p:nvSpPr>
        <p:spPr>
          <a:xfrm>
            <a:off x="8275320" y="1417320"/>
            <a:ext cx="3063240" cy="347472"/>
          </a:xfrm>
          <a:prstGeom prst="rect">
            <a:avLst/>
          </a:prstGeom>
          <a:noFill/>
          <a:ln/>
        </p:spPr>
        <p:txBody>
          <a:bodyPr wrap="square" lIns="0" tIns="0" rIns="0" bIns="0" rtlCol="0" anchor="ctr"/>
          <a:lstStyle/>
          <a:p>
            <a:pPr indent="0" marL="0">
              <a:buNone/>
            </a:pPr>
            <a:r>
              <a:rPr lang="en-US" sz="1600" b="1" dirty="0">
                <a:solidFill>
                  <a:srgbClr val="2D5F8B"/>
                </a:solidFill>
                <a:latin typeface="맑은 고딕" pitchFamily="34" charset="0"/>
                <a:ea typeface="맑은 고딕" pitchFamily="34" charset="-122"/>
                <a:cs typeface="맑은 고딕" pitchFamily="34" charset="-120"/>
              </a:rPr>
              <a:t>정책 문서 분석</a:t>
            </a:r>
            <a:endParaRPr lang="en-US" sz="1600" dirty="0"/>
          </a:p>
        </p:txBody>
      </p:sp>
      <p:sp>
        <p:nvSpPr>
          <p:cNvPr id="11" name="Text 9"/>
          <p:cNvSpPr txBox="1"/>
          <p:nvPr/>
        </p:nvSpPr>
        <p:spPr>
          <a:xfrm>
            <a:off x="8275320" y="1810512"/>
            <a:ext cx="3063240" cy="640080"/>
          </a:xfrm>
          <a:prstGeom prst="rect">
            <a:avLst/>
          </a:prstGeom>
          <a:noFill/>
          <a:ln/>
        </p:spPr>
        <p:txBody>
          <a:bodyPr wrap="square" lIns="0" tIns="0" rIns="0" bIns="0" rtlCol="0" anchor="t"/>
          <a:lstStyle/>
          <a:p>
            <a:pPr indent="0" marL="0">
              <a:buNone/>
            </a:pPr>
            <a:r>
              <a:rPr lang="en-US" sz="1400" dirty="0">
                <a:solidFill>
                  <a:srgbClr val="4A5059"/>
                </a:solidFill>
                <a:latin typeface="맑은 고딕" pitchFamily="34" charset="0"/>
                <a:ea typeface="맑은 고딕" pitchFamily="34" charset="-122"/>
                <a:cs typeface="맑은 고딕" pitchFamily="34" charset="-120"/>
              </a:rPr>
              <a:t>스마트 안전장비 지원사업과 정부 가이드</a:t>
            </a:r>
            <a:endParaRPr lang="en-US" sz="1400" dirty="0"/>
          </a:p>
        </p:txBody>
      </p:sp>
      <p:sp>
        <p:nvSpPr>
          <p:cNvPr id="12" name="Text 10"/>
          <p:cNvSpPr txBox="1"/>
          <p:nvPr/>
        </p:nvSpPr>
        <p:spPr>
          <a:xfrm>
            <a:off x="640080" y="2743200"/>
            <a:ext cx="4572000" cy="347472"/>
          </a:xfrm>
          <a:prstGeom prst="rect">
            <a:avLst/>
          </a:prstGeom>
          <a:noFill/>
          <a:ln/>
        </p:spPr>
        <p:txBody>
          <a:bodyPr wrap="square" lIns="0" tIns="0" rIns="0" bIns="0" rtlCol="0" anchor="ctr"/>
          <a:lstStyle/>
          <a:p>
            <a:pPr indent="0" marL="0">
              <a:buNone/>
            </a:pPr>
            <a:r>
              <a:rPr lang="en-US" sz="1600" b="1" dirty="0">
                <a:solidFill>
                  <a:srgbClr val="1D2228"/>
                </a:solidFill>
                <a:latin typeface="맑은 고딕" pitchFamily="34" charset="0"/>
                <a:ea typeface="맑은 고딕" pitchFamily="34" charset="-122"/>
                <a:cs typeface="맑은 고딕" pitchFamily="34" charset="-120"/>
              </a:rPr>
              <a:t>분석 틀: 안전관리의 네 단계</a:t>
            </a:r>
            <a:endParaRPr lang="en-US" sz="1600" dirty="0"/>
          </a:p>
        </p:txBody>
      </p:sp>
      <p:sp>
        <p:nvSpPr>
          <p:cNvPr id="13" name="Text 11"/>
          <p:cNvSpPr txBox="1"/>
          <p:nvPr/>
        </p:nvSpPr>
        <p:spPr>
          <a:xfrm>
            <a:off x="3840480" y="2770632"/>
            <a:ext cx="7708392" cy="320040"/>
          </a:xfrm>
          <a:prstGeom prst="rect">
            <a:avLst/>
          </a:prstGeom>
          <a:noFill/>
          <a:ln/>
        </p:spPr>
        <p:txBody>
          <a:bodyPr wrap="square" lIns="0" tIns="0" rIns="0" bIns="0" rtlCol="0" anchor="ctr"/>
          <a:lstStyle/>
          <a:p>
            <a:pPr algn="r" indent="0" marL="0">
              <a:buNone/>
            </a:pPr>
            <a:r>
              <a:rPr lang="en-US" sz="1100" dirty="0">
                <a:solidFill>
                  <a:srgbClr val="4A5059"/>
                </a:solidFill>
                <a:latin typeface="맑은 고딕" pitchFamily="34" charset="0"/>
                <a:ea typeface="맑은 고딕" pitchFamily="34" charset="-122"/>
                <a:cs typeface="맑은 고딕" pitchFamily="34" charset="-120"/>
              </a:rPr>
              <a:t>근거: 시행령 제4조 제3호 (유해·위험요인 확인·개선 절차, 반기 1회 이상 점검)</a:t>
            </a:r>
            <a:endParaRPr lang="en-US" sz="1100" dirty="0"/>
          </a:p>
        </p:txBody>
      </p:sp>
      <p:sp>
        <p:nvSpPr>
          <p:cNvPr id="14" name="step 1"/>
          <p:cNvSpPr/>
          <p:nvPr/>
        </p:nvSpPr>
        <p:spPr>
          <a:xfrm>
            <a:off x="640080" y="3200400"/>
            <a:ext cx="2450592" cy="1051560"/>
          </a:xfrm>
          <a:prstGeom prst="roundRect">
            <a:avLst>
              <a:gd name="adj" fmla="val 8696"/>
            </a:avLst>
          </a:prstGeom>
          <a:solidFill>
            <a:srgbClr val="2D5F8B"/>
          </a:solidFill>
          <a:ln w="12700">
            <a:solidFill>
              <a:srgbClr val="2D5F8B"/>
            </a:solidFill>
            <a:prstDash val="solid"/>
          </a:ln>
        </p:spPr>
      </p:sp>
      <p:sp>
        <p:nvSpPr>
          <p:cNvPr id="15" name="Text 13"/>
          <p:cNvSpPr txBox="1"/>
          <p:nvPr/>
        </p:nvSpPr>
        <p:spPr>
          <a:xfrm>
            <a:off x="822960" y="3291840"/>
            <a:ext cx="2084832" cy="347472"/>
          </a:xfrm>
          <a:prstGeom prst="rect">
            <a:avLst/>
          </a:prstGeom>
          <a:noFill/>
          <a:ln/>
        </p:spPr>
        <p:txBody>
          <a:bodyPr wrap="square" lIns="0" tIns="0" rIns="0" bIns="0" rtlCol="0" anchor="ctr"/>
          <a:lstStyle/>
          <a:p>
            <a:pPr indent="0" marL="0">
              <a:buNone/>
            </a:pPr>
            <a:r>
              <a:rPr lang="en-US" sz="1600" b="1" dirty="0">
                <a:solidFill>
                  <a:srgbClr val="F3F1EB"/>
                </a:solidFill>
                <a:latin typeface="맑은 고딕" pitchFamily="34" charset="0"/>
                <a:ea typeface="맑은 고딕" pitchFamily="34" charset="-122"/>
                <a:cs typeface="맑은 고딕" pitchFamily="34" charset="-120"/>
              </a:rPr>
              <a:t>감지</a:t>
            </a:r>
            <a:endParaRPr lang="en-US" sz="1600" dirty="0"/>
          </a:p>
        </p:txBody>
      </p:sp>
      <p:sp>
        <p:nvSpPr>
          <p:cNvPr id="16" name="Text 14"/>
          <p:cNvSpPr txBox="1"/>
          <p:nvPr/>
        </p:nvSpPr>
        <p:spPr>
          <a:xfrm>
            <a:off x="822960" y="3657600"/>
            <a:ext cx="2084832" cy="502920"/>
          </a:xfrm>
          <a:prstGeom prst="rect">
            <a:avLst/>
          </a:prstGeom>
          <a:noFill/>
          <a:ln/>
        </p:spPr>
        <p:txBody>
          <a:bodyPr wrap="square" lIns="0" tIns="0" rIns="0" bIns="0" rtlCol="0" anchor="t"/>
          <a:lstStyle/>
          <a:p>
            <a:pPr indent="0" marL="0">
              <a:buNone/>
            </a:pPr>
            <a:r>
              <a:rPr lang="en-US" sz="1400" dirty="0">
                <a:solidFill>
                  <a:srgbClr val="DCE6F0"/>
                </a:solidFill>
                <a:latin typeface="맑은 고딕" pitchFamily="34" charset="0"/>
                <a:ea typeface="맑은 고딕" pitchFamily="34" charset="-122"/>
                <a:cs typeface="맑은 고딕" pitchFamily="34" charset="-120"/>
              </a:rPr>
              <a:t>AI가 위험 상황을 찾아냄</a:t>
            </a:r>
            <a:endParaRPr lang="en-US" sz="1400" dirty="0"/>
          </a:p>
        </p:txBody>
      </p:sp>
      <p:sp>
        <p:nvSpPr>
          <p:cNvPr id="17" name="arrow 1"/>
          <p:cNvSpPr/>
          <p:nvPr/>
        </p:nvSpPr>
        <p:spPr>
          <a:xfrm>
            <a:off x="3145536" y="3726180"/>
            <a:ext cx="256032" cy="0"/>
          </a:xfrm>
          <a:prstGeom prst="line">
            <a:avLst/>
          </a:prstGeom>
          <a:noFill/>
          <a:ln w="25400">
            <a:solidFill>
              <a:srgbClr val="6B7079"/>
            </a:solidFill>
            <a:prstDash val="solid"/>
            <a:tailEnd type="triangle"/>
          </a:ln>
        </p:spPr>
      </p:sp>
      <p:sp>
        <p:nvSpPr>
          <p:cNvPr id="18" name="step 2"/>
          <p:cNvSpPr/>
          <p:nvPr/>
        </p:nvSpPr>
        <p:spPr>
          <a:xfrm>
            <a:off x="3456432" y="3200400"/>
            <a:ext cx="2450592" cy="1051560"/>
          </a:xfrm>
          <a:prstGeom prst="roundRect">
            <a:avLst>
              <a:gd name="adj" fmla="val 8696"/>
            </a:avLst>
          </a:prstGeom>
          <a:solidFill>
            <a:srgbClr val="2D5F8B"/>
          </a:solidFill>
          <a:ln w="12700">
            <a:solidFill>
              <a:srgbClr val="2D5F8B"/>
            </a:solidFill>
            <a:prstDash val="solid"/>
          </a:ln>
        </p:spPr>
      </p:sp>
      <p:sp>
        <p:nvSpPr>
          <p:cNvPr id="19" name="Text 17"/>
          <p:cNvSpPr txBox="1"/>
          <p:nvPr/>
        </p:nvSpPr>
        <p:spPr>
          <a:xfrm>
            <a:off x="3639312" y="3291840"/>
            <a:ext cx="2084832" cy="347472"/>
          </a:xfrm>
          <a:prstGeom prst="rect">
            <a:avLst/>
          </a:prstGeom>
          <a:noFill/>
          <a:ln/>
        </p:spPr>
        <p:txBody>
          <a:bodyPr wrap="square" lIns="0" tIns="0" rIns="0" bIns="0" rtlCol="0" anchor="ctr"/>
          <a:lstStyle/>
          <a:p>
            <a:pPr indent="0" marL="0">
              <a:buNone/>
            </a:pPr>
            <a:r>
              <a:rPr lang="en-US" sz="1600" b="1" dirty="0">
                <a:solidFill>
                  <a:srgbClr val="F3F1EB"/>
                </a:solidFill>
                <a:latin typeface="맑은 고딕" pitchFamily="34" charset="0"/>
                <a:ea typeface="맑은 고딕" pitchFamily="34" charset="-122"/>
                <a:cs typeface="맑은 고딕" pitchFamily="34" charset="-120"/>
              </a:rPr>
              <a:t>경보·보고</a:t>
            </a:r>
            <a:endParaRPr lang="en-US" sz="1600" dirty="0"/>
          </a:p>
        </p:txBody>
      </p:sp>
      <p:sp>
        <p:nvSpPr>
          <p:cNvPr id="20" name="Text 18"/>
          <p:cNvSpPr txBox="1"/>
          <p:nvPr/>
        </p:nvSpPr>
        <p:spPr>
          <a:xfrm>
            <a:off x="3639312" y="3657600"/>
            <a:ext cx="2084832" cy="502920"/>
          </a:xfrm>
          <a:prstGeom prst="rect">
            <a:avLst/>
          </a:prstGeom>
          <a:noFill/>
          <a:ln/>
        </p:spPr>
        <p:txBody>
          <a:bodyPr wrap="square" lIns="0" tIns="0" rIns="0" bIns="0" rtlCol="0" anchor="t"/>
          <a:lstStyle/>
          <a:p>
            <a:pPr indent="0" marL="0">
              <a:buNone/>
            </a:pPr>
            <a:r>
              <a:rPr lang="en-US" sz="1400" dirty="0">
                <a:solidFill>
                  <a:srgbClr val="DCE6F0"/>
                </a:solidFill>
                <a:latin typeface="맑은 고딕" pitchFamily="34" charset="0"/>
                <a:ea typeface="맑은 고딕" pitchFamily="34" charset="-122"/>
                <a:cs typeface="맑은 고딕" pitchFamily="34" charset="-120"/>
              </a:rPr>
              <a:t>관리자에게 즉시 알림</a:t>
            </a:r>
            <a:endParaRPr lang="en-US" sz="1400" dirty="0"/>
          </a:p>
        </p:txBody>
      </p:sp>
      <p:sp>
        <p:nvSpPr>
          <p:cNvPr id="21" name="arrow 2"/>
          <p:cNvSpPr/>
          <p:nvPr/>
        </p:nvSpPr>
        <p:spPr>
          <a:xfrm>
            <a:off x="5961888" y="3726180"/>
            <a:ext cx="256032" cy="0"/>
          </a:xfrm>
          <a:prstGeom prst="line">
            <a:avLst/>
          </a:prstGeom>
          <a:noFill/>
          <a:ln w="25400">
            <a:solidFill>
              <a:srgbClr val="6B7079"/>
            </a:solidFill>
            <a:prstDash val="solid"/>
            <a:tailEnd type="triangle"/>
          </a:ln>
        </p:spPr>
      </p:sp>
      <p:sp>
        <p:nvSpPr>
          <p:cNvPr id="22" name="step 3"/>
          <p:cNvSpPr/>
          <p:nvPr/>
        </p:nvSpPr>
        <p:spPr>
          <a:xfrm>
            <a:off x="6272784" y="3200400"/>
            <a:ext cx="2450592" cy="1051560"/>
          </a:xfrm>
          <a:prstGeom prst="roundRect">
            <a:avLst>
              <a:gd name="adj" fmla="val 8696"/>
            </a:avLst>
          </a:prstGeom>
          <a:solidFill>
            <a:srgbClr val="1D2228"/>
          </a:solidFill>
          <a:ln w="12700">
            <a:solidFill>
              <a:srgbClr val="1D2228"/>
            </a:solidFill>
            <a:prstDash val="solid"/>
          </a:ln>
        </p:spPr>
      </p:sp>
      <p:sp>
        <p:nvSpPr>
          <p:cNvPr id="23" name="Text 21"/>
          <p:cNvSpPr txBox="1"/>
          <p:nvPr/>
        </p:nvSpPr>
        <p:spPr>
          <a:xfrm>
            <a:off x="6455664" y="3291840"/>
            <a:ext cx="2084832" cy="347472"/>
          </a:xfrm>
          <a:prstGeom prst="rect">
            <a:avLst/>
          </a:prstGeom>
          <a:noFill/>
          <a:ln/>
        </p:spPr>
        <p:txBody>
          <a:bodyPr wrap="square" lIns="0" tIns="0" rIns="0" bIns="0" rtlCol="0" anchor="ctr"/>
          <a:lstStyle/>
          <a:p>
            <a:pPr indent="0" marL="0">
              <a:buNone/>
            </a:pPr>
            <a:r>
              <a:rPr lang="en-US" sz="1600" b="1" dirty="0">
                <a:solidFill>
                  <a:srgbClr val="F3F1EB"/>
                </a:solidFill>
                <a:latin typeface="맑은 고딕" pitchFamily="34" charset="0"/>
                <a:ea typeface="맑은 고딕" pitchFamily="34" charset="-122"/>
                <a:cs typeface="맑은 고딕" pitchFamily="34" charset="-120"/>
              </a:rPr>
              <a:t>조치</a:t>
            </a:r>
            <a:endParaRPr lang="en-US" sz="1600" dirty="0"/>
          </a:p>
        </p:txBody>
      </p:sp>
      <p:sp>
        <p:nvSpPr>
          <p:cNvPr id="24" name="Text 22"/>
          <p:cNvSpPr txBox="1"/>
          <p:nvPr/>
        </p:nvSpPr>
        <p:spPr>
          <a:xfrm>
            <a:off x="6455664" y="3657600"/>
            <a:ext cx="2084832" cy="502920"/>
          </a:xfrm>
          <a:prstGeom prst="rect">
            <a:avLst/>
          </a:prstGeom>
          <a:noFill/>
          <a:ln/>
        </p:spPr>
        <p:txBody>
          <a:bodyPr wrap="square" lIns="0" tIns="0" rIns="0" bIns="0" rtlCol="0" anchor="t"/>
          <a:lstStyle/>
          <a:p>
            <a:pPr indent="0" marL="0">
              <a:buNone/>
            </a:pPr>
            <a:r>
              <a:rPr lang="en-US" sz="1400" dirty="0">
                <a:solidFill>
                  <a:srgbClr val="D3D0C8"/>
                </a:solidFill>
                <a:latin typeface="맑은 고딕" pitchFamily="34" charset="0"/>
                <a:ea typeface="맑은 고딕" pitchFamily="34" charset="-122"/>
                <a:cs typeface="맑은 고딕" pitchFamily="34" charset="-120"/>
              </a:rPr>
              <a:t>작업 중지, 위험 제거</a:t>
            </a:r>
            <a:endParaRPr lang="en-US" sz="1400" dirty="0"/>
          </a:p>
        </p:txBody>
      </p:sp>
      <p:sp>
        <p:nvSpPr>
          <p:cNvPr id="25" name="arrow 3"/>
          <p:cNvSpPr/>
          <p:nvPr/>
        </p:nvSpPr>
        <p:spPr>
          <a:xfrm>
            <a:off x="8778240" y="3726180"/>
            <a:ext cx="256032" cy="0"/>
          </a:xfrm>
          <a:prstGeom prst="line">
            <a:avLst/>
          </a:prstGeom>
          <a:noFill/>
          <a:ln w="25400">
            <a:solidFill>
              <a:srgbClr val="6B7079"/>
            </a:solidFill>
            <a:prstDash val="solid"/>
            <a:tailEnd type="triangle"/>
          </a:ln>
        </p:spPr>
      </p:sp>
      <p:sp>
        <p:nvSpPr>
          <p:cNvPr id="26" name="step 4"/>
          <p:cNvSpPr/>
          <p:nvPr/>
        </p:nvSpPr>
        <p:spPr>
          <a:xfrm>
            <a:off x="9089136" y="3200400"/>
            <a:ext cx="2450592" cy="1051560"/>
          </a:xfrm>
          <a:prstGeom prst="roundRect">
            <a:avLst>
              <a:gd name="adj" fmla="val 8696"/>
            </a:avLst>
          </a:prstGeom>
          <a:solidFill>
            <a:srgbClr val="1D2228"/>
          </a:solidFill>
          <a:ln w="12700">
            <a:solidFill>
              <a:srgbClr val="1D2228"/>
            </a:solidFill>
            <a:prstDash val="solid"/>
          </a:ln>
        </p:spPr>
      </p:sp>
      <p:sp>
        <p:nvSpPr>
          <p:cNvPr id="27" name="Text 25"/>
          <p:cNvSpPr txBox="1"/>
          <p:nvPr/>
        </p:nvSpPr>
        <p:spPr>
          <a:xfrm>
            <a:off x="9272016" y="3291840"/>
            <a:ext cx="2084832" cy="347472"/>
          </a:xfrm>
          <a:prstGeom prst="rect">
            <a:avLst/>
          </a:prstGeom>
          <a:noFill/>
          <a:ln/>
        </p:spPr>
        <p:txBody>
          <a:bodyPr wrap="square" lIns="0" tIns="0" rIns="0" bIns="0" rtlCol="0" anchor="ctr"/>
          <a:lstStyle/>
          <a:p>
            <a:pPr indent="0" marL="0">
              <a:buNone/>
            </a:pPr>
            <a:r>
              <a:rPr lang="en-US" sz="1600" b="1" dirty="0">
                <a:solidFill>
                  <a:srgbClr val="F3F1EB"/>
                </a:solidFill>
                <a:latin typeface="맑은 고딕" pitchFamily="34" charset="0"/>
                <a:ea typeface="맑은 고딕" pitchFamily="34" charset="-122"/>
                <a:cs typeface="맑은 고딕" pitchFamily="34" charset="-120"/>
              </a:rPr>
              <a:t>점검·개선</a:t>
            </a:r>
            <a:endParaRPr lang="en-US" sz="1600" dirty="0"/>
          </a:p>
        </p:txBody>
      </p:sp>
      <p:sp>
        <p:nvSpPr>
          <p:cNvPr id="28" name="Text 26"/>
          <p:cNvSpPr txBox="1"/>
          <p:nvPr/>
        </p:nvSpPr>
        <p:spPr>
          <a:xfrm>
            <a:off x="9272016" y="3657600"/>
            <a:ext cx="2084832" cy="502920"/>
          </a:xfrm>
          <a:prstGeom prst="rect">
            <a:avLst/>
          </a:prstGeom>
          <a:noFill/>
          <a:ln/>
        </p:spPr>
        <p:txBody>
          <a:bodyPr wrap="square" lIns="0" tIns="0" rIns="0" bIns="0" rtlCol="0" anchor="t"/>
          <a:lstStyle/>
          <a:p>
            <a:pPr indent="0" marL="0">
              <a:buNone/>
            </a:pPr>
            <a:r>
              <a:rPr lang="en-US" sz="1400" dirty="0">
                <a:solidFill>
                  <a:srgbClr val="D3D0C8"/>
                </a:solidFill>
                <a:latin typeface="맑은 고딕" pitchFamily="34" charset="0"/>
                <a:ea typeface="맑은 고딕" pitchFamily="34" charset="-122"/>
                <a:cs typeface="맑은 고딕" pitchFamily="34" charset="-120"/>
              </a:rPr>
              <a:t>반복 위험의 원인 개선</a:t>
            </a:r>
            <a:endParaRPr lang="en-US" sz="1400" dirty="0"/>
          </a:p>
        </p:txBody>
      </p:sp>
      <p:sp>
        <p:nvSpPr>
          <p:cNvPr id="29" name="Text 27"/>
          <p:cNvSpPr txBox="1"/>
          <p:nvPr/>
        </p:nvSpPr>
        <p:spPr>
          <a:xfrm>
            <a:off x="640080" y="4389120"/>
            <a:ext cx="5266944" cy="365760"/>
          </a:xfrm>
          <a:prstGeom prst="rect">
            <a:avLst/>
          </a:prstGeom>
          <a:solidFill>
            <a:srgbClr val="D7E1EC"/>
          </a:solidFill>
          <a:ln/>
        </p:spPr>
        <p:txBody>
          <a:bodyPr wrap="square" lIns="0" tIns="0" rIns="0" bIns="0" rtlCol="0" anchor="ctr"/>
          <a:lstStyle/>
          <a:p>
            <a:pPr algn="ctr" indent="0" marL="0">
              <a:buNone/>
            </a:pPr>
            <a:r>
              <a:rPr lang="en-US" sz="1300" b="1" dirty="0">
                <a:solidFill>
                  <a:srgbClr val="2D5F8B"/>
                </a:solidFill>
                <a:latin typeface="맑은 고딕" pitchFamily="34" charset="0"/>
                <a:ea typeface="맑은 고딕" pitchFamily="34" charset="-122"/>
                <a:cs typeface="맑은 고딕" pitchFamily="34" charset="-120"/>
              </a:rPr>
              <a:t>AI가 강한 영역</a:t>
            </a:r>
            <a:endParaRPr lang="en-US" sz="1300" dirty="0"/>
          </a:p>
        </p:txBody>
      </p:sp>
      <p:sp>
        <p:nvSpPr>
          <p:cNvPr id="30" name="Text 28"/>
          <p:cNvSpPr txBox="1"/>
          <p:nvPr/>
        </p:nvSpPr>
        <p:spPr>
          <a:xfrm>
            <a:off x="6272784" y="4389120"/>
            <a:ext cx="5266944" cy="365760"/>
          </a:xfrm>
          <a:prstGeom prst="rect">
            <a:avLst/>
          </a:prstGeom>
          <a:solidFill>
            <a:srgbClr val="D3D0C8"/>
          </a:solidFill>
          <a:ln/>
        </p:spPr>
        <p:txBody>
          <a:bodyPr wrap="square" lIns="0" tIns="0" rIns="0" bIns="0" rtlCol="0" anchor="ctr"/>
          <a:lstStyle/>
          <a:p>
            <a:pPr algn="ctr" indent="0" marL="0">
              <a:buNone/>
            </a:pPr>
            <a:r>
              <a:rPr lang="en-US" sz="1300" b="1" dirty="0">
                <a:solidFill>
                  <a:srgbClr val="1D2228"/>
                </a:solidFill>
                <a:latin typeface="맑은 고딕" pitchFamily="34" charset="0"/>
                <a:ea typeface="맑은 고딕" pitchFamily="34" charset="-122"/>
                <a:cs typeface="맑은 고딕" pitchFamily="34" charset="-120"/>
              </a:rPr>
              <a:t>법이 주로 묻는 영역 (가설)</a:t>
            </a:r>
            <a:endParaRPr lang="en-US" sz="1300" dirty="0"/>
          </a:p>
        </p:txBody>
      </p:sp>
      <p:sp>
        <p:nvSpPr>
          <p:cNvPr id="31" name="Text 29"/>
          <p:cNvSpPr txBox="1"/>
          <p:nvPr/>
        </p:nvSpPr>
        <p:spPr>
          <a:xfrm>
            <a:off x="640080" y="4983480"/>
            <a:ext cx="3520440" cy="1143000"/>
          </a:xfrm>
          <a:prstGeom prst="rect">
            <a:avLst/>
          </a:prstGeom>
          <a:noFill/>
          <a:ln/>
        </p:spPr>
        <p:txBody>
          <a:bodyPr wrap="square" lIns="0" tIns="0" rIns="0" bIns="0" rtlCol="0" anchor="t"/>
          <a:lstStyle/>
          <a:p>
            <a:pPr indent="0" marL="0">
              <a:lnSpc>
                <a:spcPct val="110000"/>
              </a:lnSpc>
              <a:buNone/>
            </a:pPr>
            <a:r>
              <a:rPr lang="en-US" sz="1400" b="1" dirty="0">
                <a:solidFill>
                  <a:srgbClr val="1D2228"/>
                </a:solidFill>
                <a:latin typeface="맑은 고딕" pitchFamily="34" charset="0"/>
                <a:ea typeface="맑은 고딕" pitchFamily="34" charset="-122"/>
                <a:cs typeface="맑은 고딕" pitchFamily="34" charset="-120"/>
              </a:rPr>
              <a:t>기대 효과</a:t>
            </a:r>
            <a:endParaRPr lang="en-US" sz="1400" dirty="0"/>
          </a:p>
          <a:p>
            <a:pPr indent="0" marL="0">
              <a:lnSpc>
                <a:spcPct val="110000"/>
              </a:lnSpc>
              <a:buNone/>
            </a:pPr>
            <a:r>
              <a:rPr lang="en-US" sz="1400" dirty="0">
                <a:solidFill>
                  <a:srgbClr val="1D2228"/>
                </a:solidFill>
                <a:latin typeface="맑은 고딕" pitchFamily="34" charset="0"/>
                <a:ea typeface="맑은 고딕" pitchFamily="34" charset="-122"/>
                <a:cs typeface="맑은 고딕" pitchFamily="34" charset="-120"/>
              </a:rPr>
              <a:t>기업에는 AI 도입 시 점검 기준을, 정책에는 지원사업의 개선 방향을 제시한다.</a:t>
            </a:r>
            <a:endParaRPr lang="en-US" sz="1400" dirty="0"/>
          </a:p>
        </p:txBody>
      </p:sp>
      <p:sp>
        <p:nvSpPr>
          <p:cNvPr id="32" name="Text 30"/>
          <p:cNvSpPr txBox="1"/>
          <p:nvPr/>
        </p:nvSpPr>
        <p:spPr>
          <a:xfrm>
            <a:off x="4343400" y="4983480"/>
            <a:ext cx="3520440" cy="1143000"/>
          </a:xfrm>
          <a:prstGeom prst="rect">
            <a:avLst/>
          </a:prstGeom>
          <a:noFill/>
          <a:ln/>
        </p:spPr>
        <p:txBody>
          <a:bodyPr wrap="square" lIns="0" tIns="0" rIns="0" bIns="0" rtlCol="0" anchor="t"/>
          <a:lstStyle/>
          <a:p>
            <a:pPr indent="0" marL="0">
              <a:lnSpc>
                <a:spcPct val="110000"/>
              </a:lnSpc>
              <a:buNone/>
            </a:pPr>
            <a:r>
              <a:rPr lang="en-US" sz="1400" b="1" dirty="0">
                <a:solidFill>
                  <a:srgbClr val="1D2228"/>
                </a:solidFill>
                <a:latin typeface="맑은 고딕" pitchFamily="34" charset="0"/>
                <a:ea typeface="맑은 고딕" pitchFamily="34" charset="-122"/>
                <a:cs typeface="맑은 고딕" pitchFamily="34" charset="-120"/>
              </a:rPr>
              <a:t>고려사항</a:t>
            </a:r>
            <a:endParaRPr lang="en-US" sz="1400" dirty="0"/>
          </a:p>
          <a:p>
            <a:pPr indent="0" marL="0">
              <a:lnSpc>
                <a:spcPct val="110000"/>
              </a:lnSpc>
              <a:buNone/>
            </a:pPr>
            <a:r>
              <a:rPr lang="en-US" sz="1400" dirty="0">
                <a:solidFill>
                  <a:srgbClr val="1D2228"/>
                </a:solidFill>
                <a:latin typeface="맑은 고딕" pitchFamily="34" charset="0"/>
                <a:ea typeface="맑은 고딕" pitchFamily="34" charset="-122"/>
                <a:cs typeface="맑은 고딕" pitchFamily="34" charset="-120"/>
              </a:rPr>
              <a:t>AI CCTV의 근로자 감시·개인정보 문제 (근로자참여법상 노사 협의, 개인정보 보호법)</a:t>
            </a:r>
            <a:endParaRPr lang="en-US" sz="1400" dirty="0"/>
          </a:p>
        </p:txBody>
      </p:sp>
      <p:sp>
        <p:nvSpPr>
          <p:cNvPr id="33" name="Text 31"/>
          <p:cNvSpPr txBox="1"/>
          <p:nvPr/>
        </p:nvSpPr>
        <p:spPr>
          <a:xfrm>
            <a:off x="8046720" y="4983480"/>
            <a:ext cx="3520440" cy="1143000"/>
          </a:xfrm>
          <a:prstGeom prst="rect">
            <a:avLst/>
          </a:prstGeom>
          <a:noFill/>
          <a:ln/>
        </p:spPr>
        <p:txBody>
          <a:bodyPr wrap="square" lIns="0" tIns="0" rIns="0" bIns="0" rtlCol="0" anchor="t"/>
          <a:lstStyle/>
          <a:p>
            <a:pPr indent="0" marL="0">
              <a:lnSpc>
                <a:spcPct val="110000"/>
              </a:lnSpc>
              <a:buNone/>
            </a:pPr>
            <a:r>
              <a:rPr lang="en-US" sz="1400" b="1" dirty="0">
                <a:solidFill>
                  <a:srgbClr val="1D2228"/>
                </a:solidFill>
                <a:latin typeface="맑은 고딕" pitchFamily="34" charset="0"/>
                <a:ea typeface="맑은 고딕" pitchFamily="34" charset="-122"/>
                <a:cs typeface="맑은 고딕" pitchFamily="34" charset="-120"/>
              </a:rPr>
              <a:t>일정 (8주)</a:t>
            </a:r>
            <a:endParaRPr lang="en-US" sz="1400" dirty="0"/>
          </a:p>
          <a:p>
            <a:pPr indent="0" marL="0">
              <a:lnSpc>
                <a:spcPct val="110000"/>
              </a:lnSpc>
              <a:buNone/>
            </a:pPr>
            <a:r>
              <a:rPr lang="en-US" sz="1400" dirty="0">
                <a:solidFill>
                  <a:srgbClr val="1D2228"/>
                </a:solidFill>
                <a:latin typeface="맑은 고딕" pitchFamily="34" charset="0"/>
                <a:ea typeface="맑은 고딕" pitchFamily="34" charset="-122"/>
                <a:cs typeface="맑은 고딕" pitchFamily="34" charset="-120"/>
              </a:rPr>
              <a:t>법령·문헌 검토 2주, 판결 분석 3주, 정책 분석 1주, 논문 작성 2주 (12. 10. 제출)</a:t>
            </a:r>
            <a:endParaRPr lang="en-US" sz="1400" dirty="0"/>
          </a:p>
        </p:txBody>
      </p:sp>
      <p:sp>
        <p:nvSpPr>
          <p:cNvPr id="34" name="Text 32"/>
          <p:cNvSpPr txBox="1"/>
          <p:nvPr/>
        </p:nvSpPr>
        <p:spPr>
          <a:xfrm>
            <a:off x="640080" y="6263640"/>
            <a:ext cx="2743200" cy="274320"/>
          </a:xfrm>
          <a:prstGeom prst="rect">
            <a:avLst/>
          </a:prstGeom>
          <a:noFill/>
          <a:ln/>
        </p:spPr>
        <p:txBody>
          <a:bodyPr wrap="square" lIns="0" tIns="0" rIns="0" bIns="0" rtlCol="0" anchor="ctr"/>
          <a:lstStyle/>
          <a:p>
            <a:pPr indent="0" marL="0">
              <a:buNone/>
            </a:pPr>
            <a:r>
              <a:rPr lang="en-US" sz="1100" dirty="0">
                <a:solidFill>
                  <a:srgbClr val="6B7079"/>
                </a:solidFill>
                <a:latin typeface="맑은 고딕" pitchFamily="34" charset="0"/>
                <a:ea typeface="맑은 고딕" pitchFamily="34" charset="-122"/>
                <a:cs typeface="맑은 고딕" pitchFamily="34" charset="-120"/>
              </a:rPr>
              <a:t>연구계획 2 / 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D2228"/>
        </a:solidFill>
      </p:bgPr>
    </p:bg>
    <p:spTree>
      <p:nvGrpSpPr>
        <p:cNvPr id="1" name=""/>
        <p:cNvGrpSpPr/>
        <p:nvPr/>
      </p:nvGrpSpPr>
      <p:grpSpPr>
        <a:xfrm>
          <a:off x="0" y="0"/>
          <a:ext cx="0" cy="0"/>
          <a:chOff x="0" y="0"/>
          <a:chExt cx="0" cy="0"/>
        </a:xfrm>
      </p:grpSpPr>
      <p:sp>
        <p:nvSpPr>
          <p:cNvPr id="2" name="hard hat badge"/>
          <p:cNvSpPr/>
          <p:nvPr/>
        </p:nvSpPr>
        <p:spPr>
          <a:xfrm>
            <a:off x="731520" y="1554480"/>
            <a:ext cx="914400" cy="914400"/>
          </a:xfrm>
          <a:prstGeom prst="ellipse">
            <a:avLst/>
          </a:prstGeom>
          <a:solidFill>
            <a:srgbClr val="E3A72F"/>
          </a:solidFill>
          <a:ln w="12700">
            <a:solidFill>
              <a:srgbClr val="E3A72F"/>
            </a:solidFill>
            <a:prstDash val="solid"/>
          </a:ln>
        </p:spPr>
      </p:sp>
      <p:pic>
        <p:nvPicPr>
          <p:cNvPr id="3" name="hard hat icon" descr="preencoded.png">    </p:cNvPr>
          <p:cNvPicPr>
            <a:picLocks noChangeAspect="1"/>
          </p:cNvPicPr>
          <p:nvPr/>
        </p:nvPicPr>
        <p:blipFill>
          <a:blip r:embed="rId1"/>
          <a:stretch>
            <a:fillRect/>
          </a:stretch>
        </p:blipFill>
        <p:spPr>
          <a:xfrm>
            <a:off x="960120" y="1783080"/>
            <a:ext cx="457200" cy="457200"/>
          </a:xfrm>
          <a:prstGeom prst="rect">
            <a:avLst/>
          </a:prstGeom>
        </p:spPr>
      </p:pic>
      <p:sp>
        <p:nvSpPr>
          <p:cNvPr id="4" name="Text 1"/>
          <p:cNvSpPr txBox="1"/>
          <p:nvPr/>
        </p:nvSpPr>
        <p:spPr>
          <a:xfrm>
            <a:off x="731520" y="2743200"/>
            <a:ext cx="10058400" cy="1005840"/>
          </a:xfrm>
          <a:prstGeom prst="rect">
            <a:avLst/>
          </a:prstGeom>
          <a:noFill/>
          <a:ln/>
        </p:spPr>
        <p:txBody>
          <a:bodyPr wrap="square" lIns="0" tIns="0" rIns="0" bIns="0" rtlCol="0" anchor="ctr"/>
          <a:lstStyle/>
          <a:p>
            <a:pPr indent="0" marL="0">
              <a:buNone/>
            </a:pPr>
            <a:r>
              <a:rPr lang="en-US" sz="5400" b="1" dirty="0">
                <a:solidFill>
                  <a:srgbClr val="F3F1EB"/>
                </a:solidFill>
                <a:latin typeface="맑은 고딕" pitchFamily="34" charset="0"/>
                <a:ea typeface="맑은 고딕" pitchFamily="34" charset="-122"/>
                <a:cs typeface="맑은 고딕" pitchFamily="34" charset="-120"/>
              </a:rPr>
              <a:t>감사합니다</a:t>
            </a:r>
            <a:endParaRPr lang="en-US" sz="5400" dirty="0"/>
          </a:p>
        </p:txBody>
      </p:sp>
      <p:sp>
        <p:nvSpPr>
          <p:cNvPr id="5" name="Text 2"/>
          <p:cNvSpPr txBox="1"/>
          <p:nvPr/>
        </p:nvSpPr>
        <p:spPr>
          <a:xfrm>
            <a:off x="731520" y="3840480"/>
            <a:ext cx="10058400" cy="502920"/>
          </a:xfrm>
          <a:prstGeom prst="rect">
            <a:avLst/>
          </a:prstGeom>
          <a:noFill/>
          <a:ln/>
        </p:spPr>
        <p:txBody>
          <a:bodyPr wrap="square" lIns="0" tIns="0" rIns="0" bIns="0" rtlCol="0" anchor="ctr"/>
          <a:lstStyle/>
          <a:p>
            <a:pPr indent="0" marL="0">
              <a:buNone/>
            </a:pPr>
            <a:r>
              <a:rPr lang="en-US" sz="2000" dirty="0">
                <a:solidFill>
                  <a:srgbClr val="B9C0C8"/>
                </a:solidFill>
                <a:latin typeface="맑은 고딕" pitchFamily="34" charset="0"/>
                <a:ea typeface="맑은 고딕" pitchFamily="34" charset="-122"/>
                <a:cs typeface="맑은 고딕" pitchFamily="34" charset="-120"/>
              </a:rPr>
              <a:t>질문과 의견을 부탁드립니다.</a:t>
            </a:r>
            <a:endParaRPr lang="en-US" sz="2000" dirty="0"/>
          </a:p>
        </p:txBody>
      </p:sp>
      <p:sp>
        <p:nvSpPr>
          <p:cNvPr id="6" name="Text 3"/>
          <p:cNvSpPr txBox="1"/>
          <p:nvPr/>
        </p:nvSpPr>
        <p:spPr>
          <a:xfrm>
            <a:off x="731520" y="5760720"/>
            <a:ext cx="10058400" cy="411480"/>
          </a:xfrm>
          <a:prstGeom prst="rect">
            <a:avLst/>
          </a:prstGeom>
          <a:noFill/>
          <a:ln/>
        </p:spPr>
        <p:txBody>
          <a:bodyPr wrap="square" lIns="0" tIns="0" rIns="0" bIns="0" rtlCol="0" anchor="ctr"/>
          <a:lstStyle/>
          <a:p>
            <a:pPr indent="0" marL="0">
              <a:buNone/>
            </a:pPr>
            <a:r>
              <a:rPr lang="en-US" sz="1600" dirty="0">
                <a:solidFill>
                  <a:srgbClr val="B9C0C8"/>
                </a:solidFill>
                <a:latin typeface="맑은 고딕" pitchFamily="34" charset="0"/>
                <a:ea typeface="맑은 고딕" pitchFamily="34" charset="-122"/>
                <a:cs typeface="맑은 고딕" pitchFamily="34" charset="-120"/>
              </a:rPr>
              <a:t>문찬오   |   muncho93@gmail.com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안전관리와 중대재해처벌법 연구계획</dc:title>
  <dc:subject>PptxGenJS Presentation</dc:subject>
  <dc:creator>문찬오</dc:creator>
  <cp:lastModifiedBy>문찬오</cp:lastModifiedBy>
  <cp:revision>1</cp:revision>
  <dcterms:created xsi:type="dcterms:W3CDTF">2026-10-14T12:41:14Z</dcterms:created>
  <dcterms:modified xsi:type="dcterms:W3CDTF">2026-10-14T12:41:14Z</dcterms:modified>
</cp:coreProperties>
</file>