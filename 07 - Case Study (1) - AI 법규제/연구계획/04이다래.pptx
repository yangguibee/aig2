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9"/>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올해 국정감사에서 김선민 의원이 지적한 숫자가 있습니다. 8월 기준 식약처가 허가한 2등급 이상 AI 의료기기 538건 가운데, 회사가 고영향 AI인지 정부에 확인을 요청한 것은 3건뿐이었고, 3등급 뇌출혈 검출 AI를 포함해 3건 모두 해당 없음으로 나왔습니다. 고영향으로 확인된 AI 의료기기는 하나도 없는 셈입니다. EU는 제3자 인증을 받는 의료기기 AI를 고위험으로 보는데, 한국은 몇 등급부터 고영향인지 법에 정해 두지 않았습니다. 과기정통부의 「고영향 인공지능 판단 가이드라인」에만 '3등급 이상'이 나오는데, 이 가이드라인은 법적 구속력이 없습니다. 배경을 보면, 식약처 공개 자료 기준으로 AI가 들어간 디지털의료기기는 687개입니다. 1등급 96개는 신고, 2등급 499개는 대부분 인증, 3등급 92개는 허가를 받습니다. 한국 AI기본법은 올해 1월 시행됐고, EU는 2028년 8월부터 의료기기 AI에 고위험 의무를 적용합니다. 고영향 AI가 되면 회사는 위험관리, 결과 설명, 이용자 보호, 사람의 관리감독 같은 AI 거버넌스 의무를 져야 합니다(AI기본법 제34조). 선행연구인 백수원(2025)은 고영향 AI를 EU와 비교했지만, 의료기기 등급별 차이는 다루지 않았습니다. 그래서 저는 디지털의료기기 1등급부터 3등급까지, 등급에 따라 고영향 의무가 어떻게 달라지는지, EU와는 어떤 차이가 있고 그 시사점은 무엇인지를 연구하려고 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연구 범위는 국내 AI 디지털의료기기이고, 한국 1~3등급을 기준으로 등급별 고영향 AI 해당 여부와 AI 거버넌스 요건을 분석하며, EU와 미국과 비교합니다. 왼쪽 아래 표는 EU, 한국, 미국의 AI 의료기기 규제를 비교한 것입니다. EU에서는 의료기기 인증을 받을 때 AI Act 요건도 함께 심사받습니다. 한국에서는 회사가 스스로 고영향인지 검토하고 정부 확인은 선택이며, 디지털 GMP 적합판정을 받으면 의무를 이행한 것으로 봅니다. 미국은 일부 주에만 AI법이 있고 연방 AI법은 아직 없어서, FDA 의료기기 심사 안에서 AI도 함께 봅니다. 위반 시 제재도 EU는 매출의 최대 3%, 한국은 과태료 3천만 원으로 차이가 큽니다. 소논문은 이 발표 내용을 문제 제기로 삼아, 11월에 선행연구와 연구방법, 12월에 등급별 매핑표와 사례 분석을 마치고 제출하겠습니다. 미리 해 본 분석도 하나 있습니다. 미국 FDA에서 허가받은 한국 회사 AI 제품 44개를 식약처 자료와 맞춰 보니, FDA에서는 모두 2등급인데 식약처에서는 1등급 3개, 2등급 30개, 3등급 11개였습니다. 같은 제품도 나라마다 등급이 달라서, 등급만으로 고영향을 나누면 기준이 흔들릴 수 있습니다. 최종적으로는 AI 디지털의료기기가 등급별로 고영향에 해당하는지 판별하는 체크리스트를 제안하는 것이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8321040" cy="5029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06400" y="1854200"/>
            <a:ext cx="8331200" cy="711200"/>
          </a:xfrm>
          <a:prstGeom prst="rect">
            <a:avLst/>
          </a:prstGeom>
          <a:noFill/>
          <a:ln/>
        </p:spPr>
        <p:txBody>
          <a:bodyPr wrap="square" lIns="0" tIns="0" rIns="0" bIns="0" rtlCol="0" anchor="ctr"/>
          <a:lstStyle/>
          <a:p>
            <a:pPr algn="l" indent="0" marL="0">
              <a:buNone/>
            </a:pPr>
            <a:r>
              <a:rPr lang="en-US" sz="3600" b="1" dirty="0">
                <a:solidFill>
                  <a:schemeClr val="tx2"/>
                </a:solidFill>
              </a:rPr>
              <a:t>AI 거버넌스 기반의 연구방법론</a:t>
            </a:r>
            <a:endParaRPr lang="en-US" sz="2600" dirty="0"/>
          </a:p>
        </p:txBody>
      </p:sp>
      <p:sp>
        <p:nvSpPr>
          <p:cNvPr id="3" name="Text 1"/>
          <p:cNvSpPr txBox="1"/>
          <p:nvPr/>
        </p:nvSpPr>
        <p:spPr>
          <a:xfrm>
            <a:off x="406400" y="4572000"/>
            <a:ext cx="8331200" cy="228600"/>
          </a:xfrm>
          <a:prstGeom prst="rect">
            <a:avLst/>
          </a:prstGeom>
          <a:noFill/>
          <a:ln/>
        </p:spPr>
        <p:txBody>
          <a:bodyPr wrap="square" lIns="0" tIns="0" rIns="0" bIns="0" rtlCol="0" anchor="t"/>
          <a:lstStyle/>
          <a:p>
            <a:pPr indent="0" marL="0" algn="l">
              <a:buNone/>
            </a:pPr>
            <a:r>
              <a:rPr lang="en-US" sz="1100" dirty="0">
                <a:solidFill>
                  <a:srgbClr val="A0AAAF"/>
                </a:solidFill>
              </a:rPr>
              <a:t>이다래  ·  2026. 10. 15.</a:t>
            </a:r>
            <a:endParaRPr lang="en-US" sz="1100" dirty="0"/>
          </a:p>
        </p:txBody>
      </p:sp>
      <p:sp>
        <p:nvSpPr>
          <p:cNvPr id="7" name="Shape 5"/>
          <p:cNvSpPr/>
          <p:nvPr/>
        </p:nvSpPr>
        <p:spPr>
          <a:xfrm>
            <a:off x="406400" y="1498600"/>
            <a:ext cx="1320800" cy="279400"/>
          </a:xfrm>
          <a:prstGeom prst="roundRect">
            <a:avLst>
              <a:gd name="adj" fmla="val 21429"/>
            </a:avLst>
          </a:prstGeom>
          <a:solidFill>
            <a:schemeClr val="accent1"/>
          </a:solidFill>
          <a:ln/>
        </p:spPr>
        <p:txBody>
          <a:bodyPr/>
          <a:p/>
        </p:txBody>
      </p:sp>
      <p:sp>
        <p:nvSpPr>
          <p:cNvPr id="8" name="Text 6"/>
          <p:cNvSpPr txBox="1"/>
          <p:nvPr/>
        </p:nvSpPr>
        <p:spPr>
          <a:xfrm>
            <a:off x="406400" y="1498600"/>
            <a:ext cx="1320800" cy="279400"/>
          </a:xfrm>
          <a:prstGeom prst="rect">
            <a:avLst/>
          </a:prstGeom>
          <a:noFill/>
          <a:ln/>
        </p:spPr>
        <p:txBody>
          <a:bodyPr wrap="square" lIns="0" tIns="0" rIns="0" bIns="0" rtlCol="0" anchor="ctr"/>
          <a:lstStyle/>
          <a:p>
            <a:pPr algn="ctr" indent="0" marL="0">
              <a:buNone/>
            </a:pPr>
            <a:r>
              <a:rPr lang="en-US" sz="1100" b="1" dirty="0">
                <a:solidFill>
                  <a:schemeClr val="bg1"/>
                </a:solidFill>
              </a:rPr>
              <a:t>소논문 연구계획</a:t>
            </a:r>
            <a:endParaRPr lang="en-US" sz="1100" dirty="0"/>
          </a:p>
        </p:txBody>
      </p:sp>
      <p:sp>
        <p:nvSpPr>
          <p:cNvPr id="3" name="Text 1"/>
          <p:cNvSpPr txBox="1"/>
          <p:nvPr/>
        </p:nvSpPr>
        <p:spPr>
          <a:xfrm>
            <a:off x="406400" y="2667000"/>
            <a:ext cx="8331200" cy="1143000"/>
          </a:xfrm>
          <a:prstGeom prst="rect">
            <a:avLst/>
          </a:prstGeom>
          <a:noFill/>
          <a:ln/>
        </p:spPr>
        <p:txBody>
          <a:bodyPr wrap="square" lIns="0" tIns="0" rIns="0" bIns="0" rtlCol="0" anchor="t"/>
          <a:lstStyle/>
          <a:p>
            <a:pPr indent="0" marL="0" algn="l">
              <a:tabLst>
                <a:tab pos="406400" algn="l"/>
              </a:tabLst>
              <a:spcAft>
                <a:spcPts val="0"/>
              </a:spcAft>
              <a:buNone/>
            </a:pPr>
            <a:r>
              <a:rPr lang="en-US" sz="1600" dirty="0" b="1">
                <a:solidFill>
                  <a:schemeClr val="accent1"/>
                </a:solidFill>
              </a:rPr>
              <a:t>01	</a:t>
            </a:r>
            <a:r>
              <a:rPr lang="en-US" sz="1600" dirty="0">
                <a:solidFill>
                  <a:schemeClr val="accent6"/>
                </a:solidFill>
              </a:rPr>
              <a:t>디지털의료기기, 등급별 고영향 AI 판단 기준</a:t>
            </a:r>
            <a:endParaRPr lang="en-US" sz="1100" dirty="0"/>
          </a:p>
          <a:p>
            <a:pPr indent="0" marL="406400" algn="l">
              <a:spcBef>
                <a:spcPts val="200"/>
              </a:spcBef>
              <a:spcAft>
                <a:spcPts val="1000"/>
              </a:spcAft>
              <a:buNone/>
            </a:pPr>
            <a:r>
              <a:rPr lang="en-US" sz="1100" dirty="0" b="0">
                <a:solidFill>
                  <a:srgbClr val="9AA4A9"/>
                </a:solidFill>
              </a:rPr>
              <a:t>문제 제기 · 배경, 연구 목적(연구 질문), 선행연구와의 차별점</a:t>
            </a:r>
            <a:endParaRPr lang="en-US" sz="1100" dirty="0"/>
          </a:p>
          <a:p>
            <a:pPr indent="0" marL="0" algn="l">
              <a:tabLst>
                <a:tab pos="406400" algn="l"/>
              </a:tabLst>
              <a:spcAft>
                <a:spcPts val="0"/>
              </a:spcAft>
              <a:buNone/>
            </a:pPr>
            <a:r>
              <a:rPr lang="en-US" sz="1600" dirty="0" b="1">
                <a:solidFill>
                  <a:schemeClr val="accent1"/>
                </a:solidFill>
              </a:rPr>
              <a:t>02	</a:t>
            </a:r>
            <a:r>
              <a:rPr lang="en-US" sz="1600" dirty="0">
                <a:solidFill>
                  <a:schemeClr val="accent6"/>
                </a:solidFill>
              </a:rPr>
              <a:t>연구 범위와 소논문 계획</a:t>
            </a:r>
            <a:endParaRPr lang="en-US" sz="1100" dirty="0"/>
          </a:p>
          <a:p>
            <a:pPr indent="0" marL="406400" algn="l">
              <a:spcBef>
                <a:spcPts val="200"/>
              </a:spcBef>
              <a:spcAft>
                <a:spcPts val="1000"/>
              </a:spcAft>
              <a:buNone/>
            </a:pPr>
            <a:r>
              <a:rPr lang="en-US" sz="1100" dirty="0" b="0">
                <a:solidFill>
                  <a:srgbClr val="9AA4A9"/>
                </a:solidFill>
              </a:rPr>
              <a:t>연구 범위 · 분석 내용, 연구 방법(비교), 진행 일정</a:t>
            </a:r>
            <a:endParaRPr lang="en-US" sz="1100" dirty="0"/>
          </a:p>
        </p:txBody>
      </p:sp>
      <p:cxnSp>
        <p:nvCxnSpPr>
          <p:cNvPr id="9" name="Connector 8"/>
          <p:cNvCxnSpPr/>
          <p:nvPr/>
        </p:nvCxnSpPr>
        <p:spPr>
          <a:xfrm flipV="1">
            <a:off x="406400" y="4470400"/>
            <a:ext cx="1016000" cy="0"/>
          </a:xfrm>
          <a:prstGeom prst="line">
            <a:avLst/>
          </a:prstGeom>
          <a:ln w="12700">
            <a:solidFill>
              <a:srgbClr val="B8C9CD"/>
            </a:solidFill>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7" name="Rounded Rectangle 26"/>
          <p:cNvSpPr/>
          <p:nvPr/>
        </p:nvSpPr>
        <p:spPr>
          <a:xfrm>
            <a:off x="4635500" y="1518920"/>
            <a:ext cx="4102100" cy="1270000"/>
          </a:xfrm>
          <a:prstGeom prst="roundRect">
            <a:avLst>
              <a:gd name="adj" fmla="val 6000"/>
            </a:avLst>
          </a:prstGeom>
          <a:noFill/>
          <a:ln w="12700">
            <a:solidFill>
              <a:srgbClr val="B8C9CD"/>
            </a:solidFill>
          </a:ln>
          <a:effectLst/>
        </p:spPr>
        <p:txBody>
          <a:bodyPr/>
          <a:p/>
        </p:txBody>
      </p:sp>
      <p:sp>
        <p:nvSpPr>
          <p:cNvPr id="26" name="Rounded Rectangle 25"/>
          <p:cNvSpPr/>
          <p:nvPr/>
        </p:nvSpPr>
        <p:spPr>
          <a:xfrm>
            <a:off x="406400" y="1518920"/>
            <a:ext cx="4102100" cy="1270000"/>
          </a:xfrm>
          <a:prstGeom prst="roundRect">
            <a:avLst>
              <a:gd name="adj" fmla="val 6000"/>
            </a:avLst>
          </a:prstGeom>
          <a:noFill/>
          <a:ln w="12700">
            <a:solidFill>
              <a:srgbClr val="B8C9CD"/>
            </a:solidFill>
          </a:ln>
          <a:effectLst/>
        </p:spPr>
        <p:txBody>
          <a:bodyPr/>
          <a:p/>
        </p:txBody>
      </p:sp>
      <p:sp>
        <p:nvSpPr>
          <p:cNvPr id="2" name="Text 0"/>
          <p:cNvSpPr/>
          <p:nvPr>
            <p:ph idx="100" type="title" hasCustomPrompt="1"/>
          </p:nvPr>
        </p:nvSpPr>
        <p:spPr>
          <a:xfrm>
            <a:off x="411480" y="274320"/>
            <a:ext cx="8321040" cy="502920"/>
          </a:xfrm>
          <a:prstGeom prst="rect">
            <a:avLst/>
          </a:prstGeom>
          <a:noFill/>
          <a:ln/>
        </p:spPr>
        <p:txBody>
          <a:bodyPr wrap="square" lIns="0" tIns="0" rIns="0" bIns="0" rtlCol="0" anchor="t"/>
          <a:lstStyle/>
          <a:p>
            <a:pPr algn="l" indent="0" marL="0">
              <a:buNone/>
            </a:pPr>
            <a:r>
              <a:rPr lang="en-US" sz="2600" b="1" dirty="0">
                <a:solidFill>
                  <a:schemeClr val="tx2"/>
                </a:solidFill>
                <a:latin typeface="Malgun Gothic"/>
                <a:ea typeface="Malgun Gothic"/>
                <a:cs typeface="Malgun Gothic"/>
              </a:rPr>
              <a:t>디지털의료기기, 등급별 고영향 AI 판단 기준</a:t>
            </a:r>
            <a:endParaRPr lang="en-US" sz="2600" dirty="0"/>
          </a:p>
        </p:txBody>
      </p:sp>
      <p:sp>
        <p:nvSpPr>
          <p:cNvPr id="3" name="Text 1"/>
          <p:cNvSpPr txBox="1"/>
          <p:nvPr/>
        </p:nvSpPr>
        <p:spPr>
          <a:xfrm>
            <a:off x="411480" y="777240"/>
            <a:ext cx="8321040" cy="274320"/>
          </a:xfrm>
          <a:prstGeom prst="rect">
            <a:avLst/>
          </a:prstGeom>
          <a:noFill/>
          <a:ln/>
        </p:spPr>
        <p:txBody>
          <a:bodyPr wrap="square" lIns="0" tIns="0" rIns="0" bIns="0" rtlCol="0" anchor="t"/>
          <a:lstStyle/>
          <a:p>
            <a:pPr indent="0" marL="0">
              <a:buNone/>
            </a:pPr>
            <a:r>
              <a:rPr lang="en-US" sz="1100" dirty="0">
                <a:solidFill>
                  <a:schemeClr val="accent6"/>
                </a:solidFill>
              </a:rPr>
              <a:t>AI 디지털의료기기의 등급별 고영향 AI 해당성과 AI 거버넌스 요건 분석: 한국 AI기본법과 EU AI Act 비교를 중심으로</a:t>
            </a:r>
            <a:endParaRPr lang="en-US" sz="1100" dirty="0"/>
          </a:p>
        </p:txBody>
      </p:sp>
      <p:sp>
        <p:nvSpPr>
          <p:cNvPr id="4" name="Shape 2"/>
          <p:cNvSpPr/>
          <p:nvPr/>
        </p:nvSpPr>
        <p:spPr>
          <a:xfrm>
            <a:off x="4635500" y="1226820"/>
            <a:ext cx="822960" cy="256032"/>
          </a:xfrm>
          <a:prstGeom prst="roundRect">
            <a:avLst>
              <a:gd name="adj" fmla="val 21429"/>
            </a:avLst>
          </a:prstGeom>
          <a:solidFill>
            <a:schemeClr val="accent1"/>
          </a:solidFill>
          <a:ln/>
        </p:spPr>
        <p:txBody>
          <a:bodyPr/>
          <a:p/>
        </p:txBody>
      </p:sp>
      <p:sp>
        <p:nvSpPr>
          <p:cNvPr id="5" name="Text 3"/>
          <p:cNvSpPr txBox="1"/>
          <p:nvPr/>
        </p:nvSpPr>
        <p:spPr>
          <a:xfrm>
            <a:off x="4635500" y="122682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배경</a:t>
            </a:r>
            <a:endParaRPr lang="en-US" sz="1100" dirty="0"/>
          </a:p>
        </p:txBody>
      </p:sp>
      <p:sp>
        <p:nvSpPr>
          <p:cNvPr id="6" name="Text 4"/>
          <p:cNvSpPr txBox="1"/>
          <p:nvPr/>
        </p:nvSpPr>
        <p:spPr>
          <a:xfrm>
            <a:off x="4787900" y="1620520"/>
            <a:ext cx="3848100" cy="1066800"/>
          </a:xfrm>
          <a:prstGeom prst="rect">
            <a:avLst/>
          </a:prstGeom>
          <a:noFill/>
          <a:ln/>
        </p:spPr>
        <p:txBody>
          <a:bodyPr wrap="square" lIns="0" tIns="0" rIns="0" bIns="0" rtlCol="0" anchor="ctr"/>
          <a:lstStyle/>
          <a:p>
            <a:pPr marL="152400" indent="-152400">
              <a:lnSpc>
                <a:spcPct val="100000"/>
              </a:lnSpc>
              <a:spcBef>
                <a:spcPts val="0"/>
              </a:spcBef>
              <a:spcAft>
                <a:spcPts val="600"/>
              </a:spcAft>
              <a:buSzPct val="100000"/>
              <a:buChar char="•"/>
            </a:pPr>
            <a:r>
              <a:rPr lang="en-US" sz="1200" dirty="0">
                <a:solidFill>
                  <a:schemeClr val="tx1"/>
                </a:solidFill>
              </a:rPr>
              <a:t>식약처 공개 자료 기준 AI 디지털의료기기 687개</a:t>
            </a:r>
            <a:br>
              <a:rPr lang="en-US" sz="1200" dirty="0">
                <a:solidFill>
                  <a:schemeClr val="tx1"/>
                </a:solidFill>
              </a:rPr>
            </a:br>
            <a:r>
              <a:rPr lang="en-US" sz="1200" dirty="0">
                <a:solidFill>
                  <a:srgbClr val="7A868C"/>
                </a:solidFill>
              </a:rPr>
              <a:t>(1등급 96 · 2등급 499 · 3등급 92)</a:t>
            </a:r>
            <a:endParaRPr lang="en-US" sz="1200" dirty="0"/>
          </a:p>
          <a:p>
            <a:pPr marL="152400" indent="-152400">
              <a:lnSpc>
                <a:spcPct val="100000"/>
              </a:lnSpc>
              <a:spcBef>
                <a:spcPts val="0"/>
              </a:spcBef>
              <a:spcAft>
                <a:spcPts val="600"/>
              </a:spcAft>
              <a:buSzPct val="100000"/>
              <a:buChar char="•"/>
            </a:pPr>
            <a:r>
              <a:rPr lang="en-US" sz="1200" dirty="0">
                <a:solidFill>
                  <a:schemeClr val="tx1"/>
                </a:solidFill>
              </a:rPr>
              <a:t>한국: 고영향 AI 거버넌스 의무 2026.1 시행</a:t>
            </a:r>
            <a:endParaRPr lang="en-US" sz="1200" dirty="0"/>
          </a:p>
          <a:p>
            <a:pPr marL="152400" indent="-152400">
              <a:lnSpc>
                <a:spcPct val="100000"/>
              </a:lnSpc>
              <a:spcBef>
                <a:spcPts val="0"/>
              </a:spcBef>
              <a:spcAft>
                <a:spcPts val="0"/>
              </a:spcAft>
              <a:buSzPct val="100000"/>
              <a:buChar char="•"/>
            </a:pPr>
            <a:r>
              <a:rPr lang="en-US" sz="1200" dirty="0">
                <a:solidFill>
                  <a:schemeClr val="tx1"/>
                </a:solidFill>
              </a:rPr>
              <a:t>EU: 의료기기 AI 고위험 의무 2028.8 적용</a:t>
            </a:r>
            <a:endParaRPr lang="en-US" sz="1200" dirty="0"/>
          </a:p>
        </p:txBody>
      </p:sp>
      <p:sp>
        <p:nvSpPr>
          <p:cNvPr id="7" name="Shape 5"/>
          <p:cNvSpPr/>
          <p:nvPr/>
        </p:nvSpPr>
        <p:spPr>
          <a:xfrm>
            <a:off x="406400" y="1226820"/>
            <a:ext cx="822960" cy="256032"/>
          </a:xfrm>
          <a:prstGeom prst="roundRect">
            <a:avLst>
              <a:gd name="adj" fmla="val 21429"/>
            </a:avLst>
          </a:prstGeom>
          <a:solidFill>
            <a:schemeClr val="accent1"/>
          </a:solidFill>
          <a:ln/>
        </p:spPr>
        <p:txBody>
          <a:bodyPr/>
          <a:p/>
        </p:txBody>
      </p:sp>
      <p:sp>
        <p:nvSpPr>
          <p:cNvPr id="8" name="Text 6"/>
          <p:cNvSpPr txBox="1"/>
          <p:nvPr/>
        </p:nvSpPr>
        <p:spPr>
          <a:xfrm>
            <a:off x="406400" y="122682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문제</a:t>
            </a:r>
            <a:endParaRPr lang="en-US" sz="1100" dirty="0"/>
          </a:p>
        </p:txBody>
      </p:sp>
      <p:sp>
        <p:nvSpPr>
          <p:cNvPr id="9" name="Text 7"/>
          <p:cNvSpPr txBox="1"/>
          <p:nvPr/>
        </p:nvSpPr>
        <p:spPr>
          <a:xfrm>
            <a:off x="558800" y="1620520"/>
            <a:ext cx="3848100" cy="1066800"/>
          </a:xfrm>
          <a:prstGeom prst="rect">
            <a:avLst/>
          </a:prstGeom>
          <a:noFill/>
          <a:ln/>
        </p:spPr>
        <p:txBody>
          <a:bodyPr wrap="square" lIns="0" tIns="0" rIns="0" bIns="0" rtlCol="0" anchor="ctr"/>
          <a:lstStyle/>
          <a:p>
            <a:pPr marL="152400" indent="-152400">
              <a:lnSpc>
                <a:spcPct val="100000"/>
              </a:lnSpc>
              <a:spcBef>
                <a:spcPts val="0"/>
              </a:spcBef>
              <a:spcAft>
                <a:spcPts val="600"/>
              </a:spcAft>
              <a:buSzPct val="100000"/>
              <a:buChar char="•"/>
            </a:pPr>
            <a:r>
              <a:rPr lang="en-US" sz="1200" dirty="0" b="1">
                <a:solidFill>
                  <a:schemeClr val="tx1"/>
                </a:solidFill>
              </a:rPr>
              <a:t>AI 의료기기 538건 중 고영향 확인 요청 3건,</a:t>
            </a:r>
            <a:br>
              <a:rPr lang="en-US" sz="1200" dirty="0" b="1">
                <a:solidFill>
                  <a:schemeClr val="tx1"/>
                </a:solidFill>
              </a:rPr>
            </a:br>
            <a:r>
              <a:rPr lang="en-US" sz="1200" dirty="0" b="1">
                <a:solidFill>
                  <a:schemeClr val="tx1"/>
                </a:solidFill>
              </a:rPr>
              <a:t>모두 비해당</a:t>
            </a:r>
            <a:endParaRPr lang="en-US" sz="1200" dirty="0"/>
          </a:p>
          <a:p>
            <a:pPr marL="152400" indent="-152400">
              <a:lnSpc>
                <a:spcPct val="100000"/>
              </a:lnSpc>
              <a:spcBef>
                <a:spcPts val="0"/>
              </a:spcBef>
              <a:spcAft>
                <a:spcPts val="600"/>
              </a:spcAft>
              <a:buSzPct val="100000"/>
              <a:buChar char="•"/>
            </a:pPr>
            <a:r>
              <a:rPr lang="en-US" sz="1200" dirty="0">
                <a:solidFill>
                  <a:schemeClr val="tx1"/>
                </a:solidFill>
              </a:rPr>
              <a:t>EU는 제3자 인증 대상 의료기기만 고위험 (제6조 1항)</a:t>
            </a:r>
            <a:endParaRPr lang="en-US" sz="1200" dirty="0"/>
          </a:p>
          <a:p>
            <a:pPr marL="152400" indent="-152400">
              <a:lnSpc>
                <a:spcPct val="100000"/>
              </a:lnSpc>
              <a:spcBef>
                <a:spcPts val="0"/>
              </a:spcBef>
              <a:spcAft>
                <a:spcPts val="0"/>
              </a:spcAft>
              <a:buSzPct val="100000"/>
              <a:buChar char="•"/>
            </a:pPr>
            <a:r>
              <a:rPr lang="en-US" sz="1200" b="1" dirty="0">
                <a:solidFill>
                  <a:schemeClr val="accent2"/>
                </a:solidFill>
              </a:rPr>
              <a:t>AI기본법은 고영향 해당 등급을 정하지 않음</a:t>
            </a:r>
            <a:endParaRPr lang="en-US" sz="1200" dirty="0"/>
          </a:p>
        </p:txBody>
      </p:sp>
      <p:sp>
        <p:nvSpPr>
          <p:cNvPr id="14" name="Text 11"/>
          <p:cNvSpPr txBox="1"/>
          <p:nvPr/>
        </p:nvSpPr>
        <p:spPr>
          <a:xfrm>
            <a:off x="411480" y="3982720"/>
            <a:ext cx="8321040" cy="274320"/>
          </a:xfrm>
          <a:prstGeom prst="rect">
            <a:avLst/>
          </a:prstGeom>
          <a:noFill/>
          <a:ln/>
        </p:spPr>
        <p:txBody>
          <a:bodyPr wrap="square" lIns="0" tIns="0" rIns="0" bIns="0" rtlCol="0" anchor="ctr"/>
          <a:lstStyle/>
          <a:p>
            <a:pPr indent="0" marL="0">
              <a:buNone/>
            </a:pPr>
            <a:r>
              <a:rPr lang="en-US" sz="1100" b="1" dirty="0">
                <a:solidFill>
                  <a:schemeClr val="accent3"/>
                </a:solidFill>
              </a:rPr>
              <a:t>선행연구  </a:t>
            </a:r>
            <a:pPr indent="0" marL="0">
              <a:buNone/>
            </a:pPr>
            <a:r>
              <a:rPr lang="en-US" sz="1100" dirty="0">
                <a:solidFill>
                  <a:schemeClr val="accent6"/>
                </a:solidFill>
              </a:rPr>
              <a:t>「인공지능기본법상 "고영향 인공지능"과 관련된 기본권 논의」: EU와 비교하나 의료기기 등급별 차이는 다루지 않음</a:t>
            </a:r>
            <a:endParaRPr lang="en-US" sz="1100" dirty="0"/>
          </a:p>
        </p:txBody>
      </p:sp>
      <p:sp>
        <p:nvSpPr>
          <p:cNvPr id="15" name="Shape 12"/>
          <p:cNvSpPr/>
          <p:nvPr/>
        </p:nvSpPr>
        <p:spPr>
          <a:xfrm>
            <a:off x="411480" y="3309620"/>
            <a:ext cx="8321040" cy="533400"/>
          </a:xfrm>
          <a:prstGeom prst="roundRect">
            <a:avLst>
              <a:gd name="adj" fmla="val 10667"/>
            </a:avLst>
          </a:prstGeom>
          <a:solidFill>
            <a:schemeClr val="bg2"/>
          </a:solidFill>
          <a:ln/>
        </p:spPr>
        <p:txBody>
          <a:bodyPr/>
          <a:p/>
        </p:txBody>
      </p:sp>
      <p:sp>
        <p:nvSpPr>
          <p:cNvPr id="16" name="Text 13"/>
          <p:cNvSpPr txBox="1"/>
          <p:nvPr/>
        </p:nvSpPr>
        <p:spPr>
          <a:xfrm>
            <a:off x="594360" y="3309620"/>
            <a:ext cx="7955280" cy="533400"/>
          </a:xfrm>
          <a:prstGeom prst="rect">
            <a:avLst/>
          </a:prstGeom>
          <a:noFill/>
          <a:ln/>
        </p:spPr>
        <p:txBody>
          <a:bodyPr wrap="square" lIns="0" tIns="0" rIns="0" bIns="0" rtlCol="0" anchor="ctr"/>
          <a:lstStyle/>
          <a:p>
            <a:pPr indent="0" marL="0">
              <a:buNone/>
            </a:pPr>
            <a:pPr indent="0" marL="0">
              <a:buNone/>
            </a:pPr>
            <a:r>
              <a:rPr lang="en-US" sz="1200" b="1" dirty="0">
                <a:solidFill>
                  <a:schemeClr val="tx2"/>
                </a:solidFill>
              </a:rPr>
              <a:t>디지털의료기기 등급에 따라 AI기본법의 고영향 AI 거버넌스 의무는 어떻게 달라지는가</a:t>
            </a:r>
            <a:br>
              <a:rPr lang="en-US" sz="1300" b="1" dirty="0">
                <a:solidFill>
                  <a:schemeClr val="tx2"/>
                </a:solidFill>
              </a:rPr>
            </a:br>
            <a:r>
              <a:rPr lang="en-US" sz="1200" b="1" dirty="0">
                <a:solidFill>
                  <a:schemeClr val="tx2"/>
                </a:solidFill>
              </a:rPr>
              <a:t>EU AI Act의 고위험 기준과는 어떤 차이가 있으며, 그 시사점은 무엇인가</a:t>
            </a:r>
            <a:endParaRPr lang="en-US" sz="13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a:t>
            </a:fld>
            <a:endParaRPr lang="en-US"/>
          </a:p>
        </p:txBody>
      </p:sp>
      <p:sp>
        <p:nvSpPr>
          <p:cNvPr id="14" name="Text 11"/>
          <p:cNvSpPr txBox="1"/>
          <p:nvPr/>
        </p:nvSpPr>
        <p:spPr>
          <a:xfrm>
            <a:off x="406400" y="4864100"/>
            <a:ext cx="7620000" cy="152400"/>
          </a:xfrm>
          <a:prstGeom prst="rect">
            <a:avLst/>
          </a:prstGeom>
          <a:noFill/>
          <a:ln/>
        </p:spPr>
        <p:txBody>
          <a:bodyPr wrap="square" lIns="0" tIns="0" rIns="0" bIns="0" rtlCol="0" anchor="ctr"/>
          <a:lstStyle/>
          <a:p>
            <a:pPr indent="0" marL="0">
              <a:lnSpc>
                <a:spcPct val="100000"/>
              </a:lnSpc>
              <a:spcBef>
                <a:spcPts val="0"/>
              </a:spcBef>
              <a:spcAft>
                <a:spcPts val="0"/>
              </a:spcAft>
              <a:buNone/>
            </a:pPr>
            <a:r>
              <a:rPr lang="en-US" sz="700" b="0" dirty="0">
                <a:solidFill>
                  <a:srgbClr val="888888"/>
                </a:solidFill>
              </a:rPr>
              <a:t>538건 중 3건 (문제 칸): 김선민 의원 국정감사 자료 (과기정통부 제출, 2026.8.31 기준), 의료기기뉴스라인 2026.10.7 보도</a:t>
            </a:r>
            <a:pPr indent="0" marL="0">
              <a:buNone/>
            </a:pPr>
            <a:endParaRPr lang="en-US" sz="1100" dirty="0"/>
          </a:p>
        </p:txBody>
      </p:sp>
      <p:sp>
        <p:nvSpPr>
          <p:cNvPr id="14" name="Text 11"/>
          <p:cNvSpPr txBox="1"/>
          <p:nvPr/>
        </p:nvSpPr>
        <p:spPr>
          <a:xfrm>
            <a:off x="1059180" y="4224020"/>
            <a:ext cx="7112000" cy="152400"/>
          </a:xfrm>
          <a:prstGeom prst="rect">
            <a:avLst/>
          </a:prstGeom>
          <a:noFill/>
          <a:ln/>
        </p:spPr>
        <p:txBody>
          <a:bodyPr wrap="square" lIns="0" tIns="0" rIns="0" bIns="0" rtlCol="0" anchor="ctr"/>
          <a:lstStyle/>
          <a:p>
            <a:pPr indent="0" marL="0">
              <a:lnSpc>
                <a:spcPct val="100000"/>
              </a:lnSpc>
              <a:spcBef>
                <a:spcPts val="0"/>
              </a:spcBef>
              <a:spcAft>
                <a:spcPts val="0"/>
              </a:spcAft>
              <a:buNone/>
            </a:pPr>
            <a:r>
              <a:rPr lang="en-US" sz="700" b="0" dirty="0">
                <a:solidFill>
                  <a:srgbClr val="888888"/>
                </a:solidFill>
              </a:rPr>
              <a:t>백수원(2025), 유럽헌법연구 48호, 189-228쪽</a:t>
            </a:r>
            <a:pPr indent="0" marL="0">
              <a:buNone/>
            </a:pPr>
            <a:endParaRPr lang="en-US" sz="1100" dirty="0"/>
          </a:p>
        </p:txBody>
      </p:sp>
      <p:sp>
        <p:nvSpPr>
          <p:cNvPr id="7" name="Shape 5"/>
          <p:cNvSpPr/>
          <p:nvPr/>
        </p:nvSpPr>
        <p:spPr>
          <a:xfrm>
            <a:off x="406400" y="2966720"/>
            <a:ext cx="822960" cy="256032"/>
          </a:xfrm>
          <a:prstGeom prst="roundRect">
            <a:avLst>
              <a:gd name="adj" fmla="val 21429"/>
            </a:avLst>
          </a:prstGeom>
          <a:solidFill>
            <a:schemeClr val="accent1"/>
          </a:solidFill>
          <a:ln/>
        </p:spPr>
        <p:txBody>
          <a:bodyPr/>
          <a:p/>
        </p:txBody>
      </p:sp>
      <p:sp>
        <p:nvSpPr>
          <p:cNvPr id="8" name="Text 6"/>
          <p:cNvSpPr txBox="1"/>
          <p:nvPr/>
        </p:nvSpPr>
        <p:spPr>
          <a:xfrm>
            <a:off x="406400" y="296672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연구 목적</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8321040" cy="502920"/>
          </a:xfrm>
          <a:prstGeom prst="rect">
            <a:avLst/>
          </a:prstGeom>
          <a:noFill/>
          <a:ln/>
        </p:spPr>
        <p:txBody>
          <a:bodyPr wrap="square" lIns="0" tIns="0" rIns="0" bIns="0" rtlCol="0" anchor="t"/>
          <a:lstStyle/>
          <a:p>
            <a:pPr algn="l" indent="0" marL="0">
              <a:buNone/>
            </a:pPr>
            <a:r>
              <a:rPr lang="en-US" sz="2600" b="1" dirty="0">
                <a:solidFill>
                  <a:schemeClr val="tx2"/>
                </a:solidFill>
                <a:latin typeface="Malgun Gothic"/>
                <a:ea typeface="Malgun Gothic"/>
                <a:cs typeface="Malgun Gothic"/>
              </a:rPr>
              <a:t>연구 범위와 소논문 계획</a:t>
            </a:r>
            <a:endParaRPr lang="en-US" sz="2600" dirty="0"/>
          </a:p>
        </p:txBody>
      </p:sp>
      <p:sp>
        <p:nvSpPr>
          <p:cNvPr id="3" name="Shape 1"/>
          <p:cNvSpPr/>
          <p:nvPr/>
        </p:nvSpPr>
        <p:spPr>
          <a:xfrm>
            <a:off x="406400" y="1226820"/>
            <a:ext cx="822960" cy="256032"/>
          </a:xfrm>
          <a:prstGeom prst="roundRect">
            <a:avLst>
              <a:gd name="adj" fmla="val 21429"/>
            </a:avLst>
          </a:prstGeom>
          <a:solidFill>
            <a:schemeClr val="accent1"/>
          </a:solidFill>
          <a:ln/>
        </p:spPr>
        <p:txBody>
          <a:bodyPr/>
          <a:p/>
        </p:txBody>
      </p:sp>
      <p:sp>
        <p:nvSpPr>
          <p:cNvPr id="4" name="Text 2"/>
          <p:cNvSpPr txBox="1"/>
          <p:nvPr/>
        </p:nvSpPr>
        <p:spPr>
          <a:xfrm>
            <a:off x="406400" y="122682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연구 범위</a:t>
            </a:r>
            <a:endParaRPr lang="en-US" sz="1100" dirty="0"/>
          </a:p>
        </p:txBody>
      </p:sp>
      <p:sp>
        <p:nvSpPr>
          <p:cNvPr id="20" name="Shape 18"/>
          <p:cNvSpPr/>
          <p:nvPr/>
        </p:nvSpPr>
        <p:spPr>
          <a:xfrm>
            <a:off x="4673600" y="2489200"/>
            <a:ext cx="822960" cy="256032"/>
          </a:xfrm>
          <a:prstGeom prst="roundRect">
            <a:avLst>
              <a:gd name="adj" fmla="val 21429"/>
            </a:avLst>
          </a:prstGeom>
          <a:solidFill>
            <a:schemeClr val="accent1"/>
          </a:solidFill>
          <a:ln/>
        </p:spPr>
        <p:txBody>
          <a:bodyPr/>
          <a:p/>
        </p:txBody>
      </p:sp>
      <p:sp>
        <p:nvSpPr>
          <p:cNvPr id="21" name="Text 19"/>
          <p:cNvSpPr txBox="1"/>
          <p:nvPr/>
        </p:nvSpPr>
        <p:spPr>
          <a:xfrm>
            <a:off x="4673600" y="248920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진행 계획</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673600" y="2819400"/>
          <a:ext cx="4064000" cy="1562100"/>
        </p:xfrm>
        <a:graphic>
          <a:graphicData uri="http://schemas.openxmlformats.org/drawingml/2006/table">
            <a:tbl>
              <a:tblPr/>
              <a:tblGrid>
                <a:gridCol w="736600"/>
                <a:gridCol w="1168400"/>
                <a:gridCol w="2159000"/>
              </a:tblGrid>
              <a:tr h="241300">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언제</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소논문</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할 일</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r>
              <a:tr h="440266">
                <a:tc>
                  <a:txBody>
                    <a:bodyPr/>
                    <a:lstStyle/>
                    <a:p>
                      <a:pPr algn="ctr" indent="0" marL="0">
                        <a:buNone/>
                      </a:pPr>
                      <a:r>
                        <a:rPr lang="en-US" sz="1000" b="1" dirty="0">
                          <a:solidFill>
                            <a:schemeClr val="accent2"/>
                          </a:solidFill>
                          <a:latin typeface="Malgun Gothic" pitchFamily="34" charset="0"/>
                          <a:ea typeface="Malgun Gothic" pitchFamily="34" charset="-122"/>
                          <a:cs typeface="Malgun Gothic" pitchFamily="34" charset="-120"/>
                        </a:rPr>
                        <a:t>10월</a:t>
                      </a:r>
                      <a:endParaRPr lang="en-US" sz="1000" dirty="0">
                        <a:latin typeface="Malgun Gothic" charset="0"/>
                        <a:ea typeface="Malgun Gothic" charset="0"/>
                        <a:cs typeface="Malgun Gothic" charset="0"/>
                      </a:endParaRPr>
                    </a:p>
                    <a:p>
                      <a:pPr algn="ctr" indent="0" marL="0">
                        <a:buNone/>
                      </a:pPr>
                      <a:r>
                        <a:rPr lang="en-US" sz="750" dirty="0">
                          <a:solidFill>
                            <a:srgbClr val="9AA5A9"/>
                          </a:solidFill>
                          <a:latin typeface="Malgun Gothic" pitchFamily="34" charset="0"/>
                          <a:ea typeface="Malgun Gothic" pitchFamily="34" charset="-122"/>
                          <a:cs typeface="Malgun Gothic" pitchFamily="34" charset="-120"/>
                        </a:rPr>
                        <a:t>Case Study 1</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1. 문제 제기</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538건 중 3건, 세 나라 제도 비교</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r h="440266">
                <a:tc>
                  <a:txBody>
                    <a:bodyPr/>
                    <a:lstStyle/>
                    <a:p>
                      <a:pPr algn="ctr" indent="0" marL="0">
                        <a:buNone/>
                      </a:pPr>
                      <a:r>
                        <a:rPr lang="en-US" sz="1000" b="1" dirty="0">
                          <a:solidFill>
                            <a:schemeClr val="tx2"/>
                          </a:solidFill>
                          <a:latin typeface="Malgun Gothic" pitchFamily="34" charset="0"/>
                          <a:ea typeface="Malgun Gothic" pitchFamily="34" charset="-122"/>
                          <a:cs typeface="Malgun Gothic" pitchFamily="34" charset="-120"/>
                        </a:rPr>
                        <a:t>11월</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2. 선행연구</a:t>
                      </a:r>
                      <a:endParaRPr lang="en-US" sz="1000" dirty="0">
                        <a:latin typeface="Malgun Gothic" charset="0"/>
                        <a:ea typeface="Malgun Gothic" charset="0"/>
                        <a:cs typeface="Malgun Gothic" charset="0"/>
                      </a:endParaRPr>
                    </a:p>
                    <a:p>
                      <a:pPr indent="0" marL="0">
                        <a:buNone/>
                      </a:pPr>
                      <a:r>
                        <a:rPr lang="en-US" sz="1000" dirty="0">
                          <a:solidFill>
                            <a:srgbClr val="1F2A30"/>
                          </a:solidFill>
                          <a:latin typeface="Malgun Gothic" pitchFamily="34" charset="0"/>
                          <a:ea typeface="Malgun Gothic" pitchFamily="34" charset="-122"/>
                          <a:cs typeface="Malgun Gothic" pitchFamily="34" charset="-120"/>
                        </a:rPr>
                        <a:t>3. 연구방법</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선행연구 정리, 연구문제 확정, 비교법 분석</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r h="440266">
                <a:tc>
                  <a:txBody>
                    <a:bodyPr/>
                    <a:lstStyle/>
                    <a:p>
                      <a:pPr algn="ctr" indent="0" marL="0">
                        <a:buNone/>
                      </a:pPr>
                      <a:r>
                        <a:rPr lang="en-US" sz="1000" b="1" dirty="0">
                          <a:solidFill>
                            <a:schemeClr val="tx2"/>
                          </a:solidFill>
                          <a:latin typeface="Malgun Gothic" pitchFamily="34" charset="0"/>
                          <a:ea typeface="Malgun Gothic" pitchFamily="34" charset="-122"/>
                          <a:cs typeface="Malgun Gothic" pitchFamily="34" charset="-120"/>
                        </a:rPr>
                        <a:t>12월</a:t>
                      </a:r>
                      <a:endParaRPr lang="en-US" sz="1000" dirty="0">
                        <a:latin typeface="Malgun Gothic" charset="0"/>
                        <a:ea typeface="Malgun Gothic" charset="0"/>
                        <a:cs typeface="Malgun Gothic" charset="0"/>
                      </a:endParaRPr>
                    </a:p>
                    <a:p>
                      <a:pPr algn="ctr" indent="0" marL="0">
                        <a:buNone/>
                      </a:pPr>
                      <a:r>
                        <a:rPr lang="en-US" sz="750" dirty="0">
                          <a:solidFill>
                            <a:srgbClr val="9AA5A9"/>
                          </a:solidFill>
                          <a:latin typeface="Malgun Gothic" pitchFamily="34" charset="0"/>
                          <a:ea typeface="Malgun Gothic" pitchFamily="34" charset="-122"/>
                          <a:cs typeface="Malgun Gothic" pitchFamily="34" charset="-120"/>
                        </a:rPr>
                        <a:t>Case Study 2</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4. 분석</a:t>
                      </a:r>
                      <a:endParaRPr lang="en-US" sz="1000" dirty="0">
                        <a:latin typeface="Malgun Gothic" charset="0"/>
                        <a:ea typeface="Malgun Gothic" charset="0"/>
                        <a:cs typeface="Malgun Gothic" charset="0"/>
                      </a:endParaRPr>
                    </a:p>
                    <a:p>
                      <a:pPr indent="0" marL="0">
                        <a:buNone/>
                      </a:pPr>
                      <a:r>
                        <a:rPr lang="en-US" sz="1000" dirty="0">
                          <a:solidFill>
                            <a:srgbClr val="1F2A30"/>
                          </a:solidFill>
                          <a:latin typeface="Malgun Gothic" pitchFamily="34" charset="0"/>
                          <a:ea typeface="Malgun Gothic" pitchFamily="34" charset="-122"/>
                          <a:cs typeface="Malgun Gothic" pitchFamily="34" charset="-120"/>
                        </a:rPr>
                        <a:t>최종 제출</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1~3등급 매핑표, 사례에 적용해 판별</a:t>
                      </a:r>
                      <a:endParaRPr lang="en-US" sz="1000" dirty="0">
                        <a:latin typeface="Malgun Gothic" charset="0"/>
                        <a:ea typeface="Malgun Gothic" charset="0"/>
                        <a:cs typeface="Malgun Gothic" charset="0"/>
                      </a:endParaRPr>
                    </a:p>
                    <a:p>
                      <a:pPr indent="0" marL="0">
                        <a:buNone/>
                      </a:pPr>
                      <a:r>
                        <a:rPr lang="en-US" sz="1000" dirty="0">
                          <a:solidFill>
                            <a:srgbClr val="1F2A30"/>
                          </a:solidFill>
                          <a:latin typeface="Malgun Gothic" pitchFamily="34" charset="0"/>
                          <a:ea typeface="Malgun Gothic" pitchFamily="34" charset="-122"/>
                          <a:cs typeface="Malgun Gothic" pitchFamily="34" charset="-120"/>
                        </a:rPr>
                        <a:t>판별 체크리스트 제안, 결론과 한계</a:t>
                      </a:r>
                      <a:endParaRPr lang="en-US" sz="1000" dirty="0">
                        <a:latin typeface="Malgun Gothic" charset="0"/>
                        <a:ea typeface="Malgun Gothic" charset="0"/>
                        <a:cs typeface="Malgun Gothic" charset="0"/>
                      </a:endParaRPr>
                    </a:p>
                  </a:txBody>
                  <a:tcPr marL="91440" marR="9144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
        <p:nvSpPr>
          <p:cNvPr id="14" name="Text 11"/>
          <p:cNvSpPr txBox="1"/>
          <p:nvPr/>
        </p:nvSpPr>
        <p:spPr>
          <a:xfrm>
            <a:off x="406400" y="4864100"/>
            <a:ext cx="7620000" cy="152400"/>
          </a:xfrm>
          <a:prstGeom prst="rect">
            <a:avLst/>
          </a:prstGeom>
          <a:noFill/>
          <a:ln/>
        </p:spPr>
        <p:txBody>
          <a:bodyPr wrap="square" lIns="0" tIns="0" rIns="0" bIns="0" rtlCol="0" anchor="ctr"/>
          <a:lstStyle/>
          <a:p>
            <a:pPr indent="0" marL="0">
              <a:spcBef>
                <a:spcPts val="0"/>
              </a:spcBef>
              <a:spcAft>
                <a:spcPts val="0"/>
              </a:spcAft>
              <a:buNone/>
            </a:pPr>
            <a:r>
              <a:rPr lang="en-US" sz="700" b="0" dirty="0">
                <a:solidFill>
                  <a:srgbClr val="888888"/>
                </a:solidFill>
              </a:rPr>
              <a:t>예비 분석 (44개): 미국 FDA AI 의료기기 목록 (2026.6.29까지)과 식약처 공개 의료기기 목록을 제품명·회사로 맞춰 직접 셈</a:t>
            </a:r>
            <a:pPr indent="0" marL="0">
              <a:buNone/>
            </a:pPr>
            <a:endParaRPr lang="en-US" sz="1100" dirty="0"/>
          </a:p>
        </p:txBody>
      </p:sp>
      <p:sp>
        <p:nvSpPr>
          <p:cNvPr id="3" name="Text 1"/>
          <p:cNvSpPr txBox="1"/>
          <p:nvPr/>
        </p:nvSpPr>
        <p:spPr>
          <a:xfrm>
            <a:off x="406400" y="774700"/>
            <a:ext cx="8318500" cy="228600"/>
          </a:xfrm>
          <a:prstGeom prst="rect">
            <a:avLst/>
          </a:prstGeom>
          <a:noFill/>
          <a:ln/>
        </p:spPr>
        <p:txBody>
          <a:bodyPr wrap="square" lIns="0" tIns="0" rIns="0" bIns="0" rtlCol="0" anchor="t"/>
          <a:lstStyle/>
          <a:p>
            <a:pPr indent="0" marL="0">
              <a:buNone/>
            </a:pPr>
            <a:r>
              <a:rPr lang="en-US" sz="1100" dirty="0" b="1">
                <a:solidFill>
                  <a:schemeClr val="accent6"/>
                </a:solidFill>
              </a:rPr>
              <a:t>예비 분석  </a:t>
            </a:r>
            <a:r>
              <a:rPr lang="en-US" sz="1100" dirty="0" b="0">
                <a:solidFill>
                  <a:schemeClr val="accent6"/>
                </a:solidFill>
              </a:rPr>
              <a:t>한국 AI 제품 44개: FDA는 모두 2등급, 식약처는 1등급 3 · 2등급 30 · 3등급 11 → 등급이 달라 '3등급 이상' 기준이 흔들림</a:t>
            </a:r>
            <a:endParaRPr lang="en-US" sz="1100" dirty="0"/>
          </a:p>
        </p:txBody>
      </p:sp>
      <p:sp>
        <p:nvSpPr>
          <p:cNvPr id="5" name="Shape 3"/>
          <p:cNvSpPr/>
          <p:nvPr/>
        </p:nvSpPr>
        <p:spPr>
          <a:xfrm>
            <a:off x="406400" y="1574800"/>
            <a:ext cx="2921000" cy="355600"/>
          </a:xfrm>
          <a:prstGeom prst="roundRect">
            <a:avLst>
              <a:gd name="adj" fmla="val 10714"/>
            </a:avLst>
          </a:prstGeom>
          <a:solidFill>
            <a:schemeClr val="bg2"/>
          </a:solidFill>
          <a:ln/>
        </p:spPr>
        <p:txBody>
          <a:bodyPr/>
          <a:p/>
        </p:txBody>
      </p:sp>
      <p:sp>
        <p:nvSpPr>
          <p:cNvPr id="6" name="Text 4"/>
          <p:cNvSpPr txBox="1"/>
          <p:nvPr/>
        </p:nvSpPr>
        <p:spPr>
          <a:xfrm>
            <a:off x="533400" y="1574800"/>
            <a:ext cx="508000" cy="355600"/>
          </a:xfrm>
          <a:prstGeom prst="rect">
            <a:avLst/>
          </a:prstGeom>
          <a:noFill/>
          <a:ln/>
        </p:spPr>
        <p:txBody>
          <a:bodyPr wrap="square" lIns="0" tIns="0" rIns="0" bIns="0" rtlCol="0" anchor="ctr"/>
          <a:lstStyle/>
          <a:p>
            <a:pPr indent="0" marL="0">
              <a:buNone/>
            </a:pPr>
            <a:r>
              <a:rPr lang="en-US" sz="1100" b="1" dirty="0">
                <a:solidFill>
                  <a:schemeClr val="accent2"/>
                </a:solidFill>
              </a:rPr>
              <a:t>대상</a:t>
            </a:r>
            <a:endParaRPr lang="en-US" sz="1100" dirty="0"/>
          </a:p>
        </p:txBody>
      </p:sp>
      <p:sp>
        <p:nvSpPr>
          <p:cNvPr id="7" name="Text 5"/>
          <p:cNvSpPr txBox="1"/>
          <p:nvPr/>
        </p:nvSpPr>
        <p:spPr>
          <a:xfrm>
            <a:off x="1092200" y="1574800"/>
            <a:ext cx="2159000" cy="355600"/>
          </a:xfrm>
          <a:prstGeom prst="rect">
            <a:avLst/>
          </a:prstGeom>
          <a:noFill/>
          <a:ln/>
        </p:spPr>
        <p:txBody>
          <a:bodyPr wrap="square" lIns="0" tIns="0" rIns="0" bIns="0" rtlCol="0" anchor="ctr"/>
          <a:lstStyle/>
          <a:p>
            <a:pPr indent="0" marL="0">
              <a:buNone/>
            </a:pPr>
            <a:r>
              <a:rPr lang="en-US" sz="1050" dirty="0">
                <a:solidFill>
                  <a:schemeClr val="tx1"/>
                </a:solidFill>
              </a:rPr>
              <a:t>국내 AI 디지털의료기기</a:t>
            </a:r>
            <a:endParaRPr lang="en-US" sz="1100" dirty="0"/>
          </a:p>
        </p:txBody>
      </p:sp>
      <p:sp>
        <p:nvSpPr>
          <p:cNvPr id="5" name="Shape 3"/>
          <p:cNvSpPr/>
          <p:nvPr/>
        </p:nvSpPr>
        <p:spPr>
          <a:xfrm>
            <a:off x="406400" y="1981200"/>
            <a:ext cx="2921000" cy="355600"/>
          </a:xfrm>
          <a:prstGeom prst="roundRect">
            <a:avLst>
              <a:gd name="adj" fmla="val 10714"/>
            </a:avLst>
          </a:prstGeom>
          <a:solidFill>
            <a:schemeClr val="bg2"/>
          </a:solidFill>
          <a:ln/>
        </p:spPr>
        <p:txBody>
          <a:bodyPr/>
          <a:p/>
        </p:txBody>
      </p:sp>
      <p:sp>
        <p:nvSpPr>
          <p:cNvPr id="6" name="Text 4"/>
          <p:cNvSpPr txBox="1"/>
          <p:nvPr/>
        </p:nvSpPr>
        <p:spPr>
          <a:xfrm>
            <a:off x="533400" y="1981200"/>
            <a:ext cx="508000" cy="355600"/>
          </a:xfrm>
          <a:prstGeom prst="rect">
            <a:avLst/>
          </a:prstGeom>
          <a:noFill/>
          <a:ln/>
        </p:spPr>
        <p:txBody>
          <a:bodyPr wrap="square" lIns="0" tIns="0" rIns="0" bIns="0" rtlCol="0" anchor="ctr"/>
          <a:lstStyle/>
          <a:p>
            <a:pPr indent="0" marL="0">
              <a:buNone/>
            </a:pPr>
            <a:r>
              <a:rPr lang="en-US" sz="1100" b="1" dirty="0">
                <a:solidFill>
                  <a:schemeClr val="accent2"/>
                </a:solidFill>
              </a:rPr>
              <a:t>기준</a:t>
            </a:r>
            <a:endParaRPr lang="en-US" sz="1100" dirty="0"/>
          </a:p>
        </p:txBody>
      </p:sp>
      <p:sp>
        <p:nvSpPr>
          <p:cNvPr id="7" name="Text 5"/>
          <p:cNvSpPr txBox="1"/>
          <p:nvPr/>
        </p:nvSpPr>
        <p:spPr>
          <a:xfrm>
            <a:off x="1092200" y="1981200"/>
            <a:ext cx="2159000" cy="355600"/>
          </a:xfrm>
          <a:prstGeom prst="rect">
            <a:avLst/>
          </a:prstGeom>
          <a:noFill/>
          <a:ln/>
        </p:spPr>
        <p:txBody>
          <a:bodyPr wrap="square" lIns="0" tIns="0" rIns="0" bIns="0" rtlCol="0" anchor="ctr"/>
          <a:lstStyle/>
          <a:p>
            <a:pPr indent="0" marL="0">
              <a:buNone/>
            </a:pPr>
            <a:r>
              <a:rPr lang="en-US" sz="1050" dirty="0">
                <a:solidFill>
                  <a:schemeClr val="tx1"/>
                </a:solidFill>
              </a:rPr>
              <a:t>의료기기 등급 (한국 1~3등급)</a:t>
            </a:r>
            <a:endParaRPr lang="en-US" sz="1100" dirty="0"/>
          </a:p>
        </p:txBody>
      </p:sp>
      <p:sp>
        <p:nvSpPr>
          <p:cNvPr id="5" name="Shape 3"/>
          <p:cNvSpPr/>
          <p:nvPr/>
        </p:nvSpPr>
        <p:spPr>
          <a:xfrm>
            <a:off x="3429000" y="1574800"/>
            <a:ext cx="2603500" cy="762000"/>
          </a:xfrm>
          <a:prstGeom prst="roundRect">
            <a:avLst>
              <a:gd name="adj" fmla="val 10714"/>
            </a:avLst>
          </a:prstGeom>
          <a:solidFill>
            <a:schemeClr val="bg2"/>
          </a:solidFill>
          <a:ln/>
        </p:spPr>
        <p:txBody>
          <a:bodyPr/>
          <a:p/>
        </p:txBody>
      </p:sp>
      <p:sp>
        <p:nvSpPr>
          <p:cNvPr id="6" name="Text 4"/>
          <p:cNvSpPr txBox="1"/>
          <p:nvPr/>
        </p:nvSpPr>
        <p:spPr>
          <a:xfrm>
            <a:off x="3530600" y="1625600"/>
            <a:ext cx="2400300" cy="203200"/>
          </a:xfrm>
          <a:prstGeom prst="rect">
            <a:avLst/>
          </a:prstGeom>
          <a:noFill/>
          <a:ln/>
        </p:spPr>
        <p:txBody>
          <a:bodyPr wrap="square" lIns="0" tIns="0" rIns="0" bIns="0" rtlCol="0" anchor="t"/>
          <a:lstStyle/>
          <a:p>
            <a:pPr indent="0" marL="0">
              <a:buNone/>
            </a:pPr>
            <a:r>
              <a:rPr lang="en-US" sz="1100" b="1" dirty="0">
                <a:solidFill>
                  <a:schemeClr val="accent2"/>
                </a:solidFill>
              </a:rPr>
              <a:t>분석 1</a:t>
            </a:r>
            <a:endParaRPr lang="en-US" sz="1100" dirty="0"/>
          </a:p>
        </p:txBody>
      </p:sp>
      <p:sp>
        <p:nvSpPr>
          <p:cNvPr id="7" name="Text 5"/>
          <p:cNvSpPr txBox="1"/>
          <p:nvPr/>
        </p:nvSpPr>
        <p:spPr>
          <a:xfrm>
            <a:off x="3530600" y="1828800"/>
            <a:ext cx="2400300" cy="457200"/>
          </a:xfrm>
          <a:prstGeom prst="rect">
            <a:avLst/>
          </a:prstGeom>
          <a:noFill/>
          <a:ln/>
        </p:spPr>
        <p:txBody>
          <a:bodyPr wrap="square" lIns="0" tIns="0" rIns="0" bIns="0" rtlCol="0" anchor="t"/>
          <a:lstStyle/>
          <a:p>
            <a:pPr indent="0" marL="0">
              <a:buNone/>
            </a:pPr>
            <a:r>
              <a:rPr lang="en-US" sz="1050" dirty="0">
                <a:solidFill>
                  <a:schemeClr val="tx1"/>
                </a:solidFill>
              </a:rPr>
              <a:t>의료기기 등급별</a:t>
            </a:r>
            <a:endParaRPr lang="en-US" sz="1100" dirty="0"/>
          </a:p>
          <a:p>
            <a:pPr indent="0" marL="0">
              <a:buNone/>
            </a:pPr>
            <a:r>
              <a:rPr lang="en-US" sz="1050" dirty="0">
                <a:solidFill>
                  <a:schemeClr val="tx1"/>
                </a:solidFill>
              </a:rPr>
              <a:t>고영향 AI 해당 여부</a:t>
            </a:r>
            <a:endParaRPr lang="en-US" sz="1100" dirty="0"/>
          </a:p>
        </p:txBody>
      </p:sp>
      <p:sp>
        <p:nvSpPr>
          <p:cNvPr id="5" name="Shape 3"/>
          <p:cNvSpPr/>
          <p:nvPr/>
        </p:nvSpPr>
        <p:spPr>
          <a:xfrm>
            <a:off x="6134100" y="1574800"/>
            <a:ext cx="2603500" cy="762000"/>
          </a:xfrm>
          <a:prstGeom prst="roundRect">
            <a:avLst>
              <a:gd name="adj" fmla="val 10714"/>
            </a:avLst>
          </a:prstGeom>
          <a:solidFill>
            <a:schemeClr val="bg2"/>
          </a:solidFill>
          <a:ln/>
        </p:spPr>
        <p:txBody>
          <a:bodyPr/>
          <a:p/>
        </p:txBody>
      </p:sp>
      <p:sp>
        <p:nvSpPr>
          <p:cNvPr id="6" name="Text 4"/>
          <p:cNvSpPr txBox="1"/>
          <p:nvPr/>
        </p:nvSpPr>
        <p:spPr>
          <a:xfrm>
            <a:off x="6235700" y="1625600"/>
            <a:ext cx="2400300" cy="203200"/>
          </a:xfrm>
          <a:prstGeom prst="rect">
            <a:avLst/>
          </a:prstGeom>
          <a:noFill/>
          <a:ln/>
        </p:spPr>
        <p:txBody>
          <a:bodyPr wrap="square" lIns="0" tIns="0" rIns="0" bIns="0" rtlCol="0" anchor="t"/>
          <a:lstStyle/>
          <a:p>
            <a:pPr indent="0" marL="0">
              <a:buNone/>
            </a:pPr>
            <a:r>
              <a:rPr lang="en-US" sz="1100" b="1" dirty="0">
                <a:solidFill>
                  <a:schemeClr val="accent2"/>
                </a:solidFill>
              </a:rPr>
              <a:t>분석 2</a:t>
            </a:r>
            <a:endParaRPr lang="en-US" sz="1100" dirty="0"/>
          </a:p>
        </p:txBody>
      </p:sp>
      <p:sp>
        <p:nvSpPr>
          <p:cNvPr id="7" name="Text 5"/>
          <p:cNvSpPr txBox="1"/>
          <p:nvPr/>
        </p:nvSpPr>
        <p:spPr>
          <a:xfrm>
            <a:off x="6235700" y="1828800"/>
            <a:ext cx="2400300" cy="457200"/>
          </a:xfrm>
          <a:prstGeom prst="rect">
            <a:avLst/>
          </a:prstGeom>
          <a:noFill/>
          <a:ln/>
        </p:spPr>
        <p:txBody>
          <a:bodyPr wrap="square" lIns="0" tIns="0" rIns="0" bIns="0" rtlCol="0" anchor="t"/>
          <a:lstStyle/>
          <a:p>
            <a:pPr indent="0" marL="0">
              <a:buNone/>
            </a:pPr>
            <a:r>
              <a:rPr lang="en-US" sz="1050" dirty="0">
                <a:solidFill>
                  <a:schemeClr val="tx1"/>
                </a:solidFill>
              </a:rPr>
              <a:t>의료기기 등급별</a:t>
            </a:r>
            <a:endParaRPr lang="en-US" sz="1100" dirty="0"/>
          </a:p>
          <a:p>
            <a:pPr indent="0" marL="0">
              <a:buNone/>
            </a:pPr>
            <a:r>
              <a:rPr lang="en-US" sz="1050" dirty="0">
                <a:solidFill>
                  <a:schemeClr val="tx1"/>
                </a:solidFill>
              </a:rPr>
              <a:t>AI 거버넌스 요건</a:t>
            </a:r>
            <a:endParaRPr lang="en-US" sz="1100" dirty="0"/>
          </a:p>
        </p:txBody>
      </p:sp>
      <p:sp>
        <p:nvSpPr>
          <p:cNvPr id="10" name="Shape 8"/>
          <p:cNvSpPr/>
          <p:nvPr/>
        </p:nvSpPr>
        <p:spPr>
          <a:xfrm>
            <a:off x="406400" y="2489200"/>
            <a:ext cx="822960" cy="256032"/>
          </a:xfrm>
          <a:prstGeom prst="roundRect">
            <a:avLst>
              <a:gd name="adj" fmla="val 21429"/>
            </a:avLst>
          </a:prstGeom>
          <a:solidFill>
            <a:schemeClr val="accent1"/>
          </a:solidFill>
          <a:ln/>
        </p:spPr>
        <p:txBody>
          <a:bodyPr/>
          <a:p/>
        </p:txBody>
      </p:sp>
      <p:sp>
        <p:nvSpPr>
          <p:cNvPr id="11" name="Text 9"/>
          <p:cNvSpPr txBox="1"/>
          <p:nvPr/>
        </p:nvSpPr>
        <p:spPr>
          <a:xfrm>
            <a:off x="406400" y="2489200"/>
            <a:ext cx="822960" cy="256032"/>
          </a:xfrm>
          <a:prstGeom prst="rect">
            <a:avLst/>
          </a:prstGeom>
          <a:noFill/>
          <a:ln/>
        </p:spPr>
        <p:txBody>
          <a:bodyPr wrap="square" lIns="0" tIns="0" rIns="0" bIns="0" rtlCol="0" anchor="ctr"/>
          <a:lstStyle/>
          <a:p>
            <a:pPr algn="ctr" indent="0" marL="0">
              <a:buNone/>
            </a:pPr>
            <a:r>
              <a:rPr lang="en-US" sz="1100" b="1" dirty="0">
                <a:solidFill>
                  <a:schemeClr val="bg1"/>
                </a:solidFill>
              </a:rPr>
              <a:t>비교</a:t>
            </a:r>
            <a:endParaRPr lang="en-US" sz="1100" dirty="0"/>
          </a:p>
        </p:txBody>
      </p:sp>
      <p:sp>
        <p:nvSpPr>
          <p:cNvPr id="12" name="Text 10"/>
          <p:cNvSpPr txBox="1"/>
          <p:nvPr/>
        </p:nvSpPr>
        <p:spPr>
          <a:xfrm>
            <a:off x="1320800" y="2489200"/>
            <a:ext cx="3175000" cy="254000"/>
          </a:xfrm>
          <a:prstGeom prst="rect">
            <a:avLst/>
          </a:prstGeom>
          <a:noFill/>
          <a:ln/>
        </p:spPr>
        <p:txBody>
          <a:bodyPr wrap="square" lIns="0" tIns="0" rIns="0" bIns="0" rtlCol="0" anchor="ctr"/>
          <a:lstStyle/>
          <a:p>
            <a:pPr indent="0" marL="0">
              <a:buNone/>
            </a:pPr>
            <a:r>
              <a:rPr lang="en-US" sz="1200" b="1" dirty="0">
                <a:solidFill>
                  <a:schemeClr val="tx1"/>
                </a:solidFill>
              </a:rPr>
              <a:t>EU · 한국 · 미국의 AI 의료기기 규제</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06400" y="2819400"/>
          <a:ext cx="4064000" cy="1562100"/>
        </p:xfrm>
        <a:graphic>
          <a:graphicData uri="http://schemas.openxmlformats.org/drawingml/2006/table">
            <a:tbl>
              <a:tblPr/>
              <a:tblGrid>
                <a:gridCol w="787400"/>
                <a:gridCol w="1092200"/>
                <a:gridCol w="1092200"/>
                <a:gridCol w="1092200"/>
              </a:tblGrid>
              <a:tr h="241300">
                <a:tc>
                  <a:txBody>
                    <a:bodyPr/>
                    <a:lstStyle/>
                    <a:p>
                      <a:pPr algn="ctr" indent="0" marL="0">
                        <a:buNone/>
                      </a:pPr>
                      <a:r>
                        <a:rPr sz="1000"/>
                        <a:t/>
                      </a:r>
                      <a:endParaRPr lang="en-US" sz="1000" dirty="0">
                        <a:latin typeface="Malgun Gothic" charset="0"/>
                        <a:ea typeface="Malgun Gothic" charset="0"/>
                        <a:cs typeface="Malgun Gothic" charset="0"/>
                      </a:endParaRPr>
                    </a:p>
                  </a:txBody>
                  <a:tcPr marL="50800" marR="508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EU</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한국</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c>
                  <a:txBody>
                    <a:bodyPr/>
                    <a:lstStyle/>
                    <a:p>
                      <a:pPr algn="ctr" indent="0" marL="0">
                        <a:buNone/>
                      </a:pPr>
                      <a:r>
                        <a:rPr lang="en-US" sz="1000" b="1" dirty="0">
                          <a:solidFill>
                            <a:schemeClr val="bg1"/>
                          </a:solidFill>
                          <a:latin typeface="Malgun Gothic" pitchFamily="34" charset="0"/>
                          <a:ea typeface="Malgun Gothic" pitchFamily="34" charset="-122"/>
                          <a:cs typeface="Malgun Gothic" pitchFamily="34" charset="-120"/>
                        </a:rPr>
                        <a:t>미국 FDA</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accent3"/>
                    </a:solidFill>
                  </a:tcPr>
                </a:tc>
              </a:tr>
              <a:tr h="330200">
                <a:tc>
                  <a:txBody>
                    <a:bodyPr/>
                    <a:lstStyle/>
                    <a:p>
                      <a:pPr indent="0" marL="0">
                        <a:buNone/>
                      </a:pPr>
                      <a:r>
                        <a:rPr lang="en-US" sz="1000" b="1" dirty="0">
                          <a:solidFill>
                            <a:srgbClr val="1F2A30"/>
                          </a:solidFill>
                          <a:latin typeface="Malgun Gothic" pitchFamily="34" charset="0"/>
                          <a:ea typeface="Malgun Gothic" pitchFamily="34" charset="-122"/>
                          <a:cs typeface="Malgun Gothic" pitchFamily="34" charset="-120"/>
                        </a:rPr>
                        <a:t>의료기기</a:t>
                      </a:r>
                      <a:endParaRPr lang="en-US" sz="1000" dirty="0">
                        <a:latin typeface="Malgun Gothic" charset="0"/>
                        <a:ea typeface="Malgun Gothic" charset="0"/>
                        <a:cs typeface="Malgun Gothic" charset="0"/>
                      </a:endParaRPr>
                    </a:p>
                  </a:txBody>
                  <a:tcPr marL="50800" marR="508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MDR 인증</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신고·인증·허가</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900" dirty="0">
                          <a:solidFill>
                            <a:srgbClr val="1F2A30"/>
                          </a:solidFill>
                          <a:latin typeface="Malgun Gothic" pitchFamily="34" charset="0"/>
                          <a:ea typeface="Malgun Gothic" pitchFamily="34" charset="-122"/>
                          <a:cs typeface="Malgun Gothic" pitchFamily="34" charset="-120"/>
                        </a:rPr>
                        <a:t>시판 전 신고(510k)</a:t>
                      </a:r>
                      <a:br>
                        <a:rPr lang="en-US" sz="1000" dirty="0">
                          <a:solidFill>
                            <a:srgbClr val="1F2A30"/>
                          </a:solidFill>
                          <a:latin typeface="Malgun Gothic" pitchFamily="34" charset="0"/>
                          <a:ea typeface="Malgun Gothic" pitchFamily="34" charset="-122"/>
                          <a:cs typeface="Malgun Gothic" pitchFamily="34" charset="-120"/>
                        </a:rPr>
                      </a:br>
                      <a:r>
                        <a:rPr lang="en-US" sz="900" dirty="0">
                          <a:solidFill>
                            <a:srgbClr val="1F2A30"/>
                          </a:solidFill>
                          <a:latin typeface="Malgun Gothic" pitchFamily="34" charset="0"/>
                          <a:ea typeface="Malgun Gothic" pitchFamily="34" charset="-122"/>
                          <a:cs typeface="Malgun Gothic" pitchFamily="34" charset="-120"/>
                        </a:rPr>
                        <a:t>승인(PMA)</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r h="330200">
                <a:tc>
                  <a:txBody>
                    <a:bodyPr/>
                    <a:lstStyle/>
                    <a:p>
                      <a:pPr indent="0" marL="0">
                        <a:buNone/>
                      </a:pPr>
                      <a:r>
                        <a:rPr lang="en-US" sz="1000" b="1" dirty="0">
                          <a:solidFill>
                            <a:srgbClr val="1F2A30"/>
                          </a:solidFill>
                          <a:latin typeface="Malgun Gothic" pitchFamily="34" charset="0"/>
                          <a:ea typeface="Malgun Gothic" pitchFamily="34" charset="-122"/>
                          <a:cs typeface="Malgun Gothic" pitchFamily="34" charset="-120"/>
                        </a:rPr>
                        <a:t>AI 거버넌스</a:t>
                      </a:r>
                      <a:endParaRPr lang="en-US" sz="1000" dirty="0">
                        <a:latin typeface="Malgun Gothic" charset="0"/>
                        <a:ea typeface="Malgun Gothic" charset="0"/>
                        <a:cs typeface="Malgun Gothic" charset="0"/>
                      </a:endParaRPr>
                    </a:p>
                  </a:txBody>
                  <a:tcPr marL="50800" marR="508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AI Act 고위험</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AI기본법 고영향</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연방 AI법 없음</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r h="330200">
                <a:tc>
                  <a:txBody>
                    <a:bodyPr/>
                    <a:lstStyle/>
                    <a:p>
                      <a:pPr indent="0" marL="0">
                        <a:buNone/>
                      </a:pPr>
                      <a:r>
                        <a:rPr lang="en-US" sz="1000" b="1" dirty="0">
                          <a:solidFill>
                            <a:srgbClr val="1F2A30"/>
                          </a:solidFill>
                          <a:latin typeface="Malgun Gothic" pitchFamily="34" charset="0"/>
                          <a:ea typeface="Malgun Gothic" pitchFamily="34" charset="-122"/>
                          <a:cs typeface="Malgun Gothic" pitchFamily="34" charset="-120"/>
                        </a:rPr>
                        <a:t>고위험 판단</a:t>
                      </a:r>
                      <a:endParaRPr lang="en-US" sz="1000" dirty="0">
                        <a:latin typeface="Malgun Gothic" charset="0"/>
                        <a:ea typeface="Malgun Gothic" charset="0"/>
                        <a:cs typeface="Malgun Gothic" charset="0"/>
                      </a:endParaRPr>
                    </a:p>
                  </a:txBody>
                  <a:tcPr marL="50800" marR="508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제3자 인증 대상</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회사 자체 검토</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해당 없음</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r h="330200">
                <a:tc>
                  <a:txBody>
                    <a:bodyPr/>
                    <a:lstStyle/>
                    <a:p>
                      <a:pPr indent="0" marL="0">
                        <a:buNone/>
                      </a:pPr>
                      <a:r>
                        <a:rPr lang="en-US" sz="1000" b="1" dirty="0">
                          <a:solidFill>
                            <a:srgbClr val="1F2A30"/>
                          </a:solidFill>
                          <a:latin typeface="Malgun Gothic" pitchFamily="34" charset="0"/>
                          <a:ea typeface="Malgun Gothic" pitchFamily="34" charset="-122"/>
                          <a:cs typeface="Malgun Gothic" pitchFamily="34" charset="-120"/>
                        </a:rPr>
                        <a:t>인증 연계</a:t>
                      </a:r>
                      <a:endParaRPr lang="en-US" sz="1000" dirty="0">
                        <a:latin typeface="Malgun Gothic" charset="0"/>
                        <a:ea typeface="Malgun Gothic" charset="0"/>
                        <a:cs typeface="Malgun Gothic" charset="0"/>
                      </a:endParaRPr>
                    </a:p>
                  </a:txBody>
                  <a:tcPr marL="50800" marR="508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MDR 심사 포함</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GMP면 이행 간주</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c>
                  <a:txBody>
                    <a:bodyPr/>
                    <a:lstStyle/>
                    <a:p>
                      <a:pPr indent="0" marL="0">
                        <a:buNone/>
                      </a:pPr>
                      <a:r>
                        <a:rPr lang="en-US" sz="1000" dirty="0">
                          <a:solidFill>
                            <a:srgbClr val="1F2A30"/>
                          </a:solidFill>
                          <a:latin typeface="Malgun Gothic" pitchFamily="34" charset="0"/>
                          <a:ea typeface="Malgun Gothic" pitchFamily="34" charset="-122"/>
                          <a:cs typeface="Malgun Gothic" pitchFamily="34" charset="-120"/>
                        </a:rPr>
                        <a:t>FDA 심사 포함</a:t>
                      </a:r>
                      <a:endParaRPr lang="en-US" sz="1000" dirty="0">
                        <a:latin typeface="Malgun Gothic" charset="0"/>
                        <a:ea typeface="Malgun Gothic" charset="0"/>
                        <a:cs typeface="Malgun Gothic" charset="0"/>
                      </a:endParaRPr>
                    </a:p>
                  </a:txBody>
                  <a:tcPr marL="63500" marR="63500" marT="19050" marB="1905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AIG Teal">
  <a:themeElements>
    <a:clrScheme name="AIG Teal">
      <a:dk1>
        <a:srgbClr val="1F2A30"/>
      </a:dk1>
      <a:lt1>
        <a:srgbClr val="FFFFFF"/>
      </a:lt1>
      <a:dk2>
        <a:srgbClr val="0F4C5C"/>
      </a:dk2>
      <a:lt2>
        <a:srgbClr val="EAF2F3"/>
      </a:lt2>
      <a:accent1>
        <a:srgbClr val="0F4C5C"/>
      </a:accent1>
      <a:accent2>
        <a:srgbClr val="E36414"/>
      </a:accent2>
      <a:accent3>
        <a:srgbClr val="5F8D96"/>
      </a:accent3>
      <a:accent4>
        <a:srgbClr val="9DBFC5"/>
      </a:accent4>
      <a:accent5>
        <a:srgbClr val="FB8B24"/>
      </a:accent5>
      <a:accent6>
        <a:srgbClr val="6B7A80"/>
      </a:accent6>
      <a:hlink>
        <a:srgbClr val="0F4C5C"/>
      </a:hlink>
      <a:folHlink>
        <a:srgbClr val="5F8D96"/>
      </a:folHlink>
    </a:clrScheme>
    <a:fontScheme name="AIG Teal">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의료기기, 등급별로 어디까지 고영향인가</dc:title>
  <dc:subject>PptxGenJS Presentation</dc:subject>
  <dc:creator>PptxGenJS</dc:creator>
  <cp:lastModifiedBy>PptxGenJS</cp:lastModifiedBy>
  <cp:revision>1</cp:revision>
  <dcterms:created xsi:type="dcterms:W3CDTF">2026-10-05T09:00:58Z</dcterms:created>
  <dcterms:modified xsi:type="dcterms:W3CDTF">2026-10-05T09:00:58Z</dcterms:modified>
</cp:coreProperties>
</file>