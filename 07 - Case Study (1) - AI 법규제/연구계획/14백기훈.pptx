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안녕하세요, 백기훈입니다. 제 소논문 주제는 "고영향 AI의 사이버보안 의무 공백에 관한 비교법적 연구"입니다. 먼저 배경입니다. 3, 4강에서 본 EU AI Act 제15조는 고위험 AI 시스템이 데이터 오염, 모델 오염, 적대적 예제, 기밀성 공격 같은 AI 특유의 공격을 예방하고 탐지하고 대응하도록 조문에 직접 써 두었습니다. 제55조는 시스템적 위험이 있는 범용 AI 모델에도 사이버보안 보호 의무를 지우고 있습니다. 그런데 5강에서 본 우리 인공지능기본법은 제32조와 제34조에서 위험관리, 설명, 사람의 관리·감독은 규정하지만, AI를 노린 공격에 대한 보안 요건은 따로 두지 않았습니다. 그렇다고 6강에서 본 정보통신망법이나 정보통신기반보호법이 이를 메워 주느냐 하면, 이 법들은 전통적인 네트워크·시스템 침해를 전제로 만들어져 AI 특유 취약점은 상정하지 않습니다. 저는 이 지점을 "규율 공백"이라는 가설로 세웠습니다. 그래서 세 가지를 묻습니다. 첫째, 두 법체계가 AI 사이버보안 의무를 대상, 내용, 이행수단에서 어떻게 다르게 규정하는가. 둘째, AI 특유 위협 가운데 국내법에서 실제로 비어 있는 항목은 무엇인가. 셋째, 이를 시행령이나 고시 수준에서 어떻게 보완할 수 있는가입니다.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연구 방법입니다. 1강에서 배운 연구질문 유형 중 "어떻게 다른가"를 묻는 제도 비교형이라, 비교법적 내용분석을 씁니다. 왼쪽 표가 분석틀입니다. 적용 대상, 보안 요건, 이행 수단, 사고 대응 네 차원으로 두 법을 나란히 놓습니다. 대상은 EU가 고위험 AI와 시스템적 위험 범용 AI, 우리는 고영향 AI와 고성능 AI로 비슷하게 짝지어집니다. 차이는 보안 요건에서 납니다. EU는 제15조에 AI 특유 공격을 명시했지만, 우리 기본법에는 대응 조문이 없어 일반 보안법에 기대야 합니다. 사고 대응도 EU는 중대사고 보고 의무가 있지만, 우리는 정보통신망법의 침해사고 신고로 우회해야 하는 구조입니다. 구체적으로는 EU 제15조에 나오는 AI 특유 취약점 다섯 가지를 코딩 축으로 삼고, 6강 법지도에서 '안전·보안·신뢰' 영역에 묶인 12개 법의 조문을 하나하나 매핑해 어느 칸이 비는지 공백 매트릭스로 보여 드리겠습니다. 일정은 10월에 문헌과 코딩 프레임, 11월에 매핑과 분석을 마쳐 15강에서 중간 결과를 발표하고, 12월에 원고를 완성하겠습니다. 투고 목표는 KCI 등재지인 정보보호학회논문지입니다. 이 연구로 고영향 AI 보안 요건의 공백을 조문 단위로 보여 주고, 시행령이나 고시에 담을 보안 항목을 제안하는 것이 목표입니다.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1000720"/>
            <a:ext cx="10769600" cy="457200"/>
          </a:xfrm>
          <a:prstGeom prst="rect">
            <a:avLst/>
          </a:prstGeom>
          <a:noFill/>
          <a:ln/>
        </p:spPr>
        <p:txBody>
          <a:bodyPr wrap="square" lIns="0" tIns="0" rIns="0" bIns="0" rtlCol="0" anchor="t"/>
          <a:lstStyle>
            <a:lvl1pPr algn="l" indent="0" marL="0">
              <a:lnSpc>
                <a:spcPct val="110000"/>
              </a:lnSpc>
              <a:buNone/>
              <a:defRPr lang="en-US" sz="3000" dirty="0">
                <a:solidFill>
                  <a:srgbClr val="14213D"/>
                </a:solidFill>
                <a:latin typeface="Georgia" pitchFamily="34" charset="0"/>
                <a:ea typeface="Georgia" pitchFamily="34" charset="-122"/>
                <a:cs typeface="Georgia" pitchFamily="34" charset="-120"/>
              </a:defRPr>
            </a:lvl1pPr>
          </a:lstStyle>
          <a:p>
            <a:pPr algn="l" indent="0" marL="0">
              <a:lnSpc>
                <a:spcPct val="110000"/>
              </a:lnSpc>
              <a:buNone/>
            </a:pPr>
            <a:endParaRPr lang="en-US" sz="3000" dirty="0"/>
          </a:p>
        </p:txBody>
      </p:sp>
      <p:sp>
        <p:nvSpPr>
          <p:cNvPr id="3" name="Text Placeholder 2"/>
          <p:cNvSpPr/>
          <p:nvPr>
            <p:ph idx="101" type="body"/>
          </p:nvPr>
        </p:nvSpPr>
        <p:spPr>
          <a:xfrm>
            <a:off x="711200" y="1762720"/>
            <a:ext cx="10668000" cy="428248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1000720"/>
            <a:ext cx="10769600" cy="457200"/>
          </a:xfrm>
          <a:prstGeom prst="rect">
            <a:avLst/>
          </a:prstGeom>
          <a:noFill/>
          <a:ln/>
        </p:spPr>
        <p:txBody>
          <a:bodyPr wrap="square" lIns="0" tIns="0" rIns="0" bIns="0" rtlCol="0" anchor="t"/>
          <a:lstStyle>
            <a:lvl1pPr algn="l" indent="0" marL="0">
              <a:lnSpc>
                <a:spcPct val="110000"/>
              </a:lnSpc>
              <a:buNone/>
              <a:defRPr lang="en-US" sz="3000" dirty="0">
                <a:solidFill>
                  <a:srgbClr val="14213D"/>
                </a:solidFill>
                <a:latin typeface="Georgia" pitchFamily="34" charset="0"/>
                <a:ea typeface="Georgia" pitchFamily="34" charset="-122"/>
                <a:cs typeface="Georgia" pitchFamily="34" charset="-120"/>
              </a:defRPr>
            </a:lvl1pPr>
          </a:lstStyle>
          <a:p>
            <a:pPr algn="l" indent="0" marL="0">
              <a:lnSpc>
                <a:spcPct val="110000"/>
              </a:lnSpc>
              <a:buNone/>
            </a:pPr>
            <a:endParaRPr lang="en-US" sz="3000" dirty="0"/>
          </a:p>
        </p:txBody>
      </p:sp>
      <p:sp>
        <p:nvSpPr>
          <p:cNvPr id="3" name="Text Placeholder 2"/>
          <p:cNvSpPr/>
          <p:nvPr>
            <p:ph idx="101" type="body"/>
          </p:nvPr>
        </p:nvSpPr>
        <p:spPr>
          <a:xfrm>
            <a:off x="711200" y="1762720"/>
            <a:ext cx="10668000" cy="428248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711200" y="609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4561F"/>
                </a:solidFill>
                <a:latin typeface="Arial" pitchFamily="34" charset="0"/>
                <a:ea typeface="Arial" pitchFamily="34" charset="-122"/>
                <a:cs typeface="Arial" pitchFamily="34" charset="-120"/>
              </a:rPr>
              <a:t>AI 거버넌스 기반의 연구방법론 · 소논문 연구계획서 (발표 1) | 백기훈 (202676235)</a:t>
            </a:r>
            <a:endParaRPr lang="en-US" sz="1200" dirty="0"/>
          </a:p>
        </p:txBody>
      </p:sp>
      <p:sp>
        <p:nvSpPr>
          <p:cNvPr id="3" name="Text 1"/>
          <p:cNvSpPr/>
          <p:nvPr>
            <p:ph type="title"/>
          </p:nvPr>
        </p:nvSpPr>
        <p:spPr>
          <a:xfrm>
            <a:off x="711200" y="1000720"/>
            <a:ext cx="11092688" cy="482600"/>
          </a:xfrm>
          <a:prstGeom prst="rect">
            <a:avLst/>
          </a:prstGeom>
          <a:noFill/>
          <a:ln/>
        </p:spPr>
        <p:txBody>
          <a:bodyPr wrap="square" lIns="0" tIns="0" rIns="0" bIns="0" rtlCol="0" anchor="t">
            <a:normAutofit/>
          </a:bodyPr>
          <a:lstStyle/>
          <a:p>
            <a:pPr algn="l" indent="0" marL="0">
              <a:lnSpc>
                <a:spcPts val="3600"/>
              </a:lnSpc>
              <a:buNone/>
            </a:pPr>
            <a:r>
              <a:rPr lang="en-US" sz="3000" b="1" i="0" dirty="0">
                <a:solidFill>
                  <a:srgbClr val="14213D"/>
                </a:solidFill>
                <a:latin typeface="Georgia" pitchFamily="18" charset="0"/>
                <a:ea typeface="Georgia" pitchFamily="18" charset="-122"/>
                <a:cs typeface="Georgia" pitchFamily="18" charset="-120"/>
              </a:rPr>
              <a:t>고영향 AI의 사이버보안 의무 공백에 관한 비교법적 연구</a:t>
            </a:r>
            <a:endParaRPr lang="en-US" sz="3000" dirty="0"/>
          </a:p>
        </p:txBody>
      </p:sp>
      <p:sp>
        <p:nvSpPr>
          <p:cNvPr id="4" name="Text 2"/>
          <p:cNvSpPr/>
          <p:nvPr/>
        </p:nvSpPr>
        <p:spPr>
          <a:xfrm>
            <a:off x="711200" y="1534120"/>
            <a:ext cx="1109268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63"/>
                </a:solidFill>
                <a:latin typeface="Arial" pitchFamily="34" charset="0"/>
                <a:ea typeface="Arial" pitchFamily="34" charset="-122"/>
                <a:cs typeface="Arial" pitchFamily="34" charset="-120"/>
              </a:rPr>
              <a:t>EU AI Act 제15조와 인공지능기본법 · 정보통신망법 · 정보통신기반보호법을 중심으로</a:t>
            </a:r>
            <a:endParaRPr lang="en-US" sz="1500" dirty="0"/>
          </a:p>
        </p:txBody>
      </p:sp>
      <p:sp>
        <p:nvSpPr>
          <p:cNvPr id="5" name="Shape 3"/>
          <p:cNvSpPr/>
          <p:nvPr/>
        </p:nvSpPr>
        <p:spPr>
          <a:xfrm>
            <a:off x="714375" y="1981795"/>
            <a:ext cx="3469184" cy="3857030"/>
          </a:xfrm>
          <a:prstGeom prst="roundRect">
            <a:avLst>
              <a:gd name="adj" fmla="val 2837"/>
            </a:avLst>
          </a:prstGeom>
          <a:solidFill>
            <a:srgbClr val="FFFFFF"/>
          </a:solidFill>
          <a:ln w="6350">
            <a:solidFill>
              <a:srgbClr val="E2DDD3"/>
            </a:solidFill>
            <a:prstDash val="solid"/>
          </a:ln>
        </p:spPr>
      </p:sp>
      <p:sp>
        <p:nvSpPr>
          <p:cNvPr id="6" name="Text 4"/>
          <p:cNvSpPr/>
          <p:nvPr/>
        </p:nvSpPr>
        <p:spPr>
          <a:xfrm>
            <a:off x="946150" y="2213570"/>
            <a:ext cx="30958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Arial" pitchFamily="34" charset="0"/>
                <a:ea typeface="Arial" pitchFamily="34" charset="-122"/>
                <a:cs typeface="Arial" pitchFamily="34" charset="-120"/>
              </a:rPr>
              <a:t>01 연구 배경</a:t>
            </a:r>
            <a:endParaRPr lang="en-US" sz="1200" dirty="0"/>
          </a:p>
        </p:txBody>
      </p:sp>
      <p:sp>
        <p:nvSpPr>
          <p:cNvPr id="7" name="Text 5"/>
          <p:cNvSpPr/>
          <p:nvPr/>
        </p:nvSpPr>
        <p:spPr>
          <a:xfrm>
            <a:off x="946150" y="2528491"/>
            <a:ext cx="3095803"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13D"/>
                </a:solidFill>
                <a:latin typeface="Arial" pitchFamily="34" charset="0"/>
                <a:ea typeface="Arial" pitchFamily="34" charset="-122"/>
                <a:cs typeface="Arial" pitchFamily="34" charset="-120"/>
              </a:rPr>
              <a:t>EU는 AI 특유 공격을 법조문에 명시</a:t>
            </a:r>
            <a:endParaRPr lang="en-US" sz="1600" dirty="0"/>
          </a:p>
        </p:txBody>
      </p:sp>
      <p:sp>
        <p:nvSpPr>
          <p:cNvPr id="8" name="Text 6"/>
          <p:cNvSpPr/>
          <p:nvPr/>
        </p:nvSpPr>
        <p:spPr>
          <a:xfrm>
            <a:off x="1050925" y="3158331"/>
            <a:ext cx="2983408" cy="1216025"/>
          </a:xfrm>
          <a:prstGeom prst="rect">
            <a:avLst/>
          </a:prstGeom>
          <a:noFill/>
          <a:ln/>
        </p:spPr>
        <p:txBody>
          <a:bodyPr wrap="square" lIns="0" tIns="0" rIns="0" bIns="0" rtlCol="0" anchor="t">
            <a:normAutofit/>
          </a:bodyPr>
          <a:lstStyle/>
          <a:p>
            <a:pPr algn="l" marL="149225" indent="-149225">
              <a:lnSpc>
                <a:spcPts val="1875"/>
              </a:lnSpc>
              <a:buSzPct val="100000"/>
              <a:buChar char="•"/>
            </a:pPr>
            <a:r>
              <a:rPr lang="en-US" sz="1250" dirty="0">
                <a:solidFill>
                  <a:srgbClr val="3E4C63"/>
                </a:solidFill>
                <a:latin typeface="Arial" pitchFamily="34" charset="0"/>
                <a:ea typeface="Arial" pitchFamily="34" charset="-122"/>
                <a:cs typeface="Arial" pitchFamily="34" charset="-120"/>
              </a:rPr>
              <a:t>제15조: 고위험 AI는 데이터 오염 · 모델 오염 · 적대적 예제 · 기밀성 공격에 대한 예방·탐지·대응 조치 의무</a:t>
            </a:r>
            <a:endParaRPr lang="en-US" sz="1250" dirty="0"/>
          </a:p>
          <a:p>
            <a:pPr algn="l" marL="149225" indent="-149225">
              <a:lnSpc>
                <a:spcPts val="1875"/>
              </a:lnSpc>
              <a:buSzPct val="100000"/>
              <a:buChar char="•"/>
            </a:pPr>
            <a:r>
              <a:rPr lang="en-US" sz="1250" dirty="0">
                <a:solidFill>
                  <a:srgbClr val="3E4C63"/>
                </a:solidFill>
                <a:latin typeface="Arial" pitchFamily="34" charset="0"/>
                <a:ea typeface="Arial" pitchFamily="34" charset="-122"/>
                <a:cs typeface="Arial" pitchFamily="34" charset="-120"/>
              </a:rPr>
              <a:t>제55조: 시스템적 위험 GPAI에 사이버보안 보호 의무</a:t>
            </a:r>
            <a:endParaRPr lang="en-US" sz="1250" dirty="0"/>
          </a:p>
        </p:txBody>
      </p:sp>
      <p:sp>
        <p:nvSpPr>
          <p:cNvPr id="9" name="Shape 7"/>
          <p:cNvSpPr/>
          <p:nvPr/>
        </p:nvSpPr>
        <p:spPr>
          <a:xfrm>
            <a:off x="4367709" y="1981795"/>
            <a:ext cx="3469233" cy="3857030"/>
          </a:xfrm>
          <a:prstGeom prst="roundRect">
            <a:avLst>
              <a:gd name="adj" fmla="val 2837"/>
            </a:avLst>
          </a:prstGeom>
          <a:solidFill>
            <a:srgbClr val="FFFFFF"/>
          </a:solidFill>
          <a:ln w="6350">
            <a:solidFill>
              <a:srgbClr val="E2DDD3"/>
            </a:solidFill>
            <a:prstDash val="solid"/>
          </a:ln>
        </p:spPr>
      </p:sp>
      <p:sp>
        <p:nvSpPr>
          <p:cNvPr id="10" name="Text 8"/>
          <p:cNvSpPr/>
          <p:nvPr/>
        </p:nvSpPr>
        <p:spPr>
          <a:xfrm>
            <a:off x="4599484" y="2213570"/>
            <a:ext cx="3095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8A"/>
                </a:solidFill>
                <a:latin typeface="Arial" pitchFamily="34" charset="0"/>
                <a:ea typeface="Arial" pitchFamily="34" charset="-122"/>
                <a:cs typeface="Arial" pitchFamily="34" charset="-120"/>
              </a:rPr>
              <a:t>02 문제 제기</a:t>
            </a:r>
            <a:endParaRPr lang="en-US" sz="1200" dirty="0"/>
          </a:p>
        </p:txBody>
      </p:sp>
      <p:sp>
        <p:nvSpPr>
          <p:cNvPr id="11" name="Text 9"/>
          <p:cNvSpPr/>
          <p:nvPr/>
        </p:nvSpPr>
        <p:spPr>
          <a:xfrm>
            <a:off x="4599484" y="2528491"/>
            <a:ext cx="3095854"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13D"/>
                </a:solidFill>
                <a:latin typeface="Arial" pitchFamily="34" charset="0"/>
                <a:ea typeface="Arial" pitchFamily="34" charset="-122"/>
                <a:cs typeface="Arial" pitchFamily="34" charset="-120"/>
              </a:rPr>
              <a:t>국내법은 '위험관리'만 있고 '보안'은 비어 있다</a:t>
            </a:r>
            <a:endParaRPr lang="en-US" sz="1600" dirty="0"/>
          </a:p>
        </p:txBody>
      </p:sp>
      <p:sp>
        <p:nvSpPr>
          <p:cNvPr id="12" name="Text 10"/>
          <p:cNvSpPr/>
          <p:nvPr/>
        </p:nvSpPr>
        <p:spPr>
          <a:xfrm>
            <a:off x="4704259" y="3158331"/>
            <a:ext cx="2983459" cy="1216025"/>
          </a:xfrm>
          <a:prstGeom prst="rect">
            <a:avLst/>
          </a:prstGeom>
          <a:noFill/>
          <a:ln/>
        </p:spPr>
        <p:txBody>
          <a:bodyPr wrap="square" lIns="0" tIns="0" rIns="0" bIns="0" rtlCol="0" anchor="t">
            <a:normAutofit/>
          </a:bodyPr>
          <a:lstStyle/>
          <a:p>
            <a:pPr algn="l" marL="149225" indent="-149225">
              <a:lnSpc>
                <a:spcPts val="1875"/>
              </a:lnSpc>
              <a:buSzPct val="100000"/>
              <a:buChar char="•"/>
            </a:pPr>
            <a:r>
              <a:rPr lang="en-US" sz="1250" dirty="0">
                <a:solidFill>
                  <a:srgbClr val="3E4C63"/>
                </a:solidFill>
                <a:latin typeface="Arial" pitchFamily="34" charset="0"/>
                <a:ea typeface="Arial" pitchFamily="34" charset="-122"/>
                <a:cs typeface="Arial" pitchFamily="34" charset="-120"/>
              </a:rPr>
              <a:t>인공지능기본법 제32조 · 제34조: 위험관리 · 설명 · 인간 감독 중심</a:t>
            </a:r>
            <a:endParaRPr lang="en-US" sz="1250" dirty="0"/>
          </a:p>
          <a:p>
            <a:pPr algn="l" marL="149225" indent="-149225">
              <a:lnSpc>
                <a:spcPts val="1875"/>
              </a:lnSpc>
              <a:buSzPct val="100000"/>
              <a:buChar char="•"/>
            </a:pPr>
            <a:r>
              <a:rPr lang="en-US" sz="1250" dirty="0">
                <a:solidFill>
                  <a:srgbClr val="3E4C63"/>
                </a:solidFill>
                <a:latin typeface="Arial" pitchFamily="34" charset="0"/>
                <a:ea typeface="Arial" pitchFamily="34" charset="-122"/>
                <a:cs typeface="Arial" pitchFamily="34" charset="-120"/>
              </a:rPr>
              <a:t>정보통신망법 · 정보통신기반보호법: 일반 보안법으로 AI 특유 취약점을 상정하지 않음</a:t>
            </a:r>
            <a:endParaRPr lang="en-US" sz="1250" dirty="0"/>
          </a:p>
        </p:txBody>
      </p:sp>
      <p:sp>
        <p:nvSpPr>
          <p:cNvPr id="13" name="Shape 11"/>
          <p:cNvSpPr/>
          <p:nvPr/>
        </p:nvSpPr>
        <p:spPr>
          <a:xfrm>
            <a:off x="8017917" y="1978620"/>
            <a:ext cx="3462883" cy="3863380"/>
          </a:xfrm>
          <a:prstGeom prst="roundRect">
            <a:avLst>
              <a:gd name="adj" fmla="val 2934"/>
            </a:avLst>
          </a:prstGeom>
          <a:solidFill>
            <a:srgbClr val="14213D"/>
          </a:solidFill>
          <a:ln/>
        </p:spPr>
      </p:sp>
      <p:sp>
        <p:nvSpPr>
          <p:cNvPr id="14" name="Text 12"/>
          <p:cNvSpPr/>
          <p:nvPr/>
        </p:nvSpPr>
        <p:spPr>
          <a:xfrm>
            <a:off x="8246517" y="2207220"/>
            <a:ext cx="3095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36B"/>
                </a:solidFill>
                <a:latin typeface="Arial" pitchFamily="34" charset="0"/>
                <a:ea typeface="Arial" pitchFamily="34" charset="-122"/>
                <a:cs typeface="Arial" pitchFamily="34" charset="-120"/>
              </a:rPr>
              <a:t>03 연구 질문</a:t>
            </a:r>
            <a:endParaRPr lang="en-US" sz="1200" dirty="0"/>
          </a:p>
        </p:txBody>
      </p:sp>
      <p:sp>
        <p:nvSpPr>
          <p:cNvPr id="15" name="Text 13"/>
          <p:cNvSpPr/>
          <p:nvPr/>
        </p:nvSpPr>
        <p:spPr>
          <a:xfrm>
            <a:off x="8323957" y="2522141"/>
            <a:ext cx="3010793" cy="1692275"/>
          </a:xfrm>
          <a:prstGeom prst="rect">
            <a:avLst/>
          </a:prstGeom>
          <a:noFill/>
          <a:ln/>
        </p:spPr>
        <p:txBody>
          <a:bodyPr wrap="square" lIns="0" tIns="0" rIns="0" bIns="0" rtlCol="0" anchor="t">
            <a:normAutofit/>
          </a:bodyPr>
          <a:lstStyle/>
          <a:p>
            <a:pPr algn="l" marL="176560" indent="-176560">
              <a:lnSpc>
                <a:spcPts val="1875"/>
              </a:lnSpc>
              <a:buSzPct val="100000"/>
              <a:buFontTx/>
              <a:buAutoNum type="arabicPeriod" startAt="1"/>
            </a:pPr>
            <a:r>
              <a:rPr lang="en-US" sz="1250" b="1" dirty="0">
                <a:solidFill>
                  <a:srgbClr val="E8ECF2"/>
                </a:solidFill>
                <a:latin typeface="Arial" pitchFamily="34" charset="0"/>
                <a:ea typeface="Arial" pitchFamily="34" charset="-122"/>
                <a:cs typeface="Arial" pitchFamily="34" charset="-120"/>
              </a:rPr>
              <a:t>RQ1</a:t>
            </a:r>
            <a:r>
              <a:rPr lang="en-US" sz="1250" dirty="0">
                <a:solidFill>
                  <a:srgbClr val="E8ECF2"/>
                </a:solidFill>
                <a:latin typeface="Arial" pitchFamily="34" charset="0"/>
                <a:ea typeface="Arial" pitchFamily="34" charset="-122"/>
                <a:cs typeface="Arial" pitchFamily="34" charset="-120"/>
              </a:rPr>
              <a:t> 두 법체계는 AI 사이버보안 의무를 대상 · 내용 · 이행수단에서 어떻게 다르게 규정하는가?</a:t>
            </a:r>
            <a:endParaRPr lang="en-US" sz="1250" dirty="0"/>
          </a:p>
          <a:p>
            <a:pPr algn="l" marL="176560" indent="-176560">
              <a:lnSpc>
                <a:spcPts val="1875"/>
              </a:lnSpc>
              <a:buSzPct val="100000"/>
              <a:buFontTx/>
              <a:buAutoNum type="arabicPeriod" startAt="1"/>
            </a:pPr>
            <a:r>
              <a:rPr lang="en-US" sz="1250" b="1" dirty="0">
                <a:solidFill>
                  <a:srgbClr val="E8ECF2"/>
                </a:solidFill>
                <a:latin typeface="Arial" pitchFamily="34" charset="0"/>
                <a:ea typeface="Arial" pitchFamily="34" charset="-122"/>
                <a:cs typeface="Arial" pitchFamily="34" charset="-120"/>
              </a:rPr>
              <a:t>RQ2</a:t>
            </a:r>
            <a:r>
              <a:rPr lang="en-US" sz="1250" dirty="0">
                <a:solidFill>
                  <a:srgbClr val="E8ECF2"/>
                </a:solidFill>
                <a:latin typeface="Arial" pitchFamily="34" charset="0"/>
                <a:ea typeface="Arial" pitchFamily="34" charset="-122"/>
                <a:cs typeface="Arial" pitchFamily="34" charset="-120"/>
              </a:rPr>
              <a:t> AI 특유 위협 중 국내법에서 공백으로 남는 항목은 무엇인가?</a:t>
            </a:r>
            <a:endParaRPr lang="en-US" sz="1250" dirty="0"/>
          </a:p>
          <a:p>
            <a:pPr algn="l" marL="176560" indent="-176560">
              <a:lnSpc>
                <a:spcPts val="1875"/>
              </a:lnSpc>
              <a:buSzPct val="100000"/>
              <a:buFontTx/>
              <a:buAutoNum type="arabicPeriod" startAt="1"/>
            </a:pPr>
            <a:r>
              <a:rPr lang="en-US" sz="1250" b="1" dirty="0">
                <a:solidFill>
                  <a:srgbClr val="E8ECF2"/>
                </a:solidFill>
                <a:latin typeface="Arial" pitchFamily="34" charset="0"/>
                <a:ea typeface="Arial" pitchFamily="34" charset="-122"/>
                <a:cs typeface="Arial" pitchFamily="34" charset="-120"/>
              </a:rPr>
              <a:t>RQ3</a:t>
            </a:r>
            <a:r>
              <a:rPr lang="en-US" sz="1250" dirty="0">
                <a:solidFill>
                  <a:srgbClr val="E8ECF2"/>
                </a:solidFill>
                <a:latin typeface="Arial" pitchFamily="34" charset="0"/>
                <a:ea typeface="Arial" pitchFamily="34" charset="-122"/>
                <a:cs typeface="Arial" pitchFamily="34" charset="-120"/>
              </a:rPr>
              <a:t> 시행령 · 고시 차원의 보완 방안은?</a:t>
            </a:r>
            <a:endParaRPr lang="en-US" sz="1250" dirty="0"/>
          </a:p>
        </p:txBody>
      </p:sp>
      <p:sp>
        <p:nvSpPr>
          <p:cNvPr id="16" name="Text 14"/>
          <p:cNvSpPr/>
          <p:nvPr/>
        </p:nvSpPr>
        <p:spPr>
          <a:xfrm>
            <a:off x="711200" y="623828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기반 강의: 1강 연구질문 설계(RQ1 제도비교) · 3–4강 EU AI Act · 5강 인공지능기본법·시행령 · 6강 국내 AI 관련 법</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711200" y="609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4561F"/>
                </a:solidFill>
                <a:latin typeface="Arial" pitchFamily="34" charset="0"/>
                <a:ea typeface="Arial" pitchFamily="34" charset="-122"/>
                <a:cs typeface="Arial" pitchFamily="34" charset="-120"/>
              </a:rPr>
              <a:t>연구 설계</a:t>
            </a:r>
            <a:endParaRPr lang="en-US" sz="1200" dirty="0"/>
          </a:p>
        </p:txBody>
      </p:sp>
      <p:sp>
        <p:nvSpPr>
          <p:cNvPr id="3" name="Text 1"/>
          <p:cNvSpPr/>
          <p:nvPr>
            <p:ph type="title"/>
          </p:nvPr>
        </p:nvSpPr>
        <p:spPr>
          <a:xfrm>
            <a:off x="711200" y="873720"/>
            <a:ext cx="11092688" cy="421630"/>
          </a:xfrm>
          <a:prstGeom prst="rect">
            <a:avLst/>
          </a:prstGeom>
          <a:noFill/>
          <a:ln/>
        </p:spPr>
        <p:txBody>
          <a:bodyPr wrap="square" lIns="0" tIns="0" rIns="0" bIns="0" rtlCol="0" anchor="t">
            <a:normAutofit/>
          </a:bodyPr>
          <a:lstStyle/>
          <a:p>
            <a:pPr algn="l" indent="0" marL="0">
              <a:lnSpc>
                <a:spcPts val="3120"/>
              </a:lnSpc>
              <a:buNone/>
            </a:pPr>
            <a:r>
              <a:rPr lang="en-US" sz="2600" b="1" i="0" dirty="0">
                <a:solidFill>
                  <a:srgbClr val="14213D"/>
                </a:solidFill>
                <a:latin typeface="Georgia" pitchFamily="18" charset="0"/>
                <a:ea typeface="Georgia" pitchFamily="18" charset="-122"/>
                <a:cs typeface="Georgia" pitchFamily="18" charset="-120"/>
              </a:rPr>
              <a:t>비교 분석틀과 추진 계획</a:t>
            </a:r>
            <a:endParaRPr lang="en-US" sz="2600" dirty="0"/>
          </a:p>
        </p:txBody>
      </p:sp>
      <p:sp>
        <p:nvSpPr>
          <p:cNvPr id="4" name="Shape 2"/>
          <p:cNvSpPr/>
          <p:nvPr/>
        </p:nvSpPr>
        <p:spPr>
          <a:xfrm>
            <a:off x="711200" y="1473150"/>
            <a:ext cx="6604000" cy="2322413"/>
          </a:xfrm>
          <a:prstGeom prst="roundRect">
            <a:avLst>
              <a:gd name="adj" fmla="val 3281"/>
            </a:avLst>
          </a:prstGeom>
          <a:solidFill>
            <a:srgbClr val="FFFFFF"/>
          </a:solidFill>
          <a:ln/>
        </p:spPr>
      </p:sp>
      <p:sp>
        <p:nvSpPr>
          <p:cNvPr id="5" name="Shape 3"/>
          <p:cNvSpPr/>
          <p:nvPr/>
        </p:nvSpPr>
        <p:spPr>
          <a:xfrm>
            <a:off x="711200" y="1473150"/>
            <a:ext cx="6604000" cy="2322413"/>
          </a:xfrm>
          <a:custGeom>
            <a:avLst/>
            <a:gdLst/>
            <a:ahLst/>
            <a:cxnLst/>
            <a:rect l="l" t="t" r="r" b="b"/>
            <a:pathLst>
              <a:path w="6604000" h="2322413">
                <a:moveTo>
                  <a:pt x="6527800" y="0"/>
                </a:moveTo>
                <a:lnTo>
                  <a:pt x="6527800" y="0"/>
                </a:lnTo>
                <a:arcTo hR="76200" wR="76200" stAng="16200000" swAng="5400000"/>
                <a:lnTo>
                  <a:pt x="6604000" y="2246213"/>
                </a:lnTo>
                <a:arcTo hR="76200" wR="76200" stAng="0" swAng="5400000"/>
                <a:lnTo>
                  <a:pt x="76200" y="2322413"/>
                </a:lnTo>
                <a:arcTo hR="76200" wR="76200" stAng="5400000" swAng="5400000"/>
                <a:lnTo>
                  <a:pt x="0" y="2246213"/>
                </a:lnTo>
                <a:arcTo hR="69850" wR="76200" stAng="10800000" swAng="-5400000"/>
                <a:lnTo>
                  <a:pt x="6527800" y="2316063"/>
                </a:lnTo>
                <a:arcTo hR="69850" wR="69850" stAng="5400000" swAng="-5400000"/>
                <a:lnTo>
                  <a:pt x="6597650" y="76200"/>
                </a:lnTo>
                <a:arcTo hR="76200" wR="69850" stAng="0" swAng="-5400000"/>
                <a:close/>
              </a:path>
            </a:pathLst>
          </a:custGeom>
          <a:solidFill>
            <a:srgbClr val="E2DDD3"/>
          </a:solidFill>
          <a:ln/>
        </p:spPr>
      </p:sp>
      <p:sp>
        <p:nvSpPr>
          <p:cNvPr id="6" name="Shape 4"/>
          <p:cNvSpPr/>
          <p:nvPr/>
        </p:nvSpPr>
        <p:spPr>
          <a:xfrm>
            <a:off x="711200" y="1473150"/>
            <a:ext cx="6604000" cy="2322413"/>
          </a:xfrm>
          <a:custGeom>
            <a:avLst/>
            <a:gdLst/>
            <a:ahLst/>
            <a:cxnLst/>
            <a:rect l="l" t="t" r="r" b="b"/>
            <a:pathLst>
              <a:path w="6604000" h="2322413">
                <a:moveTo>
                  <a:pt x="76200" y="2322413"/>
                </a:moveTo>
                <a:lnTo>
                  <a:pt x="76200" y="2322413"/>
                </a:lnTo>
                <a:arcTo hR="76200" wR="76200" stAng="5400000" swAng="5400000"/>
                <a:lnTo>
                  <a:pt x="0" y="76200"/>
                </a:lnTo>
                <a:arcTo hR="76200" wR="76200" stAng="10800000" swAng="5400000"/>
                <a:lnTo>
                  <a:pt x="6527800" y="0"/>
                </a:lnTo>
                <a:arcTo hR="76200" wR="76200" stAng="16200000" swAng="5400000"/>
                <a:lnTo>
                  <a:pt x="6604000" y="76200"/>
                </a:lnTo>
                <a:arcTo hR="63500" wR="76200" stAng="0" swAng="-5400000"/>
                <a:lnTo>
                  <a:pt x="76200" y="12700"/>
                </a:lnTo>
                <a:arcTo hR="63500" wR="63500" stAng="16200000" swAng="-5400000"/>
                <a:lnTo>
                  <a:pt x="12700" y="2246213"/>
                </a:lnTo>
                <a:arcTo hR="76200" wR="635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3900" y="1485850"/>
          <a:ext cx="6584950" cy="2303363"/>
        </p:xfrm>
        <a:graphic>
          <a:graphicData uri="http://schemas.openxmlformats.org/drawingml/2006/table">
            <a:tbl>
              <a:tblPr/>
              <a:tblGrid>
                <a:gridCol w="1316990"/>
                <a:gridCol w="2633980"/>
                <a:gridCol w="2633980"/>
              </a:tblGrid>
              <a:tr h="332680">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비교 차원</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EU AI Act</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국내법</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r>
              <a:tr h="5460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적용 대상</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고위험 AI(부속서 III), 시스템적 위험 GPAI(10^25 FLOP)</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고영향 AI(10개 영역), 고성능 AI(10^26 FLOP)</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보안 요건</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8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C0BB"/>
                      </a:solidFill>
                      <a:prstDash val="solid"/>
                      <a:round/>
                      <a:headEnd type="none" w="med" len="med"/>
                      <a:tailEnd type="none" w="med" len="med"/>
                    </a:lnB>
                    <a:solidFill>
                      <a:srgbClr val="FBF1EA"/>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제15조 사이버보안: AI 특유 공격 유형 명시</a:t>
                      </a:r>
                      <a:endParaRPr lang="en-US" sz="1200" dirty="0">
                        <a:latin typeface="Arial" charset="0"/>
                        <a:ea typeface="Arial" charset="0"/>
                        <a:cs typeface="Arial" charset="0"/>
                      </a:endParaRPr>
                    </a:p>
                  </a:txBody>
                  <a:tcPr marL="53340" marR="53340" marT="53340" marB="53340" anchor="t">
                    <a:lnL w="12700" cap="flat" cmpd="sng" algn="ctr">
                      <a:solidFill>
                        <a:srgbClr val="C8C0BB"/>
                      </a:solidFill>
                      <a:prstDash val="solid"/>
                      <a:round/>
                      <a:headEnd type="none" w="med" len="med"/>
                      <a:tailEnd type="none" w="med" len="med"/>
                    </a:lnL>
                    <a:lnR w="12700" cap="flat" cmpd="sng" algn="ctr">
                      <a:solidFill>
                        <a:srgbClr val="C8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C0BB"/>
                      </a:solidFill>
                      <a:prstDash val="solid"/>
                      <a:round/>
                      <a:headEnd type="none" w="med" len="med"/>
                      <a:tailEnd type="none" w="med" len="med"/>
                    </a:lnB>
                    <a:solidFill>
                      <a:srgbClr val="FBF1EA"/>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기본법 명시 규정 없음 → 일반 보안법 의존 (공백 가설)</a:t>
                      </a:r>
                      <a:endParaRPr lang="en-US" sz="1200" dirty="0">
                        <a:latin typeface="Arial" charset="0"/>
                        <a:ea typeface="Arial" charset="0"/>
                        <a:cs typeface="Arial" charset="0"/>
                      </a:endParaRPr>
                    </a:p>
                  </a:txBody>
                  <a:tcPr marL="53340" marR="53340" marT="53340" marB="53340" anchor="t">
                    <a:lnL w="12700" cap="flat" cmpd="sng" algn="ctr">
                      <a:solidFill>
                        <a:srgbClr val="C8C0BB"/>
                      </a:solidFill>
                      <a:prstDash val="solid"/>
                      <a:round/>
                      <a:headEnd type="none" w="med" len="med"/>
                      <a:tailEnd type="none" w="med" len="med"/>
                    </a:lnL>
                    <a:lnR w="12700" cap="flat" cmpd="sng" algn="ctr">
                      <a:solidFill>
                        <a:srgbClr val="C8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C0BB"/>
                      </a:solidFill>
                      <a:prstDash val="solid"/>
                      <a:round/>
                      <a:headEnd type="none" w="med" len="med"/>
                      <a:tailEnd type="none" w="med" len="med"/>
                    </a:lnB>
                    <a:solidFill>
                      <a:srgbClr val="FBF1EA"/>
                    </a:solidFill>
                  </a:tcPr>
                </a:tc>
              </a:tr>
              <a:tr h="332680">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이행 수단</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8C0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적합성평가 · 조화표준 · CE 마킹</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C0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민간 자율 검·인증 지원(제30조)</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C0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사고 대응</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중대사고 보고(제73조)</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정보통신망법 침해사고 신고(제48조의3)로 우회</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Shape 5"/>
          <p:cNvSpPr/>
          <p:nvPr/>
        </p:nvSpPr>
        <p:spPr>
          <a:xfrm>
            <a:off x="711200" y="3947964"/>
            <a:ext cx="6604000" cy="746720"/>
          </a:xfrm>
          <a:prstGeom prst="roundRect">
            <a:avLst>
              <a:gd name="adj" fmla="val 10205"/>
            </a:avLst>
          </a:prstGeom>
          <a:solidFill>
            <a:srgbClr val="E7EEF5"/>
          </a:solidFill>
          <a:ln/>
        </p:spPr>
      </p:sp>
      <p:sp>
        <p:nvSpPr>
          <p:cNvPr id="9" name="Text 6"/>
          <p:cNvSpPr/>
          <p:nvPr/>
        </p:nvSpPr>
        <p:spPr>
          <a:xfrm>
            <a:off x="889000" y="4214664"/>
            <a:ext cx="61461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F5D8A"/>
                </a:solidFill>
                <a:latin typeface="Arial" pitchFamily="34" charset="0"/>
                <a:ea typeface="Arial" pitchFamily="34" charset="-122"/>
                <a:cs typeface="Arial" pitchFamily="34" charset="-120"/>
              </a:rPr>
              <a:t>기대 효과</a:t>
            </a:r>
            <a:endParaRPr lang="en-US" sz="1200" dirty="0"/>
          </a:p>
        </p:txBody>
      </p:sp>
      <p:sp>
        <p:nvSpPr>
          <p:cNvPr id="10" name="Text 7"/>
          <p:cNvSpPr/>
          <p:nvPr/>
        </p:nvSpPr>
        <p:spPr>
          <a:xfrm>
            <a:off x="1579811" y="4100364"/>
            <a:ext cx="572431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13D"/>
                </a:solidFill>
                <a:latin typeface="Arial" pitchFamily="34" charset="0"/>
                <a:ea typeface="Arial" pitchFamily="34" charset="-122"/>
                <a:cs typeface="Arial" pitchFamily="34" charset="-120"/>
              </a:rPr>
              <a:t>국내 고영향 AI 보안 요건의 공백을 조문 단위로 실증하고, 시행령·고시에 넣을 보안 항목을 제안</a:t>
            </a:r>
            <a:endParaRPr lang="en-US" sz="1200" dirty="0"/>
          </a:p>
        </p:txBody>
      </p:sp>
      <p:sp>
        <p:nvSpPr>
          <p:cNvPr id="11" name="Shape 8"/>
          <p:cNvSpPr/>
          <p:nvPr/>
        </p:nvSpPr>
        <p:spPr>
          <a:xfrm>
            <a:off x="7569200" y="1473150"/>
            <a:ext cx="3911600" cy="1638300"/>
          </a:xfrm>
          <a:prstGeom prst="roundRect">
            <a:avLst>
              <a:gd name="adj" fmla="val 6202"/>
            </a:avLst>
          </a:prstGeom>
          <a:solidFill>
            <a:srgbClr val="14213D"/>
          </a:solidFill>
          <a:ln/>
        </p:spPr>
      </p:sp>
      <p:sp>
        <p:nvSpPr>
          <p:cNvPr id="12" name="Text 9"/>
          <p:cNvSpPr/>
          <p:nvPr/>
        </p:nvSpPr>
        <p:spPr>
          <a:xfrm>
            <a:off x="7772400" y="1676350"/>
            <a:ext cx="36103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36B"/>
                </a:solidFill>
                <a:latin typeface="Arial" pitchFamily="34" charset="0"/>
                <a:ea typeface="Arial" pitchFamily="34" charset="-122"/>
                <a:cs typeface="Arial" pitchFamily="34" charset="-120"/>
              </a:rPr>
              <a:t>연구 방법</a:t>
            </a:r>
            <a:endParaRPr lang="en-US" sz="1500" dirty="0"/>
          </a:p>
        </p:txBody>
      </p:sp>
      <p:sp>
        <p:nvSpPr>
          <p:cNvPr id="13" name="Text 10"/>
          <p:cNvSpPr/>
          <p:nvPr/>
        </p:nvSpPr>
        <p:spPr>
          <a:xfrm>
            <a:off x="7883906" y="1993850"/>
            <a:ext cx="3491230" cy="939800"/>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E8ECF2"/>
                </a:solidFill>
                <a:latin typeface="Arial" pitchFamily="34" charset="0"/>
                <a:ea typeface="Arial" pitchFamily="34" charset="-122"/>
                <a:cs typeface="Arial" pitchFamily="34" charset="-120"/>
              </a:rPr>
              <a:t>비교법적 내용분석 + 코딩 프레임</a:t>
            </a:r>
            <a:endParaRPr lang="en-US" sz="1200" dirty="0"/>
          </a:p>
          <a:p>
            <a:pPr algn="l" marL="142494" indent="-142494">
              <a:lnSpc>
                <a:spcPts val="1800"/>
              </a:lnSpc>
              <a:buSzPct val="100000"/>
              <a:buChar char="•"/>
            </a:pPr>
            <a:r>
              <a:rPr lang="en-US" sz="1200" dirty="0">
                <a:solidFill>
                  <a:srgbClr val="E8ECF2"/>
                </a:solidFill>
                <a:latin typeface="Arial" pitchFamily="34" charset="0"/>
                <a:ea typeface="Arial" pitchFamily="34" charset="-122"/>
                <a:cs typeface="Arial" pitchFamily="34" charset="-120"/>
              </a:rPr>
              <a:t>코딩 축: EU 제15조의 AI 특유 취약점 5유형</a:t>
            </a:r>
            <a:endParaRPr lang="en-US" sz="1200" dirty="0"/>
          </a:p>
          <a:p>
            <a:pPr algn="l" marL="142494" indent="-142494">
              <a:lnSpc>
                <a:spcPts val="1800"/>
              </a:lnSpc>
              <a:buSzPct val="100000"/>
              <a:buChar char="•"/>
            </a:pPr>
            <a:r>
              <a:rPr lang="en-US" sz="1200" dirty="0">
                <a:solidFill>
                  <a:srgbClr val="E8ECF2"/>
                </a:solidFill>
                <a:latin typeface="Arial" pitchFamily="34" charset="0"/>
                <a:ea typeface="Arial" pitchFamily="34" charset="-122"/>
                <a:cs typeface="Arial" pitchFamily="34" charset="-120"/>
              </a:rPr>
              <a:t>6강 법지도 '안전·보안·신뢰' 12개 법 조문 매핑 → 공백 매트릭스</a:t>
            </a:r>
            <a:endParaRPr lang="en-US" sz="1200" dirty="0"/>
          </a:p>
        </p:txBody>
      </p:sp>
      <p:sp>
        <p:nvSpPr>
          <p:cNvPr id="14" name="Shape 11"/>
          <p:cNvSpPr/>
          <p:nvPr/>
        </p:nvSpPr>
        <p:spPr>
          <a:xfrm>
            <a:off x="7572375" y="3267025"/>
            <a:ext cx="3905250" cy="1644650"/>
          </a:xfrm>
          <a:prstGeom prst="roundRect">
            <a:avLst>
              <a:gd name="adj" fmla="val 5985"/>
            </a:avLst>
          </a:prstGeom>
          <a:solidFill>
            <a:srgbClr val="FFFFFF"/>
          </a:solidFill>
          <a:ln w="6350">
            <a:solidFill>
              <a:srgbClr val="E2DDD3"/>
            </a:solidFill>
            <a:prstDash val="solid"/>
          </a:ln>
        </p:spPr>
      </p:sp>
      <p:sp>
        <p:nvSpPr>
          <p:cNvPr id="15" name="Text 12"/>
          <p:cNvSpPr/>
          <p:nvPr/>
        </p:nvSpPr>
        <p:spPr>
          <a:xfrm>
            <a:off x="7778750" y="3473400"/>
            <a:ext cx="35972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D8A"/>
                </a:solidFill>
                <a:latin typeface="Arial" pitchFamily="34" charset="0"/>
                <a:ea typeface="Arial" pitchFamily="34" charset="-122"/>
                <a:cs typeface="Arial" pitchFamily="34" charset="-120"/>
              </a:rPr>
              <a:t>일정 · 투고</a:t>
            </a:r>
            <a:endParaRPr lang="en-US" sz="1500" dirty="0"/>
          </a:p>
        </p:txBody>
      </p:sp>
      <p:sp>
        <p:nvSpPr>
          <p:cNvPr id="16" name="Text 13"/>
          <p:cNvSpPr/>
          <p:nvPr/>
        </p:nvSpPr>
        <p:spPr>
          <a:xfrm>
            <a:off x="7890256" y="3790900"/>
            <a:ext cx="3478149" cy="939800"/>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b="1" dirty="0">
                <a:solidFill>
                  <a:srgbClr val="3E4C63"/>
                </a:solidFill>
                <a:latin typeface="Arial" pitchFamily="34" charset="0"/>
                <a:ea typeface="Arial" pitchFamily="34" charset="-122"/>
                <a:cs typeface="Arial" pitchFamily="34" charset="-120"/>
              </a:rPr>
              <a:t>10월</a:t>
            </a:r>
            <a:r>
              <a:rPr lang="en-US" sz="1200" dirty="0">
                <a:solidFill>
                  <a:srgbClr val="3E4C63"/>
                </a:solidFill>
                <a:latin typeface="Arial" pitchFamily="34" charset="0"/>
                <a:ea typeface="Arial" pitchFamily="34" charset="-122"/>
                <a:cs typeface="Arial" pitchFamily="34" charset="-120"/>
              </a:rPr>
              <a:t> 문헌 검토 · 코딩 프레임</a:t>
            </a:r>
            <a:endParaRPr lang="en-US" sz="1200" dirty="0"/>
          </a:p>
          <a:p>
            <a:pPr algn="l" marL="142494" indent="-142494">
              <a:lnSpc>
                <a:spcPts val="1800"/>
              </a:lnSpc>
              <a:buSzPct val="100000"/>
              <a:buChar char="•"/>
            </a:pPr>
            <a:r>
              <a:rPr lang="en-US" sz="1200" b="1" dirty="0">
                <a:solidFill>
                  <a:srgbClr val="3E4C63"/>
                </a:solidFill>
                <a:latin typeface="Arial" pitchFamily="34" charset="0"/>
                <a:ea typeface="Arial" pitchFamily="34" charset="-122"/>
                <a:cs typeface="Arial" pitchFamily="34" charset="-120"/>
              </a:rPr>
              <a:t>11월</a:t>
            </a:r>
            <a:r>
              <a:rPr lang="en-US" sz="1200" dirty="0">
                <a:solidFill>
                  <a:srgbClr val="3E4C63"/>
                </a:solidFill>
                <a:latin typeface="Arial" pitchFamily="34" charset="0"/>
                <a:ea typeface="Arial" pitchFamily="34" charset="-122"/>
                <a:cs typeface="Arial" pitchFamily="34" charset="-120"/>
              </a:rPr>
              <a:t> 조문 매핑 · 분석 (15강 발표)</a:t>
            </a:r>
            <a:endParaRPr lang="en-US" sz="1200" dirty="0"/>
          </a:p>
          <a:p>
            <a:pPr algn="l" marL="142494" indent="-142494">
              <a:lnSpc>
                <a:spcPts val="1800"/>
              </a:lnSpc>
              <a:buSzPct val="100000"/>
              <a:buChar char="•"/>
            </a:pPr>
            <a:r>
              <a:rPr lang="en-US" sz="1200" b="1" dirty="0">
                <a:solidFill>
                  <a:srgbClr val="3E4C63"/>
                </a:solidFill>
                <a:latin typeface="Arial" pitchFamily="34" charset="0"/>
                <a:ea typeface="Arial" pitchFamily="34" charset="-122"/>
                <a:cs typeface="Arial" pitchFamily="34" charset="-120"/>
              </a:rPr>
              <a:t>12월</a:t>
            </a:r>
            <a:r>
              <a:rPr lang="en-US" sz="1200" dirty="0">
                <a:solidFill>
                  <a:srgbClr val="3E4C63"/>
                </a:solidFill>
                <a:latin typeface="Arial" pitchFamily="34" charset="0"/>
                <a:ea typeface="Arial" pitchFamily="34" charset="-122"/>
                <a:cs typeface="Arial" pitchFamily="34" charset="-120"/>
              </a:rPr>
              <a:t> 원고 완성 (16강 제출)</a:t>
            </a:r>
            <a:endParaRPr lang="en-US" sz="1200" dirty="0"/>
          </a:p>
          <a:p>
            <a:pPr algn="l" marL="142494" indent="-142494">
              <a:lnSpc>
                <a:spcPts val="1800"/>
              </a:lnSpc>
              <a:buSzPct val="100000"/>
              <a:buChar char="•"/>
            </a:pPr>
            <a:r>
              <a:rPr lang="en-US" sz="1200" b="1" dirty="0">
                <a:solidFill>
                  <a:srgbClr val="3E4C63"/>
                </a:solidFill>
                <a:latin typeface="Arial" pitchFamily="34" charset="0"/>
                <a:ea typeface="Arial" pitchFamily="34" charset="-122"/>
                <a:cs typeface="Arial" pitchFamily="34" charset="-120"/>
              </a:rPr>
              <a:t>투고</a:t>
            </a:r>
            <a:r>
              <a:rPr lang="en-US" sz="1200" dirty="0">
                <a:solidFill>
                  <a:srgbClr val="3E4C63"/>
                </a:solidFill>
                <a:latin typeface="Arial" pitchFamily="34" charset="0"/>
                <a:ea typeface="Arial" pitchFamily="34" charset="-122"/>
                <a:cs typeface="Arial" pitchFamily="34" charset="-120"/>
              </a:rPr>
              <a:t> 정보보호학회논문지(KCI)</a:t>
            </a:r>
            <a:endParaRPr lang="en-US" sz="1200" dirty="0"/>
          </a:p>
        </p:txBody>
      </p:sp>
      <p:sp>
        <p:nvSpPr>
          <p:cNvPr id="17" name="Text 14"/>
          <p:cNvSpPr/>
          <p:nvPr/>
        </p:nvSpPr>
        <p:spPr>
          <a:xfrm>
            <a:off x="711200" y="623828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자료: EU AI Act (2024/1689, 2026/1744 개정 반영) · 인공지능기본법·시행령 · 강의 03–06강 교안</a:t>
            </a:r>
            <a:endParaRPr lang="en-US" sz="1200" dirty="0"/>
          </a:p>
        </p:txBody>
      </p:sp>
    </p:spTree>
  </p:cSld>
  <p:clrMapOvr>
    <a:masterClrMapping/>
  </p:clrMapOvr>
</p:sld>
</file>

<file path=ppt/theme/theme1.xml><?xml version="1.0" encoding="utf-8"?>
<a:theme xmlns:a="http://schemas.openxmlformats.org/drawingml/2006/main" name="소논문 연구계획서 — 고영향 AI 사이버보안 의무 공백">
  <a:themeElements>
    <a:clrScheme name="소논문 연구계획서 — 고영향 AI 사이버보안 의무 공백">
      <a:dk1>
        <a:srgbClr val="14213D"/>
      </a:dk1>
      <a:lt1>
        <a:srgbClr val="F6F4EF"/>
      </a:lt1>
      <a:dk2>
        <a:srgbClr val="4D566A"/>
      </a:dk2>
      <a:lt2>
        <a:srgbClr val="DFDFDD"/>
      </a:lt2>
      <a:accent1>
        <a:srgbClr val="2F5D8A"/>
      </a:accent1>
      <a:accent2>
        <a:srgbClr val="C4561F"/>
      </a:accent2>
      <a:accent3>
        <a:srgbClr val="F2A36B"/>
      </a:accent3>
      <a:accent4>
        <a:srgbClr val="3E4C63"/>
      </a:accent4>
      <a:accent5>
        <a:srgbClr val="6B7280"/>
      </a:accent5>
      <a:accent6>
        <a:srgbClr val="9AA0A6"/>
      </a:accent6>
      <a:hlink>
        <a:srgbClr val="0563C1"/>
      </a:hlink>
      <a:folHlink>
        <a:srgbClr val="954F72"/>
      </a:folHlink>
    </a:clrScheme>
    <a:fontScheme name="소논문 연구계획서 — 고영향 AI 사이버보안 의무 공백">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소논문 연구계획서 — 고영향 AI 사이버보안 의무 공백</dc:title>
  <dc:subject/>
  <dc:creator/>
  <cp:lastModifiedBy/>
  <cp:revision>1</cp:revision>
  <dcterms:created xsi:type="dcterms:W3CDTF">2026-10-14T10:01:25Z</dcterms:created>
  <dcterms:modified xsi:type="dcterms:W3CDTF">2026-10-14T10:01:25Z</dcterms:modified>
</cp:coreProperties>
</file>