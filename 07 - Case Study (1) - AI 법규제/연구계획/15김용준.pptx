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A2843D23-DD3F-3A82-9FEE-DE0087B09984}">
          <p14:sldIdLst>
            <p14:sldId id="256"/>
          </p14:sldIdLst>
        </p14:section>
        <p14:section name="연구계획" id="{6B6809B9-396B-DF11-5954-F44F2A90685C}">
          <p14:sldIdLst>
            <p14:sldId id="257"/>
            <p14:sldId id="2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47" d="100"/>
          <a:sy n="47" d="100"/>
        </p:scale>
        <p:origin x="3552"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10168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안녕하세요. 저는 '금융분야 AI 위험평가와 레드티밍의 연계 방안'을 주제로 소논문을 준비하고 있습니다.
먼저 배경입니다. 올해 6월 22일부터 금융위원회의 「금융분야 인공지능 가이드라인」이 </a:t>
            </a:r>
            <a:r>
              <a:rPr lang="en-US" dirty="0" err="1"/>
              <a:t>시행되었고</a:t>
            </a:r>
            <a:r>
              <a:rPr lang="en-US" dirty="0"/>
              <a:t>,</a:t>
            </a:r>
          </a:p>
          <a:p>
            <a:r>
              <a:rPr lang="en-US" dirty="0" err="1"/>
              <a:t>금감원의</a:t>
            </a:r>
            <a:r>
              <a:rPr lang="en-US" dirty="0"/>
              <a:t> AI 위험관리 프레임워크는 AI기본법상 고영향 AI, 예를 들어 대출심사 AI를 위험점수와 관계없이 고위험으로 자동 분류하도록 했습니다.
한편 금융보안원이 작년 말 발간한 AI 레드팀 보고서에 따르면, 금융권 AI는 단순한 우회 공격은 막아내지만 복합 탈옥이나 에이전트 공격 같은 3·4세대 공격에는 취약했습니다.
문제는 이 두 축이 따로 움직인다는 점입니다. 위험평가는 점수와 등급을 매기는 체계이고, 레드티밍은 실제 공격으로 검증하는 활동인데, 레드티밍에서 발견된 취약점이 위험등급이나 잔여위험 산정에 어떻게 반영돼야 하는지는 분명하지 않습니다.
그래서 세 가지 연구질문을 세웠습니다. 첫째, 각 기관 가이드와 EU AI Act가 위험평가와 레드티밍을 어떻게 규정하는지, 둘째, 둘을 연결하는 연계 모델은 무엇인지, 셋째, 금융상담 챗봇과 대출심사 AI 사례에 실제로 적용할 수 있는지입니다.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20초]
연구 방법은 세 단계입니다.
첫째, 금융위 가이드라인, 금감원 AI RMF, 금융보안원의 보안 가이드라인과 레드팀 보고서, 그리고 범정부 차원의 KISA AI 보안 레드티밍 가이드와 TTA 신뢰할 수 있는 AI 개발 안내서를 비교 매트릭스로 정리하겠습니다. 법적 기준으로는 AI기본법의 고영향 AI 책무와 영향평가, EU AI Act의 위험관리와 견고성·보안 조항을 함께 봅니다.
둘째, 레드티밍에서 발견된 취약점을 금감원 RMF의 7대 원칙 평가항목에 매핑하고, 그 결과에 따라 잔여위험과 위험등급을 다시 산정하는 연계 프레임워크를 설계하겠습니다.
셋째, 생성형인 금융상담 챗봇과 판단형인 대출심사 AI를 가상 시나리오로 적용해 적용 가능성을 검토하겠습니다.
일정은 10월까지 자료 수집과 비교, 11월에 프레임워크 설계와 초안 작성, 12월 10일 중간 발표와 학술지 투고, 12월 17일 최종본 제출입니다. 목표 학술지는 정보화정책 또는 융합보안 논문지이며, 금융회사가 실제로 쓸 수 있는 위험평가–레드티밍 연계 체크리스트를 제시하는 것이 기대효과입니다.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686800" cy="320040"/>
          </a:xfrm>
          <a:prstGeom prst="rect">
            <a:avLst/>
          </a:prstGeom>
          <a:noFill/>
          <a:ln/>
        </p:spPr>
        <p:txBody>
          <a:bodyPr wrap="square" rtlCol="0"/>
          <a:lstStyle>
            <a:lvl1pPr marL="0" indent="0">
              <a:buNone/>
              <a:defRPr lang="en-US" sz="1300" b="1"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3"/>
                </a:solidFill>
              </a:rPr>
              <a:t>AI거버넌스 기반의 연구방법론 (2026-2) · 07강 Case Study (1)</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8778240" cy="12801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0"/>
          <p:cNvSpPr/>
          <p:nvPr/>
        </p:nvSpPr>
        <p:spPr>
          <a:xfrm>
            <a:off x="8412480" y="1005840"/>
            <a:ext cx="3291840" cy="3291840"/>
          </a:xfrm>
          <a:prstGeom prst="ellipse">
            <a:avLst/>
          </a:prstGeom>
          <a:solidFill>
            <a:schemeClr val="accent1">
              <a:alpha val="15000"/>
            </a:schemeClr>
          </a:solidFill>
          <a:ln/>
        </p:spPr>
        <p:txBody>
          <a:bodyPr/>
          <a:lstStyle/>
          <a:p>
            <a:endParaRPr lang="ko-KR" altLang="en-US"/>
          </a:p>
        </p:txBody>
      </p:sp>
      <p:sp>
        <p:nvSpPr>
          <p:cNvPr id="3" name="ring-1"/>
          <p:cNvSpPr/>
          <p:nvPr/>
        </p:nvSpPr>
        <p:spPr>
          <a:xfrm>
            <a:off x="8869680" y="1463040"/>
            <a:ext cx="2377440" cy="2377440"/>
          </a:xfrm>
          <a:prstGeom prst="ellipse">
            <a:avLst/>
          </a:prstGeom>
          <a:solidFill>
            <a:schemeClr val="accent1">
              <a:alpha val="28000"/>
            </a:schemeClr>
          </a:solidFill>
          <a:ln/>
        </p:spPr>
        <p:txBody>
          <a:bodyPr/>
          <a:lstStyle/>
          <a:p>
            <a:endParaRPr lang="ko-KR" altLang="en-US"/>
          </a:p>
        </p:txBody>
      </p:sp>
      <p:sp>
        <p:nvSpPr>
          <p:cNvPr id="4" name="ring-2"/>
          <p:cNvSpPr/>
          <p:nvPr/>
        </p:nvSpPr>
        <p:spPr>
          <a:xfrm>
            <a:off x="9326880" y="1920240"/>
            <a:ext cx="1463040" cy="1463040"/>
          </a:xfrm>
          <a:prstGeom prst="ellipse">
            <a:avLst/>
          </a:prstGeom>
          <a:solidFill>
            <a:schemeClr val="accent1">
              <a:alpha val="45000"/>
            </a:schemeClr>
          </a:solidFill>
          <a:ln/>
        </p:spPr>
        <p:txBody>
          <a:bodyPr/>
          <a:lstStyle/>
          <a:p>
            <a:endParaRPr lang="ko-KR" altLang="en-US"/>
          </a:p>
        </p:txBody>
      </p:sp>
      <p:sp>
        <p:nvSpPr>
          <p:cNvPr id="5" name="Text 3"/>
          <p:cNvSpPr txBox="1"/>
          <p:nvPr/>
        </p:nvSpPr>
        <p:spPr>
          <a:xfrm>
            <a:off x="731520" y="548640"/>
            <a:ext cx="5486400" cy="411480"/>
          </a:xfrm>
          <a:prstGeom prst="rect">
            <a:avLst/>
          </a:prstGeom>
          <a:noFill/>
          <a:ln/>
        </p:spPr>
        <p:txBody>
          <a:bodyPr wrap="square" lIns="0" tIns="0" rIns="0" bIns="0" rtlCol="0" anchor="ctr"/>
          <a:lstStyle/>
          <a:p>
            <a:pPr marL="0" indent="0">
              <a:buNone/>
            </a:pPr>
            <a:r>
              <a:rPr lang="en-US" sz="1800" b="1" dirty="0">
                <a:solidFill>
                  <a:schemeClr val="bg1"/>
                </a:solidFill>
              </a:rPr>
              <a:t>건국대학교</a:t>
            </a:r>
            <a:endParaRPr lang="en-US" sz="1800" dirty="0"/>
          </a:p>
        </p:txBody>
      </p:sp>
      <p:sp>
        <p:nvSpPr>
          <p:cNvPr id="6" name="Text 4"/>
          <p:cNvSpPr txBox="1"/>
          <p:nvPr/>
        </p:nvSpPr>
        <p:spPr>
          <a:xfrm>
            <a:off x="731520" y="960120"/>
            <a:ext cx="7315200" cy="320040"/>
          </a:xfrm>
          <a:prstGeom prst="rect">
            <a:avLst/>
          </a:prstGeom>
          <a:noFill/>
          <a:ln/>
        </p:spPr>
        <p:txBody>
          <a:bodyPr wrap="square" lIns="0" tIns="0" rIns="0" bIns="0" rtlCol="0" anchor="ctr"/>
          <a:lstStyle/>
          <a:p>
            <a:pPr marL="0" indent="0">
              <a:buNone/>
            </a:pPr>
            <a:r>
              <a:rPr lang="en-US" sz="1400" dirty="0">
                <a:solidFill>
                  <a:schemeClr val="accent6"/>
                </a:solidFill>
              </a:rPr>
              <a:t>AI거버넌스 기반의 연구방법론 (2026-2)</a:t>
            </a:r>
            <a:endParaRPr lang="en-US" sz="1400" dirty="0"/>
          </a:p>
        </p:txBody>
      </p:sp>
      <p:sp>
        <p:nvSpPr>
          <p:cNvPr id="7" name="Text 5"/>
          <p:cNvSpPr txBox="1"/>
          <p:nvPr/>
        </p:nvSpPr>
        <p:spPr>
          <a:xfrm>
            <a:off x="731520" y="1463040"/>
            <a:ext cx="5486400" cy="320040"/>
          </a:xfrm>
          <a:prstGeom prst="rect">
            <a:avLst/>
          </a:prstGeom>
          <a:noFill/>
          <a:ln/>
        </p:spPr>
        <p:txBody>
          <a:bodyPr wrap="square" lIns="0" tIns="0" rIns="0" bIns="0" rtlCol="0" anchor="ctr"/>
          <a:lstStyle/>
          <a:p>
            <a:pPr marL="0" indent="0">
              <a:buNone/>
            </a:pPr>
            <a:r>
              <a:rPr lang="en-US" sz="1400" b="1" dirty="0">
                <a:solidFill>
                  <a:schemeClr val="accent4"/>
                </a:solidFill>
              </a:rPr>
              <a:t>소논문 연구계획서</a:t>
            </a:r>
            <a:endParaRPr lang="en-US" sz="1400" dirty="0"/>
          </a:p>
        </p:txBody>
      </p:sp>
      <p:sp>
        <p:nvSpPr>
          <p:cNvPr id="8" name="Text 0"/>
          <p:cNvSpPr>
            <a:spLocks noGrp="1"/>
          </p:cNvSpPr>
          <p:nvPr>
            <p:ph type="title" idx="100" hasCustomPrompt="1"/>
          </p:nvPr>
        </p:nvSpPr>
        <p:spPr>
          <a:xfrm>
            <a:off x="731520" y="1828800"/>
            <a:ext cx="8778240" cy="1280160"/>
          </a:xfrm>
          <a:prstGeom prst="rect">
            <a:avLst/>
          </a:prstGeom>
          <a:noFill/>
          <a:ln/>
        </p:spPr>
        <p:txBody>
          <a:bodyPr wrap="square" lIns="0" tIns="0" rIns="0" bIns="0" rtlCol="0" anchor="t"/>
          <a:lstStyle/>
          <a:p>
            <a:pPr marL="0" indent="0" algn="l">
              <a:buNone/>
            </a:pPr>
            <a:r>
              <a:rPr lang="en-US" sz="3600" b="1" dirty="0">
                <a:solidFill>
                  <a:schemeClr val="bg1"/>
                </a:solidFill>
              </a:rPr>
              <a:t>금융분야 AI 위험평가와</a:t>
            </a:r>
            <a:endParaRPr lang="en-US" sz="3600" dirty="0"/>
          </a:p>
          <a:p>
            <a:pPr marL="0" indent="0" algn="l">
              <a:buNone/>
            </a:pPr>
            <a:r>
              <a:rPr lang="en-US" sz="3600" b="1" dirty="0">
                <a:solidFill>
                  <a:schemeClr val="bg1"/>
                </a:solidFill>
              </a:rPr>
              <a:t>레드티밍의 연계 방안 연구</a:t>
            </a:r>
            <a:endParaRPr lang="en-US" sz="3600" dirty="0"/>
          </a:p>
        </p:txBody>
      </p:sp>
      <p:sp>
        <p:nvSpPr>
          <p:cNvPr id="9" name="Text 7"/>
          <p:cNvSpPr txBox="1"/>
          <p:nvPr/>
        </p:nvSpPr>
        <p:spPr>
          <a:xfrm>
            <a:off x="731520" y="3246120"/>
            <a:ext cx="8778240" cy="365760"/>
          </a:xfrm>
          <a:prstGeom prst="rect">
            <a:avLst/>
          </a:prstGeom>
          <a:noFill/>
          <a:ln/>
        </p:spPr>
        <p:txBody>
          <a:bodyPr wrap="square" lIns="0" tIns="0" rIns="0" bIns="0" rtlCol="0" anchor="ctr"/>
          <a:lstStyle/>
          <a:p>
            <a:pPr marL="0" indent="0">
              <a:buNone/>
            </a:pPr>
            <a:r>
              <a:rPr lang="en-US" sz="1600" dirty="0">
                <a:solidFill>
                  <a:schemeClr val="accent4"/>
                </a:solidFill>
              </a:rPr>
              <a:t>금융당국 · KISA · TTA 가이드 비교와 연계 프레임워크 제안</a:t>
            </a:r>
            <a:endParaRPr lang="en-US" sz="1600" dirty="0"/>
          </a:p>
        </p:txBody>
      </p:sp>
      <p:sp>
        <p:nvSpPr>
          <p:cNvPr id="10" name="Text 8"/>
          <p:cNvSpPr txBox="1"/>
          <p:nvPr/>
        </p:nvSpPr>
        <p:spPr>
          <a:xfrm>
            <a:off x="731520" y="4206240"/>
            <a:ext cx="1005840" cy="329184"/>
          </a:xfrm>
          <a:prstGeom prst="rect">
            <a:avLst/>
          </a:prstGeom>
          <a:noFill/>
          <a:ln/>
        </p:spPr>
        <p:txBody>
          <a:bodyPr wrap="square" lIns="0" tIns="0" rIns="0" bIns="0" rtlCol="0" anchor="b"/>
          <a:lstStyle/>
          <a:p>
            <a:pPr marL="0" indent="0">
              <a:buNone/>
            </a:pPr>
            <a:r>
              <a:rPr lang="en-US" sz="1400" b="1" dirty="0">
                <a:solidFill>
                  <a:schemeClr val="accent6"/>
                </a:solidFill>
              </a:rPr>
              <a:t>발표일</a:t>
            </a:r>
            <a:endParaRPr lang="en-US" sz="1400" dirty="0"/>
          </a:p>
        </p:txBody>
      </p:sp>
      <p:sp>
        <p:nvSpPr>
          <p:cNvPr id="11" name="field-0"/>
          <p:cNvSpPr txBox="1"/>
          <p:nvPr/>
        </p:nvSpPr>
        <p:spPr>
          <a:xfrm>
            <a:off x="1828800" y="4206240"/>
            <a:ext cx="3108960" cy="329184"/>
          </a:xfrm>
          <a:prstGeom prst="rect">
            <a:avLst/>
          </a:prstGeom>
          <a:noFill/>
          <a:ln/>
        </p:spPr>
        <p:txBody>
          <a:bodyPr wrap="square" lIns="0" tIns="0" rIns="0" bIns="0" rtlCol="0" anchor="b"/>
          <a:lstStyle/>
          <a:p>
            <a:pPr marL="0" indent="0">
              <a:buNone/>
            </a:pPr>
            <a:r>
              <a:rPr lang="en-US" sz="1400" dirty="0">
                <a:solidFill>
                  <a:schemeClr val="bg1"/>
                </a:solidFill>
              </a:rPr>
              <a:t>2026. 10. 15.</a:t>
            </a:r>
            <a:endParaRPr lang="en-US" sz="1400" dirty="0"/>
          </a:p>
        </p:txBody>
      </p:sp>
      <p:sp>
        <p:nvSpPr>
          <p:cNvPr id="12" name="Text 10"/>
          <p:cNvSpPr txBox="1"/>
          <p:nvPr/>
        </p:nvSpPr>
        <p:spPr>
          <a:xfrm>
            <a:off x="731520" y="4739023"/>
            <a:ext cx="1005840" cy="329184"/>
          </a:xfrm>
          <a:prstGeom prst="rect">
            <a:avLst/>
          </a:prstGeom>
          <a:noFill/>
          <a:ln/>
        </p:spPr>
        <p:txBody>
          <a:bodyPr wrap="square" lIns="0" tIns="0" rIns="0" bIns="0" rtlCol="0" anchor="b"/>
          <a:lstStyle/>
          <a:p>
            <a:pPr marL="0" indent="0">
              <a:buNone/>
            </a:pPr>
            <a:r>
              <a:rPr lang="en-US" sz="1400" b="1" dirty="0">
                <a:solidFill>
                  <a:schemeClr val="accent6"/>
                </a:solidFill>
              </a:rPr>
              <a:t>담당교수</a:t>
            </a:r>
            <a:endParaRPr lang="en-US" sz="1400" dirty="0"/>
          </a:p>
        </p:txBody>
      </p:sp>
      <p:sp>
        <p:nvSpPr>
          <p:cNvPr id="13" name="field-1"/>
          <p:cNvSpPr txBox="1"/>
          <p:nvPr/>
        </p:nvSpPr>
        <p:spPr>
          <a:xfrm>
            <a:off x="1828800" y="4739023"/>
            <a:ext cx="3108960" cy="329184"/>
          </a:xfrm>
          <a:prstGeom prst="rect">
            <a:avLst/>
          </a:prstGeom>
          <a:noFill/>
          <a:ln/>
        </p:spPr>
        <p:txBody>
          <a:bodyPr wrap="square" lIns="0" tIns="0" rIns="0" bIns="0" rtlCol="0" anchor="b"/>
          <a:lstStyle/>
          <a:p>
            <a:pPr marL="0" indent="0">
              <a:buNone/>
            </a:pPr>
            <a:r>
              <a:rPr lang="en-US" sz="1400" dirty="0">
                <a:solidFill>
                  <a:schemeClr val="bg1"/>
                </a:solidFill>
              </a:rPr>
              <a:t>양희정 교수님</a:t>
            </a:r>
            <a:endParaRPr lang="en-US" sz="1400" dirty="0"/>
          </a:p>
        </p:txBody>
      </p:sp>
      <p:sp>
        <p:nvSpPr>
          <p:cNvPr id="14" name="Text 12"/>
          <p:cNvSpPr txBox="1"/>
          <p:nvPr/>
        </p:nvSpPr>
        <p:spPr>
          <a:xfrm>
            <a:off x="731520" y="5262475"/>
            <a:ext cx="1005840" cy="329184"/>
          </a:xfrm>
          <a:prstGeom prst="rect">
            <a:avLst/>
          </a:prstGeom>
          <a:noFill/>
          <a:ln/>
        </p:spPr>
        <p:txBody>
          <a:bodyPr wrap="square" lIns="0" tIns="0" rIns="0" bIns="0" rtlCol="0" anchor="b"/>
          <a:lstStyle/>
          <a:p>
            <a:pPr marL="0" indent="0">
              <a:buNone/>
            </a:pPr>
            <a:r>
              <a:rPr lang="en-US" sz="1400" b="1" dirty="0">
                <a:solidFill>
                  <a:schemeClr val="accent6"/>
                </a:solidFill>
              </a:rPr>
              <a:t>이  름</a:t>
            </a:r>
            <a:endParaRPr lang="en-US" sz="1400" dirty="0"/>
          </a:p>
        </p:txBody>
      </p:sp>
      <p:sp>
        <p:nvSpPr>
          <p:cNvPr id="15" name="field-2"/>
          <p:cNvSpPr txBox="1"/>
          <p:nvPr/>
        </p:nvSpPr>
        <p:spPr>
          <a:xfrm>
            <a:off x="1828800" y="5262475"/>
            <a:ext cx="3108960" cy="329184"/>
          </a:xfrm>
          <a:prstGeom prst="rect">
            <a:avLst/>
          </a:prstGeom>
          <a:noFill/>
          <a:ln/>
        </p:spPr>
        <p:txBody>
          <a:bodyPr wrap="square" lIns="0" tIns="0" rIns="0" bIns="0" rtlCol="0" anchor="b"/>
          <a:lstStyle/>
          <a:p>
            <a:r>
              <a:rPr lang="ko-KR" altLang="en-US" sz="1400" dirty="0">
                <a:solidFill>
                  <a:schemeClr val="bg1"/>
                </a:solidFill>
              </a:rPr>
              <a:t>김용준</a:t>
            </a:r>
            <a:endParaRPr lang="en-US" sz="1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686800" cy="320040"/>
          </a:xfrm>
          <a:prstGeom prst="rect">
            <a:avLst/>
          </a:prstGeom>
          <a:noFill/>
          <a:ln/>
        </p:spPr>
        <p:txBody>
          <a:bodyPr wrap="square" lIns="0" tIns="0" rIns="0" bIns="0" rtlCol="0"/>
          <a:lstStyle/>
          <a:p>
            <a:pPr marL="0" indent="0">
              <a:buNone/>
            </a:pPr>
            <a:r>
              <a:rPr lang="en-US" sz="1300" b="1" dirty="0">
                <a:solidFill>
                  <a:schemeClr val="accent1"/>
                </a:solidFill>
              </a:rPr>
              <a:t>소논문 연구계획서 ①  연구 배경 · 문제 · 연구질문</a:t>
            </a:r>
            <a:endParaRPr lang="en-US" sz="13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ctr"/>
          <a:lstStyle/>
          <a:p>
            <a:pPr marL="0" indent="0" algn="l">
              <a:buNone/>
            </a:pPr>
            <a:r>
              <a:rPr lang="en-US" sz="2800" b="1" dirty="0">
                <a:solidFill>
                  <a:schemeClr val="tx1"/>
                </a:solidFill>
              </a:rPr>
              <a:t>금융분야 AI 위험평가와 레드티밍의 연계 방안 연구</a:t>
            </a:r>
            <a:endParaRPr lang="en-US" sz="2800" dirty="0"/>
          </a:p>
          <a:p>
            <a:pPr marL="0" indent="0" algn="l">
              <a:buNone/>
            </a:pPr>
            <a:r>
              <a:rPr lang="en-US" sz="1600" b="1" dirty="0">
                <a:solidFill>
                  <a:schemeClr val="tx2"/>
                </a:solidFill>
              </a:rPr>
              <a:t>금융당국 · KISA · TTA 가이드 비교와 연계 프레임워크 제안</a:t>
            </a:r>
            <a:endParaRPr lang="en-US" sz="2800" dirty="0"/>
          </a:p>
        </p:txBody>
      </p:sp>
      <p:sp>
        <p:nvSpPr>
          <p:cNvPr id="4" name="stat-0"/>
          <p:cNvSpPr/>
          <p:nvPr/>
        </p:nvSpPr>
        <p:spPr>
          <a:xfrm>
            <a:off x="548640" y="1600200"/>
            <a:ext cx="3611880" cy="1600200"/>
          </a:xfrm>
          <a:prstGeom prst="roundRect">
            <a:avLst>
              <a:gd name="adj" fmla="val 4571"/>
            </a:avLst>
          </a:prstGeom>
          <a:solidFill>
            <a:schemeClr val="bg2"/>
          </a:solidFill>
          <a:ln/>
        </p:spPr>
        <p:txBody>
          <a:bodyPr/>
          <a:lstStyle/>
          <a:p>
            <a:endParaRPr lang="ko-KR" altLang="en-US"/>
          </a:p>
        </p:txBody>
      </p:sp>
      <p:sp>
        <p:nvSpPr>
          <p:cNvPr id="5" name="Text 3"/>
          <p:cNvSpPr txBox="1"/>
          <p:nvPr/>
        </p:nvSpPr>
        <p:spPr>
          <a:xfrm>
            <a:off x="777240" y="1737360"/>
            <a:ext cx="3154680" cy="502920"/>
          </a:xfrm>
          <a:prstGeom prst="rect">
            <a:avLst/>
          </a:prstGeom>
          <a:noFill/>
          <a:ln/>
        </p:spPr>
        <p:txBody>
          <a:bodyPr wrap="square" lIns="0" tIns="0" rIns="0" bIns="0" rtlCol="0" anchor="ctr"/>
          <a:lstStyle/>
          <a:p>
            <a:pPr marL="0" indent="0">
              <a:buNone/>
            </a:pPr>
            <a:r>
              <a:rPr lang="en-US" sz="2400" b="1" dirty="0">
                <a:solidFill>
                  <a:schemeClr val="accent1"/>
                </a:solidFill>
              </a:rPr>
              <a:t>2026.6.22</a:t>
            </a:r>
            <a:endParaRPr lang="en-US" sz="2400" dirty="0"/>
          </a:p>
        </p:txBody>
      </p:sp>
      <p:sp>
        <p:nvSpPr>
          <p:cNvPr id="6" name="Text 4"/>
          <p:cNvSpPr txBox="1"/>
          <p:nvPr/>
        </p:nvSpPr>
        <p:spPr>
          <a:xfrm>
            <a:off x="777240" y="2258568"/>
            <a:ext cx="3154680" cy="594360"/>
          </a:xfrm>
          <a:prstGeom prst="rect">
            <a:avLst/>
          </a:prstGeom>
          <a:noFill/>
          <a:ln/>
        </p:spPr>
        <p:txBody>
          <a:bodyPr wrap="square" lIns="0" tIns="0" rIns="0" bIns="0" rtlCol="0" anchor="t"/>
          <a:lstStyle/>
          <a:p>
            <a:pPr marL="0" indent="0">
              <a:buNone/>
            </a:pPr>
            <a:r>
              <a:rPr lang="en-US" sz="1300" dirty="0">
                <a:solidFill>
                  <a:schemeClr val="tx1"/>
                </a:solidFill>
              </a:rPr>
              <a:t>「금융분야 인공지능 가이드라인」 시행</a:t>
            </a:r>
            <a:endParaRPr lang="en-US" sz="1300" dirty="0"/>
          </a:p>
        </p:txBody>
      </p:sp>
      <p:sp>
        <p:nvSpPr>
          <p:cNvPr id="7" name="Text 5"/>
          <p:cNvSpPr txBox="1"/>
          <p:nvPr/>
        </p:nvSpPr>
        <p:spPr>
          <a:xfrm>
            <a:off x="777240" y="2880360"/>
            <a:ext cx="3154680" cy="256032"/>
          </a:xfrm>
          <a:prstGeom prst="rect">
            <a:avLst/>
          </a:prstGeom>
          <a:noFill/>
          <a:ln/>
        </p:spPr>
        <p:txBody>
          <a:bodyPr wrap="square" lIns="0" tIns="0" rIns="0" bIns="0" rtlCol="0" anchor="ctr"/>
          <a:lstStyle/>
          <a:p>
            <a:pPr marL="0" indent="0">
              <a:buNone/>
            </a:pPr>
            <a:r>
              <a:rPr lang="en-US" sz="1000" dirty="0">
                <a:solidFill>
                  <a:schemeClr val="accent3"/>
                </a:solidFill>
              </a:rPr>
              <a:t>금융위원회, 7대 원칙 · 위험기반 접근</a:t>
            </a:r>
            <a:endParaRPr lang="en-US" sz="1000" dirty="0"/>
          </a:p>
        </p:txBody>
      </p:sp>
      <p:sp>
        <p:nvSpPr>
          <p:cNvPr id="8" name="stat-1"/>
          <p:cNvSpPr/>
          <p:nvPr/>
        </p:nvSpPr>
        <p:spPr>
          <a:xfrm>
            <a:off x="4279392" y="1600200"/>
            <a:ext cx="3611880" cy="1600200"/>
          </a:xfrm>
          <a:prstGeom prst="roundRect">
            <a:avLst>
              <a:gd name="adj" fmla="val 4571"/>
            </a:avLst>
          </a:prstGeom>
          <a:solidFill>
            <a:schemeClr val="bg2"/>
          </a:solidFill>
          <a:ln/>
        </p:spPr>
        <p:txBody>
          <a:bodyPr/>
          <a:lstStyle/>
          <a:p>
            <a:endParaRPr lang="ko-KR" altLang="en-US"/>
          </a:p>
        </p:txBody>
      </p:sp>
      <p:sp>
        <p:nvSpPr>
          <p:cNvPr id="9" name="Text 7"/>
          <p:cNvSpPr txBox="1"/>
          <p:nvPr/>
        </p:nvSpPr>
        <p:spPr>
          <a:xfrm>
            <a:off x="4507992" y="1737360"/>
            <a:ext cx="3154680" cy="502920"/>
          </a:xfrm>
          <a:prstGeom prst="rect">
            <a:avLst/>
          </a:prstGeom>
          <a:noFill/>
          <a:ln/>
        </p:spPr>
        <p:txBody>
          <a:bodyPr wrap="square" lIns="0" tIns="0" rIns="0" bIns="0" rtlCol="0" anchor="ctr"/>
          <a:lstStyle/>
          <a:p>
            <a:pPr marL="0" indent="0">
              <a:buNone/>
            </a:pPr>
            <a:r>
              <a:rPr lang="en-US" sz="2400" b="1" dirty="0">
                <a:solidFill>
                  <a:schemeClr val="accent1"/>
                </a:solidFill>
              </a:rPr>
              <a:t>고영향 = 고위험</a:t>
            </a:r>
            <a:endParaRPr lang="en-US" sz="2400" dirty="0"/>
          </a:p>
        </p:txBody>
      </p:sp>
      <p:sp>
        <p:nvSpPr>
          <p:cNvPr id="10" name="Text 8"/>
          <p:cNvSpPr txBox="1"/>
          <p:nvPr/>
        </p:nvSpPr>
        <p:spPr>
          <a:xfrm>
            <a:off x="4507992" y="2258568"/>
            <a:ext cx="3154680" cy="594360"/>
          </a:xfrm>
          <a:prstGeom prst="rect">
            <a:avLst/>
          </a:prstGeom>
          <a:noFill/>
          <a:ln/>
        </p:spPr>
        <p:txBody>
          <a:bodyPr wrap="square" lIns="0" tIns="0" rIns="0" bIns="0" rtlCol="0" anchor="t"/>
          <a:lstStyle/>
          <a:p>
            <a:pPr marL="0" indent="0">
              <a:buNone/>
            </a:pPr>
            <a:r>
              <a:rPr lang="en-US" sz="1300" dirty="0">
                <a:solidFill>
                  <a:schemeClr val="tx1"/>
                </a:solidFill>
              </a:rPr>
              <a:t>AI기본법상 고영향 AI(대출심사 등)는 위험점수와 무관하게 고위험으로 자동 분류</a:t>
            </a:r>
            <a:endParaRPr lang="en-US" sz="1300" dirty="0"/>
          </a:p>
        </p:txBody>
      </p:sp>
      <p:sp>
        <p:nvSpPr>
          <p:cNvPr id="11" name="Text 9"/>
          <p:cNvSpPr txBox="1"/>
          <p:nvPr/>
        </p:nvSpPr>
        <p:spPr>
          <a:xfrm>
            <a:off x="4507992" y="2880360"/>
            <a:ext cx="3154680" cy="256032"/>
          </a:xfrm>
          <a:prstGeom prst="rect">
            <a:avLst/>
          </a:prstGeom>
          <a:noFill/>
          <a:ln/>
        </p:spPr>
        <p:txBody>
          <a:bodyPr wrap="square" lIns="0" tIns="0" rIns="0" bIns="0" rtlCol="0" anchor="ctr"/>
          <a:lstStyle/>
          <a:p>
            <a:pPr marL="0" indent="0">
              <a:buNone/>
            </a:pPr>
            <a:r>
              <a:rPr lang="en-US" sz="1000" dirty="0">
                <a:solidFill>
                  <a:schemeClr val="accent3"/>
                </a:solidFill>
              </a:rPr>
              <a:t>금감원 금융분야 AI RMF (2026.1)</a:t>
            </a:r>
            <a:endParaRPr lang="en-US" sz="1000" dirty="0"/>
          </a:p>
        </p:txBody>
      </p:sp>
      <p:sp>
        <p:nvSpPr>
          <p:cNvPr id="12" name="stat-2"/>
          <p:cNvSpPr/>
          <p:nvPr/>
        </p:nvSpPr>
        <p:spPr>
          <a:xfrm>
            <a:off x="8010144" y="1600200"/>
            <a:ext cx="3611880" cy="1600200"/>
          </a:xfrm>
          <a:prstGeom prst="roundRect">
            <a:avLst>
              <a:gd name="adj" fmla="val 4571"/>
            </a:avLst>
          </a:prstGeom>
          <a:solidFill>
            <a:schemeClr val="bg2"/>
          </a:solidFill>
          <a:ln/>
        </p:spPr>
        <p:txBody>
          <a:bodyPr/>
          <a:lstStyle/>
          <a:p>
            <a:endParaRPr lang="ko-KR" altLang="en-US"/>
          </a:p>
        </p:txBody>
      </p:sp>
      <p:sp>
        <p:nvSpPr>
          <p:cNvPr id="13" name="Text 11"/>
          <p:cNvSpPr txBox="1"/>
          <p:nvPr/>
        </p:nvSpPr>
        <p:spPr>
          <a:xfrm>
            <a:off x="8238744" y="1737360"/>
            <a:ext cx="3154680" cy="502920"/>
          </a:xfrm>
          <a:prstGeom prst="rect">
            <a:avLst/>
          </a:prstGeom>
          <a:noFill/>
          <a:ln/>
        </p:spPr>
        <p:txBody>
          <a:bodyPr wrap="square" lIns="0" tIns="0" rIns="0" bIns="0" rtlCol="0" anchor="ctr"/>
          <a:lstStyle/>
          <a:p>
            <a:pPr marL="0" indent="0">
              <a:buNone/>
            </a:pPr>
            <a:r>
              <a:rPr lang="en-US" sz="2400" b="1" dirty="0">
                <a:solidFill>
                  <a:schemeClr val="accent2"/>
                </a:solidFill>
              </a:rPr>
              <a:t>3·4세대 공격 취약</a:t>
            </a:r>
            <a:endParaRPr lang="en-US" sz="2400" dirty="0"/>
          </a:p>
        </p:txBody>
      </p:sp>
      <p:sp>
        <p:nvSpPr>
          <p:cNvPr id="14" name="Text 12"/>
          <p:cNvSpPr txBox="1"/>
          <p:nvPr/>
        </p:nvSpPr>
        <p:spPr>
          <a:xfrm>
            <a:off x="8238744" y="2258568"/>
            <a:ext cx="3154680" cy="594360"/>
          </a:xfrm>
          <a:prstGeom prst="rect">
            <a:avLst/>
          </a:prstGeom>
          <a:noFill/>
          <a:ln/>
        </p:spPr>
        <p:txBody>
          <a:bodyPr wrap="square" lIns="0" tIns="0" rIns="0" bIns="0" rtlCol="0" anchor="t"/>
          <a:lstStyle/>
          <a:p>
            <a:pPr marL="0" indent="0">
              <a:buNone/>
            </a:pPr>
            <a:r>
              <a:rPr lang="en-US" sz="1300" dirty="0">
                <a:solidFill>
                  <a:schemeClr val="tx1"/>
                </a:solidFill>
              </a:rPr>
              <a:t>기본 우회 공격은 막지만,</a:t>
            </a:r>
            <a:endParaRPr lang="en-US" sz="1300" dirty="0"/>
          </a:p>
          <a:p>
            <a:pPr marL="0" indent="0">
              <a:buNone/>
            </a:pPr>
            <a:r>
              <a:rPr lang="en-US" sz="1300" dirty="0">
                <a:solidFill>
                  <a:schemeClr val="tx1"/>
                </a:solidFill>
              </a:rPr>
              <a:t>복합 탈옥·에이전트 공격에는 무력화</a:t>
            </a:r>
            <a:endParaRPr lang="en-US" sz="1300" dirty="0"/>
          </a:p>
        </p:txBody>
      </p:sp>
      <p:sp>
        <p:nvSpPr>
          <p:cNvPr id="15" name="Text 13"/>
          <p:cNvSpPr txBox="1"/>
          <p:nvPr/>
        </p:nvSpPr>
        <p:spPr>
          <a:xfrm>
            <a:off x="8238744" y="2880360"/>
            <a:ext cx="3154680" cy="256032"/>
          </a:xfrm>
          <a:prstGeom prst="rect">
            <a:avLst/>
          </a:prstGeom>
          <a:noFill/>
          <a:ln/>
        </p:spPr>
        <p:txBody>
          <a:bodyPr wrap="square" lIns="0" tIns="0" rIns="0" bIns="0" rtlCol="0" anchor="ctr"/>
          <a:lstStyle/>
          <a:p>
            <a:pPr marL="0" indent="0">
              <a:buNone/>
            </a:pPr>
            <a:r>
              <a:rPr lang="en-US" sz="1000" dirty="0">
                <a:solidFill>
                  <a:schemeClr val="accent3"/>
                </a:solidFill>
              </a:rPr>
              <a:t>금융보안원 2025 AI 레드팀 보고서</a:t>
            </a:r>
            <a:endParaRPr lang="en-US" sz="1000" dirty="0"/>
          </a:p>
        </p:txBody>
      </p:sp>
      <p:sp>
        <p:nvSpPr>
          <p:cNvPr id="16" name="problem"/>
          <p:cNvSpPr/>
          <p:nvPr/>
        </p:nvSpPr>
        <p:spPr>
          <a:xfrm>
            <a:off x="548640" y="3383280"/>
            <a:ext cx="11064240" cy="960120"/>
          </a:xfrm>
          <a:prstGeom prst="roundRect">
            <a:avLst>
              <a:gd name="adj" fmla="val 7619"/>
            </a:avLst>
          </a:prstGeom>
          <a:solidFill>
            <a:schemeClr val="accent5"/>
          </a:solidFill>
          <a:ln/>
        </p:spPr>
        <p:txBody>
          <a:bodyPr/>
          <a:lstStyle/>
          <a:p>
            <a:endParaRPr lang="ko-KR" altLang="en-US"/>
          </a:p>
        </p:txBody>
      </p:sp>
      <p:sp>
        <p:nvSpPr>
          <p:cNvPr id="17" name="Text 15"/>
          <p:cNvSpPr txBox="1"/>
          <p:nvPr/>
        </p:nvSpPr>
        <p:spPr>
          <a:xfrm>
            <a:off x="777240" y="3474720"/>
            <a:ext cx="10607040" cy="777240"/>
          </a:xfrm>
          <a:prstGeom prst="rect">
            <a:avLst/>
          </a:prstGeom>
          <a:noFill/>
          <a:ln/>
        </p:spPr>
        <p:txBody>
          <a:bodyPr wrap="square" lIns="0" tIns="0" rIns="0" bIns="0" rtlCol="0" anchor="ctr"/>
          <a:lstStyle/>
          <a:p>
            <a:pPr marL="0" indent="0">
              <a:buNone/>
            </a:pPr>
            <a:r>
              <a:rPr lang="en-US" sz="1500" b="1" dirty="0">
                <a:solidFill>
                  <a:schemeClr val="accent2"/>
                </a:solidFill>
              </a:rPr>
              <a:t>문제 제기  </a:t>
            </a:r>
            <a:r>
              <a:rPr lang="en-US" sz="1500" dirty="0">
                <a:solidFill>
                  <a:schemeClr val="tx1"/>
                </a:solidFill>
              </a:rPr>
              <a:t>위험평가(점수·등급 산정, 금감원 AI RMF)와 레드티밍(공격 기반 검증, 금보원·KISA)이 서로 다른 가이드·조직에서 운영되어, </a:t>
            </a:r>
            <a:r>
              <a:rPr lang="en-US" sz="1500" b="1" dirty="0">
                <a:solidFill>
                  <a:schemeClr val="tx1"/>
                </a:solidFill>
              </a:rPr>
              <a:t>레드티밍 결과가 위험등급·잔여위험 산정에 어떻게 반영되는지에 대한 기준이 불명확</a:t>
            </a:r>
            <a:r>
              <a:rPr lang="en-US" sz="1500" dirty="0">
                <a:solidFill>
                  <a:schemeClr val="tx1"/>
                </a:solidFill>
              </a:rPr>
              <a:t>하다.</a:t>
            </a:r>
            <a:endParaRPr lang="en-US" sz="1500" dirty="0"/>
          </a:p>
        </p:txBody>
      </p:sp>
      <p:sp>
        <p:nvSpPr>
          <p:cNvPr id="18" name="rq-0"/>
          <p:cNvSpPr/>
          <p:nvPr/>
        </p:nvSpPr>
        <p:spPr>
          <a:xfrm>
            <a:off x="548640" y="4526280"/>
            <a:ext cx="3611880" cy="1691640"/>
          </a:xfrm>
          <a:prstGeom prst="roundRect">
            <a:avLst>
              <a:gd name="adj" fmla="val 4324"/>
            </a:avLst>
          </a:prstGeom>
          <a:solidFill>
            <a:schemeClr val="bg1"/>
          </a:solidFill>
          <a:ln/>
        </p:spPr>
        <p:txBody>
          <a:bodyPr/>
          <a:lstStyle/>
          <a:p>
            <a:endParaRPr lang="ko-KR" altLang="en-US"/>
          </a:p>
        </p:txBody>
      </p:sp>
      <p:sp>
        <p:nvSpPr>
          <p:cNvPr id="19" name="rq-border-0"/>
          <p:cNvSpPr/>
          <p:nvPr/>
        </p:nvSpPr>
        <p:spPr>
          <a:xfrm>
            <a:off x="548640" y="4526280"/>
            <a:ext cx="3611880" cy="1691640"/>
          </a:xfrm>
          <a:prstGeom prst="roundRect">
            <a:avLst>
              <a:gd name="adj" fmla="val 4324"/>
            </a:avLst>
          </a:prstGeom>
          <a:ln w="15875">
            <a:solidFill>
              <a:schemeClr val="accent4"/>
            </a:solidFill>
            <a:prstDash val="solid"/>
          </a:ln>
        </p:spPr>
        <p:txBody>
          <a:bodyPr/>
          <a:lstStyle/>
          <a:p>
            <a:endParaRPr lang="ko-KR" altLang="en-US"/>
          </a:p>
        </p:txBody>
      </p:sp>
      <p:sp>
        <p:nvSpPr>
          <p:cNvPr id="20" name="num-1"/>
          <p:cNvSpPr/>
          <p:nvPr/>
        </p:nvSpPr>
        <p:spPr>
          <a:xfrm>
            <a:off x="777240" y="4727448"/>
            <a:ext cx="457200" cy="457200"/>
          </a:xfrm>
          <a:prstGeom prst="ellipse">
            <a:avLst/>
          </a:prstGeom>
          <a:solidFill>
            <a:schemeClr val="accent1"/>
          </a:solidFill>
          <a:ln/>
        </p:spPr>
        <p:txBody>
          <a:bodyPr/>
          <a:lstStyle/>
          <a:p>
            <a:endParaRPr lang="ko-KR" altLang="en-US"/>
          </a:p>
        </p:txBody>
      </p:sp>
      <p:sp>
        <p:nvSpPr>
          <p:cNvPr id="21" name="Text 19"/>
          <p:cNvSpPr txBox="1"/>
          <p:nvPr/>
        </p:nvSpPr>
        <p:spPr>
          <a:xfrm>
            <a:off x="777240" y="472744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2" name="Text 20"/>
          <p:cNvSpPr txBox="1"/>
          <p:nvPr/>
        </p:nvSpPr>
        <p:spPr>
          <a:xfrm>
            <a:off x="1325880" y="4727448"/>
            <a:ext cx="1371600" cy="457200"/>
          </a:xfrm>
          <a:prstGeom prst="rect">
            <a:avLst/>
          </a:prstGeom>
          <a:noFill/>
          <a:ln/>
        </p:spPr>
        <p:txBody>
          <a:bodyPr wrap="square" lIns="0" tIns="0" rIns="0" bIns="0" rtlCol="0" anchor="ctr"/>
          <a:lstStyle/>
          <a:p>
            <a:pPr marL="0" indent="0">
              <a:buNone/>
            </a:pPr>
            <a:r>
              <a:rPr lang="en-US" sz="1500" b="1" dirty="0">
                <a:solidFill>
                  <a:schemeClr val="accent1"/>
                </a:solidFill>
              </a:rPr>
              <a:t>RQ1</a:t>
            </a:r>
            <a:endParaRPr lang="en-US" sz="1500" dirty="0"/>
          </a:p>
        </p:txBody>
      </p:sp>
      <p:sp>
        <p:nvSpPr>
          <p:cNvPr id="23" name="Text 21"/>
          <p:cNvSpPr txBox="1"/>
          <p:nvPr/>
        </p:nvSpPr>
        <p:spPr>
          <a:xfrm>
            <a:off x="777240" y="5303520"/>
            <a:ext cx="3154680" cy="822960"/>
          </a:xfrm>
          <a:prstGeom prst="rect">
            <a:avLst/>
          </a:prstGeom>
          <a:noFill/>
          <a:ln/>
        </p:spPr>
        <p:txBody>
          <a:bodyPr wrap="square" lIns="0" tIns="0" rIns="0" bIns="0" rtlCol="0" anchor="t"/>
          <a:lstStyle/>
          <a:p>
            <a:pPr marL="0" indent="0">
              <a:buNone/>
            </a:pPr>
            <a:r>
              <a:rPr lang="en-US" sz="1300" dirty="0">
                <a:solidFill>
                  <a:schemeClr val="tx1"/>
                </a:solidFill>
              </a:rPr>
              <a:t>금융위·금감원·금보원·KISA·TTA 가이드와 EU AI Act는 위험평가와 레드티밍을 각각 어떻게 규정하는가?</a:t>
            </a:r>
            <a:endParaRPr lang="en-US" sz="1300" dirty="0"/>
          </a:p>
        </p:txBody>
      </p:sp>
      <p:sp>
        <p:nvSpPr>
          <p:cNvPr id="24" name="rq-1"/>
          <p:cNvSpPr/>
          <p:nvPr/>
        </p:nvSpPr>
        <p:spPr>
          <a:xfrm>
            <a:off x="4279392" y="4526280"/>
            <a:ext cx="3611880" cy="1691640"/>
          </a:xfrm>
          <a:prstGeom prst="roundRect">
            <a:avLst>
              <a:gd name="adj" fmla="val 4324"/>
            </a:avLst>
          </a:prstGeom>
          <a:solidFill>
            <a:schemeClr val="bg1"/>
          </a:solidFill>
          <a:ln/>
        </p:spPr>
        <p:txBody>
          <a:bodyPr/>
          <a:lstStyle/>
          <a:p>
            <a:endParaRPr lang="ko-KR" altLang="en-US"/>
          </a:p>
        </p:txBody>
      </p:sp>
      <p:sp>
        <p:nvSpPr>
          <p:cNvPr id="25" name="rq-border-1"/>
          <p:cNvSpPr/>
          <p:nvPr/>
        </p:nvSpPr>
        <p:spPr>
          <a:xfrm>
            <a:off x="4279392" y="4526280"/>
            <a:ext cx="3611880" cy="1691640"/>
          </a:xfrm>
          <a:prstGeom prst="roundRect">
            <a:avLst>
              <a:gd name="adj" fmla="val 4324"/>
            </a:avLst>
          </a:prstGeom>
          <a:ln w="15875">
            <a:solidFill>
              <a:schemeClr val="accent4"/>
            </a:solidFill>
            <a:prstDash val="solid"/>
          </a:ln>
        </p:spPr>
        <p:txBody>
          <a:bodyPr/>
          <a:lstStyle/>
          <a:p>
            <a:endParaRPr lang="ko-KR" altLang="en-US"/>
          </a:p>
        </p:txBody>
      </p:sp>
      <p:sp>
        <p:nvSpPr>
          <p:cNvPr id="26" name="num-2"/>
          <p:cNvSpPr/>
          <p:nvPr/>
        </p:nvSpPr>
        <p:spPr>
          <a:xfrm>
            <a:off x="4507992" y="4727448"/>
            <a:ext cx="457200" cy="457200"/>
          </a:xfrm>
          <a:prstGeom prst="ellipse">
            <a:avLst/>
          </a:prstGeom>
          <a:solidFill>
            <a:schemeClr val="accent1"/>
          </a:solidFill>
          <a:ln/>
        </p:spPr>
        <p:txBody>
          <a:bodyPr/>
          <a:lstStyle/>
          <a:p>
            <a:endParaRPr lang="ko-KR" altLang="en-US"/>
          </a:p>
        </p:txBody>
      </p:sp>
      <p:sp>
        <p:nvSpPr>
          <p:cNvPr id="27" name="Text 25"/>
          <p:cNvSpPr txBox="1"/>
          <p:nvPr/>
        </p:nvSpPr>
        <p:spPr>
          <a:xfrm>
            <a:off x="4507992" y="472744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8" name="Text 26"/>
          <p:cNvSpPr txBox="1"/>
          <p:nvPr/>
        </p:nvSpPr>
        <p:spPr>
          <a:xfrm>
            <a:off x="5056632" y="4727448"/>
            <a:ext cx="1371600" cy="457200"/>
          </a:xfrm>
          <a:prstGeom prst="rect">
            <a:avLst/>
          </a:prstGeom>
          <a:noFill/>
          <a:ln/>
        </p:spPr>
        <p:txBody>
          <a:bodyPr wrap="square" lIns="0" tIns="0" rIns="0" bIns="0" rtlCol="0" anchor="ctr"/>
          <a:lstStyle/>
          <a:p>
            <a:pPr marL="0" indent="0">
              <a:buNone/>
            </a:pPr>
            <a:r>
              <a:rPr lang="en-US" sz="1500" b="1" dirty="0">
                <a:solidFill>
                  <a:schemeClr val="accent1"/>
                </a:solidFill>
              </a:rPr>
              <a:t>RQ2</a:t>
            </a:r>
            <a:endParaRPr lang="en-US" sz="1500" dirty="0"/>
          </a:p>
        </p:txBody>
      </p:sp>
      <p:sp>
        <p:nvSpPr>
          <p:cNvPr id="29" name="Text 27"/>
          <p:cNvSpPr txBox="1"/>
          <p:nvPr/>
        </p:nvSpPr>
        <p:spPr>
          <a:xfrm>
            <a:off x="4507992" y="5303520"/>
            <a:ext cx="3154680" cy="822960"/>
          </a:xfrm>
          <a:prstGeom prst="rect">
            <a:avLst/>
          </a:prstGeom>
          <a:noFill/>
          <a:ln/>
        </p:spPr>
        <p:txBody>
          <a:bodyPr wrap="square" lIns="0" tIns="0" rIns="0" bIns="0" rtlCol="0" anchor="t"/>
          <a:lstStyle/>
          <a:p>
            <a:pPr marL="0" indent="0">
              <a:buNone/>
            </a:pPr>
            <a:r>
              <a:rPr lang="en-US" sz="1300" dirty="0">
                <a:solidFill>
                  <a:schemeClr val="tx1"/>
                </a:solidFill>
              </a:rPr>
              <a:t>레드티밍에서 발견된 취약점을 위험평가 항목·등급·재평가에 반영하는 연계 모델은 무엇인가?</a:t>
            </a:r>
            <a:endParaRPr lang="en-US" sz="1300" dirty="0"/>
          </a:p>
        </p:txBody>
      </p:sp>
      <p:sp>
        <p:nvSpPr>
          <p:cNvPr id="30" name="rq-2"/>
          <p:cNvSpPr/>
          <p:nvPr/>
        </p:nvSpPr>
        <p:spPr>
          <a:xfrm>
            <a:off x="8010144" y="4526280"/>
            <a:ext cx="3611880" cy="1691640"/>
          </a:xfrm>
          <a:prstGeom prst="roundRect">
            <a:avLst>
              <a:gd name="adj" fmla="val 4324"/>
            </a:avLst>
          </a:prstGeom>
          <a:solidFill>
            <a:schemeClr val="bg1"/>
          </a:solidFill>
          <a:ln/>
        </p:spPr>
        <p:txBody>
          <a:bodyPr/>
          <a:lstStyle/>
          <a:p>
            <a:endParaRPr lang="ko-KR" altLang="en-US"/>
          </a:p>
        </p:txBody>
      </p:sp>
      <p:sp>
        <p:nvSpPr>
          <p:cNvPr id="31" name="rq-border-2"/>
          <p:cNvSpPr/>
          <p:nvPr/>
        </p:nvSpPr>
        <p:spPr>
          <a:xfrm>
            <a:off x="8010144" y="4526280"/>
            <a:ext cx="3611880" cy="1691640"/>
          </a:xfrm>
          <a:prstGeom prst="roundRect">
            <a:avLst>
              <a:gd name="adj" fmla="val 4324"/>
            </a:avLst>
          </a:prstGeom>
          <a:ln w="15875">
            <a:solidFill>
              <a:schemeClr val="accent4"/>
            </a:solidFill>
            <a:prstDash val="solid"/>
          </a:ln>
        </p:spPr>
        <p:txBody>
          <a:bodyPr/>
          <a:lstStyle/>
          <a:p>
            <a:endParaRPr lang="ko-KR" altLang="en-US"/>
          </a:p>
        </p:txBody>
      </p:sp>
      <p:sp>
        <p:nvSpPr>
          <p:cNvPr id="32" name="num-3"/>
          <p:cNvSpPr/>
          <p:nvPr/>
        </p:nvSpPr>
        <p:spPr>
          <a:xfrm>
            <a:off x="8238744" y="4727448"/>
            <a:ext cx="457200" cy="457200"/>
          </a:xfrm>
          <a:prstGeom prst="ellipse">
            <a:avLst/>
          </a:prstGeom>
          <a:solidFill>
            <a:schemeClr val="accent1"/>
          </a:solidFill>
          <a:ln/>
        </p:spPr>
        <p:txBody>
          <a:bodyPr/>
          <a:lstStyle/>
          <a:p>
            <a:endParaRPr lang="ko-KR" altLang="en-US"/>
          </a:p>
        </p:txBody>
      </p:sp>
      <p:sp>
        <p:nvSpPr>
          <p:cNvPr id="33" name="Text 31"/>
          <p:cNvSpPr txBox="1"/>
          <p:nvPr/>
        </p:nvSpPr>
        <p:spPr>
          <a:xfrm>
            <a:off x="8238744" y="472744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4" name="Text 32"/>
          <p:cNvSpPr txBox="1"/>
          <p:nvPr/>
        </p:nvSpPr>
        <p:spPr>
          <a:xfrm>
            <a:off x="8787384" y="4727448"/>
            <a:ext cx="1371600" cy="457200"/>
          </a:xfrm>
          <a:prstGeom prst="rect">
            <a:avLst/>
          </a:prstGeom>
          <a:noFill/>
          <a:ln/>
        </p:spPr>
        <p:txBody>
          <a:bodyPr wrap="square" lIns="0" tIns="0" rIns="0" bIns="0" rtlCol="0" anchor="ctr"/>
          <a:lstStyle/>
          <a:p>
            <a:pPr marL="0" indent="0">
              <a:buNone/>
            </a:pPr>
            <a:r>
              <a:rPr lang="en-US" sz="1500" b="1" dirty="0">
                <a:solidFill>
                  <a:schemeClr val="accent1"/>
                </a:solidFill>
              </a:rPr>
              <a:t>RQ3</a:t>
            </a:r>
            <a:endParaRPr lang="en-US" sz="1500" dirty="0"/>
          </a:p>
        </p:txBody>
      </p:sp>
      <p:sp>
        <p:nvSpPr>
          <p:cNvPr id="35" name="Text 33"/>
          <p:cNvSpPr txBox="1"/>
          <p:nvPr/>
        </p:nvSpPr>
        <p:spPr>
          <a:xfrm>
            <a:off x="8238744" y="5303520"/>
            <a:ext cx="3154680" cy="822960"/>
          </a:xfrm>
          <a:prstGeom prst="rect">
            <a:avLst/>
          </a:prstGeom>
          <a:noFill/>
          <a:ln/>
        </p:spPr>
        <p:txBody>
          <a:bodyPr wrap="square" lIns="0" tIns="0" rIns="0" bIns="0" rtlCol="0" anchor="t"/>
          <a:lstStyle/>
          <a:p>
            <a:pPr marL="0" indent="0">
              <a:buNone/>
            </a:pPr>
            <a:r>
              <a:rPr lang="en-US" sz="1300" dirty="0">
                <a:solidFill>
                  <a:schemeClr val="tx1"/>
                </a:solidFill>
              </a:rPr>
              <a:t>금융상담 챗봇(생성형)·대출심사 AI(판단형) 사례에 연계 모델을 적용할 수 있는가?</a:t>
            </a:r>
            <a:endParaRPr lang="en-US" sz="1300" dirty="0"/>
          </a:p>
        </p:txBody>
      </p:sp>
      <p:sp>
        <p:nvSpPr>
          <p:cNvPr id="36"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686800" cy="320040"/>
          </a:xfrm>
          <a:prstGeom prst="rect">
            <a:avLst/>
          </a:prstGeom>
          <a:noFill/>
          <a:ln/>
        </p:spPr>
        <p:txBody>
          <a:bodyPr wrap="square" lIns="0" tIns="0" rIns="0" bIns="0" rtlCol="0"/>
          <a:lstStyle/>
          <a:p>
            <a:pPr marL="0" indent="0">
              <a:buNone/>
            </a:pPr>
            <a:r>
              <a:rPr lang="en-US" sz="1300" b="1" dirty="0">
                <a:solidFill>
                  <a:schemeClr val="accent1"/>
                </a:solidFill>
              </a:rPr>
              <a:t>소논문 연구계획서 ②  연구 방법 · 분석 자료 · 추진 계획</a:t>
            </a:r>
            <a:endParaRPr lang="en-US" sz="13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ctr"/>
          <a:lstStyle/>
          <a:p>
            <a:pPr marL="0" indent="0" algn="l">
              <a:buNone/>
            </a:pPr>
            <a:r>
              <a:rPr lang="en-US" sz="2800" b="1" dirty="0">
                <a:solidFill>
                  <a:schemeClr val="tx1"/>
                </a:solidFill>
              </a:rPr>
              <a:t>가이드 비교 → 연계 프레임워크 설계 → 사례 적용</a:t>
            </a:r>
            <a:endParaRPr lang="en-US" sz="2800" dirty="0"/>
          </a:p>
        </p:txBody>
      </p:sp>
      <p:sp>
        <p:nvSpPr>
          <p:cNvPr id="4" name="step-1"/>
          <p:cNvSpPr/>
          <p:nvPr/>
        </p:nvSpPr>
        <p:spPr>
          <a:xfrm>
            <a:off x="548640" y="1508760"/>
            <a:ext cx="3520440" cy="1417320"/>
          </a:xfrm>
          <a:prstGeom prst="roundRect">
            <a:avLst>
              <a:gd name="adj" fmla="val 5161"/>
            </a:avLst>
          </a:prstGeom>
          <a:solidFill>
            <a:schemeClr val="bg2"/>
          </a:solidFill>
          <a:ln/>
        </p:spPr>
        <p:txBody>
          <a:bodyPr/>
          <a:lstStyle/>
          <a:p>
            <a:endParaRPr lang="ko-KR" altLang="en-US"/>
          </a:p>
        </p:txBody>
      </p:sp>
      <p:sp>
        <p:nvSpPr>
          <p:cNvPr id="5" name="num-1"/>
          <p:cNvSpPr/>
          <p:nvPr/>
        </p:nvSpPr>
        <p:spPr>
          <a:xfrm>
            <a:off x="777240" y="1709928"/>
            <a:ext cx="457200" cy="457200"/>
          </a:xfrm>
          <a:prstGeom prst="ellipse">
            <a:avLst/>
          </a:prstGeom>
          <a:solidFill>
            <a:schemeClr val="accent1"/>
          </a:solidFill>
          <a:ln/>
        </p:spPr>
        <p:txBody>
          <a:bodyPr/>
          <a:lstStyle/>
          <a:p>
            <a:endParaRPr lang="ko-KR" altLang="en-US"/>
          </a:p>
        </p:txBody>
      </p:sp>
      <p:sp>
        <p:nvSpPr>
          <p:cNvPr id="6" name="Text 4"/>
          <p:cNvSpPr txBox="1"/>
          <p:nvPr/>
        </p:nvSpPr>
        <p:spPr>
          <a:xfrm>
            <a:off x="777240" y="170992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1371600" y="1709928"/>
            <a:ext cx="2514600" cy="457200"/>
          </a:xfrm>
          <a:prstGeom prst="rect">
            <a:avLst/>
          </a:prstGeom>
          <a:noFill/>
          <a:ln/>
        </p:spPr>
        <p:txBody>
          <a:bodyPr wrap="square" lIns="0" tIns="0" rIns="0" bIns="0" rtlCol="0" anchor="ctr"/>
          <a:lstStyle/>
          <a:p>
            <a:pPr marL="0" indent="0">
              <a:buNone/>
            </a:pPr>
            <a:r>
              <a:rPr lang="en-US" sz="1600" b="1" dirty="0">
                <a:solidFill>
                  <a:schemeClr val="tx1"/>
                </a:solidFill>
              </a:rPr>
              <a:t>가이드·법령 비교분석</a:t>
            </a:r>
            <a:endParaRPr lang="en-US" sz="1600" dirty="0"/>
          </a:p>
        </p:txBody>
      </p:sp>
      <p:sp>
        <p:nvSpPr>
          <p:cNvPr id="8" name="Text 6"/>
          <p:cNvSpPr txBox="1"/>
          <p:nvPr/>
        </p:nvSpPr>
        <p:spPr>
          <a:xfrm>
            <a:off x="777240" y="2258568"/>
            <a:ext cx="3063240" cy="594360"/>
          </a:xfrm>
          <a:prstGeom prst="rect">
            <a:avLst/>
          </a:prstGeom>
          <a:noFill/>
          <a:ln/>
        </p:spPr>
        <p:txBody>
          <a:bodyPr wrap="square" lIns="0" tIns="0" rIns="0" bIns="0" rtlCol="0" anchor="t"/>
          <a:lstStyle/>
          <a:p>
            <a:pPr marL="0" indent="0">
              <a:buNone/>
            </a:pPr>
            <a:r>
              <a:rPr lang="en-US" sz="1300" dirty="0">
                <a:solidFill>
                  <a:schemeClr val="tx2"/>
                </a:solidFill>
              </a:rPr>
              <a:t>위험평가 항목·등급과 레드티밍 절차를 비교 매트릭스로 정리 (RQ1)</a:t>
            </a:r>
            <a:endParaRPr lang="en-US" sz="1300" dirty="0"/>
          </a:p>
        </p:txBody>
      </p:sp>
      <p:sp>
        <p:nvSpPr>
          <p:cNvPr id="9" name="arrow-0"/>
          <p:cNvSpPr/>
          <p:nvPr/>
        </p:nvSpPr>
        <p:spPr>
          <a:xfrm>
            <a:off x="4133088" y="2107692"/>
            <a:ext cx="128016" cy="219456"/>
          </a:xfrm>
          <a:prstGeom prst="chevron">
            <a:avLst/>
          </a:prstGeom>
          <a:solidFill>
            <a:schemeClr val="accent1"/>
          </a:solidFill>
          <a:ln/>
        </p:spPr>
        <p:txBody>
          <a:bodyPr/>
          <a:lstStyle/>
          <a:p>
            <a:endParaRPr lang="ko-KR" altLang="en-US"/>
          </a:p>
        </p:txBody>
      </p:sp>
      <p:sp>
        <p:nvSpPr>
          <p:cNvPr id="10" name="step-2"/>
          <p:cNvSpPr/>
          <p:nvPr/>
        </p:nvSpPr>
        <p:spPr>
          <a:xfrm>
            <a:off x="4325112" y="1508760"/>
            <a:ext cx="3520440" cy="1417320"/>
          </a:xfrm>
          <a:prstGeom prst="roundRect">
            <a:avLst>
              <a:gd name="adj" fmla="val 5161"/>
            </a:avLst>
          </a:prstGeom>
          <a:solidFill>
            <a:schemeClr val="bg2"/>
          </a:solidFill>
          <a:ln/>
        </p:spPr>
        <p:txBody>
          <a:bodyPr/>
          <a:lstStyle/>
          <a:p>
            <a:endParaRPr lang="ko-KR" altLang="en-US"/>
          </a:p>
        </p:txBody>
      </p:sp>
      <p:sp>
        <p:nvSpPr>
          <p:cNvPr id="11" name="num-2"/>
          <p:cNvSpPr/>
          <p:nvPr/>
        </p:nvSpPr>
        <p:spPr>
          <a:xfrm>
            <a:off x="4553712" y="1709928"/>
            <a:ext cx="457200" cy="457200"/>
          </a:xfrm>
          <a:prstGeom prst="ellipse">
            <a:avLst/>
          </a:prstGeom>
          <a:solidFill>
            <a:schemeClr val="accent1"/>
          </a:solidFill>
          <a:ln/>
        </p:spPr>
        <p:txBody>
          <a:bodyPr/>
          <a:lstStyle/>
          <a:p>
            <a:endParaRPr lang="ko-KR" altLang="en-US"/>
          </a:p>
        </p:txBody>
      </p:sp>
      <p:sp>
        <p:nvSpPr>
          <p:cNvPr id="12" name="Text 10"/>
          <p:cNvSpPr txBox="1"/>
          <p:nvPr/>
        </p:nvSpPr>
        <p:spPr>
          <a:xfrm>
            <a:off x="4553712" y="170992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1"/>
          <p:cNvSpPr txBox="1"/>
          <p:nvPr/>
        </p:nvSpPr>
        <p:spPr>
          <a:xfrm>
            <a:off x="5148072" y="1709928"/>
            <a:ext cx="2514600" cy="457200"/>
          </a:xfrm>
          <a:prstGeom prst="rect">
            <a:avLst/>
          </a:prstGeom>
          <a:noFill/>
          <a:ln/>
        </p:spPr>
        <p:txBody>
          <a:bodyPr wrap="square" lIns="0" tIns="0" rIns="0" bIns="0" rtlCol="0" anchor="ctr"/>
          <a:lstStyle/>
          <a:p>
            <a:pPr marL="0" indent="0">
              <a:buNone/>
            </a:pPr>
            <a:r>
              <a:rPr lang="en-US" sz="1600" b="1" dirty="0">
                <a:solidFill>
                  <a:schemeClr val="tx1"/>
                </a:solidFill>
              </a:rPr>
              <a:t>연계 프레임워크 설계</a:t>
            </a:r>
            <a:endParaRPr lang="en-US" sz="1600" dirty="0"/>
          </a:p>
        </p:txBody>
      </p:sp>
      <p:sp>
        <p:nvSpPr>
          <p:cNvPr id="14" name="Text 12"/>
          <p:cNvSpPr txBox="1"/>
          <p:nvPr/>
        </p:nvSpPr>
        <p:spPr>
          <a:xfrm>
            <a:off x="4553712" y="2258568"/>
            <a:ext cx="3063240" cy="594360"/>
          </a:xfrm>
          <a:prstGeom prst="rect">
            <a:avLst/>
          </a:prstGeom>
          <a:noFill/>
          <a:ln/>
        </p:spPr>
        <p:txBody>
          <a:bodyPr wrap="square" lIns="0" tIns="0" rIns="0" bIns="0" rtlCol="0" anchor="t"/>
          <a:lstStyle/>
          <a:p>
            <a:pPr marL="0" indent="0">
              <a:buNone/>
            </a:pPr>
            <a:r>
              <a:rPr lang="en-US" sz="1300" dirty="0">
                <a:solidFill>
                  <a:schemeClr val="tx2"/>
                </a:solidFill>
              </a:rPr>
              <a:t>레드티밍 발견사항 → 7대 원칙 평가항목 매핑 → 잔여위험·등급 재산정 규칙 (RQ2)</a:t>
            </a:r>
            <a:endParaRPr lang="en-US" sz="1300" dirty="0"/>
          </a:p>
        </p:txBody>
      </p:sp>
      <p:sp>
        <p:nvSpPr>
          <p:cNvPr id="15" name="arrow-1"/>
          <p:cNvSpPr/>
          <p:nvPr/>
        </p:nvSpPr>
        <p:spPr>
          <a:xfrm>
            <a:off x="7909560" y="2107692"/>
            <a:ext cx="128016" cy="219456"/>
          </a:xfrm>
          <a:prstGeom prst="chevron">
            <a:avLst/>
          </a:prstGeom>
          <a:solidFill>
            <a:schemeClr val="accent1"/>
          </a:solidFill>
          <a:ln/>
        </p:spPr>
        <p:txBody>
          <a:bodyPr/>
          <a:lstStyle/>
          <a:p>
            <a:endParaRPr lang="ko-KR" altLang="en-US"/>
          </a:p>
        </p:txBody>
      </p:sp>
      <p:sp>
        <p:nvSpPr>
          <p:cNvPr id="16" name="step-3"/>
          <p:cNvSpPr/>
          <p:nvPr/>
        </p:nvSpPr>
        <p:spPr>
          <a:xfrm>
            <a:off x="8101584" y="1508760"/>
            <a:ext cx="3520440" cy="1417320"/>
          </a:xfrm>
          <a:prstGeom prst="roundRect">
            <a:avLst>
              <a:gd name="adj" fmla="val 5161"/>
            </a:avLst>
          </a:prstGeom>
          <a:solidFill>
            <a:schemeClr val="bg2"/>
          </a:solidFill>
          <a:ln/>
        </p:spPr>
        <p:txBody>
          <a:bodyPr/>
          <a:lstStyle/>
          <a:p>
            <a:endParaRPr lang="ko-KR" altLang="en-US"/>
          </a:p>
        </p:txBody>
      </p:sp>
      <p:sp>
        <p:nvSpPr>
          <p:cNvPr id="17" name="num-3"/>
          <p:cNvSpPr/>
          <p:nvPr/>
        </p:nvSpPr>
        <p:spPr>
          <a:xfrm>
            <a:off x="8330184" y="1709928"/>
            <a:ext cx="457200" cy="457200"/>
          </a:xfrm>
          <a:prstGeom prst="ellipse">
            <a:avLst/>
          </a:prstGeom>
          <a:solidFill>
            <a:schemeClr val="accent1"/>
          </a:solidFill>
          <a:ln/>
        </p:spPr>
        <p:txBody>
          <a:bodyPr/>
          <a:lstStyle/>
          <a:p>
            <a:endParaRPr lang="ko-KR" altLang="en-US"/>
          </a:p>
        </p:txBody>
      </p:sp>
      <p:sp>
        <p:nvSpPr>
          <p:cNvPr id="18" name="Text 16"/>
          <p:cNvSpPr txBox="1"/>
          <p:nvPr/>
        </p:nvSpPr>
        <p:spPr>
          <a:xfrm>
            <a:off x="8330184" y="170992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7"/>
          <p:cNvSpPr txBox="1"/>
          <p:nvPr/>
        </p:nvSpPr>
        <p:spPr>
          <a:xfrm>
            <a:off x="8924544" y="1709928"/>
            <a:ext cx="2514600" cy="457200"/>
          </a:xfrm>
          <a:prstGeom prst="rect">
            <a:avLst/>
          </a:prstGeom>
          <a:noFill/>
          <a:ln/>
        </p:spPr>
        <p:txBody>
          <a:bodyPr wrap="square" lIns="0" tIns="0" rIns="0" bIns="0" rtlCol="0" anchor="ctr"/>
          <a:lstStyle/>
          <a:p>
            <a:pPr marL="0" indent="0">
              <a:buNone/>
            </a:pPr>
            <a:r>
              <a:rPr lang="en-US" sz="1600" b="1" dirty="0">
                <a:solidFill>
                  <a:schemeClr val="tx1"/>
                </a:solidFill>
              </a:rPr>
              <a:t>사례 적용·검토</a:t>
            </a:r>
            <a:endParaRPr lang="en-US" sz="1600" dirty="0"/>
          </a:p>
        </p:txBody>
      </p:sp>
      <p:sp>
        <p:nvSpPr>
          <p:cNvPr id="20" name="Text 18"/>
          <p:cNvSpPr txBox="1"/>
          <p:nvPr/>
        </p:nvSpPr>
        <p:spPr>
          <a:xfrm>
            <a:off x="8330184" y="2258568"/>
            <a:ext cx="3063240" cy="594360"/>
          </a:xfrm>
          <a:prstGeom prst="rect">
            <a:avLst/>
          </a:prstGeom>
          <a:noFill/>
          <a:ln/>
        </p:spPr>
        <p:txBody>
          <a:bodyPr wrap="square" lIns="0" tIns="0" rIns="0" bIns="0" rtlCol="0" anchor="t"/>
          <a:lstStyle/>
          <a:p>
            <a:pPr marL="0" indent="0">
              <a:buNone/>
            </a:pPr>
            <a:r>
              <a:rPr lang="en-US" sz="1300" dirty="0">
                <a:solidFill>
                  <a:schemeClr val="tx2"/>
                </a:solidFill>
              </a:rPr>
              <a:t>상담 챗봇·대출심사 AI 가상 사례 적용,</a:t>
            </a:r>
            <a:endParaRPr lang="en-US" sz="1300" dirty="0"/>
          </a:p>
          <a:p>
            <a:pPr marL="0" indent="0">
              <a:buNone/>
            </a:pPr>
            <a:r>
              <a:rPr lang="en-US" sz="1300" dirty="0">
                <a:solidFill>
                  <a:schemeClr val="tx2"/>
                </a:solidFill>
              </a:rPr>
              <a:t>가능 시 실무자 검토 (RQ3)</a:t>
            </a:r>
            <a:endParaRPr lang="en-US" sz="1300" dirty="0"/>
          </a:p>
        </p:txBody>
      </p:sp>
      <p:sp>
        <p:nvSpPr>
          <p:cNvPr id="21" name="Text 19"/>
          <p:cNvSpPr txBox="1"/>
          <p:nvPr/>
        </p:nvSpPr>
        <p:spPr>
          <a:xfrm>
            <a:off x="548640" y="3200400"/>
            <a:ext cx="5486400" cy="365760"/>
          </a:xfrm>
          <a:prstGeom prst="rect">
            <a:avLst/>
          </a:prstGeom>
          <a:noFill/>
          <a:ln/>
        </p:spPr>
        <p:txBody>
          <a:bodyPr wrap="square" lIns="0" tIns="0" rIns="0" bIns="0" rtlCol="0" anchor="ctr"/>
          <a:lstStyle/>
          <a:p>
            <a:pPr marL="0" indent="0">
              <a:buNone/>
            </a:pPr>
            <a:r>
              <a:rPr lang="en-US" sz="1600" b="1" dirty="0">
                <a:solidFill>
                  <a:schemeClr val="accent1"/>
                </a:solidFill>
              </a:rPr>
              <a:t>분석 자료</a:t>
            </a:r>
            <a:endParaRPr lang="en-US" sz="1600" dirty="0"/>
          </a:p>
        </p:txBody>
      </p:sp>
      <p:graphicFrame>
        <p:nvGraphicFramePr>
          <p:cNvPr id="22" name="docs-table"/>
          <p:cNvGraphicFramePr>
            <a:graphicFrameLocks noGrp="1"/>
          </p:cNvGraphicFramePr>
          <p:nvPr>
            <p:extLst>
              <p:ext uri="{D42A27DB-BD31-4B8C-83A1-F6EECF244321}">
                <p14:modId xmlns:p14="http://schemas.microsoft.com/office/powerpoint/2010/main" val="1579011935"/>
              </p:ext>
            </p:extLst>
          </p:nvPr>
        </p:nvGraphicFramePr>
        <p:xfrm>
          <a:off x="548640" y="3611880"/>
          <a:ext cx="6766560" cy="2267712"/>
        </p:xfrm>
        <a:graphic>
          <a:graphicData uri="http://schemas.openxmlformats.org/drawingml/2006/table">
            <a:tbl>
              <a:tblPr/>
              <a:tblGrid>
                <a:gridCol w="13258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566928">
                <a:tc>
                  <a:txBody>
                    <a:bodyPr/>
                    <a:lstStyle/>
                    <a:p>
                      <a:pPr marL="0" indent="0">
                        <a:buNone/>
                      </a:pPr>
                      <a:r>
                        <a:rPr lang="en-US" sz="1200" b="1" dirty="0">
                          <a:solidFill>
                            <a:schemeClr val="accent1"/>
                          </a:solidFill>
                          <a:latin typeface="맑은 고딕" pitchFamily="34" charset="0"/>
                          <a:ea typeface="맑은 고딕" pitchFamily="34" charset="-122"/>
                          <a:cs typeface="맑은 고딕" pitchFamily="34" charset="-120"/>
                        </a:rPr>
                        <a:t>위험평가</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latin typeface="맑은 고딕" pitchFamily="34" charset="0"/>
                          <a:ea typeface="맑은 고딕" pitchFamily="34" charset="-122"/>
                          <a:cs typeface="맑은 고딕" pitchFamily="34" charset="-120"/>
                        </a:rPr>
                        <a:t>금융위 「금융분야 인공지능 가이드라인」(2026) ·</a:t>
                      </a:r>
                      <a:endParaRPr lang="en-US" sz="1200" dirty="0">
                        <a:latin typeface="맑은 고딕" charset="0"/>
                        <a:ea typeface="맑은 고딕" charset="0"/>
                        <a:cs typeface="맑은 고딕" charset="0"/>
                      </a:endParaRPr>
                    </a:p>
                    <a:p>
                      <a:pPr marL="0" indent="0">
                        <a:buNone/>
                      </a:pPr>
                      <a:r>
                        <a:rPr lang="en-US" sz="1200" dirty="0">
                          <a:solidFill>
                            <a:schemeClr val="tx1"/>
                          </a:solidFill>
                          <a:latin typeface="맑은 고딕" pitchFamily="34" charset="0"/>
                          <a:ea typeface="맑은 고딕" pitchFamily="34" charset="-122"/>
                          <a:cs typeface="맑은 고딕" pitchFamily="34" charset="-120"/>
                        </a:rPr>
                        <a:t>금감원 「금융분야 AI 위험관리 프레임워크(RMF)」(2026)</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chemeClr val="accent1"/>
                          </a:solidFill>
                          <a:latin typeface="맑은 고딕" pitchFamily="34" charset="0"/>
                          <a:ea typeface="맑은 고딕" pitchFamily="34" charset="-122"/>
                          <a:cs typeface="맑은 고딕" pitchFamily="34" charset="-120"/>
                        </a:rPr>
                        <a:t>보안·레드티밍</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latin typeface="맑은 고딕" pitchFamily="34" charset="0"/>
                          <a:ea typeface="맑은 고딕" pitchFamily="34" charset="-122"/>
                          <a:cs typeface="맑은 고딕" pitchFamily="34" charset="-120"/>
                        </a:rPr>
                        <a:t>금보원 「금융분야 AI 보안 가이드라인」(2023) ·</a:t>
                      </a:r>
                      <a:endParaRPr lang="en-US" sz="1200" dirty="0">
                        <a:latin typeface="맑은 고딕" charset="0"/>
                        <a:ea typeface="맑은 고딕" charset="0"/>
                        <a:cs typeface="맑은 고딕" charset="0"/>
                      </a:endParaRPr>
                    </a:p>
                    <a:p>
                      <a:pPr marL="0" indent="0">
                        <a:buNone/>
                      </a:pPr>
                      <a:r>
                        <a:rPr lang="en-US" sz="1200" dirty="0">
                          <a:solidFill>
                            <a:schemeClr val="tx1"/>
                          </a:solidFill>
                          <a:latin typeface="맑은 고딕" pitchFamily="34" charset="0"/>
                          <a:ea typeface="맑은 고딕" pitchFamily="34" charset="-122"/>
                          <a:cs typeface="맑은 고딕" pitchFamily="34" charset="-120"/>
                        </a:rPr>
                        <a:t>「2025 AI 레드팀 보고서」 · 「AI 에이전트 보안 평가기준」(2026)</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chemeClr val="accent1"/>
                          </a:solidFill>
                          <a:latin typeface="맑은 고딕" pitchFamily="34" charset="0"/>
                          <a:ea typeface="맑은 고딕" pitchFamily="34" charset="-122"/>
                          <a:cs typeface="맑은 고딕" pitchFamily="34" charset="-120"/>
                        </a:rPr>
                        <a:t>범용 가이드</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latin typeface="맑은 고딕" pitchFamily="34" charset="0"/>
                          <a:ea typeface="맑은 고딕" pitchFamily="34" charset="-122"/>
                          <a:cs typeface="맑은 고딕" pitchFamily="34" charset="-120"/>
                        </a:rPr>
                        <a:t>KISA 「AI 보안 레드티밍 가이드」(2026, ISO/IEC 42119-7 기반) ·</a:t>
                      </a:r>
                      <a:endParaRPr lang="en-US" sz="1200" dirty="0">
                        <a:latin typeface="맑은 고딕" charset="0"/>
                        <a:ea typeface="맑은 고딕" charset="0"/>
                        <a:cs typeface="맑은 고딕" charset="0"/>
                      </a:endParaRPr>
                    </a:p>
                    <a:p>
                      <a:pPr marL="0" indent="0">
                        <a:buNone/>
                      </a:pPr>
                      <a:r>
                        <a:rPr lang="en-US" sz="1200" dirty="0">
                          <a:solidFill>
                            <a:schemeClr val="tx1"/>
                          </a:solidFill>
                          <a:latin typeface="맑은 고딕" pitchFamily="34" charset="0"/>
                          <a:ea typeface="맑은 고딕" pitchFamily="34" charset="-122"/>
                          <a:cs typeface="맑은 고딕" pitchFamily="34" charset="-120"/>
                        </a:rPr>
                        <a:t>TTA 「신뢰할 수 있는 AI 개발 안내서」</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chemeClr val="accent1"/>
                          </a:solidFill>
                          <a:latin typeface="맑은 고딕" pitchFamily="34" charset="0"/>
                          <a:ea typeface="맑은 고딕" pitchFamily="34" charset="-122"/>
                          <a:cs typeface="맑은 고딕" pitchFamily="34" charset="-120"/>
                        </a:rPr>
                        <a:t>법령</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latin typeface="맑은 고딕" pitchFamily="34" charset="0"/>
                          <a:ea typeface="맑은 고딕" pitchFamily="34" charset="-122"/>
                          <a:cs typeface="맑은 고딕" pitchFamily="34" charset="-120"/>
                        </a:rPr>
                        <a:t>AI기본법 고영향 AI 책무(제34조)·영향평가 ·</a:t>
                      </a:r>
                      <a:endParaRPr lang="en-US" sz="1200" dirty="0">
                        <a:latin typeface="맑은 고딕" charset="0"/>
                        <a:ea typeface="맑은 고딕" charset="0"/>
                        <a:cs typeface="맑은 고딕" charset="0"/>
                      </a:endParaRPr>
                    </a:p>
                    <a:p>
                      <a:pPr marL="0" indent="0">
                        <a:buNone/>
                      </a:pPr>
                      <a:r>
                        <a:rPr lang="en-US" sz="1200" dirty="0">
                          <a:solidFill>
                            <a:schemeClr val="tx1"/>
                          </a:solidFill>
                          <a:latin typeface="맑은 고딕" pitchFamily="34" charset="0"/>
                          <a:ea typeface="맑은 고딕" pitchFamily="34" charset="-122"/>
                          <a:cs typeface="맑은 고딕" pitchFamily="34" charset="-120"/>
                        </a:rPr>
                        <a:t>EU AI Act 제9조(위험관리)·제15조(견고성·보안)</a:t>
                      </a:r>
                      <a:endParaRPr lang="en-US" sz="1200" dirty="0">
                        <a:latin typeface="맑은 고딕" charset="0"/>
                        <a:ea typeface="맑은 고딕" charset="0"/>
                        <a:cs typeface="맑은 고딕" charset="0"/>
                      </a:endParaRPr>
                    </a:p>
                  </a:txBody>
                  <a:tcPr marT="36576" marB="36576" anchor="ctr">
                    <a:lnL w="9525" cap="flat" cmpd="sng" algn="ctr">
                      <a:solidFill>
                        <a:srgbClr val="D9EDE7"/>
                      </a:solidFill>
                      <a:prstDash val="solid"/>
                      <a:round/>
                      <a:headEnd type="none" w="med" len="med"/>
                      <a:tailEnd type="none" w="med" len="med"/>
                    </a:lnL>
                    <a:lnR w="9525" cap="flat" cmpd="sng" algn="ctr">
                      <a:solidFill>
                        <a:srgbClr val="D9EDE7"/>
                      </a:solidFill>
                      <a:prstDash val="solid"/>
                      <a:round/>
                      <a:headEnd type="none" w="med" len="med"/>
                      <a:tailEnd type="none" w="med" len="med"/>
                    </a:lnR>
                    <a:lnT w="9525" cap="flat" cmpd="sng" algn="ctr">
                      <a:solidFill>
                        <a:srgbClr val="D9EDE7"/>
                      </a:solidFill>
                      <a:prstDash val="solid"/>
                      <a:round/>
                      <a:headEnd type="none" w="med" len="med"/>
                      <a:tailEnd type="none" w="med" len="med"/>
                    </a:lnT>
                    <a:lnB w="9525" cap="flat" cmpd="sng" algn="ctr">
                      <a:solidFill>
                        <a:srgbClr val="D9ED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3" name="Text 20"/>
          <p:cNvSpPr txBox="1"/>
          <p:nvPr/>
        </p:nvSpPr>
        <p:spPr>
          <a:xfrm>
            <a:off x="7635240" y="3200400"/>
            <a:ext cx="3977640" cy="365760"/>
          </a:xfrm>
          <a:prstGeom prst="rect">
            <a:avLst/>
          </a:prstGeom>
          <a:noFill/>
          <a:ln/>
        </p:spPr>
        <p:txBody>
          <a:bodyPr wrap="square" lIns="0" tIns="0" rIns="0" bIns="0" rtlCol="0" anchor="ctr"/>
          <a:lstStyle/>
          <a:p>
            <a:pPr marL="0" indent="0">
              <a:buNone/>
            </a:pPr>
            <a:r>
              <a:rPr lang="en-US" sz="1600" b="1" dirty="0">
                <a:solidFill>
                  <a:schemeClr val="accent1"/>
                </a:solidFill>
              </a:rPr>
              <a:t>추진 일정</a:t>
            </a:r>
            <a:endParaRPr lang="en-US" sz="1600" dirty="0"/>
          </a:p>
        </p:txBody>
      </p:sp>
      <p:sp>
        <p:nvSpPr>
          <p:cNvPr id="24" name="dot-0"/>
          <p:cNvSpPr/>
          <p:nvPr/>
        </p:nvSpPr>
        <p:spPr>
          <a:xfrm>
            <a:off x="7635240" y="3730752"/>
            <a:ext cx="146304" cy="146304"/>
          </a:xfrm>
          <a:prstGeom prst="ellipse">
            <a:avLst/>
          </a:prstGeom>
          <a:solidFill>
            <a:schemeClr val="accent1"/>
          </a:solidFill>
          <a:ln/>
        </p:spPr>
        <p:txBody>
          <a:bodyPr/>
          <a:lstStyle/>
          <a:p>
            <a:endParaRPr lang="ko-KR" altLang="en-US"/>
          </a:p>
        </p:txBody>
      </p:sp>
      <p:sp>
        <p:nvSpPr>
          <p:cNvPr id="25" name="Text 22"/>
          <p:cNvSpPr txBox="1"/>
          <p:nvPr/>
        </p:nvSpPr>
        <p:spPr>
          <a:xfrm>
            <a:off x="7909560" y="3639312"/>
            <a:ext cx="777240" cy="329184"/>
          </a:xfrm>
          <a:prstGeom prst="rect">
            <a:avLst/>
          </a:prstGeom>
          <a:noFill/>
          <a:ln/>
        </p:spPr>
        <p:txBody>
          <a:bodyPr wrap="square" lIns="0" tIns="0" rIns="0" bIns="0" rtlCol="0" anchor="ctr"/>
          <a:lstStyle/>
          <a:p>
            <a:pPr marL="0" indent="0">
              <a:buNone/>
            </a:pPr>
            <a:r>
              <a:rPr lang="en-US" sz="1300" b="1" dirty="0">
                <a:solidFill>
                  <a:schemeClr val="tx1"/>
                </a:solidFill>
              </a:rPr>
              <a:t>~10월</a:t>
            </a:r>
            <a:endParaRPr lang="en-US" sz="1300" dirty="0"/>
          </a:p>
        </p:txBody>
      </p:sp>
      <p:sp>
        <p:nvSpPr>
          <p:cNvPr id="26" name="Text 23"/>
          <p:cNvSpPr txBox="1"/>
          <p:nvPr/>
        </p:nvSpPr>
        <p:spPr>
          <a:xfrm>
            <a:off x="8686800" y="3639312"/>
            <a:ext cx="2926080" cy="329184"/>
          </a:xfrm>
          <a:prstGeom prst="rect">
            <a:avLst/>
          </a:prstGeom>
          <a:noFill/>
          <a:ln/>
        </p:spPr>
        <p:txBody>
          <a:bodyPr wrap="square" lIns="0" tIns="0" rIns="0" bIns="0" rtlCol="0" anchor="ctr"/>
          <a:lstStyle/>
          <a:p>
            <a:pPr marL="0" indent="0">
              <a:buNone/>
            </a:pPr>
            <a:r>
              <a:rPr lang="en-US" sz="1300" dirty="0">
                <a:solidFill>
                  <a:schemeClr val="tx2"/>
                </a:solidFill>
              </a:rPr>
              <a:t>자료 수집 · 비교 매트릭스</a:t>
            </a:r>
            <a:endParaRPr lang="en-US" sz="1300" dirty="0"/>
          </a:p>
        </p:txBody>
      </p:sp>
      <p:sp>
        <p:nvSpPr>
          <p:cNvPr id="27" name="dot-1"/>
          <p:cNvSpPr/>
          <p:nvPr/>
        </p:nvSpPr>
        <p:spPr>
          <a:xfrm>
            <a:off x="7635240" y="4096512"/>
            <a:ext cx="146304" cy="146304"/>
          </a:xfrm>
          <a:prstGeom prst="ellipse">
            <a:avLst/>
          </a:prstGeom>
          <a:solidFill>
            <a:schemeClr val="accent1"/>
          </a:solidFill>
          <a:ln/>
        </p:spPr>
        <p:txBody>
          <a:bodyPr/>
          <a:lstStyle/>
          <a:p>
            <a:endParaRPr lang="ko-KR" altLang="en-US"/>
          </a:p>
        </p:txBody>
      </p:sp>
      <p:sp>
        <p:nvSpPr>
          <p:cNvPr id="28" name="Text 25"/>
          <p:cNvSpPr txBox="1"/>
          <p:nvPr/>
        </p:nvSpPr>
        <p:spPr>
          <a:xfrm>
            <a:off x="7909560" y="4005072"/>
            <a:ext cx="777240" cy="329184"/>
          </a:xfrm>
          <a:prstGeom prst="rect">
            <a:avLst/>
          </a:prstGeom>
          <a:noFill/>
          <a:ln/>
        </p:spPr>
        <p:txBody>
          <a:bodyPr wrap="square" lIns="0" tIns="0" rIns="0" bIns="0" rtlCol="0" anchor="ctr"/>
          <a:lstStyle/>
          <a:p>
            <a:pPr marL="0" indent="0">
              <a:buNone/>
            </a:pPr>
            <a:r>
              <a:rPr lang="en-US" sz="1300" b="1" dirty="0">
                <a:solidFill>
                  <a:schemeClr val="tx1"/>
                </a:solidFill>
              </a:rPr>
              <a:t>11월</a:t>
            </a:r>
            <a:endParaRPr lang="en-US" sz="1300" dirty="0"/>
          </a:p>
        </p:txBody>
      </p:sp>
      <p:sp>
        <p:nvSpPr>
          <p:cNvPr id="29" name="Text 26"/>
          <p:cNvSpPr txBox="1"/>
          <p:nvPr/>
        </p:nvSpPr>
        <p:spPr>
          <a:xfrm>
            <a:off x="8686800" y="4005072"/>
            <a:ext cx="2926080" cy="329184"/>
          </a:xfrm>
          <a:prstGeom prst="rect">
            <a:avLst/>
          </a:prstGeom>
          <a:noFill/>
          <a:ln/>
        </p:spPr>
        <p:txBody>
          <a:bodyPr wrap="square" lIns="0" tIns="0" rIns="0" bIns="0" rtlCol="0" anchor="ctr"/>
          <a:lstStyle/>
          <a:p>
            <a:pPr marL="0" indent="0">
              <a:buNone/>
            </a:pPr>
            <a:r>
              <a:rPr lang="en-US" sz="1300" dirty="0">
                <a:solidFill>
                  <a:schemeClr val="tx2"/>
                </a:solidFill>
              </a:rPr>
              <a:t>프레임워크 설계 · 사례 적용 · 초안</a:t>
            </a:r>
            <a:endParaRPr lang="en-US" sz="1300" dirty="0"/>
          </a:p>
        </p:txBody>
      </p:sp>
      <p:sp>
        <p:nvSpPr>
          <p:cNvPr id="30" name="dot-2"/>
          <p:cNvSpPr/>
          <p:nvPr/>
        </p:nvSpPr>
        <p:spPr>
          <a:xfrm>
            <a:off x="7635240" y="4462272"/>
            <a:ext cx="146304" cy="146304"/>
          </a:xfrm>
          <a:prstGeom prst="ellipse">
            <a:avLst/>
          </a:prstGeom>
          <a:solidFill>
            <a:schemeClr val="accent2"/>
          </a:solidFill>
          <a:ln/>
        </p:spPr>
        <p:txBody>
          <a:bodyPr/>
          <a:lstStyle/>
          <a:p>
            <a:endParaRPr lang="ko-KR" altLang="en-US"/>
          </a:p>
        </p:txBody>
      </p:sp>
      <p:sp>
        <p:nvSpPr>
          <p:cNvPr id="31" name="Text 28"/>
          <p:cNvSpPr txBox="1"/>
          <p:nvPr/>
        </p:nvSpPr>
        <p:spPr>
          <a:xfrm>
            <a:off x="7909560" y="4370832"/>
            <a:ext cx="777240" cy="329184"/>
          </a:xfrm>
          <a:prstGeom prst="rect">
            <a:avLst/>
          </a:prstGeom>
          <a:noFill/>
          <a:ln/>
        </p:spPr>
        <p:txBody>
          <a:bodyPr wrap="square" lIns="0" tIns="0" rIns="0" bIns="0" rtlCol="0" anchor="ctr"/>
          <a:lstStyle/>
          <a:p>
            <a:pPr marL="0" indent="0">
              <a:buNone/>
            </a:pPr>
            <a:r>
              <a:rPr lang="en-US" sz="1300" b="1" dirty="0">
                <a:solidFill>
                  <a:schemeClr val="tx1"/>
                </a:solidFill>
              </a:rPr>
              <a:t>12.10</a:t>
            </a:r>
            <a:endParaRPr lang="en-US" sz="1300" dirty="0"/>
          </a:p>
        </p:txBody>
      </p:sp>
      <p:sp>
        <p:nvSpPr>
          <p:cNvPr id="32" name="Text 29"/>
          <p:cNvSpPr txBox="1"/>
          <p:nvPr/>
        </p:nvSpPr>
        <p:spPr>
          <a:xfrm>
            <a:off x="8686800" y="4370832"/>
            <a:ext cx="2926080" cy="329184"/>
          </a:xfrm>
          <a:prstGeom prst="rect">
            <a:avLst/>
          </a:prstGeom>
          <a:noFill/>
          <a:ln/>
        </p:spPr>
        <p:txBody>
          <a:bodyPr wrap="square" lIns="0" tIns="0" rIns="0" bIns="0" rtlCol="0" anchor="ctr"/>
          <a:lstStyle/>
          <a:p>
            <a:pPr marL="0" indent="0">
              <a:buNone/>
            </a:pPr>
            <a:r>
              <a:rPr lang="en-US" sz="1300" dirty="0">
                <a:solidFill>
                  <a:schemeClr val="tx2"/>
                </a:solidFill>
              </a:rPr>
              <a:t>중간 발표 · 학술지 투고</a:t>
            </a:r>
            <a:endParaRPr lang="en-US" sz="1300" dirty="0"/>
          </a:p>
        </p:txBody>
      </p:sp>
      <p:sp>
        <p:nvSpPr>
          <p:cNvPr id="33" name="dot-3"/>
          <p:cNvSpPr/>
          <p:nvPr/>
        </p:nvSpPr>
        <p:spPr>
          <a:xfrm>
            <a:off x="7635240" y="4828032"/>
            <a:ext cx="146304" cy="146304"/>
          </a:xfrm>
          <a:prstGeom prst="ellipse">
            <a:avLst/>
          </a:prstGeom>
          <a:solidFill>
            <a:schemeClr val="accent2"/>
          </a:solidFill>
          <a:ln/>
        </p:spPr>
        <p:txBody>
          <a:bodyPr/>
          <a:lstStyle/>
          <a:p>
            <a:endParaRPr lang="ko-KR" altLang="en-US"/>
          </a:p>
        </p:txBody>
      </p:sp>
      <p:sp>
        <p:nvSpPr>
          <p:cNvPr id="34" name="Text 31"/>
          <p:cNvSpPr txBox="1"/>
          <p:nvPr/>
        </p:nvSpPr>
        <p:spPr>
          <a:xfrm>
            <a:off x="7909560" y="4736592"/>
            <a:ext cx="777240" cy="329184"/>
          </a:xfrm>
          <a:prstGeom prst="rect">
            <a:avLst/>
          </a:prstGeom>
          <a:noFill/>
          <a:ln/>
        </p:spPr>
        <p:txBody>
          <a:bodyPr wrap="square" lIns="0" tIns="0" rIns="0" bIns="0" rtlCol="0" anchor="ctr"/>
          <a:lstStyle/>
          <a:p>
            <a:pPr marL="0" indent="0">
              <a:buNone/>
            </a:pPr>
            <a:r>
              <a:rPr lang="en-US" sz="1300" b="1" dirty="0">
                <a:solidFill>
                  <a:schemeClr val="tx1"/>
                </a:solidFill>
              </a:rPr>
              <a:t>12.17</a:t>
            </a:r>
            <a:endParaRPr lang="en-US" sz="1300" dirty="0"/>
          </a:p>
        </p:txBody>
      </p:sp>
      <p:sp>
        <p:nvSpPr>
          <p:cNvPr id="35" name="Text 32"/>
          <p:cNvSpPr txBox="1"/>
          <p:nvPr/>
        </p:nvSpPr>
        <p:spPr>
          <a:xfrm>
            <a:off x="8686800" y="4736592"/>
            <a:ext cx="2926080" cy="329184"/>
          </a:xfrm>
          <a:prstGeom prst="rect">
            <a:avLst/>
          </a:prstGeom>
          <a:noFill/>
          <a:ln/>
        </p:spPr>
        <p:txBody>
          <a:bodyPr wrap="square" lIns="0" tIns="0" rIns="0" bIns="0" rtlCol="0" anchor="ctr"/>
          <a:lstStyle/>
          <a:p>
            <a:pPr marL="0" indent="0">
              <a:buNone/>
            </a:pPr>
            <a:r>
              <a:rPr lang="en-US" sz="1300" dirty="0">
                <a:solidFill>
                  <a:schemeClr val="tx2"/>
                </a:solidFill>
              </a:rPr>
              <a:t>최종본 제출 (hwp 10p)</a:t>
            </a:r>
            <a:endParaRPr lang="en-US" sz="1300" dirty="0"/>
          </a:p>
        </p:txBody>
      </p:sp>
      <p:sp>
        <p:nvSpPr>
          <p:cNvPr id="36" name="outcome"/>
          <p:cNvSpPr/>
          <p:nvPr/>
        </p:nvSpPr>
        <p:spPr>
          <a:xfrm>
            <a:off x="7635240" y="5212080"/>
            <a:ext cx="3977640" cy="1051560"/>
          </a:xfrm>
          <a:prstGeom prst="roundRect">
            <a:avLst>
              <a:gd name="adj" fmla="val 6957"/>
            </a:avLst>
          </a:prstGeom>
          <a:solidFill>
            <a:schemeClr val="accent4"/>
          </a:solidFill>
          <a:ln/>
        </p:spPr>
        <p:txBody>
          <a:bodyPr/>
          <a:lstStyle/>
          <a:p>
            <a:endParaRPr lang="ko-KR" altLang="en-US"/>
          </a:p>
        </p:txBody>
      </p:sp>
      <p:sp>
        <p:nvSpPr>
          <p:cNvPr id="37" name="Text 34"/>
          <p:cNvSpPr txBox="1"/>
          <p:nvPr/>
        </p:nvSpPr>
        <p:spPr>
          <a:xfrm>
            <a:off x="7818120" y="5303520"/>
            <a:ext cx="3611880" cy="868680"/>
          </a:xfrm>
          <a:prstGeom prst="rect">
            <a:avLst/>
          </a:prstGeom>
          <a:noFill/>
          <a:ln/>
        </p:spPr>
        <p:txBody>
          <a:bodyPr wrap="square" lIns="0" tIns="0" rIns="0" bIns="0" rtlCol="0" anchor="ctr"/>
          <a:lstStyle/>
          <a:p>
            <a:pPr marL="0" indent="0">
              <a:spcAft>
                <a:spcPts val="400"/>
              </a:spcAft>
              <a:buNone/>
            </a:pPr>
            <a:r>
              <a:rPr lang="en-US" sz="1300" b="1" dirty="0">
                <a:solidFill>
                  <a:schemeClr val="accent1"/>
                </a:solidFill>
              </a:rPr>
              <a:t>목표 학술지  </a:t>
            </a:r>
            <a:r>
              <a:rPr lang="en-US" sz="1300" dirty="0">
                <a:solidFill>
                  <a:schemeClr val="tx1"/>
                </a:solidFill>
              </a:rPr>
              <a:t>정보화정책 / 융합보안 논문지</a:t>
            </a:r>
            <a:endParaRPr lang="en-US" sz="1300" dirty="0"/>
          </a:p>
          <a:p>
            <a:pPr marL="0" indent="0">
              <a:spcAft>
                <a:spcPts val="400"/>
              </a:spcAft>
              <a:buNone/>
            </a:pPr>
            <a:r>
              <a:rPr lang="en-US" sz="1300" b="1" dirty="0">
                <a:solidFill>
                  <a:schemeClr val="accent1"/>
                </a:solidFill>
              </a:rPr>
              <a:t>기대효과  </a:t>
            </a:r>
            <a:r>
              <a:rPr lang="en-US" sz="1300" dirty="0">
                <a:solidFill>
                  <a:schemeClr val="tx1"/>
                </a:solidFill>
              </a:rPr>
              <a:t>금융회사용 위험평가–레드티밍 연계 체크리스트</a:t>
            </a:r>
            <a:endParaRPr lang="en-US" sz="1300" dirty="0"/>
          </a:p>
        </p:txBody>
      </p:sp>
      <p:sp>
        <p:nvSpPr>
          <p:cNvPr id="38"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theme/theme1.xml><?xml version="1.0" encoding="utf-8"?>
<a:theme xmlns:a="http://schemas.openxmlformats.org/drawingml/2006/main" name="FinAI Governance">
  <a:themeElements>
    <a:clrScheme name="FinAI Governance">
      <a:dk1>
        <a:srgbClr val="1E272E"/>
      </a:dk1>
      <a:lt1>
        <a:srgbClr val="FFFFFF"/>
      </a:lt1>
      <a:dk2>
        <a:srgbClr val="3D4A52"/>
      </a:dk2>
      <a:lt2>
        <a:srgbClr val="EEF3F1"/>
      </a:lt2>
      <a:accent1>
        <a:srgbClr val="0E7C66"/>
      </a:accent1>
      <a:accent2>
        <a:srgbClr val="C2553A"/>
      </a:accent2>
      <a:accent3>
        <a:srgbClr val="5B6B73"/>
      </a:accent3>
      <a:accent4>
        <a:srgbClr val="D9EDE7"/>
      </a:accent4>
      <a:accent5>
        <a:srgbClr val="F6E3DD"/>
      </a:accent5>
      <a:accent6>
        <a:srgbClr val="8FA3AB"/>
      </a:accent6>
      <a:hlink>
        <a:srgbClr val="0E7C66"/>
      </a:hlink>
      <a:folHlink>
        <a:srgbClr val="5B6B73"/>
      </a:folHlink>
    </a:clrScheme>
    <a:fontScheme name="FinAI Governan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799</Words>
  <Application>Microsoft Office PowerPoint</Application>
  <PresentationFormat>와이드스크린</PresentationFormat>
  <Paragraphs>79</Paragraphs>
  <Slides>3</Slides>
  <Notes>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vt:i4>
      </vt:variant>
    </vt:vector>
  </HeadingPairs>
  <TitlesOfParts>
    <vt:vector size="6" baseType="lpstr">
      <vt:lpstr>맑은 고딕</vt:lpstr>
      <vt:lpstr>Arial</vt:lpstr>
      <vt:lpstr>FinAI Governance</vt:lpstr>
      <vt:lpstr>금융분야 AI 위험평가와 레드티밍의 연계 방안 연구</vt:lpstr>
      <vt:lpstr>금융분야 AI 위험평가와 레드티밍의 연계 방안 연구 금융당국 · KISA · TTA 가이드 비교와 연계 프레임워크 제안</vt:lpstr>
      <vt:lpstr>가이드 비교 → 연계 프레임워크 설계 → 사례 적용</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소논문 연구계획서</dc:title>
  <dc:subject>PptxGenJS Presentation</dc:subject>
  <dc:creator>PptxGenJS</dc:creator>
  <cp:lastModifiedBy>김 용준</cp:lastModifiedBy>
  <cp:revision>3</cp:revision>
  <dcterms:created xsi:type="dcterms:W3CDTF">2026-10-14T10:55:52Z</dcterms:created>
  <dcterms:modified xsi:type="dcterms:W3CDTF">2026-10-14T11:02:30Z</dcterms:modified>
</cp:coreProperties>
</file>