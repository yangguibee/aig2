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나눔고딕" panose="020D0604000000000000" pitchFamily="50" charset="-127"/>
      <p:regular r:id="rId5"/>
      <p:bold r:id="rId6"/>
    </p:embeddedFont>
    <p:embeddedFont>
      <p:font typeface="나눔고딕 ExtraBold" panose="020D0904000000000000" pitchFamily="50" charset="-127"/>
      <p:bold r:id="rId7"/>
    </p:embeddedFont>
    <p:embeddedFont>
      <p:font typeface="맑은 고딕" panose="020B0503020000020004" pitchFamily="50" charset="-127"/>
      <p:regular r:id="rId8"/>
      <p:bold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9E6"/>
    <a:srgbClr val="E9E4D8"/>
    <a:srgbClr val="F1EB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52" d="100"/>
          <a:sy n="52" d="100"/>
        </p:scale>
        <p:origin x="60" y="4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CC586-0599-4699-BE4D-9AF70D395B1C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539385-6BBA-4972-8346-3CC9681C27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851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39385-6BBA-4972-8346-3CC9681C274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685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39385-6BBA-4972-8346-3CC9681C274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85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77C5C-FA9C-99E1-F44C-CDB01FF127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396194-7B53-D539-6776-34D096F21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657882-F394-D87A-56A9-3EB403E1F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989ED6-BA46-29F2-40CB-7841744F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2FB7C4-E04D-E604-5FF5-02B21C1CC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00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7E7AE-3FC4-4251-26B4-72C408CDB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B5F7A-041A-32D1-2DEE-D170219A8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0BB02B-7D31-E53F-B314-458368E75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A8FD02-D964-BFD0-AC32-36A3C07EB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9B3A3B-DC9D-4308-14C0-336F6141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1624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9831D1-8724-EDE3-4251-A6F7450FE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C9F939-74DD-C2AB-3E97-1B16E0895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D1991A-F53E-7C4E-98DD-036DA0F8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3B740D-1C76-CA3F-2DB6-8FBD1D969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265E9B-92D2-31BA-9C52-BE90E51C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A0F130-207F-9EFD-812E-533B0B7B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983582-5952-0B60-9523-30D022A32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028E53-148B-EF8A-F5C5-02B6EB81D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1BFB7B-9CBF-89CF-B228-33144097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EFC7C2-254E-A3CF-046C-644217D5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0CCC78-8069-91BF-C393-A099F28A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22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5E52CE-6F35-9A27-1596-BFECF56B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DF15F4-01F8-76D4-A019-2EA805D69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0D082F-9268-82F3-4B8C-FE81F8596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EC4808-4D14-A348-02F7-98E6BDC99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450843-2A12-B3BD-953E-A853AF3FD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301BD3-6C29-4808-AD5F-911C23E69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E02428-8620-D32F-7AAA-E2012021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C216DCA-9D9C-8542-9185-9A21B7237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51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63610-D900-22D9-791D-1CE80E0E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EE4485-5EA2-0BAC-50B4-7F31B20C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3B4C99-77EE-E993-C85F-AAA507A8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CDEE14-64CD-B701-F965-0D23B7E1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60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2DBC4E-A49A-883C-90E6-1EF0B1A6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C1B214-1D12-6782-9E12-99EF2C4A7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005B06-35CA-3534-B9BC-E9BE22E77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537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259A6-41CF-9716-09AB-604385887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52156E-3FE6-0522-A910-ED39CEF97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A3BF90-8ED7-1FBE-6FE2-1D6B779A9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D62055-A64A-CCE4-5600-8B2DF8132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CDE15D-9047-FB9D-F251-0BB64A6C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6420A4-FC3E-BEF2-106E-AD0FFAB4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10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54B09-CB2A-B528-13AF-52E90B05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C9559A-0C43-DDAB-CCA5-A0B12BA46B7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303807-2870-B77F-1FBF-0D266EECC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598AB6-220F-04B7-0460-7E7E64F8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34E961-EEFD-508D-1F58-1AEB23B5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9350B4-5E6A-DA19-E272-092A467A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377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EF16F-F593-F8ED-FAE3-532B88325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FB1865-5D99-089D-6FEB-C5E31A849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562607-B17E-1E92-B852-C2018AAB9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4B1E7A-59F4-1626-B93D-3ADD47990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00AF7F-14FB-3586-C6EE-C9F818F1C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739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C5AA8E-F3FE-07F3-96D9-CB5107119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9FCAB6-663A-19E5-7F87-08A365E0F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A65926-7994-3DBC-5236-EC695BE29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4418AC-1B7A-DD01-2AC6-02B92914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F84AD2-B205-3C62-3C37-2204425E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818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97BB5EB-92D2-F800-4AAC-228D41AA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7AEC60-87C4-D907-2295-06591497B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EDD94D-49F8-9137-6642-CED59196E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5F548-A222-4A46-B9F4-5129AC227425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03F939-A150-D7F8-BE8D-DC2CF2540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D52C93-EAC3-74E9-345A-2F5359F50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4C6E9-A97A-49B4-8303-4EC1F679F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907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AA60DD4-97C9-59A9-46B1-43E31F0AA30C}"/>
              </a:ext>
            </a:extLst>
          </p:cNvPr>
          <p:cNvSpPr/>
          <p:nvPr/>
        </p:nvSpPr>
        <p:spPr>
          <a:xfrm>
            <a:off x="8204462" y="1587501"/>
            <a:ext cx="3619893" cy="1764295"/>
          </a:xfrm>
          <a:prstGeom prst="roundRect">
            <a:avLst>
              <a:gd name="adj" fmla="val 10127"/>
            </a:avLst>
          </a:prstGeom>
          <a:solidFill>
            <a:srgbClr val="EEE9E6"/>
          </a:solidFill>
          <a:ln>
            <a:solidFill>
              <a:srgbClr val="E9E4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24A103A-6EF6-00CC-4CE6-E2A2F22D99DF}"/>
              </a:ext>
            </a:extLst>
          </p:cNvPr>
          <p:cNvSpPr/>
          <p:nvPr/>
        </p:nvSpPr>
        <p:spPr>
          <a:xfrm>
            <a:off x="4289197" y="1587501"/>
            <a:ext cx="3619893" cy="1764295"/>
          </a:xfrm>
          <a:prstGeom prst="roundRect">
            <a:avLst>
              <a:gd name="adj" fmla="val 1012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4D649CD-6CF3-E5C0-75DA-A49F233F4382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809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554855-22DA-4E19-8F86-814B0F10F3BF}"/>
              </a:ext>
            </a:extLst>
          </p:cNvPr>
          <p:cNvSpPr txBox="1"/>
          <p:nvPr/>
        </p:nvSpPr>
        <p:spPr>
          <a:xfrm>
            <a:off x="9428102" y="126188"/>
            <a:ext cx="27638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인공지능융합학과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(202676237) 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송민성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FE06E9-4A86-75E9-7A36-FF7AE5A2DE6C}"/>
              </a:ext>
            </a:extLst>
          </p:cNvPr>
          <p:cNvSpPr txBox="1"/>
          <p:nvPr/>
        </p:nvSpPr>
        <p:spPr>
          <a:xfrm>
            <a:off x="11580935" y="6595705"/>
            <a:ext cx="6110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 / 02</a:t>
            </a:r>
            <a:endParaRPr lang="ko-KR" altLang="en-US" sz="1000" b="1" dirty="0">
              <a:solidFill>
                <a:schemeClr val="tx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4DC4F-DA04-C135-D461-42C996160CCF}"/>
              </a:ext>
            </a:extLst>
          </p:cNvPr>
          <p:cNvSpPr txBox="1"/>
          <p:nvPr/>
        </p:nvSpPr>
        <p:spPr>
          <a:xfrm>
            <a:off x="260759" y="448455"/>
            <a:ext cx="6715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왜 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R&amp;D 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연구과제 관리에 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AI 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위험관리가 필요한가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?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BF087-09BC-85AD-6F38-7600AA81B134}"/>
              </a:ext>
            </a:extLst>
          </p:cNvPr>
          <p:cNvSpPr txBox="1"/>
          <p:nvPr/>
        </p:nvSpPr>
        <p:spPr>
          <a:xfrm>
            <a:off x="260759" y="912417"/>
            <a:ext cx="78245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국가연구개발사업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(R&amp;D)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연구과제 관리의 생성형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활용 위험관리체계 설계 및 사례 적용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91C8AF8-A776-9318-0C70-7BA29ADD576E}"/>
              </a:ext>
            </a:extLst>
          </p:cNvPr>
          <p:cNvSpPr/>
          <p:nvPr/>
        </p:nvSpPr>
        <p:spPr>
          <a:xfrm>
            <a:off x="367645" y="1587501"/>
            <a:ext cx="3619893" cy="1764295"/>
          </a:xfrm>
          <a:prstGeom prst="roundRect">
            <a:avLst>
              <a:gd name="adj" fmla="val 1012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17CDE29-4240-94C1-EED9-DF0D6DA4CE17}"/>
              </a:ext>
            </a:extLst>
          </p:cNvPr>
          <p:cNvGrpSpPr/>
          <p:nvPr/>
        </p:nvGrpSpPr>
        <p:grpSpPr>
          <a:xfrm>
            <a:off x="515225" y="1693093"/>
            <a:ext cx="376413" cy="353236"/>
            <a:chOff x="669303" y="2055043"/>
            <a:chExt cx="433633" cy="433634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F83BAF6-71C5-7825-CC20-65433B4D97B9}"/>
                </a:ext>
              </a:extLst>
            </p:cNvPr>
            <p:cNvSpPr/>
            <p:nvPr/>
          </p:nvSpPr>
          <p:spPr>
            <a:xfrm>
              <a:off x="669304" y="2055043"/>
              <a:ext cx="433632" cy="43363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0F3C811-9A0F-E8FA-200E-E6DBF1E2117A}"/>
                </a:ext>
              </a:extLst>
            </p:cNvPr>
            <p:cNvSpPr txBox="1"/>
            <p:nvPr/>
          </p:nvSpPr>
          <p:spPr>
            <a:xfrm>
              <a:off x="669303" y="2087194"/>
              <a:ext cx="402674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01</a:t>
              </a:r>
              <a:endPara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1F84D4F-85D8-77DF-8492-87CF5281A78B}"/>
              </a:ext>
            </a:extLst>
          </p:cNvPr>
          <p:cNvGrpSpPr/>
          <p:nvPr/>
        </p:nvGrpSpPr>
        <p:grpSpPr>
          <a:xfrm>
            <a:off x="4440498" y="1688534"/>
            <a:ext cx="376412" cy="353236"/>
            <a:chOff x="669304" y="2055043"/>
            <a:chExt cx="433632" cy="433634"/>
          </a:xfrm>
        </p:grpSpPr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191B077C-9A2A-8D7D-EC1E-D096758AB082}"/>
                </a:ext>
              </a:extLst>
            </p:cNvPr>
            <p:cNvSpPr/>
            <p:nvPr/>
          </p:nvSpPr>
          <p:spPr>
            <a:xfrm>
              <a:off x="669304" y="2055043"/>
              <a:ext cx="433632" cy="43363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5A21E0-453A-ACAC-A6E6-C9CB7B2B910E}"/>
                </a:ext>
              </a:extLst>
            </p:cNvPr>
            <p:cNvSpPr txBox="1"/>
            <p:nvPr/>
          </p:nvSpPr>
          <p:spPr>
            <a:xfrm>
              <a:off x="669304" y="2087194"/>
              <a:ext cx="402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02</a:t>
              </a:r>
              <a:endPara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F6951B-A7BC-3EC5-09A1-C46F1C0E2977}"/>
              </a:ext>
            </a:extLst>
          </p:cNvPr>
          <p:cNvGrpSpPr/>
          <p:nvPr/>
        </p:nvGrpSpPr>
        <p:grpSpPr>
          <a:xfrm>
            <a:off x="8330174" y="1693566"/>
            <a:ext cx="376412" cy="353236"/>
            <a:chOff x="669304" y="2055043"/>
            <a:chExt cx="433632" cy="433634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48A6776-7E19-48C7-F135-BEE647003AF9}"/>
                </a:ext>
              </a:extLst>
            </p:cNvPr>
            <p:cNvSpPr/>
            <p:nvPr/>
          </p:nvSpPr>
          <p:spPr>
            <a:xfrm>
              <a:off x="669304" y="2055043"/>
              <a:ext cx="433632" cy="43363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82D2F50-8637-0E96-EC8F-675C8468CFA1}"/>
                </a:ext>
              </a:extLst>
            </p:cNvPr>
            <p:cNvSpPr txBox="1"/>
            <p:nvPr/>
          </p:nvSpPr>
          <p:spPr>
            <a:xfrm>
              <a:off x="669304" y="2087194"/>
              <a:ext cx="4026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03</a:t>
              </a:r>
              <a:endPara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88D496F-3F81-FC12-937B-CE8A166AC08E}"/>
              </a:ext>
            </a:extLst>
          </p:cNvPr>
          <p:cNvSpPr/>
          <p:nvPr/>
        </p:nvSpPr>
        <p:spPr>
          <a:xfrm>
            <a:off x="367644" y="3681935"/>
            <a:ext cx="6885412" cy="2036190"/>
          </a:xfrm>
          <a:prstGeom prst="roundRect">
            <a:avLst>
              <a:gd name="adj" fmla="val 1012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EBB3C0A-0A10-9FA4-C4CC-A2CE7C8D2A39}"/>
              </a:ext>
            </a:extLst>
          </p:cNvPr>
          <p:cNvSpPr/>
          <p:nvPr/>
        </p:nvSpPr>
        <p:spPr>
          <a:xfrm>
            <a:off x="7546019" y="3681935"/>
            <a:ext cx="4278336" cy="2036190"/>
          </a:xfrm>
          <a:prstGeom prst="roundRect">
            <a:avLst>
              <a:gd name="adj" fmla="val 1012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269711-478E-991E-4133-2D1B9ED1F7F6}"/>
              </a:ext>
            </a:extLst>
          </p:cNvPr>
          <p:cNvSpPr txBox="1"/>
          <p:nvPr/>
        </p:nvSpPr>
        <p:spPr>
          <a:xfrm>
            <a:off x="878691" y="1720966"/>
            <a:ext cx="907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 배경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4419F1-BFE5-6147-033C-2DBA140149C9}"/>
              </a:ext>
            </a:extLst>
          </p:cNvPr>
          <p:cNvSpPr txBox="1"/>
          <p:nvPr/>
        </p:nvSpPr>
        <p:spPr>
          <a:xfrm>
            <a:off x="4803596" y="1725244"/>
            <a:ext cx="907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 인식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1ED526-DD16-5AEE-D2E5-76EA9B8650CE}"/>
              </a:ext>
            </a:extLst>
          </p:cNvPr>
          <p:cNvSpPr txBox="1"/>
          <p:nvPr/>
        </p:nvSpPr>
        <p:spPr>
          <a:xfrm>
            <a:off x="8752323" y="1720965"/>
            <a:ext cx="907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핵심 논제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4D8541-5ADC-51D9-21AC-5C82A9774FFC}"/>
              </a:ext>
            </a:extLst>
          </p:cNvPr>
          <p:cNvSpPr txBox="1"/>
          <p:nvPr/>
        </p:nvSpPr>
        <p:spPr>
          <a:xfrm>
            <a:off x="878276" y="3866789"/>
            <a:ext cx="14622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연구대상 및 범위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68C6B08-E878-7AAD-75AE-6D750AF001F3}"/>
              </a:ext>
            </a:extLst>
          </p:cNvPr>
          <p:cNvSpPr txBox="1"/>
          <p:nvPr/>
        </p:nvSpPr>
        <p:spPr>
          <a:xfrm>
            <a:off x="7636554" y="3866789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핵심 연구질문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05F9CD-C664-780A-7276-88CB9C8AC606}"/>
              </a:ext>
            </a:extLst>
          </p:cNvPr>
          <p:cNvSpPr txBox="1"/>
          <p:nvPr/>
        </p:nvSpPr>
        <p:spPr>
          <a:xfrm>
            <a:off x="818946" y="2151842"/>
            <a:ext cx="2826415" cy="584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R&amp;D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과제 관리의 문서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규정 업무에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2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생성형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활용가능성 확대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51B36D-19B1-224B-694D-5FB95204C23D}"/>
              </a:ext>
            </a:extLst>
          </p:cNvPr>
          <p:cNvSpPr txBox="1"/>
          <p:nvPr/>
        </p:nvSpPr>
        <p:spPr>
          <a:xfrm>
            <a:off x="823748" y="2841618"/>
            <a:ext cx="2791149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 이면에 정보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판단 위험 존재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1F01A1-D76A-EB52-A15F-3E894F845D05}"/>
              </a:ext>
            </a:extLst>
          </p:cNvPr>
          <p:cNvSpPr txBox="1"/>
          <p:nvPr/>
        </p:nvSpPr>
        <p:spPr>
          <a:xfrm>
            <a:off x="4790037" y="2116797"/>
            <a:ext cx="2521844" cy="584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 일반 지침만으로는 업무별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2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특수 위험을 판정하기 어려움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7A4A82-2B13-74A1-6ABE-63BF90D4D296}"/>
              </a:ext>
            </a:extLst>
          </p:cNvPr>
          <p:cNvSpPr txBox="1"/>
          <p:nvPr/>
        </p:nvSpPr>
        <p:spPr>
          <a:xfrm>
            <a:off x="4817389" y="2732349"/>
            <a:ext cx="2406428" cy="584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법규제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검토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승인 절차에 따른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ts val="2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위험평가 기준 미흡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4BEB3D-4F9B-EA11-C16C-7C186A27F3F0}"/>
              </a:ext>
            </a:extLst>
          </p:cNvPr>
          <p:cNvSpPr txBox="1"/>
          <p:nvPr/>
        </p:nvSpPr>
        <p:spPr>
          <a:xfrm>
            <a:off x="8706586" y="2123537"/>
            <a:ext cx="2601494" cy="1097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R&amp;D 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 업무별 위험요소를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ts val="2000"/>
              </a:lnSpc>
            </a:pP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법적 의무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검토 절차와 연결해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ts val="2000"/>
              </a:lnSpc>
            </a:pP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기준과 통제 방안을</a:t>
            </a:r>
            <a:endParaRPr lang="en-US" altLang="ko-KR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ts val="2000"/>
              </a:lnSpc>
            </a:pP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설계할 필요가 있다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9C931F-DB02-7861-7543-4C6FAE03311F}"/>
              </a:ext>
            </a:extLst>
          </p:cNvPr>
          <p:cNvSpPr txBox="1"/>
          <p:nvPr/>
        </p:nvSpPr>
        <p:spPr>
          <a:xfrm>
            <a:off x="818946" y="4226581"/>
            <a:ext cx="3583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국가연구개발사업의 문서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정보처리 중심 업무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8D4B35-1AAB-E8F7-DD02-66602E35648F}"/>
              </a:ext>
            </a:extLst>
          </p:cNvPr>
          <p:cNvSpPr txBox="1"/>
          <p:nvPr/>
        </p:nvSpPr>
        <p:spPr>
          <a:xfrm>
            <a:off x="8340544" y="4309727"/>
            <a:ext cx="3382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R&amp;D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문서업무의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활용 위험은 무엇인가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7D9716-5909-4E1F-A8E1-10CD365A97D0}"/>
              </a:ext>
            </a:extLst>
          </p:cNvPr>
          <p:cNvSpPr txBox="1"/>
          <p:nvPr/>
        </p:nvSpPr>
        <p:spPr>
          <a:xfrm>
            <a:off x="8340543" y="4728116"/>
            <a:ext cx="30556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위험별 적용 법적 의무와 통제 기준은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F824DF-BEAD-49DB-6977-3243F995F1A5}"/>
              </a:ext>
            </a:extLst>
          </p:cNvPr>
          <p:cNvSpPr txBox="1"/>
          <p:nvPr/>
        </p:nvSpPr>
        <p:spPr>
          <a:xfrm>
            <a:off x="8340543" y="5159961"/>
            <a:ext cx="3124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합성사례에서 평가기준의 적용 한계는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8E724C29-D09E-6D93-08E4-20AEEF4CD584}"/>
              </a:ext>
            </a:extLst>
          </p:cNvPr>
          <p:cNvSpPr/>
          <p:nvPr/>
        </p:nvSpPr>
        <p:spPr>
          <a:xfrm>
            <a:off x="836090" y="4636638"/>
            <a:ext cx="2897710" cy="3992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2E29915-A664-86FC-4351-DBA3B83CC2BB}"/>
              </a:ext>
            </a:extLst>
          </p:cNvPr>
          <p:cNvSpPr txBox="1"/>
          <p:nvPr/>
        </p:nvSpPr>
        <p:spPr>
          <a:xfrm>
            <a:off x="307698" y="215205"/>
            <a:ext cx="19976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거버넌스 기반의 연구방법론</a:t>
            </a: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CECD861A-9752-6CE4-D166-A1A5B7A5923D}"/>
              </a:ext>
            </a:extLst>
          </p:cNvPr>
          <p:cNvGrpSpPr/>
          <p:nvPr/>
        </p:nvGrpSpPr>
        <p:grpSpPr>
          <a:xfrm>
            <a:off x="501863" y="3849629"/>
            <a:ext cx="402674" cy="353236"/>
            <a:chOff x="669303" y="2055043"/>
            <a:chExt cx="463886" cy="433634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7565E8D3-93F0-44AC-4646-6D2F86A0174F}"/>
                </a:ext>
              </a:extLst>
            </p:cNvPr>
            <p:cNvSpPr/>
            <p:nvPr/>
          </p:nvSpPr>
          <p:spPr>
            <a:xfrm>
              <a:off x="669304" y="2055043"/>
              <a:ext cx="433632" cy="43363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21B5279B-DE8D-8563-AC2B-7E889CEA96F9}"/>
                </a:ext>
              </a:extLst>
            </p:cNvPr>
            <p:cNvSpPr txBox="1"/>
            <p:nvPr/>
          </p:nvSpPr>
          <p:spPr>
            <a:xfrm>
              <a:off x="669303" y="2087194"/>
              <a:ext cx="463886" cy="377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04</a:t>
              </a:r>
              <a:endPara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3" name="타원 102">
            <a:extLst>
              <a:ext uri="{FF2B5EF4-FFF2-40B4-BE49-F238E27FC236}">
                <a16:creationId xmlns:a16="http://schemas.microsoft.com/office/drawing/2014/main" id="{4DB1F416-A553-6836-A883-C83A1C5BDC2F}"/>
              </a:ext>
            </a:extLst>
          </p:cNvPr>
          <p:cNvSpPr/>
          <p:nvPr/>
        </p:nvSpPr>
        <p:spPr>
          <a:xfrm>
            <a:off x="750556" y="2284737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78094A93-21FE-4102-1012-6DE3708CD0C7}"/>
              </a:ext>
            </a:extLst>
          </p:cNvPr>
          <p:cNvSpPr/>
          <p:nvPr/>
        </p:nvSpPr>
        <p:spPr>
          <a:xfrm>
            <a:off x="750556" y="2967571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015ACAA2-635D-8119-768A-8D15579FC7F2}"/>
              </a:ext>
            </a:extLst>
          </p:cNvPr>
          <p:cNvSpPr/>
          <p:nvPr/>
        </p:nvSpPr>
        <p:spPr>
          <a:xfrm>
            <a:off x="4718062" y="2252203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279AA408-D652-E7D5-8C62-647AD6B36545}"/>
              </a:ext>
            </a:extLst>
          </p:cNvPr>
          <p:cNvSpPr/>
          <p:nvPr/>
        </p:nvSpPr>
        <p:spPr>
          <a:xfrm>
            <a:off x="4718062" y="2867577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9B881EDD-53E6-79F4-84EB-82F797C3016B}"/>
              </a:ext>
            </a:extLst>
          </p:cNvPr>
          <p:cNvCxnSpPr>
            <a:cxnSpLocks/>
          </p:cNvCxnSpPr>
          <p:nvPr/>
        </p:nvCxnSpPr>
        <p:spPr>
          <a:xfrm>
            <a:off x="864856" y="6139543"/>
            <a:ext cx="103365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6CF72D44-5913-80D2-1AF1-F82183B62D55}"/>
              </a:ext>
            </a:extLst>
          </p:cNvPr>
          <p:cNvGrpSpPr/>
          <p:nvPr/>
        </p:nvGrpSpPr>
        <p:grpSpPr>
          <a:xfrm>
            <a:off x="7772525" y="4327948"/>
            <a:ext cx="550111" cy="261610"/>
            <a:chOff x="7772525" y="4156498"/>
            <a:chExt cx="550111" cy="261610"/>
          </a:xfrm>
        </p:grpSpPr>
        <p:sp>
          <p:nvSpPr>
            <p:cNvPr id="115" name="사각형: 둥근 모서리 114">
              <a:extLst>
                <a:ext uri="{FF2B5EF4-FFF2-40B4-BE49-F238E27FC236}">
                  <a16:creationId xmlns:a16="http://schemas.microsoft.com/office/drawing/2014/main" id="{CC8EF39E-81F9-3FF3-377C-39281972838E}"/>
                </a:ext>
              </a:extLst>
            </p:cNvPr>
            <p:cNvSpPr/>
            <p:nvPr/>
          </p:nvSpPr>
          <p:spPr>
            <a:xfrm>
              <a:off x="7772525" y="4175922"/>
              <a:ext cx="550111" cy="23248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1D2D001-1991-BBDB-1018-C8301A9AFDD7}"/>
                </a:ext>
              </a:extLst>
            </p:cNvPr>
            <p:cNvSpPr txBox="1"/>
            <p:nvPr/>
          </p:nvSpPr>
          <p:spPr>
            <a:xfrm>
              <a:off x="7813381" y="4156498"/>
              <a:ext cx="4683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RQ1</a:t>
              </a:r>
              <a:endPara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5EFE0882-4113-7F80-8984-C973323D055E}"/>
              </a:ext>
            </a:extLst>
          </p:cNvPr>
          <p:cNvGrpSpPr/>
          <p:nvPr/>
        </p:nvGrpSpPr>
        <p:grpSpPr>
          <a:xfrm>
            <a:off x="7780063" y="4751199"/>
            <a:ext cx="550111" cy="261610"/>
            <a:chOff x="7772525" y="4156498"/>
            <a:chExt cx="550111" cy="261610"/>
          </a:xfrm>
        </p:grpSpPr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95084E1A-C8EF-9ABB-F6B2-319BAD6416FA}"/>
                </a:ext>
              </a:extLst>
            </p:cNvPr>
            <p:cNvSpPr/>
            <p:nvPr/>
          </p:nvSpPr>
          <p:spPr>
            <a:xfrm>
              <a:off x="7772525" y="4175922"/>
              <a:ext cx="550111" cy="23248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FF42F6B-29E2-705F-CF2F-83507AA3ABF6}"/>
                </a:ext>
              </a:extLst>
            </p:cNvPr>
            <p:cNvSpPr txBox="1"/>
            <p:nvPr/>
          </p:nvSpPr>
          <p:spPr>
            <a:xfrm>
              <a:off x="7813381" y="4156498"/>
              <a:ext cx="4683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RQ2</a:t>
              </a:r>
              <a:endPara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83D59F7F-99CF-B295-1935-EEA4D9A48C42}"/>
              </a:ext>
            </a:extLst>
          </p:cNvPr>
          <p:cNvGrpSpPr/>
          <p:nvPr/>
        </p:nvGrpSpPr>
        <p:grpSpPr>
          <a:xfrm>
            <a:off x="7780063" y="5172940"/>
            <a:ext cx="550111" cy="261610"/>
            <a:chOff x="7772525" y="4156498"/>
            <a:chExt cx="550111" cy="261610"/>
          </a:xfrm>
        </p:grpSpPr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49368597-0AD3-9BB6-336C-F243F4DAD858}"/>
                </a:ext>
              </a:extLst>
            </p:cNvPr>
            <p:cNvSpPr/>
            <p:nvPr/>
          </p:nvSpPr>
          <p:spPr>
            <a:xfrm>
              <a:off x="7772525" y="4175922"/>
              <a:ext cx="550111" cy="232485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FE8B67E-E7CF-E080-13E0-6B925E2EC7A8}"/>
                </a:ext>
              </a:extLst>
            </p:cNvPr>
            <p:cNvSpPr txBox="1"/>
            <p:nvPr/>
          </p:nvSpPr>
          <p:spPr>
            <a:xfrm>
              <a:off x="7813381" y="4156498"/>
              <a:ext cx="4683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RQ3</a:t>
              </a:r>
              <a:endParaRPr lang="ko-KR" altLang="en-US" sz="11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01843280-BD2D-19A8-15C4-61D34607ACEC}"/>
              </a:ext>
            </a:extLst>
          </p:cNvPr>
          <p:cNvSpPr/>
          <p:nvPr/>
        </p:nvSpPr>
        <p:spPr>
          <a:xfrm>
            <a:off x="4042329" y="4636638"/>
            <a:ext cx="2897710" cy="3992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C61BFFF3-EA02-11AB-81A1-6DECC6F08517}"/>
              </a:ext>
            </a:extLst>
          </p:cNvPr>
          <p:cNvSpPr/>
          <p:nvPr/>
        </p:nvSpPr>
        <p:spPr>
          <a:xfrm>
            <a:off x="836090" y="5137944"/>
            <a:ext cx="2897710" cy="3992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AF8B6FCD-5C0B-AC5C-A497-F1480A325B4B}"/>
              </a:ext>
            </a:extLst>
          </p:cNvPr>
          <p:cNvSpPr/>
          <p:nvPr/>
        </p:nvSpPr>
        <p:spPr>
          <a:xfrm>
            <a:off x="4042329" y="5137944"/>
            <a:ext cx="2897710" cy="3992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D93BF72-C208-01EB-2DFC-0E265C4F1855}"/>
              </a:ext>
            </a:extLst>
          </p:cNvPr>
          <p:cNvSpPr txBox="1"/>
          <p:nvPr/>
        </p:nvSpPr>
        <p:spPr>
          <a:xfrm>
            <a:off x="934439" y="4680221"/>
            <a:ext cx="90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계획</a:t>
            </a:r>
            <a:r>
              <a:rPr lang="en-US" altLang="ko-KR" sz="14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협약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FCF53E-F879-6C81-8E61-5F972CF178D1}"/>
              </a:ext>
            </a:extLst>
          </p:cNvPr>
          <p:cNvSpPr txBox="1"/>
          <p:nvPr/>
        </p:nvSpPr>
        <p:spPr>
          <a:xfrm>
            <a:off x="1888484" y="4680221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연구계획서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변경 서류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68C9165-8B66-5332-748A-9029C6A8FF06}"/>
              </a:ext>
            </a:extLst>
          </p:cNvPr>
          <p:cNvSpPr txBox="1"/>
          <p:nvPr/>
        </p:nvSpPr>
        <p:spPr>
          <a:xfrm>
            <a:off x="878276" y="5181284"/>
            <a:ext cx="10262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참여연구원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7BD2B46-2210-D6E6-A7CA-2EDD16BCAECC}"/>
              </a:ext>
            </a:extLst>
          </p:cNvPr>
          <p:cNvSpPr txBox="1"/>
          <p:nvPr/>
        </p:nvSpPr>
        <p:spPr>
          <a:xfrm>
            <a:off x="1882597" y="5179348"/>
            <a:ext cx="1463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인건비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0EF2F53-964C-1B0C-9DE0-E85AFCDDA68A}"/>
              </a:ext>
            </a:extLst>
          </p:cNvPr>
          <p:cNvSpPr txBox="1"/>
          <p:nvPr/>
        </p:nvSpPr>
        <p:spPr>
          <a:xfrm>
            <a:off x="4083366" y="4681251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연구비 집행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1EBBB67-189D-4CF1-8C64-20B95F672314}"/>
              </a:ext>
            </a:extLst>
          </p:cNvPr>
          <p:cNvSpPr txBox="1"/>
          <p:nvPr/>
        </p:nvSpPr>
        <p:spPr>
          <a:xfrm>
            <a:off x="5194346" y="4687601"/>
            <a:ext cx="12458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규정질의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정산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F646BF0-8B61-35AF-2049-FFAD09FFDF13}"/>
              </a:ext>
            </a:extLst>
          </p:cNvPr>
          <p:cNvSpPr txBox="1"/>
          <p:nvPr/>
        </p:nvSpPr>
        <p:spPr>
          <a:xfrm>
            <a:off x="4179458" y="5183762"/>
            <a:ext cx="9092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성과</a:t>
            </a:r>
            <a:r>
              <a:rPr lang="en-US" altLang="ko-KR" sz="14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보고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1BBEF52-486F-F05F-0D25-0055E12A3B7A}"/>
              </a:ext>
            </a:extLst>
          </p:cNvPr>
          <p:cNvSpPr txBox="1"/>
          <p:nvPr/>
        </p:nvSpPr>
        <p:spPr>
          <a:xfrm>
            <a:off x="5225810" y="5172940"/>
            <a:ext cx="1414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보고서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성과자료</a:t>
            </a: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B85B0565-4CEC-E79E-5F74-2668225AD4DB}"/>
              </a:ext>
            </a:extLst>
          </p:cNvPr>
          <p:cNvSpPr/>
          <p:nvPr/>
        </p:nvSpPr>
        <p:spPr>
          <a:xfrm>
            <a:off x="1015463" y="6331732"/>
            <a:ext cx="122973" cy="12802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49E1DF0-1437-DADE-7145-FB006C2950CA}"/>
              </a:ext>
            </a:extLst>
          </p:cNvPr>
          <p:cNvSpPr txBox="1"/>
          <p:nvPr/>
        </p:nvSpPr>
        <p:spPr>
          <a:xfrm>
            <a:off x="1086739" y="6275134"/>
            <a:ext cx="634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</a:t>
            </a: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B934C90E-87D2-0539-347E-A9A8228922B9}"/>
              </a:ext>
            </a:extLst>
          </p:cNvPr>
          <p:cNvSpPr/>
          <p:nvPr/>
        </p:nvSpPr>
        <p:spPr>
          <a:xfrm>
            <a:off x="2195616" y="6338082"/>
            <a:ext cx="122973" cy="12802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653F3BE-BF8C-7B49-3978-17AF87BDBE8A}"/>
              </a:ext>
            </a:extLst>
          </p:cNvPr>
          <p:cNvSpPr txBox="1"/>
          <p:nvPr/>
        </p:nvSpPr>
        <p:spPr>
          <a:xfrm>
            <a:off x="2267341" y="6255101"/>
            <a:ext cx="634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 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</a:t>
            </a: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DE552514-747B-689A-B35E-1AA0812CBABC}"/>
              </a:ext>
            </a:extLst>
          </p:cNvPr>
          <p:cNvSpPr/>
          <p:nvPr/>
        </p:nvSpPr>
        <p:spPr>
          <a:xfrm>
            <a:off x="3447943" y="6331732"/>
            <a:ext cx="122973" cy="12802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241A46E-869B-8471-A7AC-DDFD89D2BF40}"/>
              </a:ext>
            </a:extLst>
          </p:cNvPr>
          <p:cNvSpPr txBox="1"/>
          <p:nvPr/>
        </p:nvSpPr>
        <p:spPr>
          <a:xfrm>
            <a:off x="3514640" y="6268784"/>
            <a:ext cx="9594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3 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핵심 논제</a:t>
            </a:r>
          </a:p>
        </p:txBody>
      </p:sp>
      <p:sp>
        <p:nvSpPr>
          <p:cNvPr id="144" name="타원 143">
            <a:extLst>
              <a:ext uri="{FF2B5EF4-FFF2-40B4-BE49-F238E27FC236}">
                <a16:creationId xmlns:a16="http://schemas.microsoft.com/office/drawing/2014/main" id="{4D7C0A91-6BCE-536B-7850-8F6289CF429A}"/>
              </a:ext>
            </a:extLst>
          </p:cNvPr>
          <p:cNvSpPr/>
          <p:nvPr/>
        </p:nvSpPr>
        <p:spPr>
          <a:xfrm>
            <a:off x="5016776" y="6331732"/>
            <a:ext cx="122973" cy="12802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FDD7E87-223C-1EEB-380F-5F65E93CFAC0}"/>
              </a:ext>
            </a:extLst>
          </p:cNvPr>
          <p:cNvSpPr txBox="1"/>
          <p:nvPr/>
        </p:nvSpPr>
        <p:spPr>
          <a:xfrm>
            <a:off x="5087293" y="6268784"/>
            <a:ext cx="9594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 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 범위</a:t>
            </a:r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00D5B44B-65A7-38A6-2BF2-BADB0938D725}"/>
              </a:ext>
            </a:extLst>
          </p:cNvPr>
          <p:cNvSpPr/>
          <p:nvPr/>
        </p:nvSpPr>
        <p:spPr>
          <a:xfrm>
            <a:off x="6470936" y="6331732"/>
            <a:ext cx="122973" cy="128021"/>
          </a:xfrm>
          <a:prstGeom prst="ellipse">
            <a:avLst/>
          </a:prstGeom>
          <a:solidFill>
            <a:schemeClr val="accent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>
                  <a:alpha val="40000"/>
                </a:schemeClr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93145CB0-25E6-E67F-0FAC-3CD269F9CC46}"/>
              </a:ext>
            </a:extLst>
          </p:cNvPr>
          <p:cNvSpPr txBox="1"/>
          <p:nvPr/>
        </p:nvSpPr>
        <p:spPr>
          <a:xfrm>
            <a:off x="6555802" y="6273939"/>
            <a:ext cx="7759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 </a:t>
            </a:r>
            <a:r>
              <a:rPr lang="ko-KR" altLang="en-US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</a:t>
            </a: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75DA3714-E662-49D6-2098-3ECD3F9B2569}"/>
              </a:ext>
            </a:extLst>
          </p:cNvPr>
          <p:cNvSpPr/>
          <p:nvPr/>
        </p:nvSpPr>
        <p:spPr>
          <a:xfrm>
            <a:off x="9057479" y="6331732"/>
            <a:ext cx="122973" cy="128021"/>
          </a:xfrm>
          <a:prstGeom prst="ellipse">
            <a:avLst/>
          </a:prstGeom>
          <a:solidFill>
            <a:schemeClr val="accent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>
                  <a:alpha val="40000"/>
                </a:schemeClr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6A1DD48-E3C3-4A26-24CB-CD8C02923C28}"/>
              </a:ext>
            </a:extLst>
          </p:cNvPr>
          <p:cNvSpPr txBox="1"/>
          <p:nvPr/>
        </p:nvSpPr>
        <p:spPr>
          <a:xfrm>
            <a:off x="9121770" y="6256453"/>
            <a:ext cx="7759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 </a:t>
            </a:r>
            <a:r>
              <a:rPr lang="ko-KR" altLang="en-US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산출물</a:t>
            </a: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17C65C5E-38B1-7AB5-7E60-BC1AFF87BFC7}"/>
              </a:ext>
            </a:extLst>
          </p:cNvPr>
          <p:cNvSpPr/>
          <p:nvPr/>
        </p:nvSpPr>
        <p:spPr>
          <a:xfrm>
            <a:off x="7801348" y="6331732"/>
            <a:ext cx="122973" cy="128021"/>
          </a:xfrm>
          <a:prstGeom prst="ellipse">
            <a:avLst/>
          </a:prstGeom>
          <a:solidFill>
            <a:schemeClr val="accent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>
                  <a:alpha val="40000"/>
                </a:schemeClr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3DD0B90-EF53-1FE9-616E-D7B9BAF1D299}"/>
              </a:ext>
            </a:extLst>
          </p:cNvPr>
          <p:cNvSpPr txBox="1"/>
          <p:nvPr/>
        </p:nvSpPr>
        <p:spPr>
          <a:xfrm>
            <a:off x="7876224" y="6273939"/>
            <a:ext cx="7759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 </a:t>
            </a:r>
            <a:r>
              <a:rPr lang="ko-KR" altLang="en-US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방법론</a:t>
            </a:r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FC295F5C-7F4C-83AA-4858-703ADE337A6D}"/>
              </a:ext>
            </a:extLst>
          </p:cNvPr>
          <p:cNvSpPr/>
          <p:nvPr/>
        </p:nvSpPr>
        <p:spPr>
          <a:xfrm>
            <a:off x="10316414" y="6331733"/>
            <a:ext cx="122973" cy="128021"/>
          </a:xfrm>
          <a:prstGeom prst="ellipse">
            <a:avLst/>
          </a:prstGeom>
          <a:solidFill>
            <a:schemeClr val="accent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>
                  <a:alpha val="40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4237706-A91F-DD21-EBAC-0A73CCA00E64}"/>
              </a:ext>
            </a:extLst>
          </p:cNvPr>
          <p:cNvSpPr txBox="1"/>
          <p:nvPr/>
        </p:nvSpPr>
        <p:spPr>
          <a:xfrm>
            <a:off x="10377901" y="6256453"/>
            <a:ext cx="634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8 </a:t>
            </a:r>
            <a:r>
              <a:rPr lang="ko-KR" altLang="en-US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일정</a:t>
            </a:r>
          </a:p>
        </p:txBody>
      </p:sp>
    </p:spTree>
    <p:extLst>
      <p:ext uri="{BB962C8B-B14F-4D97-AF65-F5344CB8AC3E}">
        <p14:creationId xmlns:p14="http://schemas.microsoft.com/office/powerpoint/2010/main" val="2867521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1E00BB0-FAA7-D456-3FC4-9A19E07153A2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809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D6D405E-18CA-4D81-FBE3-719B819A4927}"/>
              </a:ext>
            </a:extLst>
          </p:cNvPr>
          <p:cNvSpPr/>
          <p:nvPr/>
        </p:nvSpPr>
        <p:spPr>
          <a:xfrm>
            <a:off x="367645" y="1457326"/>
            <a:ext cx="3619893" cy="1971674"/>
          </a:xfrm>
          <a:prstGeom prst="roundRect">
            <a:avLst>
              <a:gd name="adj" fmla="val 1012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9AFE3D-CADD-290B-04BF-684AA3DA9329}"/>
              </a:ext>
            </a:extLst>
          </p:cNvPr>
          <p:cNvSpPr txBox="1"/>
          <p:nvPr/>
        </p:nvSpPr>
        <p:spPr>
          <a:xfrm>
            <a:off x="888072" y="1574677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 데이터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CDBC249C-B4B9-4663-D50E-6FAAE63FC45E}"/>
              </a:ext>
            </a:extLst>
          </p:cNvPr>
          <p:cNvSpPr/>
          <p:nvPr/>
        </p:nvSpPr>
        <p:spPr>
          <a:xfrm>
            <a:off x="4286053" y="1457326"/>
            <a:ext cx="7538302" cy="1971674"/>
          </a:xfrm>
          <a:prstGeom prst="roundRect">
            <a:avLst>
              <a:gd name="adj" fmla="val 1012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C9FC07-C26B-872E-783F-110E6FD61C4F}"/>
              </a:ext>
            </a:extLst>
          </p:cNvPr>
          <p:cNvSpPr/>
          <p:nvPr/>
        </p:nvSpPr>
        <p:spPr>
          <a:xfrm>
            <a:off x="367643" y="3603467"/>
            <a:ext cx="7153167" cy="1704653"/>
          </a:xfrm>
          <a:prstGeom prst="roundRect">
            <a:avLst>
              <a:gd name="adj" fmla="val 10127"/>
            </a:avLst>
          </a:prstGeom>
          <a:solidFill>
            <a:srgbClr val="EEE9E6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E02C83D-207D-3C6E-3E22-9590951D5FA3}"/>
              </a:ext>
            </a:extLst>
          </p:cNvPr>
          <p:cNvSpPr/>
          <p:nvPr/>
        </p:nvSpPr>
        <p:spPr>
          <a:xfrm>
            <a:off x="7801348" y="3603467"/>
            <a:ext cx="4023007" cy="1704653"/>
          </a:xfrm>
          <a:prstGeom prst="roundRect">
            <a:avLst>
              <a:gd name="adj" fmla="val 1012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9FC071D-A962-15D7-E7C4-00C88823EC3E}"/>
              </a:ext>
            </a:extLst>
          </p:cNvPr>
          <p:cNvSpPr/>
          <p:nvPr/>
        </p:nvSpPr>
        <p:spPr>
          <a:xfrm>
            <a:off x="367642" y="5479374"/>
            <a:ext cx="11456713" cy="589737"/>
          </a:xfrm>
          <a:prstGeom prst="roundRect">
            <a:avLst>
              <a:gd name="adj" fmla="val 10127"/>
            </a:avLst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DB256C-7368-79DE-0E34-EC5AD247F38F}"/>
              </a:ext>
            </a:extLst>
          </p:cNvPr>
          <p:cNvSpPr txBox="1"/>
          <p:nvPr/>
        </p:nvSpPr>
        <p:spPr>
          <a:xfrm>
            <a:off x="910069" y="1984950"/>
            <a:ext cx="2537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국가연구개발혁신법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인공지능기본법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5256DB-0CB2-251E-9033-025078C5B2A1}"/>
              </a:ext>
            </a:extLst>
          </p:cNvPr>
          <p:cNvSpPr txBox="1"/>
          <p:nvPr/>
        </p:nvSpPr>
        <p:spPr>
          <a:xfrm>
            <a:off x="906578" y="2256749"/>
            <a:ext cx="2334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개인정보보호법 및 관련 하위규정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598EA0-9F10-AC4A-1775-FC00F4770671}"/>
              </a:ext>
            </a:extLst>
          </p:cNvPr>
          <p:cNvSpPr txBox="1"/>
          <p:nvPr/>
        </p:nvSpPr>
        <p:spPr>
          <a:xfrm>
            <a:off x="906578" y="2539274"/>
            <a:ext cx="2491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공개 연구관리 지침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서식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업무 맥락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1FDC870-4048-8D59-C4FF-AFD8CDF1BCF6}"/>
              </a:ext>
            </a:extLst>
          </p:cNvPr>
          <p:cNvSpPr txBox="1"/>
          <p:nvPr/>
        </p:nvSpPr>
        <p:spPr>
          <a:xfrm>
            <a:off x="910220" y="2827331"/>
            <a:ext cx="2044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비식별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합성 업무사례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5~8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77045D-B201-F59A-505D-CC3428B78831}"/>
              </a:ext>
            </a:extLst>
          </p:cNvPr>
          <p:cNvSpPr txBox="1"/>
          <p:nvPr/>
        </p:nvSpPr>
        <p:spPr>
          <a:xfrm>
            <a:off x="737061" y="3097029"/>
            <a:ext cx="19607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※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법적 의무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권고 지침 별도 구분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C31C328-2DE9-AA93-5211-BD67F92CDC92}"/>
              </a:ext>
            </a:extLst>
          </p:cNvPr>
          <p:cNvSpPr/>
          <p:nvPr/>
        </p:nvSpPr>
        <p:spPr>
          <a:xfrm>
            <a:off x="4516333" y="2228546"/>
            <a:ext cx="1207920" cy="8442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5E0706C2-BD90-6655-BDE6-17770E20FD93}"/>
              </a:ext>
            </a:extLst>
          </p:cNvPr>
          <p:cNvSpPr/>
          <p:nvPr/>
        </p:nvSpPr>
        <p:spPr>
          <a:xfrm>
            <a:off x="6027432" y="2232046"/>
            <a:ext cx="1207920" cy="8442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화살표: 갈매기형 수장 48">
            <a:extLst>
              <a:ext uri="{FF2B5EF4-FFF2-40B4-BE49-F238E27FC236}">
                <a16:creationId xmlns:a16="http://schemas.microsoft.com/office/drawing/2014/main" id="{59A3EE44-A161-BCD1-DBEE-85F209A44927}"/>
              </a:ext>
            </a:extLst>
          </p:cNvPr>
          <p:cNvSpPr/>
          <p:nvPr/>
        </p:nvSpPr>
        <p:spPr>
          <a:xfrm>
            <a:off x="5796732" y="2569153"/>
            <a:ext cx="124379" cy="170845"/>
          </a:xfrm>
          <a:prstGeom prst="chevron">
            <a:avLst>
              <a:gd name="adj" fmla="val 5957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ko-KR" altLang="en-US" sz="14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4BEE4F94-CC43-2873-6700-CF6BA2777920}"/>
              </a:ext>
            </a:extLst>
          </p:cNvPr>
          <p:cNvSpPr/>
          <p:nvPr/>
        </p:nvSpPr>
        <p:spPr>
          <a:xfrm>
            <a:off x="7522865" y="2225991"/>
            <a:ext cx="1207920" cy="8442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화살표: 갈매기형 수장 52">
            <a:extLst>
              <a:ext uri="{FF2B5EF4-FFF2-40B4-BE49-F238E27FC236}">
                <a16:creationId xmlns:a16="http://schemas.microsoft.com/office/drawing/2014/main" id="{EE640325-5E8C-105F-41D1-89EE514443F3}"/>
              </a:ext>
            </a:extLst>
          </p:cNvPr>
          <p:cNvSpPr/>
          <p:nvPr/>
        </p:nvSpPr>
        <p:spPr>
          <a:xfrm>
            <a:off x="7305641" y="2573624"/>
            <a:ext cx="124379" cy="170845"/>
          </a:xfrm>
          <a:prstGeom prst="chevron">
            <a:avLst>
              <a:gd name="adj" fmla="val 5957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75924C46-0734-A42A-0105-2F0AFECB9235}"/>
              </a:ext>
            </a:extLst>
          </p:cNvPr>
          <p:cNvSpPr/>
          <p:nvPr/>
        </p:nvSpPr>
        <p:spPr>
          <a:xfrm>
            <a:off x="9005637" y="2225991"/>
            <a:ext cx="1207920" cy="844219"/>
          </a:xfrm>
          <a:prstGeom prst="roundRect">
            <a:avLst/>
          </a:prstGeom>
          <a:solidFill>
            <a:srgbClr val="EEE9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화살표: 갈매기형 수장 56">
            <a:extLst>
              <a:ext uri="{FF2B5EF4-FFF2-40B4-BE49-F238E27FC236}">
                <a16:creationId xmlns:a16="http://schemas.microsoft.com/office/drawing/2014/main" id="{3DFC2AD9-59DF-5698-C8F7-A881730291C4}"/>
              </a:ext>
            </a:extLst>
          </p:cNvPr>
          <p:cNvSpPr/>
          <p:nvPr/>
        </p:nvSpPr>
        <p:spPr>
          <a:xfrm>
            <a:off x="8814084" y="2569153"/>
            <a:ext cx="124379" cy="170845"/>
          </a:xfrm>
          <a:prstGeom prst="chevron">
            <a:avLst>
              <a:gd name="adj" fmla="val 5957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096E6B15-F55C-B3EA-5A69-37444885FFF6}"/>
              </a:ext>
            </a:extLst>
          </p:cNvPr>
          <p:cNvSpPr/>
          <p:nvPr/>
        </p:nvSpPr>
        <p:spPr>
          <a:xfrm>
            <a:off x="10454376" y="2232032"/>
            <a:ext cx="1207920" cy="84421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AC7867EE-0D0B-AD71-0097-92DDC9500316}"/>
              </a:ext>
            </a:extLst>
          </p:cNvPr>
          <p:cNvSpPr/>
          <p:nvPr/>
        </p:nvSpPr>
        <p:spPr>
          <a:xfrm>
            <a:off x="10288970" y="2569153"/>
            <a:ext cx="124379" cy="170845"/>
          </a:xfrm>
          <a:prstGeom prst="chevron">
            <a:avLst>
              <a:gd name="adj" fmla="val 5957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0F629B5-F104-6566-F27F-36DD3B99341D}"/>
              </a:ext>
            </a:extLst>
          </p:cNvPr>
          <p:cNvSpPr txBox="1"/>
          <p:nvPr/>
        </p:nvSpPr>
        <p:spPr>
          <a:xfrm>
            <a:off x="4506565" y="2333333"/>
            <a:ext cx="11801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①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법규제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분석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EC0ACD-7FA0-51AA-02FD-6F1F8141D39A}"/>
              </a:ext>
            </a:extLst>
          </p:cNvPr>
          <p:cNvSpPr txBox="1"/>
          <p:nvPr/>
        </p:nvSpPr>
        <p:spPr>
          <a:xfrm>
            <a:off x="5966022" y="2337261"/>
            <a:ext cx="13244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② 사례 표본 구성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EF0BA55-381B-8626-6DBE-2840300930DB}"/>
              </a:ext>
            </a:extLst>
          </p:cNvPr>
          <p:cNvSpPr txBox="1"/>
          <p:nvPr/>
        </p:nvSpPr>
        <p:spPr>
          <a:xfrm>
            <a:off x="7473202" y="2332363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③ 위험요인 코딩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35AE33B-776F-8209-2459-2B3FA0649509}"/>
              </a:ext>
            </a:extLst>
          </p:cNvPr>
          <p:cNvSpPr txBox="1"/>
          <p:nvPr/>
        </p:nvSpPr>
        <p:spPr>
          <a:xfrm>
            <a:off x="8960614" y="2336297"/>
            <a:ext cx="1281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④ 예비 위험평가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A7F758-5132-867D-89FB-D21F3BF9937C}"/>
              </a:ext>
            </a:extLst>
          </p:cNvPr>
          <p:cNvSpPr txBox="1"/>
          <p:nvPr/>
        </p:nvSpPr>
        <p:spPr>
          <a:xfrm>
            <a:off x="10551169" y="2335232"/>
            <a:ext cx="9925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⑤ 사례 비교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DB9747-D769-13E6-22DE-2C9F2995A6FE}"/>
              </a:ext>
            </a:extLst>
          </p:cNvPr>
          <p:cNvSpPr txBox="1"/>
          <p:nvPr/>
        </p:nvSpPr>
        <p:spPr>
          <a:xfrm>
            <a:off x="4587934" y="2670948"/>
            <a:ext cx="1064715" cy="2616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권고 구분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7D3F73-9418-BBFC-A045-9601AD15B1CB}"/>
              </a:ext>
            </a:extLst>
          </p:cNvPr>
          <p:cNvSpPr txBox="1"/>
          <p:nvPr/>
        </p:nvSpPr>
        <p:spPr>
          <a:xfrm>
            <a:off x="6096666" y="2675418"/>
            <a:ext cx="1063112" cy="2616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선정 기준 명시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111344B-BF3F-4E2A-BC29-FA2062734027}"/>
              </a:ext>
            </a:extLst>
          </p:cNvPr>
          <p:cNvSpPr txBox="1"/>
          <p:nvPr/>
        </p:nvSpPr>
        <p:spPr>
          <a:xfrm>
            <a:off x="7520811" y="2676210"/>
            <a:ext cx="1199366" cy="2616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정확성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책임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1E1ED96-23FC-F60D-9F93-CCA4DAD05813}"/>
              </a:ext>
            </a:extLst>
          </p:cNvPr>
          <p:cNvSpPr txBox="1"/>
          <p:nvPr/>
        </p:nvSpPr>
        <p:spPr>
          <a:xfrm>
            <a:off x="9003633" y="2670948"/>
            <a:ext cx="1197764" cy="2616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척도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1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통제안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도출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E08ED37-D6EB-A3DF-1FDC-BBE2D5734170}"/>
              </a:ext>
            </a:extLst>
          </p:cNvPr>
          <p:cNvSpPr txBox="1"/>
          <p:nvPr/>
        </p:nvSpPr>
        <p:spPr>
          <a:xfrm>
            <a:off x="10462873" y="2670948"/>
            <a:ext cx="1197764" cy="26161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적용 가능성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3C2D744-6563-534D-FF2C-D70048A46EE1}"/>
              </a:ext>
            </a:extLst>
          </p:cNvPr>
          <p:cNvSpPr txBox="1"/>
          <p:nvPr/>
        </p:nvSpPr>
        <p:spPr>
          <a:xfrm>
            <a:off x="444634" y="3732220"/>
            <a:ext cx="374790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예비 위험평가 </a:t>
            </a:r>
            <a:r>
              <a:rPr lang="en-US" altLang="ko-KR" sz="15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| 3</a:t>
            </a:r>
            <a:r>
              <a:rPr lang="ko-KR" altLang="en-US" sz="15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 위험 영역 </a:t>
            </a:r>
            <a:r>
              <a:rPr lang="en-US" altLang="ko-KR" sz="15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X </a:t>
            </a:r>
            <a:r>
              <a:rPr lang="ko-KR" altLang="en-US" sz="15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합성사례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8477CCF-89EB-96DD-9059-E521A3470C07}"/>
              </a:ext>
            </a:extLst>
          </p:cNvPr>
          <p:cNvSpPr txBox="1"/>
          <p:nvPr/>
        </p:nvSpPr>
        <p:spPr>
          <a:xfrm>
            <a:off x="9428102" y="126188"/>
            <a:ext cx="27638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인공지능융합학과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(202676237) 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송민성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12A11D0-4E49-6E62-233F-A12416A0ECD1}"/>
              </a:ext>
            </a:extLst>
          </p:cNvPr>
          <p:cNvSpPr txBox="1"/>
          <p:nvPr/>
        </p:nvSpPr>
        <p:spPr>
          <a:xfrm>
            <a:off x="307698" y="215205"/>
            <a:ext cx="19976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거버넌스 기반의 연구방법론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6F2A42-9865-4C4D-B706-AF9094F87446}"/>
              </a:ext>
            </a:extLst>
          </p:cNvPr>
          <p:cNvSpPr txBox="1"/>
          <p:nvPr/>
        </p:nvSpPr>
        <p:spPr>
          <a:xfrm>
            <a:off x="11580935" y="6595705"/>
            <a:ext cx="6110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 / 02</a:t>
            </a:r>
            <a:endParaRPr lang="ko-KR" altLang="en-US" sz="1000" b="1" dirty="0">
              <a:solidFill>
                <a:schemeClr val="tx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BBC9F80-51F2-A16E-00FD-DFE0CC478FB4}"/>
              </a:ext>
            </a:extLst>
          </p:cNvPr>
          <p:cNvSpPr txBox="1"/>
          <p:nvPr/>
        </p:nvSpPr>
        <p:spPr>
          <a:xfrm>
            <a:off x="260759" y="448455"/>
            <a:ext cx="5697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무엇으로 분석하고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어떻게 검토할 것인가</a:t>
            </a:r>
            <a:r>
              <a:rPr lang="en-US" altLang="ko-KR" sz="2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?</a:t>
            </a:r>
            <a:endParaRPr lang="ko-KR" altLang="en-US" sz="2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66D7007-9B1E-B7A7-57BC-4EB0DA47A2DE}"/>
              </a:ext>
            </a:extLst>
          </p:cNvPr>
          <p:cNvSpPr txBox="1"/>
          <p:nvPr/>
        </p:nvSpPr>
        <p:spPr>
          <a:xfrm>
            <a:off x="260759" y="912417"/>
            <a:ext cx="78245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국가연구개발사업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(R&amp;D)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연구과제 관리의 생성형</a:t>
            </a:r>
            <a:r>
              <a:rPr lang="en-US" altLang="ko-KR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AI </a:t>
            </a:r>
            <a:r>
              <a:rPr lang="ko-KR" altLang="en-US" sz="16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활용 위험관리체계 설계 및 사례 적용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71AAE072-4814-2786-728E-890DD2645CD3}"/>
              </a:ext>
            </a:extLst>
          </p:cNvPr>
          <p:cNvGrpSpPr/>
          <p:nvPr/>
        </p:nvGrpSpPr>
        <p:grpSpPr>
          <a:xfrm>
            <a:off x="535724" y="1557169"/>
            <a:ext cx="402674" cy="353236"/>
            <a:chOff x="669303" y="2055043"/>
            <a:chExt cx="463886" cy="433634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FA9246D4-BF74-D9AF-CCB2-A4F6B8DB4524}"/>
                </a:ext>
              </a:extLst>
            </p:cNvPr>
            <p:cNvSpPr/>
            <p:nvPr/>
          </p:nvSpPr>
          <p:spPr>
            <a:xfrm>
              <a:off x="669304" y="2055043"/>
              <a:ext cx="433632" cy="43363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93EEE34-341C-69D4-2277-CAA38D0CED5F}"/>
                </a:ext>
              </a:extLst>
            </p:cNvPr>
            <p:cNvSpPr txBox="1"/>
            <p:nvPr/>
          </p:nvSpPr>
          <p:spPr>
            <a:xfrm>
              <a:off x="669303" y="2087194"/>
              <a:ext cx="463886" cy="377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05</a:t>
              </a:r>
              <a:endPara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A103FE5E-4C1D-CA37-79AB-8F78A1430270}"/>
              </a:ext>
            </a:extLst>
          </p:cNvPr>
          <p:cNvSpPr txBox="1"/>
          <p:nvPr/>
        </p:nvSpPr>
        <p:spPr>
          <a:xfrm>
            <a:off x="4783330" y="1605198"/>
            <a:ext cx="1630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연구방법론 및 구성</a:t>
            </a: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7C9DCC47-5153-8C89-E4F9-9BEDDFA93E95}"/>
              </a:ext>
            </a:extLst>
          </p:cNvPr>
          <p:cNvGrpSpPr/>
          <p:nvPr/>
        </p:nvGrpSpPr>
        <p:grpSpPr>
          <a:xfrm>
            <a:off x="4430982" y="1587690"/>
            <a:ext cx="402674" cy="353236"/>
            <a:chOff x="669303" y="2055043"/>
            <a:chExt cx="463886" cy="433634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10907F6D-A325-BB1E-9FF3-EF772329D492}"/>
                </a:ext>
              </a:extLst>
            </p:cNvPr>
            <p:cNvSpPr/>
            <p:nvPr/>
          </p:nvSpPr>
          <p:spPr>
            <a:xfrm>
              <a:off x="669304" y="2055043"/>
              <a:ext cx="433632" cy="43363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7B47F0C-3DF5-D317-03F1-E6FA30A167C2}"/>
                </a:ext>
              </a:extLst>
            </p:cNvPr>
            <p:cNvSpPr txBox="1"/>
            <p:nvPr/>
          </p:nvSpPr>
          <p:spPr>
            <a:xfrm>
              <a:off x="669303" y="2087194"/>
              <a:ext cx="463886" cy="377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06</a:t>
              </a:r>
              <a:endPara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C3FBB83E-0F52-64D1-AC2B-76BA38DDA512}"/>
              </a:ext>
            </a:extLst>
          </p:cNvPr>
          <p:cNvCxnSpPr>
            <a:cxnSpLocks/>
          </p:cNvCxnSpPr>
          <p:nvPr/>
        </p:nvCxnSpPr>
        <p:spPr>
          <a:xfrm>
            <a:off x="864856" y="6238698"/>
            <a:ext cx="1033654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타원 108">
            <a:extLst>
              <a:ext uri="{FF2B5EF4-FFF2-40B4-BE49-F238E27FC236}">
                <a16:creationId xmlns:a16="http://schemas.microsoft.com/office/drawing/2014/main" id="{9178C611-3030-C1A7-F6DB-362DA32AACA6}"/>
              </a:ext>
            </a:extLst>
          </p:cNvPr>
          <p:cNvSpPr/>
          <p:nvPr/>
        </p:nvSpPr>
        <p:spPr>
          <a:xfrm>
            <a:off x="1015463" y="6438382"/>
            <a:ext cx="122973" cy="128021"/>
          </a:xfrm>
          <a:prstGeom prst="ellipse">
            <a:avLst/>
          </a:prstGeom>
          <a:solidFill>
            <a:schemeClr val="accent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65664D5-4244-A7DE-F320-1CA6D6023192}"/>
              </a:ext>
            </a:extLst>
          </p:cNvPr>
          <p:cNvSpPr txBox="1"/>
          <p:nvPr/>
        </p:nvSpPr>
        <p:spPr>
          <a:xfrm>
            <a:off x="1086739" y="6381784"/>
            <a:ext cx="634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 </a:t>
            </a:r>
            <a:r>
              <a:rPr lang="ko-KR" altLang="en-US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배경</a:t>
            </a: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B7260B0F-CF4F-8652-D7C9-D555912FFF70}"/>
              </a:ext>
            </a:extLst>
          </p:cNvPr>
          <p:cNvSpPr/>
          <p:nvPr/>
        </p:nvSpPr>
        <p:spPr>
          <a:xfrm>
            <a:off x="2195616" y="6444732"/>
            <a:ext cx="122973" cy="128021"/>
          </a:xfrm>
          <a:prstGeom prst="ellipse">
            <a:avLst/>
          </a:prstGeom>
          <a:solidFill>
            <a:schemeClr val="accent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7C27142-5CB6-A2CA-640A-44D89D9A093B}"/>
              </a:ext>
            </a:extLst>
          </p:cNvPr>
          <p:cNvSpPr txBox="1"/>
          <p:nvPr/>
        </p:nvSpPr>
        <p:spPr>
          <a:xfrm>
            <a:off x="2267341" y="6361751"/>
            <a:ext cx="634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 </a:t>
            </a:r>
            <a:r>
              <a:rPr lang="ko-KR" altLang="en-US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문제</a:t>
            </a: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8439A48A-BF3C-2DAA-79E6-D105740BBC12}"/>
              </a:ext>
            </a:extLst>
          </p:cNvPr>
          <p:cNvSpPr/>
          <p:nvPr/>
        </p:nvSpPr>
        <p:spPr>
          <a:xfrm>
            <a:off x="3447943" y="6438382"/>
            <a:ext cx="122973" cy="128021"/>
          </a:xfrm>
          <a:prstGeom prst="ellipse">
            <a:avLst/>
          </a:prstGeom>
          <a:solidFill>
            <a:schemeClr val="accent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392C72A-A334-0D31-E4D8-A46EBEEE57BA}"/>
              </a:ext>
            </a:extLst>
          </p:cNvPr>
          <p:cNvSpPr txBox="1"/>
          <p:nvPr/>
        </p:nvSpPr>
        <p:spPr>
          <a:xfrm>
            <a:off x="3514640" y="6375434"/>
            <a:ext cx="9594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 </a:t>
            </a:r>
            <a:r>
              <a:rPr lang="ko-KR" altLang="en-US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핵심 논제</a:t>
            </a:r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132E7D18-85E0-A7F9-ECC3-16EA1CD1E762}"/>
              </a:ext>
            </a:extLst>
          </p:cNvPr>
          <p:cNvSpPr/>
          <p:nvPr/>
        </p:nvSpPr>
        <p:spPr>
          <a:xfrm>
            <a:off x="5016776" y="6438382"/>
            <a:ext cx="122973" cy="128021"/>
          </a:xfrm>
          <a:prstGeom prst="ellipse">
            <a:avLst/>
          </a:prstGeom>
          <a:solidFill>
            <a:schemeClr val="accent1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2409E29-7B3D-92AE-CDFF-419CD3EC6D0B}"/>
              </a:ext>
            </a:extLst>
          </p:cNvPr>
          <p:cNvSpPr txBox="1"/>
          <p:nvPr/>
        </p:nvSpPr>
        <p:spPr>
          <a:xfrm>
            <a:off x="5087293" y="6375434"/>
            <a:ext cx="95941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4 </a:t>
            </a:r>
            <a:r>
              <a:rPr lang="ko-KR" altLang="en-US" sz="1050" b="1" dirty="0">
                <a:solidFill>
                  <a:schemeClr val="tx1">
                    <a:alpha val="4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연구 범위</a:t>
            </a: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7AF0E291-C4CE-C41D-79AF-D85FF1509522}"/>
              </a:ext>
            </a:extLst>
          </p:cNvPr>
          <p:cNvSpPr/>
          <p:nvPr/>
        </p:nvSpPr>
        <p:spPr>
          <a:xfrm>
            <a:off x="6470936" y="6438382"/>
            <a:ext cx="122973" cy="12802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>
                  <a:alpha val="40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3DD3FDB-4FB8-9644-74C3-036FAD090FAD}"/>
              </a:ext>
            </a:extLst>
          </p:cNvPr>
          <p:cNvSpPr txBox="1"/>
          <p:nvPr/>
        </p:nvSpPr>
        <p:spPr>
          <a:xfrm>
            <a:off x="6555802" y="6380589"/>
            <a:ext cx="7759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5 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</a:t>
            </a: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06FEBEAB-5F2A-B917-B899-899EF9C62B57}"/>
              </a:ext>
            </a:extLst>
          </p:cNvPr>
          <p:cNvSpPr/>
          <p:nvPr/>
        </p:nvSpPr>
        <p:spPr>
          <a:xfrm>
            <a:off x="9057479" y="6438382"/>
            <a:ext cx="122973" cy="12802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>
                  <a:alpha val="4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81B7250-469D-949A-9B3D-A5C2763D2385}"/>
              </a:ext>
            </a:extLst>
          </p:cNvPr>
          <p:cNvSpPr txBox="1"/>
          <p:nvPr/>
        </p:nvSpPr>
        <p:spPr>
          <a:xfrm>
            <a:off x="9121770" y="6363103"/>
            <a:ext cx="7759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7 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산출물</a:t>
            </a: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BAE80DB0-6B7A-EACC-75CB-084172201837}"/>
              </a:ext>
            </a:extLst>
          </p:cNvPr>
          <p:cNvSpPr/>
          <p:nvPr/>
        </p:nvSpPr>
        <p:spPr>
          <a:xfrm>
            <a:off x="7801348" y="6438382"/>
            <a:ext cx="122973" cy="12802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>
                  <a:alpha val="40000"/>
                </a:schemeClr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18D2994-334C-2728-D6ED-AE4235190E7A}"/>
              </a:ext>
            </a:extLst>
          </p:cNvPr>
          <p:cNvSpPr txBox="1"/>
          <p:nvPr/>
        </p:nvSpPr>
        <p:spPr>
          <a:xfrm>
            <a:off x="7876224" y="6380589"/>
            <a:ext cx="7759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 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방법론</a:t>
            </a: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5CE31934-9A8B-DD94-4823-6F18B4CE1BA6}"/>
              </a:ext>
            </a:extLst>
          </p:cNvPr>
          <p:cNvSpPr/>
          <p:nvPr/>
        </p:nvSpPr>
        <p:spPr>
          <a:xfrm>
            <a:off x="10316414" y="6438383"/>
            <a:ext cx="122973" cy="12802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lt1">
                  <a:alpha val="40000"/>
                </a:schemeClr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0C4FECF-9815-81D0-B3B4-73DB25321327}"/>
              </a:ext>
            </a:extLst>
          </p:cNvPr>
          <p:cNvSpPr txBox="1"/>
          <p:nvPr/>
        </p:nvSpPr>
        <p:spPr>
          <a:xfrm>
            <a:off x="10377901" y="6363103"/>
            <a:ext cx="6340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8 </a:t>
            </a:r>
            <a:r>
              <a: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47223D3-7E56-FD26-4D6D-E327040C94D2}"/>
              </a:ext>
            </a:extLst>
          </p:cNvPr>
          <p:cNvSpPr txBox="1"/>
          <p:nvPr/>
        </p:nvSpPr>
        <p:spPr>
          <a:xfrm>
            <a:off x="8313445" y="3740795"/>
            <a:ext cx="17508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연구목표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기대산출물</a:t>
            </a:r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B2D18F2D-D27A-BFE2-1117-1E73EE79BBBC}"/>
              </a:ext>
            </a:extLst>
          </p:cNvPr>
          <p:cNvGrpSpPr/>
          <p:nvPr/>
        </p:nvGrpSpPr>
        <p:grpSpPr>
          <a:xfrm>
            <a:off x="7961097" y="3723287"/>
            <a:ext cx="402674" cy="353236"/>
            <a:chOff x="669303" y="2055043"/>
            <a:chExt cx="463886" cy="433634"/>
          </a:xfrm>
        </p:grpSpPr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3F512128-8933-8121-70BF-3D7FA743BC24}"/>
                </a:ext>
              </a:extLst>
            </p:cNvPr>
            <p:cNvSpPr/>
            <p:nvPr/>
          </p:nvSpPr>
          <p:spPr>
            <a:xfrm>
              <a:off x="669304" y="2055043"/>
              <a:ext cx="433632" cy="43363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5991D1C0-CE99-2022-4060-C33F90E35AF6}"/>
                </a:ext>
              </a:extLst>
            </p:cNvPr>
            <p:cNvSpPr txBox="1"/>
            <p:nvPr/>
          </p:nvSpPr>
          <p:spPr>
            <a:xfrm>
              <a:off x="669303" y="2087194"/>
              <a:ext cx="463886" cy="377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07</a:t>
              </a:r>
              <a:endPara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BA87EBC5-D06A-0A3A-9C8A-306F85178597}"/>
              </a:ext>
            </a:extLst>
          </p:cNvPr>
          <p:cNvSpPr txBox="1"/>
          <p:nvPr/>
        </p:nvSpPr>
        <p:spPr>
          <a:xfrm>
            <a:off x="865716" y="5606577"/>
            <a:ext cx="907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 일정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77095DDC-349E-AE25-09C0-11301931A1AF}"/>
              </a:ext>
            </a:extLst>
          </p:cNvPr>
          <p:cNvGrpSpPr/>
          <p:nvPr/>
        </p:nvGrpSpPr>
        <p:grpSpPr>
          <a:xfrm>
            <a:off x="513368" y="5589069"/>
            <a:ext cx="402674" cy="353236"/>
            <a:chOff x="669303" y="2055043"/>
            <a:chExt cx="463886" cy="433634"/>
          </a:xfrm>
        </p:grpSpPr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0B2E5488-B722-28C2-5979-0D1A69EFD634}"/>
                </a:ext>
              </a:extLst>
            </p:cNvPr>
            <p:cNvSpPr/>
            <p:nvPr/>
          </p:nvSpPr>
          <p:spPr>
            <a:xfrm>
              <a:off x="669304" y="2055043"/>
              <a:ext cx="433632" cy="43363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BD0C81A-A670-3A55-1DFE-BE91BBDA2643}"/>
                </a:ext>
              </a:extLst>
            </p:cNvPr>
            <p:cNvSpPr txBox="1"/>
            <p:nvPr/>
          </p:nvSpPr>
          <p:spPr>
            <a:xfrm>
              <a:off x="669303" y="2087194"/>
              <a:ext cx="463886" cy="377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08</a:t>
              </a:r>
              <a:endParaRPr lang="ko-KR" altLang="en-US" sz="1400" b="1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2DD5A1DA-E520-9BAA-62FE-A4E86E3D00AC}"/>
              </a:ext>
            </a:extLst>
          </p:cNvPr>
          <p:cNvSpPr/>
          <p:nvPr/>
        </p:nvSpPr>
        <p:spPr>
          <a:xfrm>
            <a:off x="513368" y="4177714"/>
            <a:ext cx="2189578" cy="5386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2B1E384A-CB8F-476F-F26D-EFC702225E11}"/>
              </a:ext>
            </a:extLst>
          </p:cNvPr>
          <p:cNvSpPr/>
          <p:nvPr/>
        </p:nvSpPr>
        <p:spPr>
          <a:xfrm>
            <a:off x="849455" y="2078352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86180E97-F011-0717-A431-635869625F1F}"/>
              </a:ext>
            </a:extLst>
          </p:cNvPr>
          <p:cNvSpPr/>
          <p:nvPr/>
        </p:nvSpPr>
        <p:spPr>
          <a:xfrm>
            <a:off x="845305" y="2364445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0703EBE2-9F9E-F91B-048C-4F791FF2A3D3}"/>
              </a:ext>
            </a:extLst>
          </p:cNvPr>
          <p:cNvSpPr/>
          <p:nvPr/>
        </p:nvSpPr>
        <p:spPr>
          <a:xfrm>
            <a:off x="845305" y="2641216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D6EE9202-7E9A-BE1A-4161-1687FD59B595}"/>
              </a:ext>
            </a:extLst>
          </p:cNvPr>
          <p:cNvSpPr/>
          <p:nvPr/>
        </p:nvSpPr>
        <p:spPr>
          <a:xfrm>
            <a:off x="845305" y="2925900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14B723B-EF77-D583-B11B-6F39B75537C9}"/>
              </a:ext>
            </a:extLst>
          </p:cNvPr>
          <p:cNvSpPr txBox="1"/>
          <p:nvPr/>
        </p:nvSpPr>
        <p:spPr>
          <a:xfrm>
            <a:off x="8398783" y="4148865"/>
            <a:ext cx="2377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위험요소 분류표 및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법규제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매핑표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50392C1-A9F9-04B3-32B5-F848B9F1CAC3}"/>
              </a:ext>
            </a:extLst>
          </p:cNvPr>
          <p:cNvSpPr txBox="1"/>
          <p:nvPr/>
        </p:nvSpPr>
        <p:spPr>
          <a:xfrm>
            <a:off x="8398783" y="4431390"/>
            <a:ext cx="24657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예비 평가표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실무 통제 체크리스트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C2DEF23-EDD2-0F60-4CE2-7761926E9831}"/>
              </a:ext>
            </a:extLst>
          </p:cNvPr>
          <p:cNvSpPr txBox="1"/>
          <p:nvPr/>
        </p:nvSpPr>
        <p:spPr>
          <a:xfrm>
            <a:off x="8402425" y="4719447"/>
            <a:ext cx="2175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사례별 적용 결과 및 한계 분석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EDA17C9-0A96-FCE0-BC6F-2851B651EAFF}"/>
              </a:ext>
            </a:extLst>
          </p:cNvPr>
          <p:cNvSpPr txBox="1"/>
          <p:nvPr/>
        </p:nvSpPr>
        <p:spPr>
          <a:xfrm>
            <a:off x="8240626" y="5019508"/>
            <a:ext cx="19191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목표 학술지 </a:t>
            </a:r>
            <a:r>
              <a:rPr lang="ko-KR" altLang="en-US" sz="1000" b="1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한국</a:t>
            </a:r>
            <a:r>
              <a:rPr lang="en-US" altLang="ko-KR" sz="10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IT</a:t>
            </a:r>
            <a:r>
              <a:rPr lang="ko-KR" altLang="en-US" sz="10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서비스학회지</a:t>
            </a:r>
          </a:p>
        </p:txBody>
      </p:sp>
      <p:sp>
        <p:nvSpPr>
          <p:cNvPr id="152" name="타원 151">
            <a:extLst>
              <a:ext uri="{FF2B5EF4-FFF2-40B4-BE49-F238E27FC236}">
                <a16:creationId xmlns:a16="http://schemas.microsoft.com/office/drawing/2014/main" id="{411A429C-75B9-6C5D-FE86-320DDF0B7650}"/>
              </a:ext>
            </a:extLst>
          </p:cNvPr>
          <p:cNvSpPr/>
          <p:nvPr/>
        </p:nvSpPr>
        <p:spPr>
          <a:xfrm>
            <a:off x="8337510" y="4256561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1AF9B676-ADB3-EF73-BB81-F3CE8A0524B1}"/>
              </a:ext>
            </a:extLst>
          </p:cNvPr>
          <p:cNvSpPr/>
          <p:nvPr/>
        </p:nvSpPr>
        <p:spPr>
          <a:xfrm>
            <a:off x="8337510" y="4533332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9E622437-A12F-6553-54B0-4C168B9DC842}"/>
              </a:ext>
            </a:extLst>
          </p:cNvPr>
          <p:cNvSpPr/>
          <p:nvPr/>
        </p:nvSpPr>
        <p:spPr>
          <a:xfrm>
            <a:off x="8337510" y="4818016"/>
            <a:ext cx="85534" cy="84583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595DDAA1-7858-15D5-FDD5-9E4EBB353EE5}"/>
              </a:ext>
            </a:extLst>
          </p:cNvPr>
          <p:cNvSpPr txBox="1"/>
          <p:nvPr/>
        </p:nvSpPr>
        <p:spPr>
          <a:xfrm>
            <a:off x="640292" y="4828737"/>
            <a:ext cx="64524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노출 가능성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(1~3) X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영향 수준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(1~3) =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예비 위험점수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사례별 우선 순위 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200" dirty="0">
                <a:solidFill>
                  <a:schemeClr val="bg2">
                    <a:lumMod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기준 정의 후 적용</a:t>
            </a:r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53549855-B7FA-5639-5DF8-BAE5EAB00777}"/>
              </a:ext>
            </a:extLst>
          </p:cNvPr>
          <p:cNvSpPr/>
          <p:nvPr/>
        </p:nvSpPr>
        <p:spPr>
          <a:xfrm>
            <a:off x="2854131" y="4177714"/>
            <a:ext cx="2189578" cy="5386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41843C39-2359-C503-1FE8-D9584C3DC8D7}"/>
              </a:ext>
            </a:extLst>
          </p:cNvPr>
          <p:cNvSpPr/>
          <p:nvPr/>
        </p:nvSpPr>
        <p:spPr>
          <a:xfrm>
            <a:off x="5201114" y="4163850"/>
            <a:ext cx="2189578" cy="5386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27730CC-1EBD-A7C3-075F-1E09E6B4C9D5}"/>
              </a:ext>
            </a:extLst>
          </p:cNvPr>
          <p:cNvSpPr txBox="1"/>
          <p:nvPr/>
        </p:nvSpPr>
        <p:spPr>
          <a:xfrm>
            <a:off x="573383" y="4292889"/>
            <a:ext cx="7617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정보보호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EC76564-FE80-255C-1D12-362C63269886}"/>
              </a:ext>
            </a:extLst>
          </p:cNvPr>
          <p:cNvSpPr txBox="1"/>
          <p:nvPr/>
        </p:nvSpPr>
        <p:spPr>
          <a:xfrm>
            <a:off x="2965074" y="4302041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정확성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60F20B15-E9C2-1709-82FF-013B7361C6AA}"/>
              </a:ext>
            </a:extLst>
          </p:cNvPr>
          <p:cNvSpPr txBox="1"/>
          <p:nvPr/>
        </p:nvSpPr>
        <p:spPr>
          <a:xfrm>
            <a:off x="5308036" y="4298035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206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책임성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F6A40B4D-10F7-8F6F-6405-F35520C7AED2}"/>
              </a:ext>
            </a:extLst>
          </p:cNvPr>
          <p:cNvSpPr txBox="1"/>
          <p:nvPr/>
        </p:nvSpPr>
        <p:spPr>
          <a:xfrm>
            <a:off x="1349678" y="4235020"/>
            <a:ext cx="11977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비공개 연구정보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</a:p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개인정보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337A7EA4-897B-CD1C-9013-E1B2199B96F5}"/>
              </a:ext>
            </a:extLst>
          </p:cNvPr>
          <p:cNvSpPr txBox="1"/>
          <p:nvPr/>
        </p:nvSpPr>
        <p:spPr>
          <a:xfrm>
            <a:off x="3562354" y="4309690"/>
            <a:ext cx="13975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규정 오해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오답 유도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0BF73F2-FF93-DB49-9F4B-EE747E4DB64B}"/>
              </a:ext>
            </a:extLst>
          </p:cNvPr>
          <p:cNvSpPr txBox="1"/>
          <p:nvPr/>
        </p:nvSpPr>
        <p:spPr>
          <a:xfrm>
            <a:off x="5873499" y="4302350"/>
            <a:ext cx="15406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인간 검토</a:t>
            </a:r>
            <a:r>
              <a:rPr lang="en-US" altLang="ko-KR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1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승인 누락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ABFF4B7-FCA6-E586-A8DD-37566BB48B86}"/>
              </a:ext>
            </a:extLst>
          </p:cNvPr>
          <p:cNvSpPr txBox="1"/>
          <p:nvPr/>
        </p:nvSpPr>
        <p:spPr>
          <a:xfrm>
            <a:off x="2386520" y="5497243"/>
            <a:ext cx="514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B52944E6-877F-9676-FA7F-1119DF094181}"/>
              </a:ext>
            </a:extLst>
          </p:cNvPr>
          <p:cNvSpPr txBox="1"/>
          <p:nvPr/>
        </p:nvSpPr>
        <p:spPr>
          <a:xfrm>
            <a:off x="4261149" y="5489676"/>
            <a:ext cx="801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10~11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5F1F6833-608C-2E9C-35EE-5A7B7E7B272B}"/>
              </a:ext>
            </a:extLst>
          </p:cNvPr>
          <p:cNvSpPr txBox="1"/>
          <p:nvPr/>
        </p:nvSpPr>
        <p:spPr>
          <a:xfrm>
            <a:off x="6926897" y="5483466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월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초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1227B2DE-9B3E-63E5-97C3-009DDDD87753}"/>
              </a:ext>
            </a:extLst>
          </p:cNvPr>
          <p:cNvSpPr txBox="1"/>
          <p:nvPr/>
        </p:nvSpPr>
        <p:spPr>
          <a:xfrm>
            <a:off x="9286045" y="5491671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12.17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C89C3E-7330-EBB9-A53F-B68F2A64278C}"/>
              </a:ext>
            </a:extLst>
          </p:cNvPr>
          <p:cNvSpPr txBox="1"/>
          <p:nvPr/>
        </p:nvSpPr>
        <p:spPr>
          <a:xfrm>
            <a:off x="2381759" y="5757794"/>
            <a:ext cx="12442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연구계획 발표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5EC6C2-95DF-66FD-98E1-0AAD19B7FC92}"/>
              </a:ext>
            </a:extLst>
          </p:cNvPr>
          <p:cNvSpPr txBox="1"/>
          <p:nvPr/>
        </p:nvSpPr>
        <p:spPr>
          <a:xfrm>
            <a:off x="4278757" y="5745559"/>
            <a:ext cx="1949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법규제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분석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평가 설계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6B72D-44DF-9DC2-5B97-62071507C581}"/>
              </a:ext>
            </a:extLst>
          </p:cNvPr>
          <p:cNvSpPr txBox="1"/>
          <p:nvPr/>
        </p:nvSpPr>
        <p:spPr>
          <a:xfrm>
            <a:off x="6911269" y="5731238"/>
            <a:ext cx="17315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사례적용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원고 작성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D1F6F9-38BA-2235-9793-8220C2BDFFCE}"/>
              </a:ext>
            </a:extLst>
          </p:cNvPr>
          <p:cNvSpPr txBox="1"/>
          <p:nvPr/>
        </p:nvSpPr>
        <p:spPr>
          <a:xfrm>
            <a:off x="9264660" y="5729120"/>
            <a:ext cx="1949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소논문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투고 준비</a:t>
            </a:r>
          </a:p>
        </p:txBody>
      </p:sp>
    </p:spTree>
    <p:extLst>
      <p:ext uri="{BB962C8B-B14F-4D97-AF65-F5344CB8AC3E}">
        <p14:creationId xmlns:p14="http://schemas.microsoft.com/office/powerpoint/2010/main" val="1904383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413</Words>
  <Application>Microsoft Office PowerPoint</Application>
  <PresentationFormat>와이드스크린</PresentationFormat>
  <Paragraphs>108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Arial</vt:lpstr>
      <vt:lpstr>맑은 고딕</vt:lpstr>
      <vt:lpstr>나눔고딕 ExtraBold</vt:lpstr>
      <vt:lpstr>나눔고딕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민성 송</dc:creator>
  <cp:lastModifiedBy>민성 송</cp:lastModifiedBy>
  <cp:revision>10</cp:revision>
  <dcterms:created xsi:type="dcterms:W3CDTF">2026-10-13T13:58:35Z</dcterms:created>
  <dcterms:modified xsi:type="dcterms:W3CDTF">2026-10-14T15:31:35Z</dcterms:modified>
</cp:coreProperties>
</file>