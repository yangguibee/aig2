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 type="screen16x9"/>
  <p:notesSz cx="6858000" cy="9144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4254500" cy="6858000"/>
          </a:xfrm>
          <a:prstGeom prst="rect">
            <a:avLst/>
          </a:prstGeom>
          <a:solidFill>
            <a:srgbClr val="132F3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4" name="Shape 4"/>
          <p:cNvSpPr txBox="1"/>
          <p:nvPr/>
        </p:nvSpPr>
        <p:spPr>
          <a:xfrm>
            <a:off x="406400" y="444500"/>
            <a:ext cx="482600" cy="50800"/>
          </a:xfrm>
          <a:prstGeom prst="rect">
            <a:avLst/>
          </a:prstGeom>
          <a:solidFill>
            <a:srgbClr val="48C4B4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5" name="Shape 5"/>
          <p:cNvSpPr txBox="1"/>
          <p:nvPr/>
        </p:nvSpPr>
        <p:spPr>
          <a:xfrm>
            <a:off x="406400" y="6731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lang="ko-KR" sz="1100" b="1">
                <a:solidFill>
                  <a:srgbClr val="8BD9CE"/>
                </a:solidFill>
                <a:latin typeface="맑은 고딕"/>
                <a:ea typeface="맑은 고딕"/>
                <a:cs typeface="맑은 고딕"/>
              </a:rPr>
              <a:t xml:space="preserve">RESEARCH PROPOSAL  /  01</a:t>
            </a:r>
            <a:endParaRPr lang="ko-KR" sz="1100"/>
          </a:p>
        </p:txBody>
      </p:sp>
      <p:sp>
        <p:nvSpPr>
          <p:cNvPr id="6" name="Shape 6"/>
          <p:cNvSpPr txBox="1"/>
          <p:nvPr/>
        </p:nvSpPr>
        <p:spPr>
          <a:xfrm>
            <a:off x="406400" y="1346200"/>
            <a:ext cx="35560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lang="ko-KR" sz="2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 xml:space="preserve">AI 채용 심사의</a:t>
            </a:r>
            <a:endParaRPr lang="ko-KR" sz="2900"/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lang="ko-KR" sz="2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 xml:space="preserve">설명 의무와</a:t>
            </a:r>
            <a:endParaRPr lang="ko-KR" sz="2900"/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lang="ko-KR" sz="2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 xml:space="preserve">인간 감독</a:t>
            </a:r>
            <a:endParaRPr lang="ko-KR" sz="2900"/>
          </a:p>
        </p:txBody>
      </p:sp>
      <p:sp>
        <p:nvSpPr>
          <p:cNvPr id="7" name="Shape 7"/>
          <p:cNvSpPr txBox="1"/>
          <p:nvPr/>
        </p:nvSpPr>
        <p:spPr>
          <a:xfrm>
            <a:off x="406400" y="3073400"/>
            <a:ext cx="3429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lang="ko-KR" sz="1800" b="0">
                <a:solidFill>
                  <a:srgbClr val="8BD9CE"/>
                </a:solidFill>
                <a:latin typeface="맑은 고딕"/>
                <a:ea typeface="맑은 고딕"/>
                <a:cs typeface="맑은 고딕"/>
              </a:rPr>
              <a:t xml:space="preserve">EU·한국 법제 비교</a:t>
            </a:r>
            <a:endParaRPr lang="ko-KR" sz="1800"/>
          </a:p>
        </p:txBody>
      </p:sp>
      <p:sp>
        <p:nvSpPr>
          <p:cNvPr id="8" name="Shape 8"/>
          <p:cNvSpPr txBox="1"/>
          <p:nvPr/>
        </p:nvSpPr>
        <p:spPr>
          <a:xfrm>
            <a:off x="406400" y="3835400"/>
            <a:ext cx="3429000" cy="12700"/>
          </a:xfrm>
          <a:prstGeom prst="rect">
            <a:avLst/>
          </a:prstGeom>
          <a:solidFill>
            <a:srgbClr val="41616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9" name="Shape 9"/>
          <p:cNvSpPr txBox="1"/>
          <p:nvPr/>
        </p:nvSpPr>
        <p:spPr>
          <a:xfrm>
            <a:off x="406400" y="4140200"/>
            <a:ext cx="3429000" cy="939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lang="ko-KR" sz="18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 xml:space="preserve">AI가 나를 탈락시켰다면,</a:t>
            </a:r>
            <a:endParaRPr lang="ko-KR" sz="1800"/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lang="ko-KR" sz="18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 xml:space="preserve">이유를 알고 사람에게</a:t>
            </a:r>
            <a:endParaRPr lang="ko-KR" sz="1800"/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lang="ko-KR" sz="18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 xml:space="preserve">다시 검토받을 수 있을까?</a:t>
            </a:r>
            <a:endParaRPr lang="ko-KR" sz="1800"/>
          </a:p>
        </p:txBody>
      </p:sp>
      <p:sp>
        <p:nvSpPr>
          <p:cNvPr id="10" name="Shape 10"/>
          <p:cNvSpPr txBox="1"/>
          <p:nvPr/>
        </p:nvSpPr>
        <p:spPr>
          <a:xfrm>
            <a:off x="406400" y="5854700"/>
            <a:ext cx="35052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lang="ko-KR" sz="1000" b="0">
                <a:solidFill>
                  <a:srgbClr val="C0D0D5"/>
                </a:solidFill>
                <a:latin typeface="맑은 고딕"/>
                <a:ea typeface="맑은 고딕"/>
                <a:cs typeface="맑은 고딕"/>
              </a:rPr>
              <a:t xml:space="preserve">AI 거버넌스 기반의 연구방법론</a:t>
            </a:r>
            <a:endParaRPr lang="ko-KR" sz="1000"/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lang="ko-KR" sz="1000" b="0">
                <a:solidFill>
                  <a:srgbClr val="C0D0D5"/>
                </a:solidFill>
                <a:latin typeface="맑은 고딕"/>
                <a:ea typeface="맑은 고딕"/>
                <a:cs typeface="맑은 고딕"/>
              </a:rPr>
              <a:t xml:space="preserve">양희정 교수님  |  이우진 · 202476718</a:t>
            </a:r>
            <a:endParaRPr lang="ko-KR" sz="1000"/>
          </a:p>
        </p:txBody>
      </p:sp>
      <p:sp>
        <p:nvSpPr>
          <p:cNvPr id="11" name="Shape 11"/>
          <p:cNvSpPr txBox="1"/>
          <p:nvPr/>
        </p:nvSpPr>
        <p:spPr>
          <a:xfrm>
            <a:off x="4699000" y="457200"/>
            <a:ext cx="6985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lang="ko-KR" sz="1200" b="1">
                <a:solidFill>
                  <a:srgbClr val="52717B"/>
                </a:solidFill>
                <a:latin typeface="맑은 고딕"/>
                <a:ea typeface="맑은 고딕"/>
                <a:cs typeface="맑은 고딕"/>
              </a:rPr>
              <a:t xml:space="preserve">연구 배경 → 비교 대상 → 연구 질문</a:t>
            </a:r>
            <a:endParaRPr lang="ko-KR" sz="1200"/>
          </a:p>
        </p:txBody>
      </p:sp>
      <p:sp>
        <p:nvSpPr>
          <p:cNvPr id="12" name="Shape 12"/>
          <p:cNvSpPr txBox="1"/>
          <p:nvPr/>
        </p:nvSpPr>
        <p:spPr>
          <a:xfrm>
            <a:off x="4699000" y="965200"/>
            <a:ext cx="69215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lang="ko-KR" sz="2400" b="1">
                <a:solidFill>
                  <a:srgbClr val="132F3C"/>
                </a:solidFill>
                <a:latin typeface="맑은 고딕"/>
                <a:ea typeface="맑은 고딕"/>
                <a:cs typeface="맑은 고딕"/>
              </a:rPr>
              <a:t xml:space="preserve">효율적인 채용, 설명 가능한 결정</a:t>
            </a:r>
            <a:endParaRPr lang="ko-KR" sz="2400"/>
          </a:p>
        </p:txBody>
      </p:sp>
      <p:sp>
        <p:nvSpPr>
          <p:cNvPr id="13" name="Shape 13"/>
          <p:cNvSpPr txBox="1"/>
          <p:nvPr/>
        </p:nvSpPr>
        <p:spPr>
          <a:xfrm>
            <a:off x="4699000" y="1498600"/>
            <a:ext cx="6921500" cy="596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lang="ko-KR" sz="1500" b="0">
                <a:solidFill>
                  <a:srgbClr val="435B64"/>
                </a:solidFill>
                <a:latin typeface="맑은 고딕"/>
                <a:ea typeface="맑은 고딕"/>
                <a:cs typeface="맑은 고딕"/>
              </a:rPr>
              <a:t xml:space="preserve">평가 근거의 불투명성과 형식적인 사람의 승인을 검토하고,</a:t>
            </a:r>
            <a:endParaRPr lang="ko-KR" sz="1500"/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lang="ko-KR" sz="1500" b="0">
                <a:solidFill>
                  <a:srgbClr val="435B64"/>
                </a:solidFill>
                <a:latin typeface="맑은 고딕"/>
                <a:ea typeface="맑은 고딕"/>
                <a:cs typeface="맑은 고딕"/>
              </a:rPr>
              <a:t xml:space="preserve">지원자의 설명·재검토 절차로 연결한다.</a:t>
            </a:r>
            <a:endParaRPr lang="ko-KR" sz="1500"/>
          </a:p>
        </p:txBody>
      </p:sp>
      <p:sp>
        <p:nvSpPr>
          <p:cNvPr id="14" name="Shape 14"/>
          <p:cNvSpPr txBox="1"/>
          <p:nvPr/>
        </p:nvSpPr>
        <p:spPr>
          <a:xfrm>
            <a:off x="4699000" y="2374900"/>
            <a:ext cx="3340100" cy="17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15" name="Shape 15"/>
          <p:cNvSpPr txBox="1"/>
          <p:nvPr/>
        </p:nvSpPr>
        <p:spPr>
          <a:xfrm>
            <a:off x="8242300" y="2374900"/>
            <a:ext cx="3492500" cy="1778000"/>
          </a:xfrm>
          <a:prstGeom prst="rect">
            <a:avLst/>
          </a:prstGeom>
          <a:solidFill>
            <a:srgbClr val="E3EDE8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16" name="Shape 16"/>
          <p:cNvSpPr txBox="1"/>
          <p:nvPr/>
        </p:nvSpPr>
        <p:spPr>
          <a:xfrm>
            <a:off x="4914900" y="2578100"/>
            <a:ext cx="29210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lang="ko-KR" sz="1800" b="1">
                <a:solidFill>
                  <a:srgbClr val="132F3C"/>
                </a:solidFill>
                <a:latin typeface="맑은 고딕"/>
                <a:ea typeface="맑은 고딕"/>
                <a:cs typeface="맑은 고딕"/>
              </a:rPr>
              <a:t xml:space="preserve">EU  |  AI Act</a:t>
            </a:r>
            <a:endParaRPr lang="ko-KR" sz="1800"/>
          </a:p>
        </p:txBody>
      </p:sp>
      <p:sp>
        <p:nvSpPr>
          <p:cNvPr id="17" name="Shape 17"/>
          <p:cNvSpPr txBox="1"/>
          <p:nvPr/>
        </p:nvSpPr>
        <p:spPr>
          <a:xfrm>
            <a:off x="4914900" y="3060700"/>
            <a:ext cx="2921000" cy="82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lang="ko-KR" sz="1400" b="0">
                <a:solidFill>
                  <a:srgbClr val="435B64"/>
                </a:solidFill>
                <a:latin typeface="맑은 고딕"/>
                <a:ea typeface="맑은 고딕"/>
                <a:cs typeface="맑은 고딕"/>
              </a:rPr>
              <a:t xml:space="preserve">채용 AI의 고위험 분류</a:t>
            </a:r>
            <a:endParaRPr lang="ko-KR" sz="1400"/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lang="ko-KR" sz="1400" b="0">
                <a:solidFill>
                  <a:srgbClr val="435B64"/>
                </a:solidFill>
                <a:latin typeface="맑은 고딕"/>
                <a:ea typeface="맑은 고딕"/>
                <a:cs typeface="맑은 고딕"/>
              </a:rPr>
              <a:t xml:space="preserve">인간 감독·역할별 책임</a:t>
            </a:r>
            <a:endParaRPr lang="ko-KR" sz="1400"/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lang="ko-KR" sz="1400" b="0">
                <a:solidFill>
                  <a:srgbClr val="435B64"/>
                </a:solidFill>
                <a:latin typeface="맑은 고딕"/>
                <a:ea typeface="맑은 고딕"/>
                <a:cs typeface="맑은 고딕"/>
              </a:rPr>
              <a:t xml:space="preserve">요건에 따른 개별 결정 설명</a:t>
            </a:r>
            <a:endParaRPr lang="ko-KR" sz="1400"/>
          </a:p>
        </p:txBody>
      </p:sp>
      <p:sp>
        <p:nvSpPr>
          <p:cNvPr id="18" name="Shape 18"/>
          <p:cNvSpPr txBox="1"/>
          <p:nvPr/>
        </p:nvSpPr>
        <p:spPr>
          <a:xfrm>
            <a:off x="8458200" y="2578100"/>
            <a:ext cx="30480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lang="ko-KR" sz="1800" b="1">
                <a:solidFill>
                  <a:srgbClr val="132F3C"/>
                </a:solidFill>
                <a:latin typeface="맑은 고딕"/>
                <a:ea typeface="맑은 고딕"/>
                <a:cs typeface="맑은 고딕"/>
              </a:rPr>
              <a:t xml:space="preserve">한국  |  두 법의 연결</a:t>
            </a:r>
            <a:endParaRPr lang="ko-KR" sz="1800"/>
          </a:p>
        </p:txBody>
      </p:sp>
      <p:sp>
        <p:nvSpPr>
          <p:cNvPr id="19" name="Shape 19"/>
          <p:cNvSpPr txBox="1"/>
          <p:nvPr/>
        </p:nvSpPr>
        <p:spPr>
          <a:xfrm>
            <a:off x="8458200" y="3060700"/>
            <a:ext cx="3073400" cy="82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lang="ko-KR" sz="1400" b="0">
                <a:solidFill>
                  <a:srgbClr val="435B64"/>
                </a:solidFill>
                <a:latin typeface="맑은 고딕"/>
                <a:ea typeface="맑은 고딕"/>
                <a:cs typeface="맑은 고딕"/>
              </a:rPr>
              <a:t xml:space="preserve">AI 기본법: 설명 방안·감독</a:t>
            </a:r>
            <a:endParaRPr lang="ko-KR" sz="1400"/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lang="ko-KR" sz="1400" b="0">
                <a:solidFill>
                  <a:srgbClr val="435B64"/>
                </a:solidFill>
                <a:latin typeface="맑은 고딕"/>
                <a:ea typeface="맑은 고딕"/>
                <a:cs typeface="맑은 고딕"/>
              </a:rPr>
              <a:t xml:space="preserve">개인정보 보호법:</a:t>
            </a:r>
            <a:endParaRPr lang="ko-KR" sz="1400"/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lang="ko-KR" sz="1400" b="0">
                <a:solidFill>
                  <a:srgbClr val="435B64"/>
                </a:solidFill>
                <a:latin typeface="맑은 고딕"/>
                <a:ea typeface="맑은 고딕"/>
                <a:cs typeface="맑은 고딕"/>
              </a:rPr>
              <a:t xml:space="preserve">자동화된 결정에 대한 권리</a:t>
            </a:r>
            <a:endParaRPr lang="ko-KR" sz="1400"/>
          </a:p>
        </p:txBody>
      </p:sp>
      <p:sp>
        <p:nvSpPr>
          <p:cNvPr id="20" name="Shape 20"/>
          <p:cNvSpPr txBox="1"/>
          <p:nvPr/>
        </p:nvSpPr>
        <p:spPr>
          <a:xfrm>
            <a:off x="4699000" y="4457700"/>
            <a:ext cx="6858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lang="ko-KR" sz="1200" b="1">
                <a:solidFill>
                  <a:srgbClr val="52717B"/>
                </a:solidFill>
                <a:latin typeface="맑은 고딕"/>
                <a:ea typeface="맑은 고딕"/>
                <a:cs typeface="맑은 고딕"/>
              </a:rPr>
              <a:t xml:space="preserve">연구 질문</a:t>
            </a:r>
            <a:endParaRPr lang="ko-KR" sz="1200"/>
          </a:p>
        </p:txBody>
      </p:sp>
      <p:sp>
        <p:nvSpPr>
          <p:cNvPr id="21" name="Shape 21"/>
          <p:cNvSpPr txBox="1"/>
          <p:nvPr/>
        </p:nvSpPr>
        <p:spPr>
          <a:xfrm>
            <a:off x="4699000" y="4851400"/>
            <a:ext cx="6985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lang="ko-KR" sz="1700" b="1">
                <a:solidFill>
                  <a:srgbClr val="132F3C"/>
                </a:solidFill>
                <a:latin typeface="맑은 고딕"/>
                <a:ea typeface="맑은 고딕"/>
                <a:cs typeface="맑은 고딕"/>
              </a:rPr>
              <a:t xml:space="preserve">01  자동화 정도에 따라 설명·감독 의무는</a:t>
            </a:r>
            <a:endParaRPr lang="ko-KR" sz="1700"/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lang="ko-KR" sz="1700" b="1">
                <a:solidFill>
                  <a:srgbClr val="132F3C"/>
                </a:solidFill>
                <a:latin typeface="맑은 고딕"/>
                <a:ea typeface="맑은 고딕"/>
                <a:cs typeface="맑은 고딕"/>
              </a:rPr>
              <a:t xml:space="preserve">      어떻게 달라지는가?</a:t>
            </a:r>
            <a:endParaRPr lang="ko-KR" sz="1700"/>
          </a:p>
        </p:txBody>
      </p:sp>
      <p:sp>
        <p:nvSpPr>
          <p:cNvPr id="22" name="Shape 22"/>
          <p:cNvSpPr txBox="1"/>
          <p:nvPr/>
        </p:nvSpPr>
        <p:spPr>
          <a:xfrm>
            <a:off x="4699000" y="5613400"/>
            <a:ext cx="6985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lang="ko-KR" sz="1700" b="1">
                <a:solidFill>
                  <a:srgbClr val="132F3C"/>
                </a:solidFill>
                <a:latin typeface="맑은 고딕"/>
                <a:ea typeface="맑은 고딕"/>
                <a:cs typeface="맑은 고딕"/>
              </a:rPr>
              <a:t xml:space="preserve">02  개발사와 채용기업의 책임을 지원자</a:t>
            </a:r>
            <a:endParaRPr lang="ko-KR" sz="1700"/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lang="ko-KR" sz="1700" b="1">
                <a:solidFill>
                  <a:srgbClr val="132F3C"/>
                </a:solidFill>
                <a:latin typeface="맑은 고딕"/>
                <a:ea typeface="맑은 고딕"/>
                <a:cs typeface="맑은 고딕"/>
              </a:rPr>
              <a:t xml:space="preserve">      보호 절차로 어떻게 연결할 것인가?</a:t>
            </a:r>
            <a:endParaRPr lang="ko-KR" sz="1700"/>
          </a:p>
        </p:txBody>
      </p:sp>
      <p:sp>
        <p:nvSpPr>
          <p:cNvPr id="23" name="Shape 23"/>
          <p:cNvSpPr txBox="1"/>
          <p:nvPr/>
        </p:nvSpPr>
        <p:spPr>
          <a:xfrm>
            <a:off x="4699000" y="6502400"/>
            <a:ext cx="6985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lang="ko-KR" sz="900" b="0">
                <a:solidFill>
                  <a:srgbClr val="52717B"/>
                </a:solidFill>
                <a:latin typeface="맑은 고딕"/>
                <a:ea typeface="맑은 고딕"/>
                <a:cs typeface="맑은 고딕"/>
              </a:rPr>
              <a:t xml:space="preserve">범위: 민간기업의 서류전형 AI  |  법적 의무와 연구자의 제안을 구분</a:t>
            </a:r>
            <a:endParaRPr lang="ko-KR"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3" name="Shape 3"/>
          <p:cNvSpPr txBox="1"/>
          <p:nvPr/>
        </p:nvSpPr>
        <p:spPr>
          <a:xfrm>
            <a:off x="406400" y="368300"/>
            <a:ext cx="482600" cy="50800"/>
          </a:xfrm>
          <a:prstGeom prst="rect">
            <a:avLst/>
          </a:prstGeom>
          <a:solidFill>
            <a:srgbClr val="168576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4" name="Shape 4"/>
          <p:cNvSpPr txBox="1"/>
          <p:nvPr/>
        </p:nvSpPr>
        <p:spPr>
          <a:xfrm>
            <a:off x="1041400" y="304800"/>
            <a:ext cx="9525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lang="ko-KR" sz="1100" b="1">
                <a:solidFill>
                  <a:srgbClr val="52717B"/>
                </a:solidFill>
                <a:latin typeface="맑은 고딕"/>
                <a:ea typeface="맑은 고딕"/>
                <a:cs typeface="맑은 고딕"/>
              </a:rPr>
              <a:t xml:space="preserve">RESEARCH DESIGN  /  02</a:t>
            </a:r>
            <a:endParaRPr lang="ko-KR" sz="1100"/>
          </a:p>
        </p:txBody>
      </p:sp>
      <p:sp>
        <p:nvSpPr>
          <p:cNvPr id="5" name="Shape 5"/>
          <p:cNvSpPr txBox="1"/>
          <p:nvPr/>
        </p:nvSpPr>
        <p:spPr>
          <a:xfrm>
            <a:off x="406400" y="800100"/>
            <a:ext cx="11049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lang="ko-KR" sz="2600" b="1">
                <a:solidFill>
                  <a:srgbClr val="132F3C"/>
                </a:solidFill>
                <a:latin typeface="맑은 고딕"/>
                <a:ea typeface="맑은 고딕"/>
                <a:cs typeface="맑은 고딕"/>
              </a:rPr>
              <a:t xml:space="preserve">두 가지 채용 상황으로 법적 보호를 비교합니다</a:t>
            </a:r>
            <a:endParaRPr lang="ko-KR" sz="2600"/>
          </a:p>
        </p:txBody>
      </p:sp>
      <p:sp>
        <p:nvSpPr>
          <p:cNvPr id="6" name="Shape 6"/>
          <p:cNvSpPr txBox="1"/>
          <p:nvPr/>
        </p:nvSpPr>
        <p:spPr>
          <a:xfrm>
            <a:off x="406400" y="1384300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lang="ko-KR" sz="1300" b="0">
                <a:solidFill>
                  <a:srgbClr val="52717B"/>
                </a:solidFill>
                <a:latin typeface="맑은 고딕"/>
                <a:ea typeface="맑은 고딕"/>
                <a:cs typeface="맑은 고딕"/>
              </a:rPr>
              <a:t xml:space="preserve">비교법·문헌 연구  |  적용 요건 · 책임 주체 · 설명 내용 · 인간 개입 · 구제 절차</a:t>
            </a:r>
            <a:endParaRPr lang="ko-KR" sz="1300"/>
          </a:p>
        </p:txBody>
      </p:sp>
      <p:sp>
        <p:nvSpPr>
          <p:cNvPr id="7" name="Shape 7"/>
          <p:cNvSpPr txBox="1"/>
          <p:nvPr/>
        </p:nvSpPr>
        <p:spPr>
          <a:xfrm>
            <a:off x="406400" y="1905000"/>
            <a:ext cx="5473700" cy="1003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8" name="Shape 8"/>
          <p:cNvSpPr txBox="1"/>
          <p:nvPr/>
        </p:nvSpPr>
        <p:spPr>
          <a:xfrm>
            <a:off x="6083300" y="1905000"/>
            <a:ext cx="5702300" cy="1003300"/>
          </a:xfrm>
          <a:prstGeom prst="rect">
            <a:avLst/>
          </a:prstGeom>
          <a:solidFill>
            <a:srgbClr val="E3EDE8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9" name="Shape 9"/>
          <p:cNvSpPr txBox="1"/>
          <p:nvPr/>
        </p:nvSpPr>
        <p:spPr>
          <a:xfrm>
            <a:off x="609600" y="2057400"/>
            <a:ext cx="5041900" cy="292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lang="ko-KR" sz="1800" b="1">
                <a:solidFill>
                  <a:srgbClr val="132F3C"/>
                </a:solidFill>
                <a:latin typeface="맑은 고딕"/>
                <a:ea typeface="맑은 고딕"/>
                <a:cs typeface="맑은 고딕"/>
              </a:rPr>
              <a:t xml:space="preserve">A  AI가 자동으로 탈락 결정</a:t>
            </a:r>
            <a:endParaRPr lang="ko-KR" sz="1800"/>
          </a:p>
        </p:txBody>
      </p:sp>
      <p:sp>
        <p:nvSpPr>
          <p:cNvPr id="10" name="Shape 10"/>
          <p:cNvSpPr txBox="1"/>
          <p:nvPr/>
        </p:nvSpPr>
        <p:spPr>
          <a:xfrm>
            <a:off x="609600" y="2476500"/>
            <a:ext cx="50419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lang="ko-KR" sz="1300" b="0">
                <a:solidFill>
                  <a:srgbClr val="435B64"/>
                </a:solidFill>
                <a:latin typeface="맑은 고딕"/>
                <a:ea typeface="맑은 고딕"/>
                <a:cs typeface="맑은 고딕"/>
              </a:rPr>
              <a:t xml:space="preserve">설명 요구·거부권의 적용 조건 검토</a:t>
            </a:r>
            <a:endParaRPr lang="ko-KR" sz="1300"/>
          </a:p>
        </p:txBody>
      </p:sp>
      <p:sp>
        <p:nvSpPr>
          <p:cNvPr id="11" name="Shape 11"/>
          <p:cNvSpPr txBox="1"/>
          <p:nvPr/>
        </p:nvSpPr>
        <p:spPr>
          <a:xfrm>
            <a:off x="6286500" y="2057400"/>
            <a:ext cx="5295900" cy="292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lang="ko-KR" sz="1800" b="1">
                <a:solidFill>
                  <a:srgbClr val="132F3C"/>
                </a:solidFill>
                <a:latin typeface="맑은 고딕"/>
                <a:ea typeface="맑은 고딕"/>
                <a:cs typeface="맑은 고딕"/>
              </a:rPr>
              <a:t xml:space="preserve">B  AI 추천 후 사람이 실질적으로 심사</a:t>
            </a:r>
            <a:endParaRPr lang="ko-KR" sz="1800"/>
          </a:p>
        </p:txBody>
      </p:sp>
      <p:sp>
        <p:nvSpPr>
          <p:cNvPr id="12" name="Shape 12"/>
          <p:cNvSpPr txBox="1"/>
          <p:nvPr/>
        </p:nvSpPr>
        <p:spPr>
          <a:xfrm>
            <a:off x="6286500" y="2476500"/>
            <a:ext cx="52959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lang="ko-KR" sz="1300" b="0">
                <a:solidFill>
                  <a:srgbClr val="435B64"/>
                </a:solidFill>
                <a:latin typeface="맑은 고딕"/>
                <a:ea typeface="맑은 고딕"/>
                <a:cs typeface="맑은 고딕"/>
              </a:rPr>
              <a:t xml:space="preserve">검토 정보·판단 권한·결과 변경 가능성 확인</a:t>
            </a:r>
            <a:endParaRPr lang="ko-KR" sz="1300"/>
          </a:p>
        </p:txBody>
      </p:sp>
      <p:sp>
        <p:nvSpPr>
          <p:cNvPr id="13" name="Shape 13"/>
          <p:cNvSpPr txBox="1"/>
          <p:nvPr/>
        </p:nvSpPr>
        <p:spPr>
          <a:xfrm>
            <a:off x="406400" y="3187700"/>
            <a:ext cx="1117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lang="ko-KR" sz="1200" b="1">
                <a:solidFill>
                  <a:srgbClr val="52717B"/>
                </a:solidFill>
                <a:latin typeface="맑은 고딕"/>
                <a:ea typeface="맑은 고딕"/>
                <a:cs typeface="맑은 고딕"/>
              </a:rPr>
              <a:t xml:space="preserve">연구 진행과 산출물</a:t>
            </a:r>
            <a:endParaRPr lang="ko-KR" sz="1200"/>
          </a:p>
        </p:txBody>
      </p:sp>
      <p:sp>
        <p:nvSpPr>
          <p:cNvPr id="14" name="Shape 14"/>
          <p:cNvSpPr txBox="1"/>
          <p:nvPr/>
        </p:nvSpPr>
        <p:spPr>
          <a:xfrm>
            <a:off x="406400" y="3568700"/>
            <a:ext cx="3594100" cy="130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15" name="Shape 15"/>
          <p:cNvSpPr txBox="1"/>
          <p:nvPr/>
        </p:nvSpPr>
        <p:spPr>
          <a:xfrm>
            <a:off x="4191000" y="3568700"/>
            <a:ext cx="3594100" cy="130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16" name="Shape 16"/>
          <p:cNvSpPr txBox="1"/>
          <p:nvPr/>
        </p:nvSpPr>
        <p:spPr>
          <a:xfrm>
            <a:off x="7975600" y="3568700"/>
            <a:ext cx="3810000" cy="130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17" name="Shape 17"/>
          <p:cNvSpPr txBox="1"/>
          <p:nvPr/>
        </p:nvSpPr>
        <p:spPr>
          <a:xfrm>
            <a:off x="609600" y="3746500"/>
            <a:ext cx="317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lang="ko-KR" sz="1700" b="1">
                <a:solidFill>
                  <a:srgbClr val="132F3C"/>
                </a:solidFill>
                <a:latin typeface="맑은 고딕"/>
                <a:ea typeface="맑은 고딕"/>
                <a:cs typeface="맑은 고딕"/>
              </a:rPr>
              <a:t xml:space="preserve">10월  자료·범위 확정</a:t>
            </a:r>
            <a:endParaRPr lang="ko-KR" sz="1700"/>
          </a:p>
        </p:txBody>
      </p:sp>
      <p:sp>
        <p:nvSpPr>
          <p:cNvPr id="18" name="Shape 18"/>
          <p:cNvSpPr txBox="1"/>
          <p:nvPr/>
        </p:nvSpPr>
        <p:spPr>
          <a:xfrm>
            <a:off x="609600" y="4241800"/>
            <a:ext cx="31750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lang="ko-KR" sz="1300" b="0">
                <a:solidFill>
                  <a:srgbClr val="435B64"/>
                </a:solidFill>
                <a:latin typeface="맑은 고딕"/>
                <a:ea typeface="맑은 고딕"/>
                <a:cs typeface="맑은 고딕"/>
              </a:rPr>
              <a:t xml:space="preserve">조문·선행연구 검토</a:t>
            </a:r>
            <a:endParaRPr lang="ko-KR" sz="1300"/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lang="ko-KR" sz="1300" b="0">
                <a:solidFill>
                  <a:srgbClr val="435B64"/>
                </a:solidFill>
                <a:latin typeface="맑은 고딕"/>
                <a:ea typeface="맑은 고딕"/>
                <a:cs typeface="맑은 고딕"/>
              </a:rPr>
              <a:t xml:space="preserve">→ 비교 기준표</a:t>
            </a:r>
            <a:endParaRPr lang="ko-KR" sz="1300"/>
          </a:p>
        </p:txBody>
      </p:sp>
      <p:sp>
        <p:nvSpPr>
          <p:cNvPr id="19" name="Shape 19"/>
          <p:cNvSpPr txBox="1"/>
          <p:nvPr/>
        </p:nvSpPr>
        <p:spPr>
          <a:xfrm>
            <a:off x="4394200" y="3746500"/>
            <a:ext cx="317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lang="ko-KR" sz="1700" b="1">
                <a:solidFill>
                  <a:srgbClr val="132F3C"/>
                </a:solidFill>
                <a:latin typeface="맑은 고딕"/>
                <a:ea typeface="맑은 고딕"/>
                <a:cs typeface="맑은 고딕"/>
              </a:rPr>
              <a:t xml:space="preserve">11월  비교·시나리오 적용</a:t>
            </a:r>
            <a:endParaRPr lang="ko-KR" sz="1700"/>
          </a:p>
        </p:txBody>
      </p:sp>
      <p:sp>
        <p:nvSpPr>
          <p:cNvPr id="20" name="Shape 20"/>
          <p:cNvSpPr txBox="1"/>
          <p:nvPr/>
        </p:nvSpPr>
        <p:spPr>
          <a:xfrm>
            <a:off x="4394200" y="4241800"/>
            <a:ext cx="31750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lang="ko-KR" sz="1300" b="0">
                <a:solidFill>
                  <a:srgbClr val="435B64"/>
                </a:solidFill>
                <a:latin typeface="맑은 고딕"/>
                <a:ea typeface="맑은 고딕"/>
                <a:cs typeface="맑은 고딕"/>
              </a:rPr>
              <a:t xml:space="preserve">A·B의 의무와 보호 공백 분석</a:t>
            </a:r>
            <a:endParaRPr lang="ko-KR" sz="1300"/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lang="ko-KR" sz="1300" b="0">
                <a:solidFill>
                  <a:srgbClr val="435B64"/>
                </a:solidFill>
                <a:latin typeface="맑은 고딕"/>
                <a:ea typeface="맑은 고딕"/>
                <a:cs typeface="맑은 고딕"/>
              </a:rPr>
              <a:t xml:space="preserve">→ 역할별 책임표</a:t>
            </a:r>
            <a:endParaRPr lang="ko-KR" sz="1300"/>
          </a:p>
        </p:txBody>
      </p:sp>
      <p:sp>
        <p:nvSpPr>
          <p:cNvPr id="21" name="Shape 21"/>
          <p:cNvSpPr txBox="1"/>
          <p:nvPr/>
        </p:nvSpPr>
        <p:spPr>
          <a:xfrm>
            <a:off x="8178800" y="3746500"/>
            <a:ext cx="3403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lang="ko-KR" sz="1700" b="1">
                <a:solidFill>
                  <a:srgbClr val="132F3C"/>
                </a:solidFill>
                <a:latin typeface="맑은 고딕"/>
                <a:ea typeface="맑은 고딕"/>
                <a:cs typeface="맑은 고딕"/>
              </a:rPr>
              <a:t xml:space="preserve">12월  개선안·소논문 완성</a:t>
            </a:r>
            <a:endParaRPr lang="ko-KR" sz="1700"/>
          </a:p>
        </p:txBody>
      </p:sp>
      <p:sp>
        <p:nvSpPr>
          <p:cNvPr id="22" name="Shape 22"/>
          <p:cNvSpPr txBox="1"/>
          <p:nvPr/>
        </p:nvSpPr>
        <p:spPr>
          <a:xfrm>
            <a:off x="8178800" y="4241800"/>
            <a:ext cx="34036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lang="ko-KR" sz="1300" b="0">
                <a:solidFill>
                  <a:srgbClr val="435B64"/>
                </a:solidFill>
                <a:latin typeface="맑은 고딕"/>
                <a:ea typeface="맑은 고딕"/>
                <a:cs typeface="맑은 고딕"/>
              </a:rPr>
              <a:t xml:space="preserve">해석 검토·결론 정리</a:t>
            </a:r>
            <a:endParaRPr lang="ko-KR" sz="1300"/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lang="ko-KR" sz="1300" b="0">
                <a:solidFill>
                  <a:srgbClr val="435B64"/>
                </a:solidFill>
                <a:latin typeface="맑은 고딕"/>
                <a:ea typeface="맑은 고딕"/>
                <a:cs typeface="맑은 고딕"/>
              </a:rPr>
              <a:t xml:space="preserve">→ 지원자 보호 체크리스트</a:t>
            </a:r>
            <a:endParaRPr lang="ko-KR" sz="1300"/>
          </a:p>
        </p:txBody>
      </p:sp>
      <p:sp>
        <p:nvSpPr>
          <p:cNvPr id="23" name="Shape 23"/>
          <p:cNvSpPr txBox="1"/>
          <p:nvPr/>
        </p:nvSpPr>
        <p:spPr>
          <a:xfrm>
            <a:off x="406400" y="5143500"/>
            <a:ext cx="11379200" cy="800100"/>
          </a:xfrm>
          <a:prstGeom prst="rect">
            <a:avLst/>
          </a:prstGeom>
          <a:solidFill>
            <a:srgbClr val="132F3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24" name="Shape 24"/>
          <p:cNvSpPr txBox="1"/>
          <p:nvPr/>
        </p:nvSpPr>
        <p:spPr>
          <a:xfrm>
            <a:off x="609600" y="5270500"/>
            <a:ext cx="109982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lang="ko-KR" sz="1000" b="1">
                <a:solidFill>
                  <a:srgbClr val="8BD9CE"/>
                </a:solidFill>
                <a:latin typeface="맑은 고딕"/>
                <a:ea typeface="맑은 고딕"/>
                <a:cs typeface="맑은 고딕"/>
              </a:rPr>
              <a:t xml:space="preserve">제안할 절차</a:t>
            </a:r>
            <a:endParaRPr lang="ko-KR" sz="1000"/>
          </a:p>
        </p:txBody>
      </p:sp>
      <p:sp>
        <p:nvSpPr>
          <p:cNvPr id="25" name="Shape 25"/>
          <p:cNvSpPr txBox="1"/>
          <p:nvPr/>
        </p:nvSpPr>
        <p:spPr>
          <a:xfrm>
            <a:off x="609600" y="5562600"/>
            <a:ext cx="10998200" cy="292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lang="ko-KR"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 xml:space="preserve">AI 사용 고지    →    주요 판단요소 설명    →    사람의 재검토    →    처리기록</a:t>
            </a:r>
            <a:endParaRPr lang="ko-KR" sz="1700"/>
          </a:p>
        </p:txBody>
      </p:sp>
      <p:sp>
        <p:nvSpPr>
          <p:cNvPr id="26" name="Shape 26"/>
          <p:cNvSpPr txBox="1"/>
          <p:nvPr/>
        </p:nvSpPr>
        <p:spPr>
          <a:xfrm>
            <a:off x="406400" y="6096000"/>
            <a:ext cx="11404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lang="ko-KR" sz="1000" b="0">
                <a:solidFill>
                  <a:srgbClr val="52717B"/>
                </a:solidFill>
                <a:latin typeface="맑은 고딕"/>
                <a:ea typeface="맑은 고딕"/>
                <a:cs typeface="맑은 고딕"/>
              </a:rPr>
              <a:t xml:space="preserve">연구 한계: 실제 기업의 이행률·차별 감소 효과는 검증하지 않음  |  예상 결과이며 분석 후 확정</a:t>
            </a:r>
            <a:endParaRPr lang="ko-KR" sz="1000"/>
          </a:p>
        </p:txBody>
      </p:sp>
      <p:sp>
        <p:nvSpPr>
          <p:cNvPr id="27" name="Shape 27"/>
          <p:cNvSpPr txBox="1"/>
          <p:nvPr/>
        </p:nvSpPr>
        <p:spPr>
          <a:xfrm>
            <a:off x="406400" y="6451600"/>
            <a:ext cx="11404600" cy="292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lang="ko-KR" sz="850" b="0">
                <a:solidFill>
                  <a:srgbClr val="52717B"/>
                </a:solidFill>
                <a:latin typeface="맑은 고딕"/>
                <a:ea typeface="맑은 고딕"/>
                <a:cs typeface="맑은 고딕"/>
              </a:rPr>
              <a:t xml:space="preserve">근거: 1~6강 강의자료 · EU AI Act 제6·14·26·86조 및 부속서 III · AI 기본법 제34조 · 개인정보 보호법 제37조의2</a:t>
            </a:r>
            <a:endParaRPr lang="ko-KR" sz="850"/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lang="ko-KR" sz="850" b="0">
                <a:solidFill>
                  <a:srgbClr val="52717B"/>
                </a:solidFill>
                <a:latin typeface="맑은 고딕"/>
                <a:ea typeface="맑은 고딕"/>
                <a:cs typeface="맑은 고딕"/>
              </a:rPr>
              <a:t xml:space="preserve">조문별 적용 요건·시점은 최종 집필 시 확인  |  상세 출처는 발표 전 확인자료 참조</a:t>
            </a:r>
            <a:endParaRPr lang="ko-KR" sz="8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