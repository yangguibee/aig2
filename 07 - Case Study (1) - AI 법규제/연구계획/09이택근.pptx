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law.go.kr/lsLinkCommonInfo.do?chrClsCd=010202&amp;lsJoLnkSeq=1031810845" TargetMode="External"/><Relationship Id="rId2" Type="http://schemas.openxmlformats.org/officeDocument/2006/relationships/hyperlink" Target="https://eur-lex.europa.eu/eli/reg/2026/1744/oj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ia.or.kr/site/nia_kor/ex/bbs/View.do?bcIdx=28106&amp;cbIdx=2653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65760"/>
            <a:ext cx="457200" cy="59436"/>
          </a:xfrm>
          <a:prstGeom prst="rect">
            <a:avLst/>
          </a:prstGeom>
          <a:solidFill>
            <a:srgbClr val="087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48872" y="6510528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D6D7E"/>
                </a:solidFill>
                <a:latin typeface="NanumSquare"/>
                <a:ea typeface="NanumSquar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40" b="1">
                <a:solidFill>
                  <a:srgbClr val="102D49"/>
                </a:solidFill>
                <a:latin typeface="NanumSquare"/>
                <a:ea typeface="NanumSquare"/>
              </a:rPr>
              <a:t>고영향 인공지능의 데이터 품질관리 의무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207008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5D6D7E"/>
                </a:solidFill>
                <a:latin typeface="NanumSquare"/>
                <a:ea typeface="NanumSquare"/>
              </a:rPr>
              <a:t>「인공지능기본법」 제34조의 해석과 EU AI Act 제10조를 중심으로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82496"/>
            <a:ext cx="11009376" cy="612648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6" y="1847088"/>
            <a:ext cx="59436" cy="274320"/>
          </a:xfrm>
          <a:prstGeom prst="rect">
            <a:avLst/>
          </a:prstGeom>
          <a:solidFill>
            <a:srgbClr val="D09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1847088"/>
            <a:ext cx="9144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AFDDE0"/>
                </a:solidFill>
                <a:latin typeface="NanumSquare"/>
                <a:ea typeface="NanumSquare"/>
              </a:rPr>
              <a:t>핵심 문제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81051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</a:rPr>
              <a:t>국내 위험관리 의무는 데이터 품질관리까지 어디까지 포괄하는가?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496312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D49"/>
                </a:solidFill>
                <a:latin typeface="NanumSquare"/>
                <a:ea typeface="NanumSquare"/>
              </a:rPr>
              <a:t>01  |  규율 구조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852928"/>
            <a:ext cx="5367528" cy="1746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852928"/>
            <a:ext cx="5367528" cy="82296"/>
          </a:xfrm>
          <a:prstGeom prst="rect">
            <a:avLst/>
          </a:prstGeom>
          <a:solidFill>
            <a:srgbClr val="2D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4672" y="3090672"/>
            <a:ext cx="1197864" cy="274320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3104388"/>
            <a:ext cx="11978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2D5BA9"/>
                </a:solidFill>
                <a:latin typeface="NanumSquare"/>
                <a:ea typeface="NanumSquare"/>
              </a:rPr>
              <a:t>EU AI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3976" y="3099816"/>
            <a:ext cx="3648456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0" b="1">
                <a:solidFill>
                  <a:srgbClr val="19334C"/>
                </a:solidFill>
                <a:latin typeface="NanumSquare"/>
                <a:ea typeface="NanumSquare"/>
              </a:rPr>
              <a:t>제10조  |  명시적 품질·거버넌스 요건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02152"/>
            <a:ext cx="4919472" cy="10972"/>
          </a:xfrm>
          <a:prstGeom prst="rect">
            <a:avLst/>
          </a:prstGeom>
          <a:solidFill>
            <a:srgbClr val="D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630168"/>
            <a:ext cx="473659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0">
                <a:solidFill>
                  <a:srgbClr val="19334C"/>
                </a:solidFill>
                <a:latin typeface="NanumSquare"/>
                <a:ea typeface="NanumSquare"/>
              </a:rPr>
              <a:t>• 관련성 · 대표성 · 오류 최소화 · 완전성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41648"/>
            <a:ext cx="4736592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19334C"/>
                </a:solidFill>
                <a:latin typeface="NanumSquare"/>
                <a:ea typeface="NanumSquare"/>
              </a:rPr>
              <a:t>• 수집·전처리·편향 검토 및 완화 절차 규정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2852928"/>
            <a:ext cx="5404104" cy="1746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99632" y="2852928"/>
            <a:ext cx="5404104" cy="82296"/>
          </a:xfrm>
          <a:prstGeom prst="rect">
            <a:avLst/>
          </a:prstGeom>
          <a:solidFill>
            <a:srgbClr val="087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19088" y="3090672"/>
            <a:ext cx="1106424" cy="274320"/>
          </a:xfrm>
          <a:prstGeom prst="roundRect">
            <a:avLst>
              <a:gd name="adj" fmla="val 12000"/>
            </a:avLst>
          </a:prstGeom>
          <a:solidFill>
            <a:srgbClr val="E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19088" y="3104388"/>
            <a:ext cx="110642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066470"/>
                </a:solidFill>
                <a:latin typeface="NanumSquare"/>
                <a:ea typeface="NanumSquare"/>
              </a:rPr>
              <a:t>KOREA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7" y="3099816"/>
            <a:ext cx="379476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90" b="1">
                <a:solidFill>
                  <a:srgbClr val="19334C"/>
                </a:solidFill>
                <a:latin typeface="NanumSquare"/>
                <a:ea typeface="NanumSquare"/>
              </a:rPr>
              <a:t>제34조  |  위험관리 중심의 의무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37376" y="3502152"/>
            <a:ext cx="4928616" cy="10972"/>
          </a:xfrm>
          <a:prstGeom prst="rect">
            <a:avLst/>
          </a:prstGeom>
          <a:solidFill>
            <a:srgbClr val="D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3630168"/>
            <a:ext cx="49834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30" b="0">
                <a:solidFill>
                  <a:srgbClr val="19334C"/>
                </a:solidFill>
                <a:latin typeface="NanumSquare"/>
                <a:ea typeface="NanumSquare"/>
              </a:rPr>
              <a:t>• 위험관리방안 · 학습용데이터 개요 설명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04164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19334C"/>
                </a:solidFill>
                <a:latin typeface="NanumSquare"/>
                <a:ea typeface="NanumSquare"/>
              </a:rPr>
              <a:t>• 문서화 의무, 품질 항목은 직접 열거하지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846320"/>
            <a:ext cx="640080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02D49"/>
                </a:solidFill>
                <a:latin typeface="NanumSquare"/>
                <a:ea typeface="NanumSquare"/>
              </a:rPr>
              <a:t>02  |  연구질문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230368"/>
            <a:ext cx="349300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" y="5230368"/>
            <a:ext cx="50292" cy="960120"/>
          </a:xfrm>
          <a:prstGeom prst="rect">
            <a:avLst/>
          </a:prstGeom>
          <a:solidFill>
            <a:srgbClr val="2D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5349240"/>
            <a:ext cx="5577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87C87"/>
                </a:solidFill>
                <a:latin typeface="NanumSquare"/>
                <a:ea typeface="NanumSquare"/>
              </a:rPr>
              <a:t>RQ1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2456" y="5330952"/>
            <a:ext cx="248716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02D49"/>
                </a:solidFill>
                <a:latin typeface="NanumSquare"/>
                <a:ea typeface="NanumSquare"/>
              </a:rPr>
              <a:t>규율 구조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5650992"/>
            <a:ext cx="32186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D6D7E"/>
                </a:solidFill>
                <a:latin typeface="NanumSquare"/>
                <a:ea typeface="NanumSquare"/>
              </a:rPr>
              <a:t>대상·내용·이행 방식의
규정 구조는 어떻게 다른가?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1688" y="5230368"/>
            <a:ext cx="349300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1688" y="5230368"/>
            <a:ext cx="50292" cy="960120"/>
          </a:xfrm>
          <a:prstGeom prst="rect">
            <a:avLst/>
          </a:prstGeom>
          <a:solidFill>
            <a:srgbClr val="087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26280" y="5349240"/>
            <a:ext cx="5577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87C87"/>
                </a:solidFill>
                <a:latin typeface="NanumSquare"/>
                <a:ea typeface="NanumSquare"/>
              </a:rPr>
              <a:t>RQ2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9784" y="5330952"/>
            <a:ext cx="248716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02D49"/>
                </a:solidFill>
                <a:latin typeface="NanumSquare"/>
                <a:ea typeface="NanumSquare"/>
              </a:rPr>
              <a:t>해석 가능성과 한계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5650992"/>
            <a:ext cx="32186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D6D7E"/>
                </a:solidFill>
                <a:latin typeface="NanumSquare"/>
                <a:ea typeface="NanumSquare"/>
              </a:rPr>
              <a:t>제34조에서 품질관리 의무를
어느 범위까지 도출할 수 있는가?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29016" y="5230368"/>
            <a:ext cx="3493008" cy="960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29016" y="5230368"/>
            <a:ext cx="50292" cy="960120"/>
          </a:xfrm>
          <a:prstGeom prst="rect">
            <a:avLst/>
          </a:prstGeom>
          <a:solidFill>
            <a:srgbClr val="2D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93608" y="5349240"/>
            <a:ext cx="55778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087C87"/>
                </a:solidFill>
                <a:latin typeface="NanumSquare"/>
                <a:ea typeface="NanumSquare"/>
              </a:rPr>
              <a:t>RQ3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97112" y="5330952"/>
            <a:ext cx="248716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0" b="1">
                <a:solidFill>
                  <a:srgbClr val="102D49"/>
                </a:solidFill>
                <a:latin typeface="NanumSquare"/>
                <a:ea typeface="NanumSquare"/>
              </a:rPr>
              <a:t>규범적 보완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93608" y="5650992"/>
            <a:ext cx="321868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rgbClr val="5D6D7E"/>
                </a:solidFill>
                <a:latin typeface="NanumSquare"/>
                <a:ea typeface="NanumSquare"/>
              </a:rPr>
              <a:t>법률·시행령·가이드라인은
무엇을 보완해야 하는가?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6400800"/>
            <a:ext cx="11009376" cy="10972"/>
          </a:xfrm>
          <a:prstGeom prst="rect">
            <a:avLst/>
          </a:prstGeom>
          <a:solidFill>
            <a:srgbClr val="D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" y="6473952"/>
            <a:ext cx="9144000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D6D7E"/>
                </a:solidFill>
                <a:latin typeface="NanumBarunGothic"/>
                <a:ea typeface="NanumBarunGothic"/>
              </a:rPr>
              <a:t>비교법적 목적: 법적 구속력이 있는 의무와 기술적 권고 기준을 구분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365760"/>
            <a:ext cx="457200" cy="59436"/>
          </a:xfrm>
          <a:prstGeom prst="rect">
            <a:avLst/>
          </a:prstGeom>
          <a:solidFill>
            <a:srgbClr val="087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548872" y="6510528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5D6D7E"/>
                </a:solidFill>
                <a:latin typeface="NanumSquare"/>
                <a:ea typeface="NanumSquare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67512"/>
            <a:ext cx="11109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2D49"/>
                </a:solidFill>
                <a:latin typeface="NanumSquare"/>
                <a:ea typeface="NanumSquare"/>
              </a:rPr>
              <a:t>연구 범위 · 방법 · 기대효과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188720"/>
            <a:ext cx="1078992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D6D7E"/>
                </a:solidFill>
                <a:latin typeface="NanumSquare"/>
                <a:ea typeface="NanumSquare"/>
              </a:rPr>
              <a:t>명문의 의무 → 해석 가능한 의무 → 새로운 규범적 근거가 필요한 사항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19072"/>
            <a:ext cx="5029200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19072"/>
            <a:ext cx="54864" cy="1901952"/>
          </a:xfrm>
          <a:prstGeom prst="rect">
            <a:avLst/>
          </a:prstGeom>
          <a:solidFill>
            <a:srgbClr val="2D5B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892807"/>
            <a:ext cx="451713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2D49"/>
                </a:solidFill>
                <a:latin typeface="NanumSquare"/>
                <a:ea typeface="NanumSquare"/>
              </a:rPr>
              <a:t>01  |  검토 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240280"/>
            <a:ext cx="4526280" cy="10972"/>
          </a:xfrm>
          <a:prstGeom prst="rect">
            <a:avLst/>
          </a:prstGeom>
          <a:solidFill>
            <a:srgbClr val="D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0392" y="2395728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409444"/>
            <a:ext cx="4754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2D5BA9"/>
                </a:solidFill>
                <a:latin typeface="NanumSquare"/>
                <a:ea typeface="NanumSquare"/>
              </a:rPr>
              <a:t>EU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2184" y="2404872"/>
            <a:ext cx="381304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45" b="0">
                <a:solidFill>
                  <a:srgbClr val="19334C"/>
                </a:solidFill>
                <a:latin typeface="NanumSquare"/>
                <a:ea typeface="NanumSquare"/>
              </a:rPr>
              <a:t>AI Act 제10조 중심 · 제9·11조 보조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" y="2816352"/>
            <a:ext cx="475488" cy="274320"/>
          </a:xfrm>
          <a:prstGeom prst="roundRect">
            <a:avLst>
              <a:gd name="adj" fmla="val 12000"/>
            </a:avLst>
          </a:prstGeom>
          <a:solidFill>
            <a:srgbClr val="E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2830068"/>
            <a:ext cx="4754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087C87"/>
                </a:solidFill>
                <a:latin typeface="NanumSquare"/>
                <a:ea typeface="NanumSquare"/>
              </a:rPr>
              <a:t>KR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2816352"/>
            <a:ext cx="377647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35" b="0">
                <a:solidFill>
                  <a:srgbClr val="19334C"/>
                </a:solidFill>
                <a:latin typeface="NanumSquare"/>
                <a:ea typeface="NanumSquare"/>
              </a:rPr>
              <a:t>기본법 제34조 중심 · 시행령 제27조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154680"/>
            <a:ext cx="35753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5D6D7E"/>
                </a:solidFill>
                <a:latin typeface="NanumSquare"/>
                <a:ea typeface="NanumSquare"/>
              </a:rPr>
              <a:t>제40조는 집행·실효성 분석에서 참조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4" y="1719072"/>
            <a:ext cx="5788152" cy="19019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D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5584" y="1719072"/>
            <a:ext cx="54864" cy="1901952"/>
          </a:xfrm>
          <a:prstGeom prst="rect">
            <a:avLst/>
          </a:prstGeom>
          <a:solidFill>
            <a:srgbClr val="087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71616" y="1892807"/>
            <a:ext cx="51846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02D49"/>
                </a:solidFill>
                <a:latin typeface="NanumSquare"/>
                <a:ea typeface="NanumSquare"/>
              </a:rPr>
              <a:t>02  |  연구 방법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53328" y="2240280"/>
            <a:ext cx="5285232" cy="10972"/>
          </a:xfrm>
          <a:prstGeom prst="rect">
            <a:avLst/>
          </a:prstGeom>
          <a:solidFill>
            <a:srgbClr val="DDE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108192" y="2397556"/>
            <a:ext cx="201168" cy="192024"/>
          </a:xfrm>
          <a:prstGeom prst="roundRect">
            <a:avLst>
              <a:gd name="adj" fmla="val 12000"/>
            </a:avLst>
          </a:prstGeom>
          <a:solidFill>
            <a:srgbClr val="E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08192" y="2393899"/>
            <a:ext cx="20116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66470"/>
                </a:solidFill>
                <a:latin typeface="NanumSquare"/>
                <a:ea typeface="NanumSquare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368296"/>
            <a:ext cx="49011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9334C"/>
                </a:solidFill>
                <a:latin typeface="NanumSquare"/>
                <a:ea typeface="NanumSquare"/>
              </a:rPr>
              <a:t>법령·하위규범의 조문 및 규율체계 비교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08192" y="2681020"/>
            <a:ext cx="201168" cy="192024"/>
          </a:xfrm>
          <a:prstGeom prst="roundRect">
            <a:avLst>
              <a:gd name="adj" fmla="val 12000"/>
            </a:avLst>
          </a:prstGeom>
          <a:solidFill>
            <a:srgbClr val="E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08192" y="2677363"/>
            <a:ext cx="20116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66470"/>
                </a:solidFill>
                <a:latin typeface="NanumSquare"/>
                <a:ea typeface="NanumSquare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2651760"/>
            <a:ext cx="49011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9334C"/>
                </a:solidFill>
                <a:latin typeface="NanumSquare"/>
                <a:ea typeface="NanumSquare"/>
              </a:rPr>
              <a:t>제34조의 문언·입법 목적·체계적 해석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08192" y="2964484"/>
            <a:ext cx="201168" cy="192024"/>
          </a:xfrm>
          <a:prstGeom prst="roundRect">
            <a:avLst>
              <a:gd name="adj" fmla="val 12000"/>
            </a:avLst>
          </a:prstGeom>
          <a:solidFill>
            <a:srgbClr val="E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08192" y="2960827"/>
            <a:ext cx="20116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66470"/>
                </a:solidFill>
                <a:latin typeface="NanumSquare"/>
                <a:ea typeface="NanumSquare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2935224"/>
            <a:ext cx="49011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9334C"/>
                </a:solidFill>
                <a:latin typeface="NanumSquare"/>
                <a:ea typeface="NanumSquare"/>
              </a:rPr>
              <a:t>정확성·완전성·대표성·편향 관리 요소별 평가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08192" y="3247948"/>
            <a:ext cx="201168" cy="192024"/>
          </a:xfrm>
          <a:prstGeom prst="roundRect">
            <a:avLst>
              <a:gd name="adj" fmla="val 12000"/>
            </a:avLst>
          </a:prstGeom>
          <a:solidFill>
            <a:srgbClr val="E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08192" y="3244291"/>
            <a:ext cx="201168" cy="1920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1">
                <a:solidFill>
                  <a:srgbClr val="066470"/>
                </a:solidFill>
                <a:latin typeface="NanumSquare"/>
                <a:ea typeface="NanumSquare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3218687"/>
            <a:ext cx="4901184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70" b="0">
                <a:solidFill>
                  <a:srgbClr val="19334C"/>
                </a:solidFill>
                <a:latin typeface="NanumSquare"/>
                <a:ea typeface="NanumSquare"/>
              </a:rPr>
              <a:t>기존 지침·가이드라인과 법적 의무의 연계 검토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3858768"/>
            <a:ext cx="3657600" cy="2651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0" b="1">
                <a:solidFill>
                  <a:srgbClr val="102D49"/>
                </a:solidFill>
                <a:latin typeface="NanumSquare"/>
                <a:ea typeface="NanumSquare"/>
              </a:rPr>
              <a:t>03  |  소논문 구성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" y="4251960"/>
            <a:ext cx="1636776" cy="51206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" y="438912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334C"/>
                </a:solidFill>
                <a:latin typeface="NanumSquare"/>
                <a:ea typeface="NanumSquare"/>
              </a:rPr>
              <a:t>01  서론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67712" y="437083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D6D7E"/>
                </a:solidFill>
                <a:latin typeface="NanumSquare"/>
                <a:ea typeface="NanumSquare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59736" y="4251960"/>
            <a:ext cx="1636776" cy="51206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478024" y="438912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334C"/>
                </a:solidFill>
                <a:latin typeface="NanumSquare"/>
                <a:ea typeface="NanumSquare"/>
              </a:rPr>
              <a:t>02  EU 규율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23944" y="437083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D6D7E"/>
                </a:solidFill>
                <a:latin typeface="NanumSquare"/>
                <a:ea typeface="NanumSquare"/>
              </a:rPr>
              <a:t>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15968" y="4251960"/>
            <a:ext cx="1636776" cy="51206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34256" y="438912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334C"/>
                </a:solidFill>
                <a:latin typeface="NanumSquare"/>
                <a:ea typeface="NanumSquare"/>
              </a:rPr>
              <a:t>03  국내 규율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0176" y="437083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D6D7E"/>
                </a:solidFill>
                <a:latin typeface="NanumSquare"/>
                <a:ea typeface="NanumSquare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72200" y="4251960"/>
            <a:ext cx="1636776" cy="512064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90488" y="438912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anumSquare"/>
                <a:ea typeface="NanumSquare"/>
              </a:rPr>
              <a:t>04  비교분석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36408" y="437083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D6D7E"/>
                </a:solidFill>
                <a:latin typeface="NanumSquare"/>
                <a:ea typeface="NanumSquare"/>
              </a:rPr>
              <a:t>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28432" y="4251960"/>
            <a:ext cx="1636776" cy="512064"/>
          </a:xfrm>
          <a:prstGeom prst="roundRect">
            <a:avLst>
              <a:gd name="adj" fmla="val 12000"/>
            </a:avLst>
          </a:prstGeom>
          <a:solidFill>
            <a:srgbClr val="E7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46720" y="438912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334C"/>
                </a:solidFill>
                <a:latin typeface="NanumSquare"/>
                <a:ea typeface="NanumSquare"/>
              </a:rPr>
              <a:t>05  개선 방향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370832"/>
            <a:ext cx="15544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D6D7E"/>
                </a:solidFill>
                <a:latin typeface="NanumSquare"/>
                <a:ea typeface="NanumSquare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84664" y="4251960"/>
            <a:ext cx="1636776" cy="512064"/>
          </a:xfrm>
          <a:prstGeom prst="roundRect">
            <a:avLst>
              <a:gd name="adj" fmla="val 12000"/>
            </a:avLst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902952" y="4389120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9334C"/>
                </a:solidFill>
                <a:latin typeface="NanumSquare"/>
                <a:ea typeface="NanumSquare"/>
              </a:rPr>
              <a:t>06  결론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" y="4956048"/>
            <a:ext cx="11009376" cy="676656"/>
          </a:xfrm>
          <a:prstGeom prst="roundRect">
            <a:avLst>
              <a:gd name="adj" fmla="val 12000"/>
            </a:avLst>
          </a:prstGeom>
          <a:solidFill>
            <a:srgbClr val="10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50392" y="5148072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4DFDE"/>
                </a:solidFill>
                <a:latin typeface="NanumSquare"/>
                <a:ea typeface="NanumSquare"/>
              </a:rPr>
              <a:t>기대효과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12264" y="5138928"/>
            <a:ext cx="20116" cy="301752"/>
          </a:xfrm>
          <a:prstGeom prst="rect">
            <a:avLst/>
          </a:prstGeom>
          <a:solidFill>
            <a:srgbClr val="D09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68296" y="5148072"/>
            <a:ext cx="42062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rgbClr val="FFFFFF"/>
                </a:solidFill>
                <a:latin typeface="NanumSquare"/>
                <a:ea typeface="NanumSquare"/>
              </a:rPr>
              <a:t>데이터 품질 요소와 법적 요구사항 연결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24927" y="5148072"/>
            <a:ext cx="38679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</a:rPr>
              <a:t>규범 수준별 보완 방향 제시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4360" y="5779008"/>
            <a:ext cx="11009376" cy="457200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6384" y="5897880"/>
            <a:ext cx="142646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2D5BA9"/>
                </a:solidFill>
                <a:latin typeface="NanumSquare"/>
                <a:ea typeface="NanumSquare"/>
              </a:rPr>
              <a:t>시점·대상 차이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30552" y="5888736"/>
            <a:ext cx="909828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19334C"/>
                </a:solidFill>
                <a:latin typeface="NanumSquare"/>
                <a:ea typeface="NanumSquare"/>
              </a:rPr>
              <a:t>한국: 2026.01.22 시행   |   EU: 부속서 III 2027.12.02 / 부속서 I 2028.08.02 적용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" y="6364224"/>
            <a:ext cx="43891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5D6D7E"/>
                </a:solidFill>
                <a:latin typeface="NanumBarunGothic"/>
                <a:ea typeface="NanumBarunGothic"/>
              </a:rPr>
              <a:t>출처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1560" y="6364224"/>
            <a:ext cx="2916936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066470"/>
                </a:solidFill>
                <a:latin typeface="NanumBarunGothic"/>
                <a:hlinkClick r:id="rId2"/>
              </a:rPr>
              <a:t>EUR-Lex (Reg. 2024/1689, 2026/1744)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05072" y="6364224"/>
            <a:ext cx="3456432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066470"/>
                </a:solidFill>
                <a:latin typeface="NanumBarunGothic"/>
                <a:hlinkClick r:id="rId3"/>
              </a:rPr>
              <a:t>국가법령정보센터 (인공지능기본법 제34조)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44383" y="6364224"/>
            <a:ext cx="3529584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066470"/>
                </a:solidFill>
                <a:latin typeface="NanumBarunGothic"/>
                <a:hlinkClick r:id="rId4"/>
              </a:rPr>
              <a:t>NIA 데이터 품질관리 가이드 v3.5 (2025)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324</Words>
  <Application>Microsoft Office PowerPoint</Application>
  <PresentationFormat>와이드스크린</PresentationFormat>
  <Paragraphs>64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NanumBarunGothic</vt:lpstr>
      <vt:lpstr>NanumSquare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이택근</dc:creator>
  <cp:lastModifiedBy>택택 이</cp:lastModifiedBy>
  <cp:revision>2</cp:revision>
  <dcterms:created xsi:type="dcterms:W3CDTF">2013-01-27T09:14:16Z</dcterms:created>
  <dcterms:modified xsi:type="dcterms:W3CDTF">2026-10-13T14:12:36Z</dcterms:modified>
  <cp:category/>
</cp:coreProperties>
</file>