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Pretendard ExtraBold" panose="02000903000000020004" pitchFamily="50" charset="-127"/>
      <p:bold r:id="rId4"/>
    </p:embeddedFont>
    <p:embeddedFont>
      <p:font typeface="Pretendard Medium" panose="02000603000000020004" pitchFamily="50" charset="-127"/>
      <p:regular r:id="rId5"/>
    </p:embeddedFont>
    <p:embeddedFont>
      <p:font typeface="Pretendard SemiBold" panose="02000703000000020004" pitchFamily="50" charset="-127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236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76577"/>
                </a:solidFill>
                <a:latin typeface="맑은 고딕"/>
              </a:defRPr>
            </a:pPr>
            <a:r>
              <a:rPr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92B46"/>
                </a:solidFill>
                <a:latin typeface="맑은 고딕"/>
              </a:defRPr>
            </a:pP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연구</a:t>
            </a:r>
            <a:r>
              <a:rPr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배경</a:t>
            </a:r>
            <a:r>
              <a:rPr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및 </a:t>
            </a: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목적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447" y="1435608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92B46"/>
                </a:solidFill>
                <a:latin typeface="맑은 고딕"/>
              </a:defRPr>
            </a:pPr>
            <a:r>
              <a:rPr sz="20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AI 사고 유형에 따른 EU AI Act와 국내 AI 기본법의 규제 대응 범위 비교 연구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5187"/>
            <a:ext cx="10972800" cy="9601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" y="2548276"/>
            <a:ext cx="1371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366B2"/>
                </a:solidFill>
                <a:latin typeface="맑은 고딕"/>
              </a:defRPr>
            </a:pP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연구</a:t>
            </a:r>
            <a:r>
              <a:rPr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배경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2432860"/>
            <a:ext cx="9220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92B46"/>
                </a:solidFill>
                <a:latin typeface="맑은 고딕"/>
              </a:defRPr>
            </a:pP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확대에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따라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다양한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사고가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보고되고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있으나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br>
              <a:rPr 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법률상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위험관리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의무가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실제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유형에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대응하는지에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대한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검토가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필요하다</a:t>
            </a:r>
            <a:r>
              <a:rPr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75887"/>
            <a:ext cx="2743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92B46"/>
                </a:solidFill>
                <a:latin typeface="맑은 고딕"/>
              </a:defRPr>
            </a:pP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연구</a:t>
            </a:r>
            <a:r>
              <a:rPr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목적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4206240"/>
            <a:ext cx="3538728" cy="1252728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7872" y="4632549"/>
            <a:ext cx="800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366B2"/>
                </a:solidFill>
                <a:latin typeface="맑은 고딕"/>
              </a:defRPr>
            </a:pPr>
            <a:r>
              <a:rPr sz="20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121" y="4206240"/>
            <a:ext cx="3538728" cy="1252728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68193" y="4632549"/>
            <a:ext cx="789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366B2"/>
                </a:solidFill>
                <a:latin typeface="맑은 고딕"/>
              </a:defRPr>
            </a:pPr>
            <a:r>
              <a:rPr sz="20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6443" y="4206240"/>
            <a:ext cx="3512157" cy="1252728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98514" y="4632549"/>
            <a:ext cx="8884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366B2"/>
                </a:solidFill>
                <a:latin typeface="맑은 고딕"/>
              </a:defRPr>
            </a:pPr>
            <a:r>
              <a:rPr sz="20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AF9EB-AF3B-CBE4-2321-EBE2DCB6AAF5}"/>
              </a:ext>
            </a:extLst>
          </p:cNvPr>
          <p:cNvSpPr txBox="1"/>
          <p:nvPr/>
        </p:nvSpPr>
        <p:spPr>
          <a:xfrm>
            <a:off x="594360" y="292608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366B2"/>
                </a:solidFill>
                <a:latin typeface="맑은 고딕"/>
              </a:defRPr>
            </a:pPr>
            <a:r>
              <a:rPr sz="1200" dirty="0">
                <a:solidFill>
                  <a:srgbClr val="0070C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AI GOVERNANCE  /  </a:t>
            </a:r>
            <a:r>
              <a:rPr lang="ko-KR" altLang="en-US" sz="1200" dirty="0" err="1">
                <a:solidFill>
                  <a:srgbClr val="0070C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소논문</a:t>
            </a:r>
            <a:r>
              <a:rPr lang="ko-KR" altLang="en-US" sz="1200" dirty="0">
                <a:solidFill>
                  <a:srgbClr val="0070C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연구계획</a:t>
            </a:r>
            <a:endParaRPr sz="1200" dirty="0">
              <a:solidFill>
                <a:srgbClr val="0070C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2938FB-DE0C-39E7-F28F-319534EEA3D8}"/>
              </a:ext>
            </a:extLst>
          </p:cNvPr>
          <p:cNvSpPr txBox="1"/>
          <p:nvPr/>
        </p:nvSpPr>
        <p:spPr>
          <a:xfrm>
            <a:off x="1394671" y="4555605"/>
            <a:ext cx="27477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공개된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 사례의 주요 유형 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분류</a:t>
            </a:r>
            <a:endParaRPr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4688EE-F6FC-70EE-C981-0AB9E7B274CC}"/>
              </a:ext>
            </a:extLst>
          </p:cNvPr>
          <p:cNvSpPr txBox="1"/>
          <p:nvPr/>
        </p:nvSpPr>
        <p:spPr>
          <a:xfrm>
            <a:off x="5124992" y="4555605"/>
            <a:ext cx="30214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 유형별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EU·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한국 법률의 관련 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의무 확인</a:t>
            </a:r>
            <a:endParaRPr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7848EF-92AD-BC74-0D9A-DE5AAA4AABB1}"/>
              </a:ext>
            </a:extLst>
          </p:cNvPr>
          <p:cNvSpPr txBox="1"/>
          <p:nvPr/>
        </p:nvSpPr>
        <p:spPr>
          <a:xfrm>
            <a:off x="8855313" y="4555605"/>
            <a:ext cx="30214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규제 적용 범위와 의무 구체성의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차이 도출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BB0FDF-A21A-5C5A-A0C9-A49A93DB06F2}"/>
              </a:ext>
            </a:extLst>
          </p:cNvPr>
          <p:cNvSpPr txBox="1"/>
          <p:nvPr/>
        </p:nvSpPr>
        <p:spPr>
          <a:xfrm>
            <a:off x="701755" y="5866218"/>
            <a:ext cx="9200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92B46"/>
                </a:solidFill>
                <a:latin typeface="맑은 고딕"/>
              </a:defRPr>
            </a:pPr>
            <a:r>
              <a:rPr lang="ko-KR" altLang="en-US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핵심 연구 질문 </a:t>
            </a:r>
            <a:r>
              <a:rPr lang="en-US" altLang="ko-KR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| </a:t>
            </a:r>
            <a:r>
              <a:rPr lang="ko-KR" altLang="en-US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실제 </a:t>
            </a:r>
            <a:r>
              <a:rPr lang="en-US" altLang="ko-KR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사고 유형에 대해 두 법률은 어떤 의무를 규정하며</a:t>
            </a:r>
            <a:r>
              <a:rPr lang="en-US" altLang="ko-KR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그 적용 범위는 어떻게 </a:t>
            </a:r>
            <a:r>
              <a:rPr lang="ko-KR" altLang="en-US" sz="1600" dirty="0" err="1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다른가</a:t>
            </a:r>
            <a:r>
              <a:rPr lang="en-US" altLang="ko-KR" sz="1600" dirty="0">
                <a:solidFill>
                  <a:schemeClr val="tx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?</a:t>
            </a:r>
            <a:endParaRPr sz="1600" dirty="0">
              <a:solidFill>
                <a:schemeClr val="tx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"/>
          </a:xfrm>
          <a:prstGeom prst="roundRect">
            <a:avLst/>
          </a:prstGeom>
          <a:solidFill>
            <a:srgbClr val="236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76577"/>
                </a:solidFill>
                <a:latin typeface="맑은 고딕"/>
              </a:defRPr>
            </a:pPr>
            <a:r>
              <a:rPr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02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92B46"/>
                </a:solidFill>
                <a:latin typeface="맑은 고딕"/>
              </a:defRPr>
            </a:pPr>
            <a:r>
              <a: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연구 방법 및 기대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7040880" cy="786384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892" y="1824115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66B2"/>
                </a:solidFill>
                <a:latin typeface="맑은 고딕"/>
              </a:defRPr>
            </a:pPr>
            <a:r>
              <a: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 자료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005" y="1731782"/>
            <a:ext cx="4908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OECD AI Incidents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Monitor의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공개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사례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관련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원문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기사·공식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자료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확인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532888"/>
            <a:ext cx="7040880" cy="786384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5892" y="2756803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66B2"/>
                </a:solidFill>
                <a:latin typeface="맑은 고딕"/>
              </a:defRPr>
            </a:pPr>
            <a:r>
              <a: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 사례 선정·분류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005" y="2664470"/>
            <a:ext cx="51297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원인과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피해가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확인되는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약 10~15건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선정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; </a:t>
            </a:r>
            <a:br>
              <a:rPr 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3개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중심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6"/>
            <a:ext cx="7040880" cy="786384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5892" y="3689491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66B2"/>
                </a:solidFill>
                <a:latin typeface="맑은 고딕"/>
              </a:defRPr>
            </a:pPr>
            <a:r>
              <a: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 법률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006" y="3704880"/>
            <a:ext cx="4976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EU AI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Act와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AI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기본법의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적용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요건·위험관리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의무·구체성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비교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4398264"/>
            <a:ext cx="7040880" cy="786384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5892" y="4622179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66B2"/>
                </a:solidFill>
                <a:latin typeface="맑은 고딕"/>
              </a:defRPr>
            </a:pPr>
            <a:r>
              <a: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4. 결과 도출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006" y="4637568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92B46"/>
                </a:solidFill>
                <a:latin typeface="맑은 고딕"/>
              </a:defRPr>
            </a:pPr>
            <a:r>
              <a:rPr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 유형별 규제 대응 범위 표 작성 및 국내 제도 개선 시사점 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00201"/>
            <a:ext cx="3520440" cy="3584448"/>
          </a:xfrm>
          <a:prstGeom prst="roundRect">
            <a:avLst>
              <a:gd name="adj" fmla="val 5859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321597"/>
            <a:ext cx="29260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66B2"/>
                </a:solidFill>
                <a:latin typeface="맑은 고딕"/>
              </a:defRPr>
            </a:pP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분석</a:t>
            </a:r>
            <a:r>
              <a:rPr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기준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47888" y="2915958"/>
            <a:ext cx="292608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92B46"/>
                </a:solidFill>
                <a:latin typeface="맑은 고딕"/>
              </a:defRPr>
            </a:pP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①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법률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적용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여부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spcAft>
                <a:spcPts val="900"/>
              </a:spcAft>
              <a:defRPr sz="1600" b="0">
                <a:solidFill>
                  <a:srgbClr val="192B46"/>
                </a:solidFill>
                <a:latin typeface="맑은 고딕"/>
              </a:defRPr>
            </a:pP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②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관련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위험관리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의무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유무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spcAft>
                <a:spcPts val="900"/>
              </a:spcAft>
              <a:defRPr sz="1600" b="0">
                <a:solidFill>
                  <a:srgbClr val="192B46"/>
                </a:solidFill>
                <a:latin typeface="맑은 고딕"/>
              </a:defRPr>
            </a:pP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③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의무의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구체성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spcAft>
                <a:spcPts val="900"/>
              </a:spcAft>
              <a:defRPr sz="1600" b="0">
                <a:solidFill>
                  <a:srgbClr val="192B46"/>
                </a:solidFill>
                <a:latin typeface="맑은 고딕"/>
              </a:defRPr>
            </a:pP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④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유형과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의무의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81360" cy="786384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5892" y="5760720"/>
            <a:ext cx="1417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366B2"/>
                </a:solidFill>
                <a:latin typeface="맑은 고딕"/>
              </a:defRPr>
            </a:pP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기대</a:t>
            </a:r>
            <a:r>
              <a:rPr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결과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005" y="5776108"/>
            <a:ext cx="78371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92B46"/>
                </a:solidFill>
                <a:latin typeface="맑은 고딕"/>
              </a:defRPr>
            </a:pP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규제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차이와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법적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대응의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한계를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체계화하고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AI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위험관리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제도에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대한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개선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방향</a:t>
            </a:r>
            <a:r>
              <a:rPr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제안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3321C-8A63-85DF-E7CE-4CC55B379384}"/>
              </a:ext>
            </a:extLst>
          </p:cNvPr>
          <p:cNvSpPr txBox="1"/>
          <p:nvPr/>
        </p:nvSpPr>
        <p:spPr>
          <a:xfrm>
            <a:off x="594360" y="292608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366B2"/>
                </a:solidFill>
                <a:latin typeface="맑은 고딕"/>
              </a:defRPr>
            </a:pPr>
            <a:r>
              <a:rPr sz="1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AI GOVERNANCE  /  </a:t>
            </a:r>
            <a:r>
              <a:rPr lang="ko-KR" altLang="en-US" sz="12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소논문</a:t>
            </a:r>
            <a:r>
              <a:rPr lang="ko-KR" altLang="en-US" sz="1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연구계획</a:t>
            </a:r>
            <a:endParaRPr sz="1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235</Words>
  <Application>Microsoft Office PowerPoint</Application>
  <PresentationFormat>와이드스크린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Calibri</vt:lpstr>
      <vt:lpstr>Pretendard SemiBold</vt:lpstr>
      <vt:lpstr>Pretendard ExtraBold</vt:lpstr>
      <vt:lpstr>Arial</vt:lpstr>
      <vt:lpstr>Pretendard Medium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허 윤정</cp:lastModifiedBy>
  <cp:revision>10</cp:revision>
  <dcterms:created xsi:type="dcterms:W3CDTF">2013-01-27T09:14:16Z</dcterms:created>
  <dcterms:modified xsi:type="dcterms:W3CDTF">2026-10-14T23:16:35Z</dcterms:modified>
  <cp:category/>
</cp:coreProperties>
</file>