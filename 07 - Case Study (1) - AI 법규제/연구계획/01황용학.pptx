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8" r:id="rId2"/>
    <p:sldId id="256" r:id="rId3"/>
    <p:sldId id="257" r:id="rId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400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100" b="1">
                <a:solidFill>
                  <a:srgbClr val="275fae"/>
                </a:solidFill>
                <a:latin typeface="맑은 고딕"/>
              </a:rPr>
              <a:t>AI GOVERNANCE · RESEARCH PLAN</a:t>
            </a:r>
            <a:endParaRPr sz="1100" b="1">
              <a:solidFill>
                <a:srgbClr val="275fae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2900" b="1">
                <a:solidFill>
                  <a:srgbClr val="172234"/>
                </a:solidFill>
                <a:latin typeface="맑은 고딕"/>
              </a:rPr>
              <a:t>생성형 AI 표시의무의 역설</a:t>
            </a:r>
            <a:endParaRPr sz="2900" b="1">
              <a:solidFill>
                <a:srgbClr val="172234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4672" y="2487168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>
                <a:solidFill>
                  <a:srgbClr val="67748b"/>
                </a:solidFill>
                <a:latin typeface="맑은 고딕"/>
              </a:rPr>
              <a:t>AI Label Fatigue 발생 가능성과 위험 기반 차등 표시 방안</a:t>
            </a:r>
            <a:endParaRPr sz="1600">
              <a:solidFill>
                <a:srgbClr val="67748b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86384" y="3246120"/>
            <a:ext cx="10927080" cy="41148"/>
          </a:xfrm>
          <a:prstGeom prst="rect">
            <a:avLst/>
          </a:prstGeom>
          <a:solidFill>
            <a:srgbClr val="275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04672" y="3886200"/>
            <a:ext cx="4754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400" b="1">
                <a:solidFill>
                  <a:srgbClr val="275fae"/>
                </a:solidFill>
                <a:latin typeface="맑은 고딕"/>
              </a:rPr>
              <a:t>AI 거버넌스를 위한 법규제 · 소논문 연구계획</a:t>
            </a:r>
            <a:endParaRPr sz="1400" b="1">
              <a:solidFill>
                <a:srgbClr val="275fae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31069" y="5600155"/>
            <a:ext cx="1664006" cy="28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300" b="1">
                <a:solidFill>
                  <a:srgbClr val="424e60"/>
                </a:solidFill>
                <a:latin typeface="맑은 고딕"/>
              </a:rPr>
              <a:t>황용학 (202576722)</a:t>
            </a:r>
            <a:endParaRPr sz="1300" b="1">
              <a:solidFill>
                <a:srgbClr val="424e60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60807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900">
                <a:solidFill>
                  <a:srgbClr val="7c889a"/>
                </a:solidFill>
                <a:latin typeface="맑은 고딕"/>
              </a:rPr>
              <a:t>2026.10 · AI 거버넌스 법규제</a:t>
            </a:r>
            <a:endParaRPr sz="900">
              <a:solidFill>
                <a:srgbClr val="7c889a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08832554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5EAE"/>
                </a:solidFill>
                <a:latin typeface="Malgun Gothic"/>
              </a:rP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1F30"/>
                </a:solidFill>
                <a:latin typeface="Malgun Gothic"/>
              </a:rPr>
              <a:t>생성형 AI 표시의무의 역설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6E80"/>
                </a:solidFill>
                <a:latin typeface="Malgun Gothic"/>
              </a:rPr>
              <a:t>AI Label Fatigue 발생 가능성과 위험·맥락 기반 차등 표시 방안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201400" cy="10972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5EAE"/>
                </a:solidFill>
                <a:latin typeface="Malgun Gothic"/>
              </a:rPr>
              <a:t>핵심 문제의식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76272"/>
            <a:ext cx="397763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61F30"/>
                </a:solidFill>
                <a:latin typeface="Malgun Gothic"/>
              </a:rPr>
              <a:t>AI 표시가 일상화되면,
표시는 있어도 이용자의
주의는 약해질 수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502152"/>
            <a:ext cx="3931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6E80"/>
                </a:solidFill>
                <a:latin typeface="Malgun Gothic"/>
              </a:rPr>
              <a:t>※ 본 연구에서 반복 노출로 주의 환기 기능이 약해지는 현상을
「AI Label Fatigue」로 개념화한다.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755648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5EAE"/>
                </a:solidFill>
                <a:latin typeface="Malgun Gothic"/>
              </a:rPr>
              <a:t>법적 출발점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176272"/>
            <a:ext cx="3182112" cy="987552"/>
          </a:xfrm>
          <a:prstGeom prst="roundRect">
            <a:avLst/>
          </a:prstGeom>
          <a:solidFill>
            <a:srgbClr val="E9F0FC"/>
          </a:solidFill>
          <a:ln w="12700">
            <a:solidFill>
              <a:srgbClr val="CB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61F30"/>
                </a:solidFill>
                <a:latin typeface="Malgun Gothic"/>
              </a:rPr>
              <a:t>한국 AI기본법 제31조
생성형 AI 결과물 표시 +
실제와 구분 어려운 합성물의 명확한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2176272"/>
            <a:ext cx="3182112" cy="987552"/>
          </a:xfrm>
          <a:prstGeom prst="roundRect">
            <a:avLst/>
          </a:prstGeom>
          <a:solidFill>
            <a:srgbClr val="E1F6F5"/>
          </a:solidFill>
          <a:ln w="12700">
            <a:solidFill>
              <a:srgbClr val="CB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61F30"/>
                </a:solidFill>
                <a:latin typeface="Malgun Gothic"/>
              </a:rPr>
              <a:t>EU AI Act 제50조
기계 판독 가능 표시 +
딥페이크·공익정보 공개 의무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310128"/>
            <a:ext cx="654710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61F30"/>
                </a:solidFill>
                <a:latin typeface="Malgun Gothic"/>
              </a:rPr>
              <a:t>→ 이미 법제는 대상·주체·표시 방식에 차이를 두고 있음.
   연구의 질문은 “그 차등이 이용자의 주의 확보에도 충분한가?”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37083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5EAE"/>
                </a:solidFill>
                <a:latin typeface="Malgun Gothic"/>
              </a:rPr>
              <a:t>연구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736592"/>
            <a:ext cx="10698480" cy="262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l">
              <a:defRPr/>
            </a:pPr>
            <a:r>
              <a:rPr sz="1120" b="0">
                <a:solidFill>
                  <a:srgbClr val="161f30"/>
                </a:solidFill>
                <a:latin typeface="맑은 고딕"/>
              </a:rPr>
              <a:t>• Q1. 표시의무는 정보 비대칭 해소와 신뢰 확보에 어떻게 기여하는가?</a:t>
            </a:r>
            <a:endParaRPr sz="1120" b="0">
              <a:solidFill>
                <a:srgbClr val="161f30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2" y="5157216"/>
            <a:ext cx="10698480" cy="2606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l">
              <a:defRPr/>
            </a:pPr>
            <a:r>
              <a:rPr sz="1120" b="0">
                <a:solidFill>
                  <a:srgbClr val="161f30"/>
                </a:solidFill>
                <a:latin typeface="맑은 고딕"/>
              </a:rPr>
              <a:t>• Q2. AI 라벨의 반복 노출은 주의·경고효과를 약화시킬 가능성이 있는가?</a:t>
            </a:r>
            <a:endParaRPr sz="1120" b="0">
              <a:solidFill>
                <a:srgbClr val="161f30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8952" y="5577840"/>
            <a:ext cx="10698480" cy="25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l">
              <a:defRPr/>
            </a:pPr>
            <a:r>
              <a:rPr sz="1120" b="0">
                <a:solidFill>
                  <a:srgbClr val="161f30"/>
                </a:solidFill>
                <a:latin typeface="맑은 고딕"/>
              </a:rPr>
              <a:t>• Q3. 위험 수준과 이용 맥락에 따른 차등 표시가 더 실효적인가?</a:t>
            </a:r>
            <a:endParaRPr sz="1120" b="0">
              <a:solidFill>
                <a:srgbClr val="161f30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18120" y="606247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6E80"/>
                </a:solidFill>
                <a:latin typeface="Malgun Gothic"/>
              </a:rPr>
              <a:t>범위: SNS·뉴스·플랫폼 / 이미지·영상·음성·문서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6E80"/>
                </a:solidFill>
                <a:latin typeface="Malgun Gothic"/>
              </a:rPr>
              <a:t>AI 거버넌스 법규제 소논문 연구계획서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E80"/>
                </a:solidFill>
                <a:latin typeface="Malgun Gothic"/>
              </a:rPr>
              <a:t>1/2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5EAE"/>
                </a:solidFill>
                <a:latin typeface="Malgun Gothic"/>
              </a:rP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1F30"/>
                </a:solidFill>
                <a:latin typeface="Malgun Gothic"/>
              </a:rPr>
              <a:t>생성형 AI 표시의무의 역설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6E80"/>
                </a:solidFill>
                <a:latin typeface="Malgun Gothic"/>
              </a:rPr>
              <a:t>연구 설계와 예상 결론 — 형식적 표시에서 “주의 확보” 중심 규제로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201400" cy="10972"/>
          </a:xfrm>
          <a:prstGeom prst="rect">
            <a:avLst/>
          </a:prstGeom>
          <a:solidFill>
            <a:srgbClr val="DA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5EAE"/>
                </a:solidFill>
                <a:latin typeface="Malgun Gothic"/>
              </a:rPr>
              <a:t>연구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75688"/>
            <a:ext cx="489204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161F30"/>
                </a:solidFill>
                <a:latin typeface="Malgun Gothic"/>
              </a:rPr>
              <a:t>① EU·한국 법제 비교  ② 경고·고지 피로 선행연구 검토
③ 표시 유형을 4개 기준으로 비교  ④ 위험 기반 3단계 모델 제안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852928"/>
            <a:ext cx="1920240" cy="438912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CB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61F30"/>
                </a:solidFill>
                <a:latin typeface="Malgun Gothic"/>
              </a:rPr>
              <a:t>표시 방식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0048" y="2852928"/>
            <a:ext cx="1143000" cy="438912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CB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61F30"/>
                </a:solidFill>
                <a:latin typeface="Malgun Gothic"/>
              </a:rPr>
              <a:t>인지성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3048" y="2852928"/>
            <a:ext cx="1143000" cy="438912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CB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61F30"/>
                </a:solidFill>
                <a:latin typeface="Malgun Gothic"/>
              </a:rPr>
              <a:t>검증성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6048" y="2852928"/>
            <a:ext cx="1325880" cy="438912"/>
          </a:xfrm>
          <a:prstGeom prst="roundRect">
            <a:avLst/>
          </a:prstGeom>
          <a:solidFill>
            <a:srgbClr val="E7ECF4"/>
          </a:solidFill>
          <a:ln w="12700">
            <a:solidFill>
              <a:srgbClr val="CB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61F30"/>
                </a:solidFill>
                <a:latin typeface="Malgun Gothic"/>
              </a:rPr>
              <a:t>피로 위험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328416"/>
            <a:ext cx="192024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61F30"/>
                </a:solidFill>
                <a:latin typeface="Malgun Gothic"/>
              </a:rPr>
              <a:t>단순 문구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3328416"/>
            <a:ext cx="1143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61F30"/>
                </a:solidFill>
                <a:latin typeface="Malgun Gothic"/>
              </a:rPr>
              <a:t>높음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3048" y="3328416"/>
            <a:ext cx="1143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61F30"/>
                </a:solidFill>
                <a:latin typeface="Malgun Gothic"/>
              </a:rPr>
              <a:t>낮음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6048" y="3328416"/>
            <a:ext cx="1325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61F30"/>
                </a:solidFill>
                <a:latin typeface="Malgun Gothic"/>
              </a:rPr>
              <a:t>높음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776472"/>
            <a:ext cx="192024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61F30"/>
                </a:solidFill>
                <a:latin typeface="Malgun Gothic"/>
              </a:rPr>
              <a:t>아이콘·배지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0048" y="3776472"/>
            <a:ext cx="1143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61F30"/>
                </a:solidFill>
                <a:latin typeface="Malgun Gothic"/>
              </a:rPr>
              <a:t>중간~높음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13048" y="3776472"/>
            <a:ext cx="1143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61F30"/>
                </a:solidFill>
                <a:latin typeface="Malgun Gothic"/>
              </a:rPr>
              <a:t>중간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3776472"/>
            <a:ext cx="1325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61F30"/>
                </a:solidFill>
                <a:latin typeface="Malgun Gothic"/>
              </a:rPr>
              <a:t>중간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4224528"/>
            <a:ext cx="192024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61F30"/>
                </a:solidFill>
                <a:latin typeface="Malgun Gothic"/>
              </a:rPr>
              <a:t>워터마크·메타데이터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0048" y="4224528"/>
            <a:ext cx="1143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61F30"/>
                </a:solidFill>
                <a:latin typeface="Malgun Gothic"/>
              </a:rPr>
              <a:t>낮음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3048" y="4224528"/>
            <a:ext cx="1143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61F30"/>
                </a:solidFill>
                <a:latin typeface="Malgun Gothic"/>
              </a:rPr>
              <a:t>높음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6048" y="4224528"/>
            <a:ext cx="1325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61F30"/>
                </a:solidFill>
                <a:latin typeface="Malgun Gothic"/>
              </a:rPr>
              <a:t>낮음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4672584"/>
            <a:ext cx="192024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61F30"/>
                </a:solidFill>
                <a:latin typeface="Malgun Gothic"/>
              </a:rPr>
              <a:t>차등 표시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70048" y="4672584"/>
            <a:ext cx="1143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61F30"/>
                </a:solidFill>
                <a:latin typeface="Malgun Gothic"/>
              </a:rPr>
              <a:t>높음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13048" y="4672584"/>
            <a:ext cx="114300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61F30"/>
                </a:solidFill>
                <a:latin typeface="Malgun Gothic"/>
              </a:rPr>
              <a:t>높음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6048" y="4672584"/>
            <a:ext cx="1325880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0">
                <a:solidFill>
                  <a:srgbClr val="161F30"/>
                </a:solidFill>
                <a:latin typeface="Malgun Gothic"/>
              </a:rPr>
              <a:t>낮추는 것이 목표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171907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5EAE"/>
                </a:solidFill>
                <a:latin typeface="Malgun Gothic"/>
              </a:rPr>
              <a:t>예상 결론: 위험 기반 차등 표시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2176272"/>
            <a:ext cx="1051560" cy="749808"/>
          </a:xfrm>
          <a:prstGeom prst="roundRect">
            <a:avLst/>
          </a:prstGeom>
          <a:solidFill>
            <a:srgbClr val="E9F0FC"/>
          </a:solidFill>
          <a:ln w="12700">
            <a:solidFill>
              <a:srgbClr val="CB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61F30"/>
                </a:solidFill>
                <a:latin typeface="Malgun Gothic"/>
              </a:rPr>
              <a:t>Level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2194560"/>
            <a:ext cx="3401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1F30"/>
                </a:solidFill>
                <a:latin typeface="Malgun Gothic"/>
              </a:rPr>
              <a:t>일반 AI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2441448"/>
            <a:ext cx="3401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F30"/>
                </a:solidFill>
                <a:latin typeface="Malgun Gothic"/>
              </a:rPr>
              <a:t>작은 아이콘 + 메타데이터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2670048"/>
            <a:ext cx="34015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46E80"/>
                </a:solidFill>
                <a:latin typeface="Malgun Gothic"/>
              </a:rPr>
              <a:t>블로그 삽화·일반 이미지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3209544"/>
            <a:ext cx="1051560" cy="749808"/>
          </a:xfrm>
          <a:prstGeom prst="roundRect">
            <a:avLst/>
          </a:prstGeom>
          <a:solidFill>
            <a:srgbClr val="E1F6F5"/>
          </a:solidFill>
          <a:ln w="12700">
            <a:solidFill>
              <a:srgbClr val="CB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61F30"/>
                </a:solidFill>
                <a:latin typeface="Malgun Gothic"/>
              </a:rPr>
              <a:t>Level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3227832"/>
            <a:ext cx="3401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1F30"/>
                </a:solidFill>
                <a:latin typeface="Malgun Gothic"/>
              </a:rPr>
              <a:t>합성·딥페이크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3474720"/>
            <a:ext cx="3401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F30"/>
                </a:solidFill>
                <a:latin typeface="Malgun Gothic"/>
              </a:rPr>
              <a:t>눈에 띄는 배지 + 출처정보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3703320"/>
            <a:ext cx="34015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46E80"/>
                </a:solidFill>
                <a:latin typeface="Malgun Gothic"/>
              </a:rPr>
              <a:t>인물 영상·음성 합성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4242816"/>
            <a:ext cx="1051560" cy="749808"/>
          </a:xfrm>
          <a:prstGeom prst="roundRect">
            <a:avLst/>
          </a:prstGeom>
          <a:solidFill>
            <a:srgbClr val="FCE7E9"/>
          </a:solidFill>
          <a:ln w="12700">
            <a:solidFill>
              <a:srgbClr val="CB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61F30"/>
                </a:solidFill>
                <a:latin typeface="Malgun Gothic"/>
              </a:rPr>
              <a:t>Level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5552" y="4261103"/>
            <a:ext cx="3401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1F30"/>
                </a:solidFill>
                <a:latin typeface="Malgun Gothic"/>
              </a:rPr>
              <a:t>고위험 맥락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4507992"/>
            <a:ext cx="34015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61F30"/>
                </a:solidFill>
                <a:latin typeface="Malgun Gothic"/>
              </a:rPr>
              <a:t>강한 경고 + 공유 전 확인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4736592"/>
            <a:ext cx="34015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46E80"/>
                </a:solidFill>
                <a:latin typeface="Malgun Gothic"/>
              </a:rPr>
              <a:t>정치·금융·의료·재난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1937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5EAE"/>
                </a:solidFill>
                <a:latin typeface="Malgun Gothic"/>
              </a:rPr>
              <a:t>연구의 차별점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541264"/>
            <a:ext cx="10561320" cy="4004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l">
              <a:defRPr/>
            </a:pPr>
            <a:r>
              <a:rPr sz="1040" b="0">
                <a:solidFill>
                  <a:srgbClr val="161f30"/>
                </a:solidFill>
                <a:latin typeface="맑은 고딕"/>
              </a:rPr>
              <a:t>“표시가 있느냐”가 아니라 “표시가 실제로 주의를 환기하느냐”를 평가하고, 법적 투명성 의무를 이용자 인지·행동 관점으로 재구성한다.</a:t>
            </a:r>
            <a:endParaRPr sz="1040" b="0">
              <a:solidFill>
                <a:srgbClr val="161f30"/>
              </a:solidFill>
              <a:latin typeface="맑은 고딕"/>
            </a:endParaRPr>
          </a:p>
          <a:p>
            <a:pPr lvl="0" algn="l">
              <a:defRPr/>
            </a:pPr>
            <a:r>
              <a:rPr sz="1040" b="0">
                <a:solidFill>
                  <a:srgbClr val="161f30"/>
                </a:solidFill>
                <a:latin typeface="맑은 고딕"/>
              </a:rPr>
              <a:t>※ Q2는 경고피로·고지피로 관련 선행연구를 통해 발생 가능성을 탐색하며, 후속 실증실험의 가설로 제시한다.</a:t>
            </a:r>
            <a:endParaRPr sz="1040" b="0">
              <a:solidFill>
                <a:srgbClr val="161f30"/>
              </a:solidFill>
              <a:latin typeface="맑은 고딕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6E80"/>
                </a:solidFill>
                <a:latin typeface="Malgun Gothic"/>
              </a:rPr>
              <a:t>AI 거버넌스 법규제 소논문 연구계획서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6E80"/>
                </a:solidFill>
                <a:latin typeface="Malgun Gothic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296</ep:Words>
  <ep:PresentationFormat>On-screen Show (4:3)</ep:PresentationFormat>
  <ep:Paragraphs>78</ep:Paragraphs>
  <ep:Slides>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Office Theme</vt:lpstr>
      <vt:lpstr>슬라이드 1</vt:lpstr>
      <vt:lpstr>슬라이드 2</vt:lpstr>
      <vt:lpstr>슬라이드 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dydgk</cp:lastModifiedBy>
  <dcterms:modified xsi:type="dcterms:W3CDTF">2026-10-09T05:04:47.995</dcterms:modified>
  <cp:revision>8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