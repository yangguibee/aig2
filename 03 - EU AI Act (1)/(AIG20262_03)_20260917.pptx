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2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42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86507"/>
            <a:ext cx="1067105" cy="418795"/>
          </a:xfrm>
          <a:prstGeom prst="rect">
            <a:avLst/>
          </a:prstGeom>
          <a:noFill/>
          <a:ln w="25400">
            <a:solidFill>
              <a:srgbClr val="036B3F"/>
            </a:solidFill>
            <a:prstDash val="solid"/>
          </a:ln>
        </p:spPr>
      </p:sp>
      <p:pic>
        <p:nvPicPr>
          <p:cNvPr id="4" name="Image 1" descr="gen-dedup-19c911119b5455341ec56e38170d158e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7200900"/>
            <a:ext cx="1714500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52805" y="4187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38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38505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686507"/>
            <a:ext cx="1067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강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353105"/>
            <a:ext cx="16383305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(1)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62195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규정의 전체 구조와 핵심 원칙, 금지 관행에서 고위험 분류까지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244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https://github.com/YangGuiBee/AIG2</a:t>
            </a:r>
            <a:endParaRPr lang="en-US" sz="1575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63002"/>
            <a:ext cx="11430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 · 담당교수 </a:t>
            </a: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양희정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https://yangguibee.github.io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783105" y="8268005"/>
            <a:ext cx="22485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· 2026-2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572500"/>
            <a:ext cx="22485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09.17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16강 목차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8주차(10.22) · 기말 보고서 16주차(12.17) · 오늘은 3주차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소개, AI 거버넌스 개론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법규제의 기초 이론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(1)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(2), 추석 휴강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인공지능기본법, 시행령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AI 관련 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1, AI 법규제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가이드라인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기술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국제표준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연구방법론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선행연구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실무사례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2, 적용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기말고사, 종합 평가 보고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2/51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7867498"/>
            <a:ext cx="16383305" cy="16578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요약</a:t>
            </a:r>
            <a:endParaRPr lang="en-US" sz="500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법규제의 기초 이론 · 왜 규제하는가, 어떤 방식으로 규제하는가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규제의 정당화 근거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1257300" y="3962095"/>
            <a:ext cx="543062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실패 3유형 — 정보 비대칭, 외부성, 공공재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57300" y="4461358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880"/>
              </a:lnSpc>
              <a:buAutoNum type="arabicParenBoth"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비대칭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구매자는 품질을 모름, </a:t>
            </a:r>
          </a:p>
          <a:p>
            <a:pPr algn="l">
              <a:lnSpc>
                <a:spcPts val="2880"/>
              </a:lnSpc>
            </a:pPr>
            <a:r>
              <a:rPr 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중고차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시장의 교훈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257300" y="5192878"/>
            <a:ext cx="5230367" cy="674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외부성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당사자가 아닌 제3자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부담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257299" y="5992064"/>
            <a:ext cx="4944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공공재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연구와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lnSpc>
                <a:spcPts val="288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시장에서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과소 공급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규제의 유형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6810451" y="3962095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880"/>
              </a:lnSpc>
              <a:buAutoNum type="arabicParenBoth"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통제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대조, </a:t>
            </a:r>
          </a:p>
          <a:p>
            <a:pPr algn="l">
              <a:lnSpc>
                <a:spcPts val="2880"/>
              </a:lnSpc>
            </a:pPr>
            <a:r>
              <a:rPr lang="en-US" altLang="ko-KR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법이 지정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810451" y="4827118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상태를 지정, </a:t>
            </a:r>
          </a:p>
          <a:p>
            <a:pPr marL="0" indent="0" algn="l">
              <a:lnSpc>
                <a:spcPts val="288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사업자가 선택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810451" y="5692140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규제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제정에 민간 참여, </a:t>
            </a:r>
          </a:p>
          <a:p>
            <a:pPr marL="0" indent="0" algn="l">
              <a:lnSpc>
                <a:spcPts val="288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공적 기관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810451" y="655716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규제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행동강령, 위반 시 제재 없음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규범의 확산</a:t>
            </a:r>
            <a:endParaRPr lang="en-US" sz="2500" dirty="0"/>
          </a:p>
        </p:txBody>
      </p:sp>
      <p:sp>
        <p:nvSpPr>
          <p:cNvPr id="27" name="Text 21"/>
          <p:cNvSpPr txBox="1"/>
          <p:nvPr/>
        </p:nvSpPr>
        <p:spPr>
          <a:xfrm>
            <a:off x="12308738" y="3831336"/>
            <a:ext cx="4668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브뤼셀 효과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기준이 사실상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사업자도 EU 기준 채택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2308738" y="5062119"/>
            <a:ext cx="54580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캘리포니아 효과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단위 규제가 연방으로 확산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2308738" y="5561381"/>
            <a:ext cx="551291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→ 신뢰 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선언에서 집행 가능한 의무로 이동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333195" y="813450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시장 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3유형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해결하기 위한 조항을 두고 있는가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333195" y="857615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규제의 유형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장단점과 적용방안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조문에서의 반영 여부 확인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3/51</a:t>
            </a:r>
            <a:endParaRPr lang="en-US" sz="18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93A36FD-A7A2-4BA6-A689-536E26A468B2}"/>
              </a:ext>
            </a:extLst>
          </p:cNvPr>
          <p:cNvSpPr txBox="1"/>
          <p:nvPr/>
        </p:nvSpPr>
        <p:spPr>
          <a:xfrm>
            <a:off x="1355140" y="8971636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</a:t>
            </a:r>
            <a:r>
              <a:rPr lang="ko-KR" alt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규범 확산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현황 분석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16383305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543300"/>
            <a:ext cx="16383305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5433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419295"/>
            <a:ext cx="16383305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4192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296205"/>
            <a:ext cx="16383305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29620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172200"/>
            <a:ext cx="16383305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1722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구성</a:t>
            </a:r>
            <a:endParaRPr lang="en-US" sz="5000" dirty="0"/>
          </a:p>
        </p:txBody>
      </p:sp>
      <p:sp>
        <p:nvSpPr>
          <p:cNvPr id="18" name="Shape 15"/>
          <p:cNvSpPr/>
          <p:nvPr/>
        </p:nvSpPr>
        <p:spPr>
          <a:xfrm>
            <a:off x="1295705" y="2905049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95705" y="29050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867205" y="2829154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경과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7048195" y="2895905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관보 게재 2024.7.12, 발효 2024.8.1, 옴니버스 연기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383834" y="2895905"/>
            <a:ext cx="1791464" cy="332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제113조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95705" y="3781044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5705" y="37810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867205" y="3705149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체계</a:t>
            </a:r>
            <a:endParaRPr lang="en-US" sz="2500" dirty="0"/>
          </a:p>
        </p:txBody>
      </p:sp>
      <p:sp>
        <p:nvSpPr>
          <p:cNvPr id="26" name="Text 23"/>
          <p:cNvSpPr txBox="1"/>
          <p:nvPr/>
        </p:nvSpPr>
        <p:spPr>
          <a:xfrm>
            <a:off x="7048195" y="3771900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장, 113개 조문, 부속서 13개, 상호 참조 구조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383834" y="3771900"/>
            <a:ext cx="1791464" cy="332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7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구조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95705" y="4657954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5705" y="46579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867205" y="4581144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</a:t>
            </a:r>
            <a:endParaRPr lang="en-US" sz="2500" dirty="0"/>
          </a:p>
        </p:txBody>
      </p:sp>
      <p:sp>
        <p:nvSpPr>
          <p:cNvPr id="31" name="Text 28"/>
          <p:cNvSpPr txBox="1"/>
          <p:nvPr/>
        </p:nvSpPr>
        <p:spPr>
          <a:xfrm>
            <a:off x="7048195" y="4647895"/>
            <a:ext cx="65608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목적, 역외 적용, 제외 영역, 정의, AI literacy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5383834" y="4647895"/>
            <a:ext cx="1791464" cy="332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제1~4조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295705" y="5533949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55339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5458054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관행</a:t>
            </a:r>
            <a:endParaRPr lang="en-US" sz="2500" dirty="0"/>
          </a:p>
        </p:txBody>
      </p:sp>
      <p:sp>
        <p:nvSpPr>
          <p:cNvPr id="36" name="Text 33"/>
          <p:cNvSpPr txBox="1"/>
          <p:nvPr/>
        </p:nvSpPr>
        <p:spPr>
          <a:xfrm>
            <a:off x="7048195" y="5524805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금지, 고위험, 제한적, 최소 위험, 금지 10유형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5383834" y="5524805"/>
            <a:ext cx="1791464" cy="332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295705" y="640994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95705" y="64099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867205" y="6334049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endParaRPr lang="en-US" sz="2500" dirty="0"/>
          </a:p>
        </p:txBody>
      </p:sp>
      <p:sp>
        <p:nvSpPr>
          <p:cNvPr id="41" name="Text 38"/>
          <p:cNvSpPr txBox="1"/>
          <p:nvPr/>
        </p:nvSpPr>
        <p:spPr>
          <a:xfrm>
            <a:off x="7048195" y="6400800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제품 안전, 부속서 III 8개 영역, 제외 요건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5383834" y="6400800"/>
            <a:ext cx="1791464" cy="332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제6~7조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4/51</a:t>
            </a:r>
            <a:endParaRPr lang="en-US" sz="180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319ED123-617D-44A2-B8BE-FB62090D02D8}"/>
              </a:ext>
            </a:extLst>
          </p:cNvPr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544F63C7-5BB2-417A-A72E-24FA8EA5CC19}"/>
              </a:ext>
            </a:extLst>
          </p:cNvPr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A8105FBA-ED56-4848-A0AC-613B3AD2B961}"/>
              </a:ext>
            </a:extLst>
          </p:cNvPr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B3604FB8-53EB-4690-8AE8-FA3BC75AF281}"/>
              </a:ext>
            </a:extLst>
          </p:cNvPr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B0AE6A71-1440-4CB6-8B6C-0BD835EC0218}"/>
              </a:ext>
            </a:extLst>
          </p:cNvPr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53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53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287207"/>
            <a:ext cx="16383305" cy="12380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왜 경성규제를 택했는가?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선언에서 법적 의무로, 세계 최초의 포괄적 AI 규정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선언의 한계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2019년 신뢰할 수 있는 AI 윤리 가이드라인, 7대 요건 제시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9976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구속력 없음, 위반해도 제재 없음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50182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84개 윤리지침이 발표되었으나 이행 여부 확인 수단 부재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535778"/>
            <a:ext cx="757580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워싱(ethics washing) 논란, 선언만 하고 실행하지 않는 문제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형식의 선택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지침(Directive)이 아니라 규정(Regulation) 형식 채택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9976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규정은 회원국 국내법 전환 없이 직접 적용, 27개국 동일 기준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50182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근거 — 유럽연합 기능조약 제114조 단일시장, 제16조 개인정보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553577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과징금, 시정명령, 시장 배제까지 가능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2805" y="701893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경성규제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(Hard Regulation): 국가나 지방자치단체가 특정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행정목적을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위해 법적 강제력을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수단으로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권리를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제한하거나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의무를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부과하는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77339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476756" y="849660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선언에서 법으로 옮겨가면 무엇이 달라지는가? 준수 행태가 실제로 바뀌는가?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476756" y="893826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가이드라인의 7대 요건과 이 법의 제8~15조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5/51</a:t>
            </a:r>
            <a:endParaRPr lang="en-US" sz="18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4E8A82E1-3818-46B0-9BCD-981CAC08154C}"/>
              </a:ext>
            </a:extLst>
          </p:cNvPr>
          <p:cNvSpPr txBox="1"/>
          <p:nvPr/>
        </p:nvSpPr>
        <p:spPr>
          <a:xfrm>
            <a:off x="952805" y="748162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가이드라인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7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요건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①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감독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②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견고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③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④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⑤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다양성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비차별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⑥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⑦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076894"/>
            <a:ext cx="16383305" cy="1448411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입법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발의부터 발효까지 3년 4개월, 규정 (EU) 2024/1689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16374161" cy="3943807"/>
        </p:xfrm>
        <a:graphic>
          <a:graphicData uri="http://schemas.openxmlformats.org/drawingml/2006/table">
            <a:tbl>
              <a:tblPr/>
              <a:tblGrid>
                <a:gridCol w="14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1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4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2021.4.21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집행위원회 규정안 제출, 위험기반 접근 골격 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2021.4 ~ 2023.12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이사회 일반접근 채택(2022.12), 의회 협상안 채택(2023.6)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2년 8개월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3자 협의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2023.6 ~ 2023.12.9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이사회, 의회, 집행위 협상 6차, 범용 AI 규율 최대 쟁점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2024.3.13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의회 본회의 가결, 찬성 523, 반대 46, 기권 49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2024.7.12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관보(Official Journal) 게재, 규정 (EU) 2024/1689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2024.8.1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게재 20일 후 발효, 의무는 단계적으로 적용 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333195" y="7398196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437626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입법에서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8879281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심의 중에 규율 대상이 바뀐 법은 어떤 흔적을 남기는가? 조문 배치에서 확인 가능한가?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6/51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153205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4153205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4153205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7677302"/>
            <a:ext cx="16383305" cy="1848002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3자 협의 3대 쟁점</a:t>
            </a:r>
            <a:endParaRPr lang="en-US" sz="50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이사회, 의회, 집행위원회가 6차에 걸쳐 협상, 2023.12.9 정치적 합의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1257300" y="3029407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257300" y="3029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3543300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규율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4401007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발의안에 없던 대상, 생성형 AI 등장으로 신설 요구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5265115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프랑스, 독일, 이탈리아는 자국 기업 부담을 이유로 반대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6130138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2단 구조, 일반 의무와 체계적 위험 의무로 분리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810451" y="3029407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10451" y="3029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3543300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생체인식</a:t>
            </a:r>
            <a:endParaRPr lang="en-US" sz="25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401007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의회는 전면 금지 요구,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이사회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법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5332350"/>
            <a:ext cx="54580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 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공공장소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감시와 범죄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수사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충돌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6006424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원칙 금지, 3개 예외만 허용, 사전 사법 승인 조건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12363602" y="3029407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2363602" y="3029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3543300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분류 방식</a:t>
            </a:r>
            <a:endParaRPr lang="en-US" sz="25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4401007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방식은 명확하나 경직, 자율 판단은 유연하나 회피 우려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5265115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산업계는 목록에 올라도 실제 위험이 낮은 경우 제외를 요구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2363602" y="6130138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목록 방식 유지, 제6조 3항에 제외 요건 신설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794430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 여부 확인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838596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조항이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실효성 검토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가능성 여부 확인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882761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에서의 공개된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7/51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2805" y="8438998"/>
            <a:ext cx="16383305" cy="10863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발효와 단계적 적용</a:t>
            </a:r>
            <a:endParaRPr lang="en-US" sz="50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발효일과 적용일은 다름, 의무마다 적용 시점이 따로 지정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발효(entry into force)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2024.8.1, 관보 게재 20일 후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 법으로서 존재하게 된 시점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시점부터 개별 의무의 유예 기간이 계산 시작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적용(application)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의무별로 6개월에서 4년까지 차등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사업자가 준비할 시간을 주려는 취지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조항 — 제113조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97356"/>
              </p:ext>
            </p:extLst>
          </p:nvPr>
        </p:nvGraphicFramePr>
        <p:xfrm>
          <a:off x="952805" y="5848502"/>
          <a:ext cx="16374161" cy="220096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2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관행, </a:t>
                      </a:r>
                      <a:r>
                        <a:rPr 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</a:t>
                      </a: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리터러시</a:t>
                      </a: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(AI literacy)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제5조, 제4조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AI, 거버넌스, 제재, 관할당국 지정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제51~56조, 제64~70조, 제99~101조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24개월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투명성 의무, 시장감시 일반 적용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제50조, 제72~94조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1333195" y="864839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조항이 가장 먼저 적용된 이유는 무엇인가? 유예 길이는 무엇에 따라 정해지는가?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333195" y="905987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의무는 표에 없음, 다음 장에서 그 이유를 확인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8/51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86646" y="2743200"/>
            <a:ext cx="8048549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86646" y="27432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33495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805" y="8343900"/>
            <a:ext cx="16383305" cy="118140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(1-5) 옴니버스 개정, 고위험 의무 연기</a:t>
            </a:r>
            <a:endParaRPr lang="en-US" sz="5000" dirty="0"/>
          </a:p>
        </p:txBody>
      </p:sp>
      <p:sp>
        <p:nvSpPr>
          <p:cNvPr id="14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(EU) 2026/1744 · 1학기 교안 시점에는 없던 개정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65163"/>
              </p:ext>
            </p:extLst>
          </p:nvPr>
        </p:nvGraphicFramePr>
        <p:xfrm>
          <a:off x="952805" y="2743198"/>
          <a:ext cx="8039405" cy="2495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2026.5.7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이사회와 의회 정치적 합의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2026.6.29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이사회 최종 채택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2026.7.24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관보 게재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2026.7.27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9592056" y="301020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취지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표준과 지침이 준비되지 않은 상태에서 의무만 발생하는 문제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단순화와 간소화를 명분으로 제시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55622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내용</a:t>
            </a:r>
            <a:endParaRPr lang="en-US" sz="20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798962"/>
              </p:ext>
            </p:extLst>
          </p:nvPr>
        </p:nvGraphicFramePr>
        <p:xfrm>
          <a:off x="952805" y="6019495"/>
          <a:ext cx="16374161" cy="220096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9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부속서 III 경로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2027.12.2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16개월 연기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부속서 I 경로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2028.8.2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24개월 연기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관행 2유형 신설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2026.12.2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 (ba), (bb)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5"/>
          <p:cNvSpPr txBox="1"/>
          <p:nvPr/>
        </p:nvSpPr>
        <p:spPr>
          <a:xfrm>
            <a:off x="1333195" y="855329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연기는 규제 완화인가, 준비 기간 확보인가? 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897666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 전후 준수 준비 수준을 비교하면 규제 유예의 효과를 측정할 수 있는가?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9/51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8419795"/>
            <a:ext cx="16383305" cy="11045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확정 시행 일정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현재 기준 · 옴니버스 개정 반영 후 최종 일정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21711"/>
              </p:ext>
            </p:extLst>
          </p:nvPr>
        </p:nvGraphicFramePr>
        <p:xfrm>
          <a:off x="952805" y="2704795"/>
          <a:ext cx="16374160" cy="5563206"/>
        </p:xfrm>
        <a:graphic>
          <a:graphicData uri="http://schemas.openxmlformats.org/drawingml/2006/table">
            <a:tbl>
              <a:tblPr/>
              <a:tblGrid>
                <a:gridCol w="14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3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대상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2024.8.1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제113조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관행 8유형, </a:t>
                      </a:r>
                      <a:r>
                        <a:rPr 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</a:t>
                      </a: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리터러시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제5조, 제4조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2025.7.10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행동강령 공개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AI, 거버넌스, 제재, 관할당국 지정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제51~56조, 제64~70조, 제99~101조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2026.7.27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옴니버스 개정 발효, 고위험 의무 연기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규정 2026/1744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투명성 의무, 시장감시 일반 적용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제50조, 제72~94조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2유형 추가, 기존 시스템 표시 경과 종료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 (ba)(bb), 제50조 2항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2027.8.2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출시 범용 AI 모델 의무 이행 기한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제111조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2027.12.2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의무, 부속서 III 경로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제6조 2항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5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2028.8.2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의무, 부속서 I 경로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제6조 1항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333195" y="8567713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발효부터 전면 적용까지 6년, 이 긴 이행기 자체가 연구 대상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9010283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시행은 준수를 돕는가, 규제 회피 시간을 주는가? 무엇을 관찰하면 답할 수 있는가?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10/51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8033004"/>
            <a:ext cx="16383305" cy="1492301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(1-7) 경과 규정, 기존 시스템의 취급</a:t>
            </a:r>
            <a:endParaRPr lang="en-US" sz="50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시장에 나온 시스템에 소급 적용하는지 여부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시스템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3981298"/>
            <a:ext cx="540319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적용일 이전 출시분은 원칙적으로 소급 적용 제외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4480560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설계에 중대한 변경이 있으면 신규 출시로 간주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5345582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사용분은 2030.8.2까지 적합성 확보 의무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</a:t>
            </a:r>
            <a:endParaRPr lang="en-US" sz="2500" dirty="0"/>
          </a:p>
        </p:txBody>
      </p:sp>
      <p:sp>
        <p:nvSpPr>
          <p:cNvPr id="27" name="Text 21"/>
          <p:cNvSpPr txBox="1"/>
          <p:nvPr/>
        </p:nvSpPr>
        <p:spPr>
          <a:xfrm>
            <a:off x="6810451" y="398129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2025.8.2 이전 출시 모델도 의무 대상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4480560"/>
            <a:ext cx="494233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기한 2027.8.2, 2년의 준비 기간 부여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4979822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고위험과 달리 소급 적용, 기존 대형 모델을 포섭하려는 의도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표시</a:t>
            </a:r>
            <a:endParaRPr lang="en-US" sz="2500" dirty="0"/>
          </a:p>
        </p:txBody>
      </p:sp>
      <p:sp>
        <p:nvSpPr>
          <p:cNvPr id="31" name="Text 25"/>
          <p:cNvSpPr txBox="1"/>
          <p:nvPr/>
        </p:nvSpPr>
        <p:spPr>
          <a:xfrm>
            <a:off x="12363602" y="398129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콘텐츠 표시 의무는 2026.8.2 적용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2363602" y="4480560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시스템은 2026.12.2까지 경과 기간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4979822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조항 — 제50조 2항, 제111조 4항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333195" y="8146011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변경(substantial modification)의 판단이 실무 쟁점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8557491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재학습, 용도 확대, 성능 개선 중 어디까지가 신규 출시인지 지침이 필요한 상태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333195" y="901146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고위험은 소급 제외, 범용 AI는 소급 적용, 같은 법에서 왜 다르게 정했는가?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11/51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2805" y="8382305"/>
            <a:ext cx="16383305" cy="114300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(1-8) 집행 준비 현황</a:t>
            </a:r>
            <a:endParaRPr lang="en-US" sz="50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법은 적용 중이나 집행 기구는 아직 구축 단계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유럽 AI청(AI Office)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2024.1.24 집행위원회 결정으로 설치, 산하 6개 부서, 약 125명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모델은 AI청이 직접 감독, 과징금도 직접 부과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 요구, 모델 접근 요구, 시정조치 명령, 회수 명령 권한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관할당국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의무 기한 2025.8.2, 27개국 중 상당수가 미완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이탈리아가 최초로 국내 이행법 통과, 2025.10.10 발효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완료 9개국, 부분 진행 8개국, 미확정 다수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848502"/>
          <a:ext cx="16374161" cy="2362810"/>
        </p:xfrm>
        <a:graphic>
          <a:graphicData uri="http://schemas.openxmlformats.org/drawingml/2006/table">
            <a:tbl>
              <a:tblPr/>
              <a:tblGrid>
                <a:gridCol w="209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8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이행법 제정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이탈리아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 132/2025, 사이버보안청이 시장감시와 단일 접점 담당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다원 모델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아일랜드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15개 기관 분담, 국가 AI청 신설 예정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기관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덴마크, 핀란드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디지털청과 통신청이 단일 접점 역할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의안 단계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독일, 프랑스, 폴란드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연방망청, 소비자보호국 등이 유력하나 확정 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1333195" y="861090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법은 적용 중이나 제99조 과징금 부과 사례는 2026년 9월 현재 확인되지 않음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333195" y="903335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27개국이 서로 다른 기관을 지정하면 단일시장의 통일성은 유지되는가?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12/51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191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191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335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335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4479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4479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3623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805" y="8438998"/>
            <a:ext cx="16383305" cy="10863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경과 정리</a:t>
            </a:r>
            <a:endParaRPr lang="en-US" sz="5000" dirty="0"/>
          </a:p>
        </p:txBody>
      </p:sp>
      <p:sp>
        <p:nvSpPr>
          <p:cNvPr id="21" name="Shape 18"/>
          <p:cNvSpPr/>
          <p:nvPr/>
        </p:nvSpPr>
        <p:spPr>
          <a:xfrm>
            <a:off x="1295705" y="29626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5705" y="29626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867205" y="29525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선언이 아니라 규정 형식, 27개국에 국내법 전환 없이 직접 적용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295705" y="38770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38770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38669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발의 2021.4 부터 발효 2024.8 까지 3년 4개월, 심의 중 생성형 AI 등장으로 규율 대상 확대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295705" y="47914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47914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47813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발효일과 적용일은 별개, 의무마다 6개월에서 4년까지 유예 차등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295705" y="570585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57058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56957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옴니버스 개정으로 고위험 의무 연기, 부속서 III 2027.12.2, 부속서 I 2028.8.2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95705" y="662025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66202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66101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개정이 금지 관행은 2유형 확대, 완화와 강화가 동시에 진행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1333195" y="8600363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형성 과정을 연구 대상으로 삼는다면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33195" y="904293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문서, 로비 기록, 회원국 입장문이 모두 공개 자료, 내용분석 방법을 쓸 수 있음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13/51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6344107"/>
            <a:ext cx="3143707" cy="1047902"/>
          </a:xfrm>
          <a:prstGeom prst="rect">
            <a:avLst/>
          </a:prstGeom>
          <a:solidFill>
            <a:srgbClr val="FBECEB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667098" y="6344107"/>
            <a:ext cx="3143707" cy="1047902"/>
          </a:xfrm>
          <a:prstGeom prst="rect">
            <a:avLst/>
          </a:prstGeom>
          <a:solidFill>
            <a:srgbClr val="FAF5E8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8382305" y="6344107"/>
            <a:ext cx="3143707" cy="1047902"/>
          </a:xfrm>
          <a:prstGeom prst="rect">
            <a:avLst/>
          </a:prstGeom>
          <a:solidFill>
            <a:srgbClr val="E8F1FA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2096598" y="6344107"/>
            <a:ext cx="5238598" cy="1047902"/>
          </a:xfrm>
          <a:prstGeom prst="rect">
            <a:avLst/>
          </a:prstGeom>
          <a:solidFill>
            <a:srgbClr val="EAF2ED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52805" y="7963508"/>
            <a:ext cx="16383305" cy="156179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규정 전체 구조</a:t>
            </a:r>
            <a:endParaRPr lang="en-US" sz="5000" dirty="0"/>
          </a:p>
        </p:txBody>
      </p:sp>
      <p:sp>
        <p:nvSpPr>
          <p:cNvPr id="25" name="Text 1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180항, 본문 13개 장 113개 조문, 부속서 13개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전문(Recitals)</a:t>
            </a:r>
            <a:endParaRPr lang="en-US" sz="25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398129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180개 항, 약 175쪽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257300" y="448056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구속력은 없으나 조문 해석의 기준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257300" y="497982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취지와 개념 설명이 여기에 있음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본문(Articles)</a:t>
            </a:r>
            <a:endParaRPr lang="en-US" sz="25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398129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장, 113개 조문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448056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구속력을 갖는 부분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6810451" y="497982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 순서로 배치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부속서(Annexes)</a:t>
            </a:r>
            <a:endParaRPr lang="en-US" sz="25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398129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13개, 로마숫자 I부터 XIII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4480560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동일한 구속력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4979822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 서식, 위임입법으로 개정 가능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952805" y="5848502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배치의 논리 — 위험 등급 순</a:t>
            </a:r>
            <a:endParaRPr lang="en-US" sz="2000" dirty="0"/>
          </a:p>
        </p:txBody>
      </p:sp>
      <p:sp>
        <p:nvSpPr>
          <p:cNvPr id="39" name="Text 33"/>
          <p:cNvSpPr txBox="1"/>
          <p:nvPr/>
        </p:nvSpPr>
        <p:spPr>
          <a:xfrm>
            <a:off x="1181405" y="6549847"/>
            <a:ext cx="2686507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제2장 제5조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4190695" y="6724498"/>
            <a:ext cx="381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41" name="Text 35"/>
          <p:cNvSpPr txBox="1"/>
          <p:nvPr/>
        </p:nvSpPr>
        <p:spPr>
          <a:xfrm>
            <a:off x="4895698" y="6549847"/>
            <a:ext cx="2686507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제3장 제6~49조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7905902" y="6724498"/>
            <a:ext cx="381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43" name="Text 37"/>
          <p:cNvSpPr txBox="1"/>
          <p:nvPr/>
        </p:nvSpPr>
        <p:spPr>
          <a:xfrm>
            <a:off x="8610905" y="6549847"/>
            <a:ext cx="2686507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위험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제4장 제50조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1620195" y="6724498"/>
            <a:ext cx="381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45" name="Text 39"/>
          <p:cNvSpPr txBox="1"/>
          <p:nvPr/>
        </p:nvSpPr>
        <p:spPr>
          <a:xfrm>
            <a:off x="12325198" y="6549847"/>
            <a:ext cx="4782312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모델, 그 뒤 거버넌스와 제재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제5장 제51조 이후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328623" y="818256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높을수록 앞에, 의무도 무겁게, 제3장이 44개 조문으로 전체의 약 40퍼센트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333195" y="8603214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수의 분포 자체가 입법자의 관심 배분을 보여주는 자료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333195" y="902566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고위험에 44개 조문, 범용 AI에 6개 조문, 이 비대칭은 무엇을 뜻하는가?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14/51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제1장~제6장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총칙에서 혁신 지원까지, 실체 의무가 배치된 전반부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56303"/>
              </p:ext>
            </p:extLst>
          </p:nvPr>
        </p:nvGraphicFramePr>
        <p:xfrm>
          <a:off x="952805" y="2704794"/>
          <a:ext cx="16373247" cy="3158974"/>
        </p:xfrm>
        <a:graphic>
          <a:graphicData uri="http://schemas.openxmlformats.org/drawingml/2006/table">
            <a:tbl>
              <a:tblPr/>
              <a:tblGrid>
                <a:gridCol w="12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0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총칙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제1~4조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목적, 적용 범위, 정의 68개, </a:t>
                      </a:r>
                      <a:r>
                        <a:rPr 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</a:t>
                      </a: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8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리터러시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금지된 AI 관행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조문, 금지 10유형과 예외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AI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제6~49조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44개 조문, 5개 절로 구성, 전체의 약 40퍼센트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AI 시스템 투명성 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조문, 고지와 표시 의무 4가지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제51~56조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분류, 일반 의무, 체계적 위험 의무, 행동강령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혁신 지원 조치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제57~63조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샌드박스, 실환경 시험, 중소기업 지원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952805" y="6400800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제3장의 내부 5개 절</a:t>
            </a:r>
            <a:endParaRPr lang="en-US" sz="2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7309"/>
              </p:ext>
            </p:extLst>
          </p:nvPr>
        </p:nvGraphicFramePr>
        <p:xfrm>
          <a:off x="952805" y="6858000"/>
          <a:ext cx="16373247" cy="2648100"/>
        </p:xfrm>
        <a:graphic>
          <a:graphicData uri="http://schemas.openxmlformats.org/drawingml/2006/table">
            <a:tbl>
              <a:tblPr/>
              <a:tblGrid>
                <a:gridCol w="12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1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강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분류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제6~7조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제3강 (5)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요건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제8~15조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제4강 블록 1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제공자와 배포자 의무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제16~27조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제4강 블록 2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통지당국과 피통지기관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제28~39조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제4강 블록 3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표준, 적합성 평가, 등록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제40~49조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제4강 블록 3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15/51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142732"/>
            <a:ext cx="16383305" cy="138257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제7장~제13장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거버넌스에서 최종 규정까지, 집행 장치가 배치된 후반부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371210"/>
              </p:ext>
            </p:extLst>
          </p:nvPr>
        </p:nvGraphicFramePr>
        <p:xfrm>
          <a:off x="952805" y="2704795"/>
          <a:ext cx="16373247" cy="4169664"/>
        </p:xfrm>
        <a:graphic>
          <a:graphicData uri="http://schemas.openxmlformats.org/drawingml/2006/table">
            <a:tbl>
              <a:tblPr/>
              <a:tblGrid>
                <a:gridCol w="12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5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제7장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거버넌스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제64~70조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AI청, 유럽 AI 위원회, 과학자문단, 회원국 관할당국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고위험 데이터베이스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제71조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조문, 고위험 시스템 등록과 공개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모니터링, 정보공유, 시장감시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제72~94조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23개 조문, 중대사고 보고, 집행 절차, 이의신청권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행동규범과 지침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제95~96조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자발적 행동규범, 집행위원회 지침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제11장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위임입법권과 위원회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제97~98조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개정 권한, 위원회 심의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제12장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제99~101조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과징금 3단계, EU 기관 제재, 범용 AI 제재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제13장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규정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제102~113조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법령 개정, 경과 조치, 시행일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23444" marB="123444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333195" y="82826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제85~87조에 이의신청권과 설명받을 권리, 개인이 직접 행사할 수 있는 권리 조항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647399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제85~87조의 개인 권리는 국내 인공지능기본법에 대응 조항이 있는가?</a:t>
            </a:r>
            <a:endParaRPr lang="en-US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1333195" y="906985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조항의 유무는 법의 성격을 가르는 지점, 사업자 규제인가 개인 권리 보장인가?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16/51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805" y="7912860"/>
            <a:ext cx="16383305" cy="161244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부속서 13개</a:t>
            </a:r>
            <a:endParaRPr lang="en-US" sz="50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동일한 구속력, 위임입법으로 개정 가능한 부분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8766"/>
              </p:ext>
            </p:extLst>
          </p:nvPr>
        </p:nvGraphicFramePr>
        <p:xfrm>
          <a:off x="952805" y="2704795"/>
          <a:ext cx="8039405" cy="4079240"/>
        </p:xfrm>
        <a:graphic>
          <a:graphicData uri="http://schemas.openxmlformats.org/drawingml/2006/table">
            <a:tbl>
              <a:tblPr/>
              <a:tblGrid>
                <a:gridCol w="95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조화 법령 목록, 고위험 경로 1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범죄 목록, 실시간 생체인식 예외 판단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AI 시스템 8개 영역, 고위험 경로 2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IV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기술문서 요구 항목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적합성 선언 서식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통제 방식 적합성 평가 절차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품질관리체계와 기술문서 평가 절차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908145"/>
              </p:ext>
            </p:extLst>
          </p:nvPr>
        </p:nvGraphicFramePr>
        <p:xfrm>
          <a:off x="9286646" y="2704795"/>
          <a:ext cx="8039405" cy="3534643"/>
        </p:xfrm>
        <a:graphic>
          <a:graphicData uri="http://schemas.openxmlformats.org/drawingml/2006/table">
            <a:tbl>
              <a:tblPr/>
              <a:tblGrid>
                <a:gridCol w="95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시스템 등록 제출 정보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IX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실환경 시험 등록 정보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대규모 IT 시스템 관련 법령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 기술문서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제공자 투명성 정보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XIII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체계적 위험 모델 판단 기준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1333195" y="8190484"/>
            <a:ext cx="15773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여부가 이 두 부속서로 갈림, 본문 제6조는 판단 기준만 두고 실제 목록은 부속서에 위임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8628024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부속서는 위임입법으로 집행위원회가 개정 가능, 의회 표결 없이 규율 범위가 바뀔 수 있는 구조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333195" y="901049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목록을 부속서로 빼면 유연성은 얻으나 예측 가능성은 잃음, 어느 쪽이 더 중요한가?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17/51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3200400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32004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114800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1148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029200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029200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943600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943600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8419795"/>
            <a:ext cx="16383305" cy="11045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(2-5) 조문 상호 참조 구조</a:t>
            </a:r>
            <a:endParaRPr lang="en-US" sz="50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조문을 읽으려면 다른 조문과 부속서를 함께 봐야 하는 구조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27047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고위험 여부를 판단하는 경로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295705" y="345734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5705" y="34573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67205" y="3448202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분류 기준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905195" y="34482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기준만 규정, 실제 목록은 부속서 I과 부속서 III으로 넘김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95705" y="437174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5705" y="43717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867205" y="4362602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또는 III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905195" y="43626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I은 다시 20여 개 개별 EU 법령을 인용, 그 법령도 확인 필요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95705" y="5286146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52861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5277002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3항 제외 요건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905195" y="52770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있어도 4개 요건 충족 시 제외 가능, 단 프로파일링은 항상 고위험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295705" y="620054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5705" y="62005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867205" y="6191402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제8~15조 요건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905195" y="61914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고위험으로 확정되면 7대 요건 적용, 기술문서는 부속서 IV 참조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70235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법지도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앱(AILawMap)이 이 참조 관계를 시각화한 도구, 조문 간 연결을 눌러가며 확인 가능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64839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깊이가 준수 비용을 만드는가?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909096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중소기업이 이 구조를 따라가는 데 드는 비용을 추정하면 규제 부담을 정량화할 수 있음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18/51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610905"/>
            <a:ext cx="16383305" cy="91440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조문 번호 대조, 초안과 최종본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초안과 관보 최종본의 조문 번호가 다름, 인용 시 주의 필요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09339"/>
              </p:ext>
            </p:extLst>
          </p:nvPr>
        </p:nvGraphicFramePr>
        <p:xfrm>
          <a:off x="952805" y="2704794"/>
          <a:ext cx="16375075" cy="3696008"/>
        </p:xfrm>
        <a:graphic>
          <a:graphicData uri="http://schemas.openxmlformats.org/drawingml/2006/table">
            <a:tbl>
              <a:tblPr/>
              <a:tblGrid>
                <a:gridCol w="381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7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0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단계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관보 최종본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투명성 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제34~37조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조문이 단일 조문으로 통합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제38~44조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제51~56조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7개에서 6개로 축소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혁신 지원 조치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제45~49조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제57~63조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5개에서 7개로 확대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거버넌스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제50~56조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제64~70조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AI청 조항 신설 반영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시장감시와 집행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제57~63조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제72~94조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7개에서 23개로 대폭 확대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제60~63조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제99~101조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과징금 3단계로 정리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7대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제8~15조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제8~15조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변동 없음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238097" y="6588064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원문(EUR-Lex) 또는 조문 정리 사이트(artificialintelligenceact.eu)로 대조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708879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 조문이 7개에서 23개로 늘어난 것은 무엇을 뜻하는가?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913133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심의 과정에서 무엇이 문제로 지적되었는지 조문 증감으로 역추적하는 연구가 가능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19/51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2805" y="6133795"/>
            <a:ext cx="1638330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52805" y="61337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52805" y="7944307"/>
            <a:ext cx="16383305" cy="15809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제1조 목적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중심(human-centric)이고 신뢰할 수 있는(trustworthy) AI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목적이 병존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단일시장 기능 개선, 역내 규칙의 조화(harmonisation)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건강, 안전, 기본권 보호와 혁신 지원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목적과 권리 보호 목적이 한 조문에 함께 놓임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 대상 7가지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출시와 사용에 관한 조화 규칙, 금지 관행, 고위험 요건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4215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의무, 범용 AI 모델 규칙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9039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시장감시와 거버넌스, 혁신 지원 조치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257300" y="6400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개념의 출처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4000500" y="6543626"/>
            <a:ext cx="1230599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중심과 신뢰 개념은 2019년 고위전문가그룹(HLEG) 윤리 가이드라인 7대 요건에서 옴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00500" y="6985282"/>
            <a:ext cx="1230599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제1항이 법치, 민주주의, 기본권을 명시, 경제협력개발기구(OECD) 원칙도 참조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828296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단일시장 조화와 기본권 보호가 충돌하면 어느 쪽이 우선하는가? 조문에 답이 있는가?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33195" y="872553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가이드라인 7대 요건과 제8~15조 7대 요건은 같은 것인가? 항목을 대조해 볼 것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20/51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7207625"/>
            <a:ext cx="16383305" cy="231768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제2조 적용 범위, 적용 대상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주체 유형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38931"/>
              </p:ext>
            </p:extLst>
          </p:nvPr>
        </p:nvGraphicFramePr>
        <p:xfrm>
          <a:off x="952805" y="2704795"/>
          <a:ext cx="16373246" cy="3362177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2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3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제공자(provider)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시스템을 개발하여 자기 이름으로 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내 출시 또는 서비스 개시, 소재지 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배포자(deployer)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권한으로 시스템을 사용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내 설립 또는 소재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수입자(importer)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제공자의 시스템을 EU 시장에 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내 설립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유통자(distributor)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공급망에서 시스템을 시장에 제공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제공자와 수입자 외의 공급망 참여자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제조자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 내장한 제품을 자기 상표로 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 법령 적용 제품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있는 대표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제공자를 대리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내 지정 의무, 제22조와 제54조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755380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무게가 주체별로 다름, 제공자가 가장 무겁고 유통자가 가장 가벼움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796528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사업자가 여러 역할을 겸할 수 있음, 예를 들어 모델을 만들어 자사 서비스에 쓰면 제공자와 배포자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38230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겹칠 때 의무는 합산되는가, 가장 무거운 쪽을 따르는가? 조문에 명확한 답이 있는가?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882396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인공지능기본법의 AI 사업자 구분과 대조하면 포섭 범위 차이를 볼 수 있음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21/51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2805" y="5962802"/>
            <a:ext cx="16383305" cy="186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52805" y="5962802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52805" y="8134502"/>
            <a:ext cx="16383305" cy="1390802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역외 적용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EU에 법인이 없어도 의무 발생, 브뤼셀 효과의 법적 근거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적용되는 경우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시장에 시스템을 출시하는 경우, 제공자 소재지 무관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46135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내 배포자가 사용하는 경우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94141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역외에서 사용하나 그 산출물이 EU 내에서 쓰이는 경우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적용되는 경우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한국 기업이 한국에서 이력서 심사 AI를 운영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6135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심사 결과가 EU 내 지원자에게 적용되면 의무 발생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94141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위치, 법인 소재지, 계약 준거법과 무관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257300" y="6210605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제공자의 대응 의무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1257300" y="6782105"/>
            <a:ext cx="15773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시스템 제공자는 EU 내 권한 있는 대표를 서면으로 지정, 제22조, 범용 AI 모델 제공자도 동일한 지정 의무, 제54조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257300" y="7223760"/>
            <a:ext cx="15773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대표는 기술문서 보관, 당국 협력, 적합성 선언 유지를 담당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8193623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제2강에서 다룬 브뤼셀 효과가 이 조문에서 발생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33195" y="863527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기업이 EU 기준을 따르면 국내 서비스도 같은 기준이 적용되는가? 분리 운영이 가능한가?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9076933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인공지능기본법 제4조의 역외 적용 문언과 비교하면 어느 쪽이 더 넓은가?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22/51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705295"/>
            <a:ext cx="8048549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705295"/>
            <a:ext cx="8048549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705295"/>
            <a:ext cx="8048549" cy="1429207"/>
          </a:xfrm>
          <a:prstGeom prst="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324698"/>
            <a:ext cx="16383305" cy="12006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적용 제외 영역</a:t>
            </a:r>
            <a:endParaRPr lang="en-US" sz="50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2항부터 12항, 이 법이 미치지 않는 범위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597516"/>
              </p:ext>
            </p:extLst>
          </p:nvPr>
        </p:nvGraphicFramePr>
        <p:xfrm>
          <a:off x="952805" y="2704795"/>
          <a:ext cx="16374161" cy="3620113"/>
        </p:xfrm>
        <a:graphic>
          <a:graphicData uri="http://schemas.openxmlformats.org/drawingml/2006/table">
            <a:tbl>
              <a:tblPr/>
              <a:tblGrid>
                <a:gridCol w="276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8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1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영역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근거와 취지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군사, 국방, 안보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목적으로만 개발되거나 사용되는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주권 사항, EU 권한 범위 밖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제3국 공공기관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 협력 협정에 따른 법 집행, 사법 공조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기본권 보호 수준이 상응하는 경우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 개발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전 연구, 시험, 개발 활동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실환경 시험은 제외되지 않음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개인적 비직업 사용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자연인이 사적으로 사용하는 경우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내 사용 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공개 소스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공개 라이선스로 배포되는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단, 금지 관행과 고위험, 제50조는 적용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전 부속서 I 제품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제품안전 법령 적용 대상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규제 회피, 해당 법령 절차에 편입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1257300" y="695309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법이 우선하는 영역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257300" y="7394753"/>
            <a:ext cx="7439558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 규정(GDPR)과 디지털서비스법(DSA)은 영향받지 않음,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5항과 7항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592056" y="695309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소스 제외의 한계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9592056" y="74295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공개했다고 전부 면제가 아님, 금지와 고위험은 그대로 적용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855329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군사 제외와 공개 소스 제외는 각각 어떤 공백을 만드는가?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899586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규정을 모아 보면 이 법이 포기한 영역이 드러남, 그 공백을 메우는 다른 규범이 있는가?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23/51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8095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8305495"/>
            <a:ext cx="16383305" cy="12188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제3조 정의, AI 시스템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68개 중 제1호, 이 법의 적용 대상을 가르는 문언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1호 AI 시스템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1257300" y="3562502"/>
            <a:ext cx="157734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수준의 자율성으로 작동하도록 설계된 기계 기반 시스템으로, 배치 후 적응성을 보일 수 있고, 명시적 또는 묵시적 목적을 위해 입력으로부터 물리적 또는 가상 환경에 영향을 미치는 예측, 콘텐츠, 권고, 결정 등의 산출물을 추론(infer)하는 것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4800600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정의의 구성 요소 5가지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619877"/>
              </p:ext>
            </p:extLst>
          </p:nvPr>
        </p:nvGraphicFramePr>
        <p:xfrm>
          <a:off x="952805" y="5257799"/>
          <a:ext cx="16373246" cy="2608944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판단의 실익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 기반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하드웨어와 소프트웨어의 결합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수행하는 판단은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개입 없이 작동하는 정도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수준의 차이만 있고 유무는 묻지 않음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적응성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후 학습으로 변화하는 성질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가능성만 있어도 충족, 필수 요건은 아님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추론(infer)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입력에서 산출물을 도출하는 과정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요건, 단순 규칙 기반 연산과 구분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환경에 영향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물리적 또는 가상 환경을 변화시킴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계산만 하고 끝나는 경우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333195" y="853409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요건이 경계선, 엑셀 수식과 회귀모형은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나뉘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897666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정의가 넓으면 규율 범위가 넓어지나 예측 가능성이 낮아짐, 이 정의는 어느 쪽에 가까운가?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24/51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7684619"/>
            <a:ext cx="16383305" cy="184068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(3-6) 주체와 행위 관련 정의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하면 의무가 발생하는지 가르는 문언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85362"/>
              </p:ext>
            </p:extLst>
          </p:nvPr>
        </p:nvGraphicFramePr>
        <p:xfrm>
          <a:off x="952805" y="2704795"/>
          <a:ext cx="16374161" cy="4190697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9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제공자(provider)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시스템이나 범용 AI 모델을 개발하거나 개발시켜 자기 이름 또는 상표로 출시하는 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배포자(deployer)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권한으로 시스템을 사용하는 자, 개인적 비직업 활동은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수입자(importer)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설립 제공자의 시스템을 EU 시장에 출시하는 EU 내 설립자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유통자(distributor)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제공자와 수입자 외에 공급망에서 시스템을 시장에 제공하는 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출시(placing on the market)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시스템을 EU 시장에 최초로 제공하는 행위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개시(putting into service)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의도된 목적에 따라 최초 사용에 제공하는 행위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중대한 변경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후 적합성이나 의도된 목적에 영향을 주는 변경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영향받는 자(affected person)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시스템의 산출물이 적용되는 자연인 또는 집단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779708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출시와 서비스 개시가 별개 개념, 시장에 내놓는 행위와 실제 사용에 넘기는 행위를 구분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820856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개발시켜 출시하는 경우도 제공자, 외주 개발을 맡겨도 발주자가 의무를 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63010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변경의 판단 기준이 실무 공백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907176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재학습이 중대한 변경인가? 판단 기준을 세우는 것 자체가 연구 주제가 될 수 있음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25/51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239305"/>
            <a:ext cx="16383305" cy="972007"/>
          </a:xfrm>
          <a:prstGeom prst="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8401507"/>
            <a:ext cx="16383305" cy="11237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(3-7) 위험과 생체정보 관련 정의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관행과 고위험 판단에 직접 쓰이는 개념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018513"/>
              </p:ext>
            </p:extLst>
          </p:nvPr>
        </p:nvGraphicFramePr>
        <p:xfrm>
          <a:off x="952805" y="2704793"/>
          <a:ext cx="16374161" cy="404434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위험(risk)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해악 발생 확률과 그 해악의 심각성의 조합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체계적 위험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모델의 고영향 능력에 특유한 위험, 공중보건, 안전, 기본권, 사회 전체에 중대한 영향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생체정보(biometric data)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신체적, 생리적, 행동적 특성에 관한 개인정보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생체인식(biometric identification)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데이터베이스와 대조하여 개인의 신원을 확인하는 자동 처리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감정인식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생체정보에 기초하여 감정이나 의도를 식별하거나 추론하는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생체분류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생체정보로 개인을 특정 범주에 배정하는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딥페이크(deep fake)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인물, 사물, 장소와 유사하여 진정한 것으로 오인될 수 있는 생성 또는 조작된 콘텐츠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프로파일링(profiling)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 규정 제4조 4항의 정의를 준용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733727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위험의 정의가 확률과 심각성의 조합, 이 두 축으로 위험 등급이 결정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774875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 관련 정의가 4개, 금지 관행 중 3개 유형이 생체정보를 다루기 때문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63010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국내법은 위험이 아니라 영향(impact)을 쓰고 별도 정의를 두지 않음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907176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확률과 심각성으로 분해되지 않는 개념을 쓰면 판단 기준은 어디서 오는가?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26/51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4192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4192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7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5352898"/>
            <a:ext cx="7438644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86646" y="4419295"/>
            <a:ext cx="8048549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286646" y="4419295"/>
            <a:ext cx="8048549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0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5352898"/>
            <a:ext cx="7438644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52805" y="7876642"/>
            <a:ext cx="16383305" cy="164866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(3-8) 제4조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리터러시</a:t>
            </a:r>
            <a:endParaRPr lang="en-US" sz="5000" dirty="0"/>
          </a:p>
        </p:txBody>
      </p:sp>
      <p:sp>
        <p:nvSpPr>
          <p:cNvPr id="20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2025.2.2 적용, 위험 등급과 무관하게 모든 제공자와 배포자에게 부과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내용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504895"/>
            <a:ext cx="15773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제공자와 배포자는 자기를 위해 시스템을 운영하는 직원과 관련자가 충분한 문해력을 갖추도록 조치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6863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 요소</a:t>
            </a:r>
            <a:endParaRPr lang="en-US" sz="25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5619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지식, 경험, 교육 수준, 훈련 이력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609996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사용될 맥락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65800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영향받는 자 또는 집단의 특성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6863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조문의 특징</a:t>
            </a:r>
            <a:endParaRPr lang="en-US" sz="25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5619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 수준을 수치로 정하지 않음, 성과 기반 규제 방식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609996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위반에 대한 직접 과징금 조항 없음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65800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여부는 시장감시 과정에서 확인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756587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33195" y="816689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인해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시스템의 한계를 모르면 산출물을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과신하는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8563599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리터러시는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무엇으로 측정할 수 있는가?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986966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윤리성 인식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척도를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리터러시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측정 도구로 전용하는 연구가 가능한가?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27/51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7750629"/>
            <a:ext cx="16383305" cy="185071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(3-9) 국내 인공지능기본법과 정의 대조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발전과 신뢰 기반 조성 등에 관한 기본법, 2026.1.22 시행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4160" cy="3838653"/>
        </p:xfrm>
        <a:graphic>
          <a:graphicData uri="http://schemas.openxmlformats.org/drawingml/2006/table">
            <a:tbl>
              <a:tblPr/>
              <a:tblGrid>
                <a:gridCol w="266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0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3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개념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고위험(high-risk)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고영향(제2조 4호)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대 영향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 분해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확률과 심각성의 조합으로 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정의 없이 영역 열거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기준의 출처가 다름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방식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목록 2경로, 제외 요건 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법률에 영역 열거, 사전 검토 권고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EU는 의무, 국내는 권고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연산량 기준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10의 25제곱 부동소수점 연산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대통령령에 위임(제32조)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EU는 법률에 명시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영향평가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적합성 평가 의무, CE 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노력 의무(제35조)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강제력의 유무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제재 상한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3,500만 유로 또는 매출 7퍼센트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과태료 3,000만 원(제43조)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규모가 약 100배 차이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8006944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국내법은 산업 진흥과 규제를 한 법에 담음, EU는 규제 단일 목적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8418424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국내법 제4조의 역외 적용 문언이 EU보다 넓다는 평가도 있음, 국내 이용자에 영향을 미치는 국외 행위까지 포섭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8880204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영향으로 바꾸면 포섭되는 시스템의 수는 늘어나는가 줄어드는가? 무엇으로 확인할 수 있는가?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28/51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96005"/>
            <a:ext cx="1638330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9600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686300"/>
            <a:ext cx="1638330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686300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676595"/>
            <a:ext cx="1638330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6765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667805"/>
            <a:ext cx="1638330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66780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8706002"/>
            <a:ext cx="16383305" cy="819302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 정리</a:t>
            </a:r>
            <a:endParaRPr lang="en-US" sz="50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 제1~4조에서 확인한 것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95705" y="300014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5705" y="30001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867205" y="2958489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제1조 목적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333695" y="2958489"/>
            <a:ext cx="116778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단일시장 조화와 기본권 보호가 병존, 인간 중심과 신뢰 개념은 2019년 윤리 가이드라인에서 옴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95705" y="39913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39913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3948784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적용 범위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333695" y="3948784"/>
            <a:ext cx="116778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주체 유형, 제공자가 가장 무거운 의무, 산출물이 EU에 쓰이면 역외에도 적용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95705" y="4981651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95705" y="49816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867205" y="4939994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제외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333695" y="4939994"/>
            <a:ext cx="116778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군사와 국방, 연구 개발, 개인적 사용, 공개 소스 일부, 개인정보보호 규정은 그대로 우선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295705" y="597194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95705" y="597194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867205" y="5930289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정의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333695" y="5930289"/>
            <a:ext cx="116778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68개, 추론(infer)이 AI 시스템 판단의 핵심 요건, 위험은 확률과 심각성의 조합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295705" y="69631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295705" y="69631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867205" y="6920584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 </a:t>
            </a:r>
            <a:r>
              <a:rPr lang="ko-KR" altLang="en-US" sz="2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리터러시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333695" y="6979251"/>
            <a:ext cx="116778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등급과 무관하게 전 사업자 적용, 수준을 수치로 정하지 않은 성과 기반 규정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93460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조항만으로도 연구가 성립, 68개 정의 중 국내법에 대응 개념이 없는 것은 무엇인가?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29/51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3305" y="2762402"/>
            <a:ext cx="4000500" cy="1047902"/>
          </a:xfrm>
          <a:prstGeom prst="rect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707" y="3905402"/>
            <a:ext cx="5333695" cy="1238098"/>
          </a:xfrm>
          <a:prstGeom prst="rect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19195" y="5238598"/>
            <a:ext cx="6667805" cy="1238098"/>
          </a:xfrm>
          <a:prstGeom prst="rect">
            <a:avLst/>
          </a:prstGeom>
          <a:solidFill>
            <a:srgbClr val="5A8F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52598" y="6572707"/>
            <a:ext cx="8001000" cy="1238098"/>
          </a:xfrm>
          <a:prstGeom prst="rect">
            <a:avLst/>
          </a:prstGeom>
          <a:solidFill>
            <a:srgbClr val="8A9A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2b594ba194fa3f5a7accba747a8d18c4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714500" y="3333902"/>
            <a:ext cx="38405" cy="36191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2805" y="8324700"/>
            <a:ext cx="16383305" cy="120060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위험기반 접근</a:t>
            </a:r>
            <a:endParaRPr lang="en-US" sz="5000" dirty="0"/>
          </a:p>
        </p:txBody>
      </p:sp>
      <p:sp>
        <p:nvSpPr>
          <p:cNvPr id="17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위험기반 접근(risk-based approach), 위험이 높을수록 의무가 무거워지는 구조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181905" y="3047695"/>
            <a:ext cx="35433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9334195" y="3047695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출시와 사용 자체가 불가, 제5조 10유형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515307" y="4286707"/>
            <a:ext cx="48774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10001707" y="4286707"/>
            <a:ext cx="7334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7대 요건 충족과 적합성 평가 후 출시 가능, 제6~49조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3847795" y="5619902"/>
            <a:ext cx="62106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위험</a:t>
            </a:r>
            <a:endParaRPr lang="en-US" sz="2100" dirty="0"/>
          </a:p>
        </p:txBody>
      </p:sp>
      <p:sp>
        <p:nvSpPr>
          <p:cNvPr id="23" name="Text 19"/>
          <p:cNvSpPr txBox="1"/>
          <p:nvPr/>
        </p:nvSpPr>
        <p:spPr>
          <a:xfrm>
            <a:off x="10668305" y="5619902"/>
            <a:ext cx="6667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의무만 부과, 제50조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3181198" y="6953098"/>
            <a:ext cx="75438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위험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11334902" y="6953098"/>
            <a:ext cx="60012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없음, 자발적 행동규범 권장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52805" y="2857500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높음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952805" y="7239305"/>
            <a:ext cx="171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낮음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333195" y="859631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모델은 이 4단계와 별개 축, 제5장에서 모델 수준으로 따로 규율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333195" y="908730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사이의 경계는 명확한가? 등급이 바뀌면 의무가 계단식으로 변하는 구조의 부작용은?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30/51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705295"/>
            <a:ext cx="8048549" cy="1676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7052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705295"/>
            <a:ext cx="8048549" cy="1676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7052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8496605"/>
            <a:ext cx="16383305" cy="9902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위험 4단계 비교</a:t>
            </a:r>
            <a:endParaRPr lang="en-US" sz="50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판단 주체, 의무, 사전 절차, 제재가 모두 다름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50764"/>
              </p:ext>
            </p:extLst>
          </p:nvPr>
        </p:nvGraphicFramePr>
        <p:xfrm>
          <a:off x="952805" y="2704795"/>
          <a:ext cx="16372331" cy="3458260"/>
        </p:xfrm>
        <a:graphic>
          <a:graphicData uri="http://schemas.openxmlformats.org/drawingml/2006/table">
            <a:tbl>
              <a:tblPr/>
              <a:tblGrid>
                <a:gridCol w="1587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8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7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9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6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제재 상한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 평점, 무차별 얼굴 수집, 직장 감정인식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출시와 사용 금지, 예외는 제5조가 열거한 경우만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3,500만 유로 또는 매출 7퍼센트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 심사, 신용 평가, 의료기기, 입학 사정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7대 요건, 적합성 평가, CE 표시, 등록, 사후 감시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 또는 매출 3퍼센트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 위험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챗봇, 딥페이크, 감정인식 일반 사용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고지와 표시 의무만, 사전 평가 없음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 또는 매출 3퍼센트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위험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스팸 필터, 추천 알고리즘, 재고 관리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 의무 없음, 자발적 행동규범 권장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1257300" y="693389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판단의 주체</a:t>
            </a:r>
            <a:endParaRPr lang="en-US" sz="2500" dirty="0"/>
          </a:p>
        </p:txBody>
      </p:sp>
      <p:sp>
        <p:nvSpPr>
          <p:cNvPr id="18" name="Text 14"/>
          <p:cNvSpPr txBox="1"/>
          <p:nvPr/>
        </p:nvSpPr>
        <p:spPr>
          <a:xfrm>
            <a:off x="1257300" y="752459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스스로 판단, 자기 분류(self-classification) 방식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257300" y="79360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당국은 사후에 시장감시로 확인, 사전 허가제가 아님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9592056" y="693389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구조의 취약점</a:t>
            </a:r>
            <a:endParaRPr lang="en-US" sz="25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52459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등급으로 자기 분류할 유인이 존재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79360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3항 제외 요건이 그 통로가 될 수 있다는 지적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868680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고위험과 제한적 위험의 제재 상한이 같음, 의무의 무게는 크게 다른데 왜 같은가?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909828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분류 방식에서 등급 하향 유인을 억제하는 장치는 무엇인가? 충분한가?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31/51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490858"/>
            <a:ext cx="16383305" cy="103444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제5조 금지된 AI 관행 10유형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8유형에 옴니버스 개정으로 2유형 추가, 단일 조문에 집약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96304"/>
              </p:ext>
            </p:extLst>
          </p:nvPr>
        </p:nvGraphicFramePr>
        <p:xfrm>
          <a:off x="952805" y="2704795"/>
          <a:ext cx="16373247" cy="4907859"/>
        </p:xfrm>
        <a:graphic>
          <a:graphicData uri="http://schemas.openxmlformats.org/drawingml/2006/table">
            <a:tbl>
              <a:tblPr/>
              <a:tblGrid>
                <a:gridCol w="12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0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겨냥하는 해악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잠재의식 조작과 기만 기법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 능력 훼손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취약성 악용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연령, 장애, 사회경제적 취약 계층 착취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(ba)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비자발적 성적 콘텐츠 생성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없는 친밀 이미지 제작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(bb)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성학대 물질 생성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보호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 평점(social scoring)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맥락과 무관한 불이익 부과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프로파일링만으로 범죄 위험 예측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무죄추정 원칙 침해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 이미지 무차별 수집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감시 기반 구축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(f)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직장과 교육기관 감정인식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종속 관계에서 감정 감시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 속성 추정 생체분류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인종, 종교, 성적 지향 추론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61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(h)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공공장소 실시간 원격 생체인식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 집행 목적 대량 감시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57607" marB="57607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238097" y="7693171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(ba)와 (bb)를 (a)~(h) 안에 포함해 9유형으로 세기도 함, 조문상 실질은 10유형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28623" y="879308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10유형을 관통하는 공통 기준이 있는가? 무엇이 금지선을 넘게 만드는가?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32/51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2805" y="7867498"/>
            <a:ext cx="16383305" cy="16578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조작 기법과 취약성 악용</a:t>
            </a:r>
            <a:endParaRPr lang="en-US" sz="50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(a)호와 (b)호, 의사결정 자율성을 해치는 유형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잠재의식 조작과 기만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잠재의식 기법, 의도적 조작, 기만 기법을 사용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능력을 실질적으로 훼손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본인이라면 하지 않았을 행위를 유발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본인, 타인, 집단에 중대한 해악 발생 또는 발생 가능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9783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 요건 3개가 모두 충족되어야 금지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취약성 악용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취약성의 원인 3가지를 열거, 연령, 장애, 사회경제적 상황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또는 특정 집단의 취약성을 악용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실질적으로 왜곡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해악 발생 또는 발생 가능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59783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대상 유해 콘텐츠 유도, 고령자 대상 금융 상품 권유 등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813450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 훼손과 중대한 해악을 어떻게 입증하는가? 입증 책임은 누가 지는가?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857615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알고리즘의 몰입 유도 설계는 (a)호에 해당하는가? 경계가 어디인가?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33/51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192110"/>
            <a:ext cx="16383305" cy="13331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옴니버스 신설 2유형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(ba)호와 (bb)호, 2026.12.2 적용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(ba) 비자발적 성적 콘텐츠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 가능한 자연인의 친밀한 부위 또는 성적 행위를 포함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사실적인 이미지, 영상, 오디오를 생성 또는 조작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해당인의 자유롭고 특정되고 정보에 기반한 명시적 동의 없음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요건이 개인정보보호 규정의 동의 기준을 차용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(bb) 아동 성학대 물질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825611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성착취 대응 지침(2011/93/EU) 제2조가 정한 자료를 생성 또는 조작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아동이 등장하지 않는 합성 자료도 포함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법에서 정당한 권원 항변이 허용되는 경우는 제외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8418881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유형은 생성형 AI 확산 이후 발생한 피해 유형, 2021년 발의안에는 없던 조항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333195" y="889619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성폭력처벌법과 청소년성보호법의 딥페이크 조항과 규율 방식이 어떻게 다른가?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34/51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686300"/>
            <a:ext cx="8048549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6863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86646" y="4686300"/>
            <a:ext cx="8048549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86646" y="46863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8077811"/>
            <a:ext cx="16383305" cy="144658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(4-6) 사회 평점</a:t>
            </a:r>
            <a:endParaRPr lang="en-US" sz="50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(c)호, 사회 평점(social scoring)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 구조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1257300" y="3543300"/>
            <a:ext cx="15773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행태 또는 인격 특성에 기초해 자연인이나 집단의 점수를 산정하고, 그 점수로 (i) 또는 (ii)의 불이익을 초래하는 경우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257300" y="49341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57300" y="49341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57300" y="54479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(i) 맥락 이탈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257300" y="59051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수집한 원래 맥락과 무관한 사회적 맥락에서 불리한 취급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257300" y="63358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교통 위반 기록을 대출 심사에 사용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592056" y="49341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92056" y="49341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592056" y="54479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(ii) 비례성 결여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592056" y="59051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행위에 비해 정당화되지 않거나 비례적이지 않은 불이익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592056" y="63358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경미한 위반으로 공공서비스 전면 배제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333195" y="8230059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산정 자체가 금지는 아님, 신용평가처럼 맥락이 일치하고 비례적인 평가는 고위험으로 규율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333195" y="861755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이탈의 판단 기준은 무엇으로 세울 수 있는가?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904092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신용평가와 사회 평점을 가르는 선이 조문에서 명확한가? 국내 신용정보법과 대조해 볼 것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35/51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81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81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794928"/>
            <a:ext cx="16383305" cy="17303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범죄 위험 예측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(d)호, 프로파일링만으로 개인의 범죄 위험을 평가하는 행위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금지되는 경우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자연인이 범죄를 범할 위험을 평가 또는 예측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오로지 프로파일링 또는 성격 특성 평가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프로파일링은 개인정보보호 규정 제4조 4항의 정의를 준용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허용되는 경우</a:t>
            </a:r>
            <a:endParaRPr lang="en-US" sz="25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범죄 활동에 연루된 객관적 사실을 근거로 삼는 경우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평가를 보조하는 용도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단위 예측은 대상이 개인이 아니므로 이 조항 밖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333195" y="7913218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무죄추정 원칙이 근거, 행위가 아니라 속성으로 사람을 판단하는 것을 차단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8324698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재범 위험 평가는 이미 유죄 판결을 받은 자를 대상으로 하므로 고위험으로 분류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333195" y="868680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(solely)라는 문언이 회피 통로가 되는가?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911016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최종 결정에 형식적으로만 개입하면 금지를 벗어나는지, 인간 감독의 실질을 어떻게 측정할 것인가?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36/51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591202"/>
            <a:ext cx="8048549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591202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7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5505602"/>
            <a:ext cx="7438644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86646" y="4591202"/>
            <a:ext cx="8048549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286646" y="4591202"/>
            <a:ext cx="8048549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0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5505602"/>
            <a:ext cx="7438644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52805" y="8129017"/>
            <a:ext cx="16383305" cy="139537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(4-8) 얼굴 이미지 무차별 수집</a:t>
            </a:r>
            <a:endParaRPr lang="en-US" sz="5000" dirty="0"/>
          </a:p>
        </p:txBody>
      </p:sp>
      <p:sp>
        <p:nvSpPr>
          <p:cNvPr id="20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(e)호, 얼굴인식 데이터베이스의 무차별 구축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내용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524098"/>
            <a:ext cx="16042234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또는 폐쇄회로 영상에서 얼굴 이미지를 무표적(untargeted)으로 긁어모아 얼굴인식 데이터베이스를 생성하거나 확장하는 행위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8582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요건, 무표적</a:t>
            </a:r>
            <a:endParaRPr lang="en-US" sz="25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577260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대상을 정하지 않고 수집하는 방식이 금지의 핵심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625266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수사 대상자를 특정해 수집하는 경우는 이 조항 밖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67327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규모가 아니라 표적 유무가 판단 기준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8582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이유</a:t>
            </a:r>
            <a:endParaRPr lang="en-US" sz="25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577260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감시의 물적 기반이 되는 단계를 차단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625266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이미지라도 얼굴 특징 추출은 별개 처리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67327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 규정의 적법 처리 근거와 별도로 이 법이 금지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828126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구축 자체를 금지, 그 뒤 어떤 용도로 쓰는지는 묻지 않는 구조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33195" y="866109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 학습과 무표적 수집의 경계는 어디인가?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9084464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크롤링으로 학습한 얼굴 인식 모델은 이 조항에 걸리는가? 국내 개인정보보호법과 대조해 볼 것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37/51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175652"/>
            <a:ext cx="16383305" cy="134965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(4-9) 감정인식과 민감 속성 추정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(f)호와 (g)호, 생체정보로 내면을 추론하는 유형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 직장과 교육기관 감정인식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 현장과 교육기관에서 자연인의 감정을 추론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이유 — 종속 관계에서는 거부할 자유가 없음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— 의료 목적과 안전 목적은 허용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요건이 있음, 두 장소 밖의 감정인식은 제50조 고지 의무만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(g) 민감 속성 추정 생체분류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3981298"/>
            <a:ext cx="817382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생체정보로 인종, 정치 성향, 노조 소속, 종교, 성생활, 성적 지향을 추론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대상이 개인정보보호 규정 제9조의 민감정보와 대응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— 법 집행 맥락의 자료 라벨링과 필터링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843854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유형 모두 관찰 가능한 신체 신호에서 관찰 불가능한 내면을 추정하는 기술, 과학적 타당성 자체가 쟁점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333195" y="889619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장소로 금지 여부를 가르는 방식은 타당한가? 원격 근무와 온라인 수업은 어디에 해당하는가?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38/51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230514"/>
            <a:ext cx="16383305" cy="129479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(4-10) 실시간 원격 생체인식</a:t>
            </a:r>
            <a:endParaRPr lang="en-US" sz="50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(h)호, 3자 협의 최대 쟁점이었던 조항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내용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257300" y="3524098"/>
            <a:ext cx="15773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공중이 접근 가능한 공간에서 법 집행 목적으로 실시간 원격 생체인식 시스템을 사용하는 행위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4591202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 요건 4가지, 모두 충족해야 금지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89350"/>
              </p:ext>
            </p:extLst>
          </p:nvPr>
        </p:nvGraphicFramePr>
        <p:xfrm>
          <a:off x="952805" y="5048402"/>
          <a:ext cx="16374161" cy="2362810"/>
        </p:xfrm>
        <a:graphic>
          <a:graphicData uri="http://schemas.openxmlformats.org/drawingml/2006/table">
            <a:tbl>
              <a:tblPr/>
              <a:tblGrid>
                <a:gridCol w="12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벗어나는 경우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실시간(real-time)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대조는 이 조항 밖, 고위험으로 규율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원격(remote)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확인용 일대일 대조는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공중 접근 공간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사업장 내부, 비공개 시설은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 집행 목적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민간 사업자의 사용은 고위험으로 규율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329080" y="853363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요건이 4개로 좁게 설계되어 실제 금지 범위는 제한적, 나머지는 고위험으로 흘러 요건 충족 후 사용 가능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893460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금지라 부르지만 요건이 4중, 실질 금지 범위를 어떻게 측정할 수 있는가?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39/51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3810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05956" y="2704795"/>
            <a:ext cx="5266944" cy="3810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59107" y="2704795"/>
            <a:ext cx="5277002" cy="3810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610198"/>
            <a:ext cx="16383305" cy="1962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610198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8762695"/>
            <a:ext cx="16383305" cy="7616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(4-11) 생체인식 3대 예외와 절차 요건</a:t>
            </a:r>
            <a:endParaRPr lang="en-US" sz="5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(h)호 (i)~(iii), 제5조 2항부터 7항의 절차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57300" y="3486607"/>
            <a:ext cx="46579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(i) 피해자 수색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인신매매, 성착취 피해자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57300" y="444215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실종자 수색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257300" y="492221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대상을 찾는 목적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10451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0451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10451" y="3486607"/>
            <a:ext cx="46579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(ii) 임박한 위협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810451" y="3962095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 또는 신체 안전에 대한 구체적이고 임박한 위협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810451" y="480791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테러 공격 예방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810451" y="528889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임박성 요건이 핵심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363602" y="2971800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363602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2363602" y="3486607"/>
            <a:ext cx="46680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(iii) 중대 범죄 수사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 목록 범죄의 피의자 확인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12363602" y="444215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4년 이상 자유형에 해당하는 범죄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2363602" y="492221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없는 범죄는 예외 불가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257300" y="6819595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사용 시 절차 요건</a:t>
            </a:r>
            <a:endParaRPr lang="en-US" sz="2500" dirty="0"/>
          </a:p>
        </p:txBody>
      </p:sp>
      <p:sp>
        <p:nvSpPr>
          <p:cNvPr id="39" name="Text 36"/>
          <p:cNvSpPr txBox="1"/>
          <p:nvPr/>
        </p:nvSpPr>
        <p:spPr>
          <a:xfrm>
            <a:off x="1257300" y="7372807"/>
            <a:ext cx="15773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사법 승인 또는 독립 행정기관 승인, 긴급 시에는 24시간 내 사후 승인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257300" y="7741892"/>
            <a:ext cx="15773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 영향평가 실시와 EU 데이터베이스 등록, 시간과 지리와 인적 범위를 한정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257300" y="8110978"/>
            <a:ext cx="15773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회원국이 국내법으로 허용하지 않으면 예외 자체가 불가, 시장감시당국에 연례 보고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8962949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회원국별 국내법 허용 여부가 갈리면 단일시장 안에서 기본권 보호 수준이 달라지는가?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40/51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7981798"/>
            <a:ext cx="16383305" cy="154350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(4-12) 금지 위반 제재</a:t>
            </a:r>
            <a:endParaRPr lang="en-US" sz="50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제99조 3항, 이 법의 최고 수준 과징금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57300" y="2971800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위반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257300" y="3543300"/>
            <a:ext cx="15773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3,500만 유로 또는 전년도 전세계 총매출의 7퍼센트 중 높은 금액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4591202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 3단계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04073"/>
              </p:ext>
            </p:extLst>
          </p:nvPr>
        </p:nvGraphicFramePr>
        <p:xfrm>
          <a:off x="952805" y="5048402"/>
          <a:ext cx="16373246" cy="26289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 유형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정액 상한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비율 상한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3항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관행 위반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3,500만 유로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4항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제공자, 배포자, 수입자, 유통자, 피통지기관 의무 위반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5항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당국에 허위 또는 불완전 정보 제공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750만 유로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 제공자, 집행위원회가 직접 부과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333195" y="821402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중소기업과 소규모 중견기업은 두 상한 중 낮은 쪽을 적용, 제99조 6항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862550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현재 제99조에 따른 부과 사례는 확인되지 않음, 관할당국 지정이 진행 중인 상태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9038844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국내법 과태료 3,000만 원과 약 100배 차이, 제재 수준이 준수 행태를 바꾸는가?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41/51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57600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57600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61040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61040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5622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5622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515100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5151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8047635"/>
            <a:ext cx="16383305" cy="147675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관행 정리</a:t>
            </a:r>
            <a:endParaRPr lang="en-US" sz="50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4단계와 금지 관행에서 확인한 것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95705" y="2980944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5705" y="29809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867205" y="2971800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높을수록 의무가 무거워지는 4단계 구조, 등급은 제공자가 스스로 판단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295705" y="3933749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5705" y="39337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867205" y="3924605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10유형, 조작과 취약성 악용, 성적 콘텐츠 2유형, 사회 평점, 범죄 예측, 생체 관련 4유형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1295705" y="4886554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5705" y="48865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867205" y="4876495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요건이 여러 개 겹쳐 있어 실질 금지 범위는 좁음, 나머지는 고위험으로 흘러 사용 가능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1295705" y="5838444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8384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829300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 예외는 3가지, 사전 승인과 기본권 영향평가 등 절차 요건이 부수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1295705" y="6791249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95705" y="67912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867205" y="6782105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위반이 최고 제재, 3,500만 유로 또는 매출 7퍼센트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1390802" y="8204911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아닌 고위험은 어떻게 판별하는가, 부속서 2경로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391251" y="8603041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10유형 중 국내법에 대응 조항이 있는 것은 몇 개인가?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91251" y="902640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조항이 없는 유형이 국내에서 허용되는 상태라면, 그 공백을 다룬 연구가 있는가?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42/51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780629"/>
            <a:ext cx="16383305" cy="174467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(5-1) 제6조 고위험 분류 2경로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본문은 판단 기준만 두고 실제 목록은 부속서에 위임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1항, 부속서 I 경로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두 개를 모두 충족해야 고위험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976165"/>
            <a:ext cx="839327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부속서 I 목록 법령이 적용되는 제품의 안전 부품이거나 그 자체가 제품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해당 법령에 따라 제3자 적합성 평가가 요구되는 제품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의료기기, 기계류, 승강기, 차량에 내장된 AI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2항, 부속서 III 경로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III의 8개 영역에 해당하면 고위험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제품에 내장되지 않은 독립 시스템이 대상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제6조 3항의 제외 요건을 충족하면 벗어날 수 있음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채용 심사, 신용 평가, 입학 사정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785615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경로의 적용일이 다름, 부속서 III은 2027.12.2, 부속서 I은 2028.8.2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26763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1은 기존 제품안전 절차에 편입, 경로 2는 이 법이 독자 절차를 신설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9436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고위험인데 적용일이 8개월 차이, 무엇이 이 차이를 정당화하는가?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911681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시스템이 두 경로에 모두 걸릴 수 있는가? 그때 어느 절차를 따르는가?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43/51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096305"/>
            <a:ext cx="8048549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09630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096305"/>
            <a:ext cx="8048549" cy="2000707"/>
          </a:xfrm>
          <a:prstGeom prst="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305495"/>
            <a:ext cx="16383305" cy="12188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(5-2) 부속서 I, 제품 안전 법제</a:t>
            </a:r>
            <a:endParaRPr lang="en-US" sz="50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EU 제품안전 법령을 그대로 인용, 중복 규제를 피하는 설계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83305" cy="3296412"/>
        </p:xfrm>
        <a:graphic>
          <a:graphicData uri="http://schemas.openxmlformats.org/drawingml/2006/table">
            <a:tbl>
              <a:tblPr/>
              <a:tblGrid>
                <a:gridCol w="190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5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AI의 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기계류, 승강기, 무선설비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산업용 로봇의 충돌 회피, 협동 로봇의 속도 제어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의료기기, 체외진단 의료기기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판독 보조, 부정맥 검출, 혈당 예측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완구 안전, 개인보호장비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완구의 음성 응답, 착용형 위험 감지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압력용기, 가스연소기기, 케이블카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감지와 자동 정지 판단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B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항공, 자동차, 철도, 선박, 농기계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자율주행 인지 판단, 열차 자동 운전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1257300" y="6344107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A와 섹션 B의 차이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257300" y="68195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A는 이 법의 요건이 직접 적용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257300" y="72502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B는 해당 분야 법령의 자체 절차에 이 법의 요건을 반영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92056" y="6344107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실무상 의미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9592056" y="6819595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CE 표시 절차를 거치던 제품이라면 AI 요건이 추가되는 형태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250278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적합성 평가를 새로 받는 것이 아님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853409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제품안전 체계에 AI 요건을 얹는 방식의 한계는 무엇인가?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897666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안전은 물리적 위해를 다뤄 왔음, 차별과 설명 불가능성 같은 해악을 같은 틀로 다룰 수 있는가?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44/51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7798918"/>
            <a:ext cx="16383305" cy="172638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부속서 III 8개 영역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제품에 내장되지 않은 독립 시스템의 고위험 목록, 2027.12.2 적용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4160" cy="4077306"/>
        </p:xfrm>
        <a:graphic>
          <a:graphicData uri="http://schemas.openxmlformats.org/drawingml/2006/table">
            <a:tbl>
              <a:tblPr/>
              <a:tblGrid>
                <a:gridCol w="104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5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포함되는 용도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생체인식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생체인식, 민감 속성 기준 생체분류, 감정인식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기반시설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전력, 수도, 가스, 열, 도로 교통, 디지털 기반시설의 안전 부품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교육과 직업훈련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입학 사정, 학습 성과 평가, 교육 수준 배정, 시험 부정행위 감시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고용과 근로자 관리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 공고 표적화, 지원자 선별, 평가, 승진과 해고, 업무 배정, 감시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서비스 접근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공공급여 수급 판정, 신용 평가, 생명보험과 건강보험 가격, 긴급 신고 분류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 집행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피해 위험 평가, 거짓말 탐지, 증거 신뢰성 평가, 재범 위험 평가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이민과 국경 관리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거짓말 탐지, 입국 위험 평가, 비자와 난민 신청 심사 보조, 신원 확인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사법과 민주적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사법부 판단 보조, 선거와 국민투표 결과에 영향을 주는 시스템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810954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영역의 공통점 — 개인의 생활 기회를 결정하거나 기본권에 직접 영향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852102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제7조에 따라 집행위원회가 위임입법으로 이 목록을 추가하거나 수정할 수 있음</a:t>
            </a:r>
            <a:endParaRPr lang="en-US" sz="1800" dirty="0"/>
          </a:p>
        </p:txBody>
      </p:sp>
      <p:sp>
        <p:nvSpPr>
          <p:cNvPr id="13" name="Text 12"/>
          <p:cNvSpPr txBox="1"/>
          <p:nvPr/>
        </p:nvSpPr>
        <p:spPr>
          <a:xfrm>
            <a:off x="1333195" y="8935051"/>
            <a:ext cx="15621610" cy="304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영역 중 국내 인공지능기본법의 고영향 영역과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겹치지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각국의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드러내는가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930036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45/51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286294"/>
            <a:ext cx="16383305" cy="1239012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(5-4) 국내 기업과 가장 관련 깊은 두 영역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제4호 고용과 제5호 필수 서비스, 역외 적용 가능성이 높은 용도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제4호 고용과 근로자 관리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 공고를 특정 집단에 표적 노출하는 시스템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6135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지원서 자동 선별과 순위 부여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494141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 중 평가와 역량 판정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42147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승진, 해고, 계약 종료 결정에 영향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590153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배정과 성과 감시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63815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 관계 전 과정이 대상, 채용 단계만이 아님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제5호 필수 서비스 접근</a:t>
            </a:r>
            <a:endParaRPr lang="en-US" sz="25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공공급여와 서비스 수급 자격 판정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446135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자연인의 신용도 평가와 신용 점수 산정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494141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생명보험과 건강보험의 위험 평가와 가격 산정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542147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신고 분류와 응급 서비스 우선순위 배정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590153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사기 탐지는 제외, 시스템 보호 목적이므로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47709" y="859305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기업이 EU 지원자나 이용자를 대상으로 이 용도를 쓰면 역외 적용, 제2조 1항 (c)호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896876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 평가는 고위험이나 사기 탐지는 제외, 두 용도를 가르는 기준이 조문에서 명확한가?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46/51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333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7200900"/>
            <a:ext cx="8048549" cy="1390802"/>
          </a:xfrm>
          <a:prstGeom prst="rect">
            <a:avLst/>
          </a:prstGeom>
          <a:solidFill>
            <a:srgbClr val="FBECEB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7200900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86646" y="7200900"/>
            <a:ext cx="8048549" cy="1390802"/>
          </a:xfrm>
          <a:prstGeom prst="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8744407"/>
            <a:ext cx="16383305" cy="7808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(5-5) 제6조 3항 제외 요건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목록에 있어도 고위험을 벗어날 수 있는 통로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57300" y="2952598"/>
            <a:ext cx="15773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— 기본권, 건강, 안전에 중대한 해악 위험을 초래하지 않을 것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1257300" y="3486607"/>
            <a:ext cx="15773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전제 위에서 아래 4가지 중 하나에 해당하면 고위험 분류에서 제외 가능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229100"/>
          <a:ext cx="16373246" cy="28767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9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좁은 절차적 작업만 수행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서류를 항목별로 분류하거나 중복 문서를 탐지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인간 활동의 결과를 개선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작성한 평가서의 문장을 다듬음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 패턴을 탐지하되 인간 평가를 대체하지 않음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평가자 간 편차를 표시, 적절한 인간 검토가 전제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III 용도의 사전 준비 작업만 수행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평가에 쓸 자료를 정리하거나 요약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1257300" y="7429500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예외 없는 경우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257300" y="7905902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자연인의 프로파일링을 수행하는 시스템은 언제나 고위험, 제외 불가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7429500"/>
            <a:ext cx="74395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시 부수 의무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7905902"/>
            <a:ext cx="78995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근거를 문서로 남기고 EU 데이터베이스에 등록, 당국 요청 시 제출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895380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조항이 규제 회피 통로라는 비판이 있음, 제외 신고 자료를 모으면 검증 가능한가?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47/51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9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9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534657"/>
            <a:ext cx="16383305" cy="199064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(5-6) 제7조 목록 개정 권한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위임입법으로 부속서 III을 추가하거나 수정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요건 2가지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8개 영역 중 하나에 속하는 용도일 것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480560"/>
            <a:ext cx="74395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건강, 안전, 기본권에 미치는 해악 위험이 기존 목록 항목과 동등하거나 그 이상일 것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534558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영역을 창설하는 것은 불가, 영역 내 용도 추가만 가능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시 고려 사항</a:t>
            </a:r>
            <a:endParaRPr lang="en-US" sz="25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목적과 사용 범위, 처리 데이터의 성질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446135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해악의 강도와 영향받는 사람의 수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94141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되돌릴 수 있는지 여부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592056" y="542147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다른 법령으로 해악이 이미 다루어지는지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7726284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제7조는 삭제 권한도 부여, 위험이 낮아진 용도는 목록에서 뺄 수 있음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333195" y="816794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위임입법은 의회와 이사회의 반대권 유보 아래 진행, 이의가 없으면 발효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8610509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없는 해악을 고려 요소로 둔 점이 제2강에서 다룬 사전예방 원칙과 연결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333195" y="9021686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 범위를 행정부가 바꿀 수 있는 구조, 민주적 정당성과 대응 속도 중 무엇을 택한 것인가?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48/51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7447788"/>
            <a:ext cx="16383305" cy="20775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489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입법 경과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7702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규정 체계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87300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총칙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77695" y="304495"/>
            <a:ext cx="1772107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금지 관행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306495" y="304495"/>
            <a:ext cx="1772107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고위험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(5-7) 고위험과 고영향, 개념 대조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인공지능기본법 제2조 4호 고영향 인공지능과 비교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2332" cy="3838653"/>
        </p:xfrm>
        <a:graphic>
          <a:graphicData uri="http://schemas.openxmlformats.org/drawingml/2006/table">
            <a:tbl>
              <a:tblPr/>
              <a:tblGrid>
                <a:gridCol w="238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3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고위험(high-risk)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고영향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개념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위험, 확률과 심각성의 조합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영향, 별도 정의 없음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분해 가능성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판별 방식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목록 2경로, 제외 요건 있음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법률에 영역 열거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유연성과 예측 가능성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확인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적합성 평가 의무, CE 표시와 등록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검토 권고(제33조)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 대 권고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영향평가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기본권 영향평가 의무(제27조)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노력 의무(제35조)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강제력의 유무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개정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위임입법으로 집행위원회가 변경(제7조)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 개정 또는 대통령령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속도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 제재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 또는 매출 3퍼센트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과태료 3,000만 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억지력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773241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국내법은 위험이 아니라 영향 개념을 택해 규제 수위를 낮추고 산업 진흥을 병행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813201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영향평가와 자율적 책임 강화에 무게, 사전 통제 수단은 상대적으로 약함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53251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 침해에 대한 예방적 대응과 사후 구제가 미흡하다는 학계 지적, 백수원(2025)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333195" y="894594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개념의 모호성을 헌법과 기본권 관점에서 심화하는 방향, 어느 축을 고를 것인가?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49/51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38398"/>
            <a:ext cx="16383305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38398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72000"/>
            <a:ext cx="16383305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72000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505602"/>
            <a:ext cx="16383305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505602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439205"/>
            <a:ext cx="16383305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4392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895844"/>
            <a:ext cx="16383305" cy="162946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정리</a:t>
            </a:r>
            <a:endParaRPr lang="en-US" sz="5000" dirty="0"/>
          </a:p>
        </p:txBody>
      </p:sp>
      <p:sp>
        <p:nvSpPr>
          <p:cNvPr id="17" name="Shape 14"/>
          <p:cNvSpPr/>
          <p:nvPr/>
        </p:nvSpPr>
        <p:spPr>
          <a:xfrm>
            <a:off x="1295705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5705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867205" y="2857500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경과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905195" y="28767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4개월 걸려 발효, 옴니버스 개정으로 고위험은 2027.12.2와 2028.8.2로 연기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95705" y="39054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5705" y="39054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867205" y="379110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체계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905195" y="381030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장 113개 조문, 위험 등급 순 배치, 고위험 제3장이 44개 조문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95705" y="4839005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5705" y="48390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867205" y="472470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905195" y="4743907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추론이 AI 시스템 판단의 핵심, 산출물이 EU에 쓰이면 역외에도 적용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95705" y="5772607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5705" y="57726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867205" y="5658307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관행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5905195" y="567659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10유형, 요건이 겹쳐 실질 범위는 좁음, 위반 시 매출 7퍼센트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295705" y="6705295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67052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659099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5905195" y="6610198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제품 안전과 부속서 III 8개 영역, 제6조 3항 제외 요건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33195" y="8122106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고위험으로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판별된 시스템이 실제로 무엇을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333195" y="8533586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7대 요건(제8~15조), 주체별 의무, 적합성 평가, 투명성, 범용 AI, 거버넌스와 제재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889287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비교, 시행 효과 측정, 개념 분석 중 어느 방법을 쓸지가 12주차 연구방법론과 이어짐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50/51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참고자료 안내</a:t>
            </a:r>
            <a:endParaRPr lang="en-US" sz="5000" dirty="0"/>
          </a:p>
        </p:txBody>
      </p:sp>
      <p:sp>
        <p:nvSpPr>
          <p:cNvPr id="13" name="Text 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작성용 참고자료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본문(조문) 영한대역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조문 제1~113조 + 부속서 14개, 영문·한글 나란히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조문에 [개정전 보기] — 2024 원본과 개정 후 비교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 조문 6개(4a·60a·75a~d) 별도 표시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목차에서 조문 클릭·[목차] 복귀, 장(章)별 구성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59783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EU_AI_Act_full_kor.html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전문(前文) 영한대역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입법이유 Recital 180개 항, 영문·한글 나란히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항에 요약 제목 부여 — 목차에서 내용 식별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목적·위험기반 접근·기본권 등 입법 배경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EU_AI_Act_recitals_kor.html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51/51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8803</Words>
  <Application>Microsoft Office PowerPoint</Application>
  <PresentationFormat>사용자 지정</PresentationFormat>
  <Paragraphs>1629</Paragraphs>
  <Slides>51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21</cp:revision>
  <dcterms:created xsi:type="dcterms:W3CDTF">2026-09-15T22:44:58Z</dcterms:created>
  <dcterms:modified xsi:type="dcterms:W3CDTF">2026-09-17T04:12:12Z</dcterms:modified>
</cp:coreProperties>
</file>