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54" d="100"/>
          <a:sy n="54" d="100"/>
        </p:scale>
        <p:origin x="92" y="18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ableStyles" Target="tableStyle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644261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e22c746fd81622b5deae707eff18ae09.png"/>
          <p:cNvPicPr>
            <a:picLocks noChangeAspect="1"/>
          </p:cNvPicPr>
          <p:nvPr/>
        </p:nvPicPr>
        <p:blipFill>
          <a:blip r:embed="rId3"/>
          <a:srcRect l="-80" r="-80"/>
          <a:stretch/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52805" y="2686507"/>
            <a:ext cx="1067105" cy="418795"/>
          </a:xfrm>
          <a:prstGeom prst="rect">
            <a:avLst/>
          </a:prstGeom>
          <a:noFill/>
          <a:ln w="25400">
            <a:solidFill>
              <a:srgbClr val="036B3F"/>
            </a:solidFill>
            <a:prstDash val="solid"/>
          </a:ln>
        </p:spPr>
      </p:sp>
      <p:pic>
        <p:nvPicPr>
          <p:cNvPr id="4" name="Image 1" descr="gen-dedup-19c911119b5455341ec56e38170d158e.png"/>
          <p:cNvPicPr>
            <a:picLocks noChangeAspect="1"/>
          </p:cNvPicPr>
          <p:nvPr/>
        </p:nvPicPr>
        <p:blipFill>
          <a:blip r:embed="rId4"/>
          <a:srcRect t="-400" b="-400"/>
          <a:stretch/>
        </p:blipFill>
        <p:spPr>
          <a:xfrm>
            <a:off x="952805" y="7200900"/>
            <a:ext cx="1714500" cy="38405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14477695" y="8020202"/>
            <a:ext cx="2857500" cy="1238098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952805" y="418795"/>
            <a:ext cx="8572500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250" b="1" kern="0" spc="38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KONKUK UNIVERSITY</a:t>
            </a:r>
            <a:endParaRPr lang="en-US" sz="2250" dirty="0"/>
          </a:p>
        </p:txBody>
      </p:sp>
      <p:sp>
        <p:nvSpPr>
          <p:cNvPr id="7" name="Text 3"/>
          <p:cNvSpPr txBox="1"/>
          <p:nvPr/>
        </p:nvSpPr>
        <p:spPr>
          <a:xfrm>
            <a:off x="952805" y="838505"/>
            <a:ext cx="8572500" cy="2953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650" dirty="0"/>
          </a:p>
        </p:txBody>
      </p:sp>
      <p:sp>
        <p:nvSpPr>
          <p:cNvPr id="8" name="Text 4"/>
          <p:cNvSpPr txBox="1"/>
          <p:nvPr/>
        </p:nvSpPr>
        <p:spPr>
          <a:xfrm>
            <a:off x="952805" y="2686507"/>
            <a:ext cx="1067105" cy="381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강</a:t>
            </a:r>
            <a:endParaRPr lang="en-US" sz="1650" dirty="0"/>
          </a:p>
        </p:txBody>
      </p:sp>
      <p:sp>
        <p:nvSpPr>
          <p:cNvPr id="9" name="Text 5"/>
          <p:cNvSpPr txBox="1"/>
          <p:nvPr/>
        </p:nvSpPr>
        <p:spPr>
          <a:xfrm>
            <a:off x="952805" y="3353105"/>
            <a:ext cx="16383305" cy="1334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7200" b="1" kern="0" spc="-225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EU AI Act (1)</a:t>
            </a:r>
            <a:endParaRPr lang="en-US" sz="7200" dirty="0"/>
          </a:p>
        </p:txBody>
      </p:sp>
      <p:sp>
        <p:nvSpPr>
          <p:cNvPr id="10" name="Text 6"/>
          <p:cNvSpPr txBox="1"/>
          <p:nvPr/>
        </p:nvSpPr>
        <p:spPr>
          <a:xfrm>
            <a:off x="952805" y="4762195"/>
            <a:ext cx="16383305" cy="4288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규정의 전체 구조와 핵심 원칙, 금지 관행에서 고위험 분류까지</a:t>
            </a:r>
            <a:endParaRPr lang="en-US" sz="2400" dirty="0"/>
          </a:p>
        </p:txBody>
      </p:sp>
      <p:sp>
        <p:nvSpPr>
          <p:cNvPr id="11" name="Text 7"/>
          <p:cNvSpPr txBox="1"/>
          <p:nvPr/>
        </p:nvSpPr>
        <p:spPr>
          <a:xfrm>
            <a:off x="952805" y="6724498"/>
            <a:ext cx="9525305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75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https://github.com/YangGuiBee/AIG2</a:t>
            </a:r>
            <a:endParaRPr lang="en-US" sz="1575" dirty="0"/>
          </a:p>
        </p:txBody>
      </p:sp>
      <p:sp>
        <p:nvSpPr>
          <p:cNvPr id="12" name="Text 8"/>
          <p:cNvSpPr txBox="1"/>
          <p:nvPr/>
        </p:nvSpPr>
        <p:spPr>
          <a:xfrm>
            <a:off x="952805" y="7563002"/>
            <a:ext cx="11430000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2026학년도 2학기 · 담당교수 </a:t>
            </a:r>
            <a:r>
              <a:rPr lang="en-US" sz="2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양희정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952805" y="7987284"/>
            <a:ext cx="11430000" cy="6236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25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https://yangguibee.github.io</a:t>
            </a:r>
            <a:endParaRPr lang="en-US" sz="1500" dirty="0"/>
          </a:p>
          <a:p>
            <a:pPr marL="0" indent="0" algn="l">
              <a:lnSpc>
                <a:spcPts val="2325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guibee@konkuk.ac.kr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14783105" y="8268005"/>
            <a:ext cx="224851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75" kern="0" spc="75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COURSE · 2026-2</a:t>
            </a:r>
            <a:endParaRPr lang="en-US" sz="1275" dirty="0"/>
          </a:p>
        </p:txBody>
      </p:sp>
      <p:sp>
        <p:nvSpPr>
          <p:cNvPr id="15" name="Text 11"/>
          <p:cNvSpPr txBox="1"/>
          <p:nvPr/>
        </p:nvSpPr>
        <p:spPr>
          <a:xfrm>
            <a:off x="14783105" y="8572500"/>
            <a:ext cx="2248510" cy="6291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3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09.17</a:t>
            </a:r>
            <a:endParaRPr lang="en-US" sz="3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e22c746fd81622b5deae707eff18ae09.png"/>
          <p:cNvPicPr>
            <a:picLocks noChangeAspect="1"/>
          </p:cNvPicPr>
          <p:nvPr/>
        </p:nvPicPr>
        <p:blipFill>
          <a:blip r:embed="rId3"/>
          <a:srcRect l="-80" r="-80"/>
          <a:stretch/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52805" y="342900"/>
            <a:ext cx="3199486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15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952805" y="1104595"/>
            <a:ext cx="16383305" cy="8860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5000" b="1" kern="0" spc="-112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16강 목차</a:t>
            </a:r>
            <a:endParaRPr lang="en-US" sz="5000" dirty="0"/>
          </a:p>
        </p:txBody>
      </p:sp>
      <p:sp>
        <p:nvSpPr>
          <p:cNvPr id="6" name="Text 3"/>
          <p:cNvSpPr txBox="1"/>
          <p:nvPr/>
        </p:nvSpPr>
        <p:spPr>
          <a:xfrm>
            <a:off x="952805" y="2000707"/>
            <a:ext cx="16383305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중간고사 8주차(10.22) · 기말 보고서 16주차(12.17) · 오늘은 3주차</a:t>
            </a:r>
            <a:endParaRPr lang="en-US" sz="1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52805" y="2743200"/>
          <a:ext cx="7705648" cy="4763106"/>
        </p:xfrm>
        <a:graphic>
          <a:graphicData uri="http://schemas.openxmlformats.org/drawingml/2006/table">
            <a:tbl>
              <a:tblPr/>
              <a:tblGrid>
                <a:gridCol w="7616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479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9605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2923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주차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일자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주제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923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9.3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강의 소개, AI 거버넌스 개론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923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9.10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 법규제의 기초 이론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923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9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9.17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9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EU AI Act (1)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9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2923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9.24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EU AI Act (2), 추석 휴강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2923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10.1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국내 인공지능기본법, 시행령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2923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10.8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국내 AI 관련 법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2923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10.15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사례연구(Case Study) 1, AI 법규제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2923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CE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10.22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CE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중간고사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C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8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620402" y="2743200"/>
          <a:ext cx="7705648" cy="4763106"/>
        </p:xfrm>
        <a:graphic>
          <a:graphicData uri="http://schemas.openxmlformats.org/drawingml/2006/table">
            <a:tbl>
              <a:tblPr/>
              <a:tblGrid>
                <a:gridCol w="7616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479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9605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2923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주차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일자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주제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923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10.29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 가이드라인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923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11.5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 거버넌스 기술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923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11.12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 거버넌스 국제표준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2923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11.19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 거버넌스 연구방법론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2923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11.26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 거버넌스 선행연구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2923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14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12.3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 거버넌스 실무사례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2923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15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12.10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사례연구(Case Study) 2, 적용 계획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2923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16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CE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12.17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CE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기말고사, 종합 평가 보고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C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11" name="Text 6"/>
          <p:cNvSpPr txBox="1"/>
          <p:nvPr/>
        </p:nvSpPr>
        <p:spPr>
          <a:xfrm>
            <a:off x="15430500" y="9791395"/>
            <a:ext cx="19056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2/51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e22c746fd81622b5deae707eff18ae09.png"/>
          <p:cNvPicPr>
            <a:picLocks noChangeAspect="1"/>
          </p:cNvPicPr>
          <p:nvPr/>
        </p:nvPicPr>
        <p:blipFill>
          <a:blip r:embed="rId3"/>
          <a:srcRect l="-80" r="-80"/>
          <a:stretch/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52805" y="2704795"/>
            <a:ext cx="5266944" cy="4953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52805" y="2704795"/>
            <a:ext cx="5266944" cy="47549"/>
          </a:xfrm>
          <a:prstGeom prst="rect">
            <a:avLst/>
          </a:prstGeom>
          <a:solidFill>
            <a:srgbClr val="036B3F"/>
          </a:solidFill>
          <a:ln w="12700">
            <a:solidFill>
              <a:srgbClr val="036B3F">
                <a:alpha val="0"/>
              </a:srgbClr>
            </a:solidFill>
            <a:prstDash val="solid"/>
          </a:ln>
        </p:spPr>
      </p:sp>
      <p:pic>
        <p:nvPicPr>
          <p:cNvPr id="5" name="Image 1" descr="gen-dedup-ecf24681c8a913dc2f6d75d5c759c67f.png"/>
          <p:cNvPicPr>
            <a:picLocks noChangeAspect="1"/>
          </p:cNvPicPr>
          <p:nvPr/>
        </p:nvPicPr>
        <p:blipFill>
          <a:blip r:embed="rId4"/>
          <a:srcRect l="-2083" r="-2083"/>
          <a:stretch/>
        </p:blipFill>
        <p:spPr>
          <a:xfrm>
            <a:off x="1257300" y="3715207"/>
            <a:ext cx="4657954" cy="9144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6505956" y="2704795"/>
            <a:ext cx="5266944" cy="4953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6505956" y="2704795"/>
            <a:ext cx="5266944" cy="47549"/>
          </a:xfrm>
          <a:prstGeom prst="rect">
            <a:avLst/>
          </a:prstGeom>
          <a:solidFill>
            <a:srgbClr val="9A7620"/>
          </a:solidFill>
          <a:ln w="12700">
            <a:solidFill>
              <a:srgbClr val="9A7620">
                <a:alpha val="0"/>
              </a:srgbClr>
            </a:solidFill>
            <a:prstDash val="solid"/>
          </a:ln>
        </p:spPr>
      </p:sp>
      <p:pic>
        <p:nvPicPr>
          <p:cNvPr id="8" name="Image 2" descr="gen-dedup-ecf24681c8a913dc2f6d75d5c759c67f.png"/>
          <p:cNvPicPr>
            <a:picLocks noChangeAspect="1"/>
          </p:cNvPicPr>
          <p:nvPr/>
        </p:nvPicPr>
        <p:blipFill>
          <a:blip r:embed="rId4"/>
          <a:srcRect l="-2083" r="-2083"/>
          <a:stretch/>
        </p:blipFill>
        <p:spPr>
          <a:xfrm>
            <a:off x="6810451" y="3715207"/>
            <a:ext cx="4657954" cy="9144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12059107" y="2704795"/>
            <a:ext cx="5277002" cy="4953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12059107" y="2704795"/>
            <a:ext cx="5277002" cy="47549"/>
          </a:xfrm>
          <a:prstGeom prst="rect">
            <a:avLst/>
          </a:prstGeom>
          <a:solidFill>
            <a:srgbClr val="6B6B6B"/>
          </a:solidFill>
          <a:ln w="12700">
            <a:solidFill>
              <a:srgbClr val="6B6B6B">
                <a:alpha val="0"/>
              </a:srgbClr>
            </a:solidFill>
            <a:prstDash val="solid"/>
          </a:ln>
        </p:spPr>
      </p:sp>
      <p:pic>
        <p:nvPicPr>
          <p:cNvPr id="11" name="Image 3" descr="gen-dedup-871f3dfe2e6d510d81c0b0c2273c4c8e.png"/>
          <p:cNvPicPr>
            <a:picLocks noChangeAspect="1"/>
          </p:cNvPicPr>
          <p:nvPr/>
        </p:nvPicPr>
        <p:blipFill>
          <a:blip r:embed="rId5"/>
          <a:srcRect l="-2083" r="-2083"/>
          <a:stretch/>
        </p:blipFill>
        <p:spPr>
          <a:xfrm>
            <a:off x="12363602" y="3715207"/>
            <a:ext cx="4667098" cy="9144"/>
          </a:xfrm>
          <a:prstGeom prst="rect">
            <a:avLst/>
          </a:prstGeom>
        </p:spPr>
      </p:pic>
      <p:sp>
        <p:nvSpPr>
          <p:cNvPr id="12" name="Shape 6"/>
          <p:cNvSpPr/>
          <p:nvPr/>
        </p:nvSpPr>
        <p:spPr>
          <a:xfrm>
            <a:off x="952805" y="7867498"/>
            <a:ext cx="16383305" cy="16578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7"/>
          <p:cNvSpPr txBox="1"/>
          <p:nvPr/>
        </p:nvSpPr>
        <p:spPr>
          <a:xfrm>
            <a:off x="952805" y="342900"/>
            <a:ext cx="3199486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15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500" dirty="0"/>
          </a:p>
        </p:txBody>
      </p:sp>
      <p:sp>
        <p:nvSpPr>
          <p:cNvPr id="14" name="Text 8"/>
          <p:cNvSpPr txBox="1"/>
          <p:nvPr/>
        </p:nvSpPr>
        <p:spPr>
          <a:xfrm>
            <a:off x="952805" y="1104595"/>
            <a:ext cx="16383305" cy="8860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5000" b="1" kern="0" spc="-112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2강 요약</a:t>
            </a:r>
            <a:endParaRPr lang="en-US" sz="5000" dirty="0"/>
          </a:p>
        </p:txBody>
      </p:sp>
      <p:sp>
        <p:nvSpPr>
          <p:cNvPr id="15" name="Text 9"/>
          <p:cNvSpPr txBox="1"/>
          <p:nvPr/>
        </p:nvSpPr>
        <p:spPr>
          <a:xfrm>
            <a:off x="952805" y="2000707"/>
            <a:ext cx="16383305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법규제의 기초 이론 · 왜 규제하는가, 어떤 방식으로 규제하는가</a:t>
            </a:r>
            <a:endParaRPr lang="en-US" sz="1800" dirty="0"/>
          </a:p>
        </p:txBody>
      </p:sp>
      <p:sp>
        <p:nvSpPr>
          <p:cNvPr id="16" name="Text 10"/>
          <p:cNvSpPr txBox="1"/>
          <p:nvPr/>
        </p:nvSpPr>
        <p:spPr>
          <a:xfrm>
            <a:off x="1257300" y="2991002"/>
            <a:ext cx="4657954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 kern="0" spc="-37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규제의 정당화 근거</a:t>
            </a:r>
            <a:endParaRPr lang="en-US" sz="2500" dirty="0"/>
          </a:p>
        </p:txBody>
      </p:sp>
      <p:sp>
        <p:nvSpPr>
          <p:cNvPr id="17" name="Text 11"/>
          <p:cNvSpPr txBox="1"/>
          <p:nvPr/>
        </p:nvSpPr>
        <p:spPr>
          <a:xfrm>
            <a:off x="1257300" y="3962095"/>
            <a:ext cx="5430622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시장 실패 3유형 — 정보 비대칭, 외부성, 공공재</a:t>
            </a:r>
            <a:endParaRPr lang="en-US" sz="1800" dirty="0"/>
          </a:p>
        </p:txBody>
      </p:sp>
      <p:sp>
        <p:nvSpPr>
          <p:cNvPr id="18" name="Text 12"/>
          <p:cNvSpPr txBox="1"/>
          <p:nvPr/>
        </p:nvSpPr>
        <p:spPr>
          <a:xfrm>
            <a:off x="1257300" y="4461358"/>
            <a:ext cx="4657954" cy="7342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 algn="l">
              <a:lnSpc>
                <a:spcPts val="2880"/>
              </a:lnSpc>
              <a:buAutoNum type="arabicParenBoth"/>
            </a:pPr>
            <a:r>
              <a:rPr lang="en-US" sz="1800" b="1" dirty="0" err="1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</a:t>
            </a: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비대칭 : 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구매자는 품질을 모름, </a:t>
            </a:r>
          </a:p>
          <a:p>
            <a:pPr algn="l">
              <a:lnSpc>
                <a:spcPts val="2880"/>
              </a:lnSpc>
            </a:pPr>
            <a:r>
              <a:rPr lang="en-US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                  </a:t>
            </a: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중고차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시장의 교훈</a:t>
            </a:r>
            <a:endParaRPr lang="en-US" sz="1800" dirty="0"/>
          </a:p>
        </p:txBody>
      </p:sp>
      <p:sp>
        <p:nvSpPr>
          <p:cNvPr id="19" name="Text 13"/>
          <p:cNvSpPr txBox="1"/>
          <p:nvPr/>
        </p:nvSpPr>
        <p:spPr>
          <a:xfrm>
            <a:off x="1257300" y="5192878"/>
            <a:ext cx="5230367" cy="67482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(2) </a:t>
            </a:r>
            <a:r>
              <a:rPr lang="en-US" sz="1800" b="1" dirty="0" err="1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외부성</a:t>
            </a: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: 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거래 당사자가 아닌 제3자 </a:t>
            </a: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부담</a:t>
            </a:r>
            <a:endParaRPr lang="en-US" sz="1800" dirty="0"/>
          </a:p>
        </p:txBody>
      </p:sp>
      <p:sp>
        <p:nvSpPr>
          <p:cNvPr id="20" name="Text 14"/>
          <p:cNvSpPr txBox="1"/>
          <p:nvPr/>
        </p:nvSpPr>
        <p:spPr>
          <a:xfrm>
            <a:off x="1257299" y="5992064"/>
            <a:ext cx="4944161" cy="7342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88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(3) </a:t>
            </a:r>
            <a:r>
              <a:rPr lang="en-US" sz="1800" b="1" dirty="0" err="1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공공재</a:t>
            </a: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: 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 연구와 </a:t>
            </a: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벤치마크는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</a:p>
          <a:p>
            <a:pPr marL="0" indent="0" algn="l">
              <a:lnSpc>
                <a:spcPts val="2880"/>
              </a:lnSpc>
              <a:buNone/>
            </a:pPr>
            <a:r>
              <a:rPr lang="en-US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            </a:t>
            </a: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시장에서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과소 공급</a:t>
            </a:r>
            <a:endParaRPr lang="en-US" sz="1800" dirty="0"/>
          </a:p>
        </p:txBody>
      </p:sp>
      <p:sp>
        <p:nvSpPr>
          <p:cNvPr id="21" name="Text 15"/>
          <p:cNvSpPr txBox="1"/>
          <p:nvPr/>
        </p:nvSpPr>
        <p:spPr>
          <a:xfrm>
            <a:off x="6810451" y="2991002"/>
            <a:ext cx="4657954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 kern="0" spc="-37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규제의 유형</a:t>
            </a:r>
            <a:endParaRPr lang="en-US" sz="2500" dirty="0"/>
          </a:p>
        </p:txBody>
      </p:sp>
      <p:sp>
        <p:nvSpPr>
          <p:cNvPr id="22" name="Text 16"/>
          <p:cNvSpPr txBox="1"/>
          <p:nvPr/>
        </p:nvSpPr>
        <p:spPr>
          <a:xfrm>
            <a:off x="6810451" y="3962095"/>
            <a:ext cx="4657954" cy="7342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 algn="l">
              <a:lnSpc>
                <a:spcPts val="2880"/>
              </a:lnSpc>
              <a:buAutoNum type="arabicParenBoth"/>
            </a:pPr>
            <a:r>
              <a:rPr lang="en-US" sz="1800" b="1" dirty="0" err="1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명령</a:t>
            </a: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통제 : 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목록 대조, </a:t>
            </a:r>
          </a:p>
          <a:p>
            <a:pPr algn="l">
              <a:lnSpc>
                <a:spcPts val="2880"/>
              </a:lnSpc>
            </a:pPr>
            <a:r>
              <a:rPr lang="en-US" altLang="ko-KR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               </a:t>
            </a:r>
            <a:r>
              <a:rPr lang="ko-KR" alt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준수 </a:t>
            </a: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항목을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법이 지정</a:t>
            </a:r>
            <a:endParaRPr lang="en-US" sz="1800" dirty="0"/>
          </a:p>
        </p:txBody>
      </p:sp>
      <p:sp>
        <p:nvSpPr>
          <p:cNvPr id="23" name="Text 17"/>
          <p:cNvSpPr txBox="1"/>
          <p:nvPr/>
        </p:nvSpPr>
        <p:spPr>
          <a:xfrm>
            <a:off x="6810451" y="4827118"/>
            <a:ext cx="4657954" cy="7342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88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(2) </a:t>
            </a:r>
            <a:r>
              <a:rPr lang="en-US" sz="1800" b="1" dirty="0" err="1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성과</a:t>
            </a: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기반 : 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달성 상태를 지정, </a:t>
            </a:r>
          </a:p>
          <a:p>
            <a:pPr marL="0" indent="0" algn="l">
              <a:lnSpc>
                <a:spcPts val="2880"/>
              </a:lnSpc>
              <a:buNone/>
            </a:pPr>
            <a:r>
              <a:rPr lang="en-US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                </a:t>
            </a: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방법은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사업자가 선택</a:t>
            </a:r>
            <a:endParaRPr lang="en-US" sz="1800" dirty="0"/>
          </a:p>
        </p:txBody>
      </p:sp>
      <p:sp>
        <p:nvSpPr>
          <p:cNvPr id="24" name="Text 18"/>
          <p:cNvSpPr txBox="1"/>
          <p:nvPr/>
        </p:nvSpPr>
        <p:spPr>
          <a:xfrm>
            <a:off x="6810451" y="5692140"/>
            <a:ext cx="4657954" cy="7342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88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(3) </a:t>
            </a:r>
            <a:r>
              <a:rPr lang="en-US" sz="1800" b="1" dirty="0" err="1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공동</a:t>
            </a: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규제 : 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제정에 민간 참여, </a:t>
            </a:r>
          </a:p>
          <a:p>
            <a:pPr marL="0" indent="0" algn="l">
              <a:lnSpc>
                <a:spcPts val="2880"/>
              </a:lnSpc>
              <a:buNone/>
            </a:pPr>
            <a:r>
              <a:rPr lang="en-US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                </a:t>
            </a: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감독은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공적 기관</a:t>
            </a:r>
            <a:endParaRPr lang="en-US" sz="1800" dirty="0"/>
          </a:p>
        </p:txBody>
      </p:sp>
      <p:sp>
        <p:nvSpPr>
          <p:cNvPr id="25" name="Text 19"/>
          <p:cNvSpPr txBox="1"/>
          <p:nvPr/>
        </p:nvSpPr>
        <p:spPr>
          <a:xfrm>
            <a:off x="6810451" y="6557162"/>
            <a:ext cx="4657954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(4) </a:t>
            </a:r>
            <a:r>
              <a:rPr lang="en-US" sz="1800" b="1" dirty="0" err="1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자율</a:t>
            </a: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규제 : 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행동강령, 위반 시 제재 없음</a:t>
            </a:r>
            <a:endParaRPr lang="en-US" sz="1800" dirty="0"/>
          </a:p>
        </p:txBody>
      </p:sp>
      <p:sp>
        <p:nvSpPr>
          <p:cNvPr id="26" name="Text 20"/>
          <p:cNvSpPr txBox="1"/>
          <p:nvPr/>
        </p:nvSpPr>
        <p:spPr>
          <a:xfrm>
            <a:off x="12363602" y="2991002"/>
            <a:ext cx="4668012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 kern="0" spc="-37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규범의 확산</a:t>
            </a:r>
            <a:endParaRPr lang="en-US" sz="2500" dirty="0"/>
          </a:p>
        </p:txBody>
      </p:sp>
      <p:sp>
        <p:nvSpPr>
          <p:cNvPr id="27" name="Text 21"/>
          <p:cNvSpPr txBox="1"/>
          <p:nvPr/>
        </p:nvSpPr>
        <p:spPr>
          <a:xfrm>
            <a:off x="12308738" y="3831336"/>
            <a:ext cx="4668012" cy="1105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880"/>
              </a:lnSpc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브뤼셀 효과 : 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EU 기준이 사실상 </a:t>
            </a: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세계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역외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사업자도 EU 기준 채택</a:t>
            </a:r>
            <a:endParaRPr lang="en-US" sz="1800" dirty="0"/>
          </a:p>
        </p:txBody>
      </p:sp>
      <p:sp>
        <p:nvSpPr>
          <p:cNvPr id="28" name="Text 22"/>
          <p:cNvSpPr txBox="1"/>
          <p:nvPr/>
        </p:nvSpPr>
        <p:spPr>
          <a:xfrm>
            <a:off x="12308738" y="5062119"/>
            <a:ext cx="5458054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캘리포니아 효과 : 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단위 규제가 연방으로 확산</a:t>
            </a:r>
            <a:endParaRPr lang="en-US" sz="1800" dirty="0"/>
          </a:p>
        </p:txBody>
      </p:sp>
      <p:sp>
        <p:nvSpPr>
          <p:cNvPr id="29" name="Text 23"/>
          <p:cNvSpPr txBox="1"/>
          <p:nvPr/>
        </p:nvSpPr>
        <p:spPr>
          <a:xfrm>
            <a:off x="12308738" y="5561381"/>
            <a:ext cx="551291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000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윤리 → 신뢰 : 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선언에서 집행 가능한 의무로 이동</a:t>
            </a:r>
            <a:endParaRPr lang="en-US" sz="1800" dirty="0"/>
          </a:p>
        </p:txBody>
      </p:sp>
      <p:sp>
        <p:nvSpPr>
          <p:cNvPr id="30" name="Text 24"/>
          <p:cNvSpPr txBox="1"/>
          <p:nvPr/>
        </p:nvSpPr>
        <p:spPr>
          <a:xfrm>
            <a:off x="1333195" y="8134502"/>
            <a:ext cx="15621610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ko-KR" alt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국내</a:t>
            </a: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법이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시장 </a:t>
            </a:r>
            <a:r>
              <a:rPr lang="en-US" sz="18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 3유형</a:t>
            </a:r>
            <a:r>
              <a:rPr lang="ko-KR" alt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해결하기 위한 조항을 두고 있는가</a:t>
            </a:r>
            <a:r>
              <a:rPr lang="en-US" altLang="ko-KR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?</a:t>
            </a:r>
            <a:endParaRPr lang="en-US" sz="1800" dirty="0"/>
          </a:p>
        </p:txBody>
      </p:sp>
      <p:sp>
        <p:nvSpPr>
          <p:cNvPr id="31" name="Text 25"/>
          <p:cNvSpPr txBox="1"/>
          <p:nvPr/>
        </p:nvSpPr>
        <p:spPr>
          <a:xfrm>
            <a:off x="1333195" y="8576158"/>
            <a:ext cx="15621610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ko-KR" altLang="en-US" sz="18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규제의 유형</a:t>
            </a:r>
            <a:r>
              <a:rPr lang="ko-KR" alt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 장단점과 적용방안</a:t>
            </a:r>
            <a:r>
              <a:rPr lang="en-US" altLang="ko-KR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lang="ko-KR" alt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조문에서의 반영 여부 확인</a:t>
            </a:r>
            <a:endParaRPr lang="en-US" sz="1800" dirty="0"/>
          </a:p>
        </p:txBody>
      </p:sp>
      <p:sp>
        <p:nvSpPr>
          <p:cNvPr id="32" name="Text 26"/>
          <p:cNvSpPr txBox="1"/>
          <p:nvPr/>
        </p:nvSpPr>
        <p:spPr>
          <a:xfrm>
            <a:off x="15430500" y="9791395"/>
            <a:ext cx="19056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3/51</a:t>
            </a:r>
            <a:endParaRPr lang="en-US" sz="1800" dirty="0"/>
          </a:p>
        </p:txBody>
      </p:sp>
      <p:sp>
        <p:nvSpPr>
          <p:cNvPr id="33" name="Text 25">
            <a:extLst>
              <a:ext uri="{FF2B5EF4-FFF2-40B4-BE49-F238E27FC236}">
                <a16:creationId xmlns:a16="http://schemas.microsoft.com/office/drawing/2014/main" id="{393A36FD-A7A2-4BA6-A689-536E26A468B2}"/>
              </a:ext>
            </a:extLst>
          </p:cNvPr>
          <p:cNvSpPr txBox="1"/>
          <p:nvPr/>
        </p:nvSpPr>
        <p:spPr>
          <a:xfrm>
            <a:off x="1355140" y="8971636"/>
            <a:ext cx="15621610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ko-KR" alt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</a:t>
            </a:r>
            <a:r>
              <a:rPr lang="ko-KR" altLang="en-US" sz="18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규범 확산</a:t>
            </a:r>
            <a:r>
              <a:rPr lang="ko-KR" alt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 현황 분석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e22c746fd81622b5deae707eff18ae09.png"/>
          <p:cNvPicPr>
            <a:picLocks noChangeAspect="1"/>
          </p:cNvPicPr>
          <p:nvPr/>
        </p:nvPicPr>
        <p:blipFill>
          <a:blip r:embed="rId3"/>
          <a:srcRect l="-80" r="-80"/>
          <a:stretch/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52805" y="2667305"/>
            <a:ext cx="16383305" cy="8001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52805" y="2667305"/>
            <a:ext cx="16383305" cy="47549"/>
          </a:xfrm>
          <a:prstGeom prst="rect">
            <a:avLst/>
          </a:prstGeom>
          <a:solidFill>
            <a:srgbClr val="036B3F"/>
          </a:solidFill>
          <a:ln w="12700">
            <a:solidFill>
              <a:srgbClr val="036B3F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952805" y="3543300"/>
            <a:ext cx="16383305" cy="8001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2805" y="3543300"/>
            <a:ext cx="16383305" cy="47549"/>
          </a:xfrm>
          <a:prstGeom prst="rect">
            <a:avLst/>
          </a:prstGeom>
          <a:solidFill>
            <a:srgbClr val="9A7620"/>
          </a:solidFill>
          <a:ln w="12700">
            <a:solidFill>
              <a:srgbClr val="9A7620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52805" y="4419295"/>
            <a:ext cx="16383305" cy="8001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52805" y="4419295"/>
            <a:ext cx="16383305" cy="47549"/>
          </a:xfrm>
          <a:prstGeom prst="rect">
            <a:avLst/>
          </a:prstGeom>
          <a:solidFill>
            <a:srgbClr val="6B6B6B"/>
          </a:solidFill>
          <a:ln w="12700">
            <a:solidFill>
              <a:srgbClr val="6B6B6B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52805" y="5296205"/>
            <a:ext cx="16383305" cy="8001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952805" y="5296205"/>
            <a:ext cx="16383305" cy="47549"/>
          </a:xfrm>
          <a:prstGeom prst="rect">
            <a:avLst/>
          </a:prstGeom>
          <a:solidFill>
            <a:srgbClr val="A82A24"/>
          </a:solidFill>
          <a:ln w="12700">
            <a:solidFill>
              <a:srgbClr val="A82A24">
                <a:alpha val="0"/>
              </a:srgbClr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52805" y="6172200"/>
            <a:ext cx="16383305" cy="8001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952805" y="6172200"/>
            <a:ext cx="16383305" cy="47549"/>
          </a:xfrm>
          <a:prstGeom prst="rect">
            <a:avLst/>
          </a:prstGeom>
          <a:solidFill>
            <a:srgbClr val="036B3F"/>
          </a:solidFill>
          <a:ln w="12700">
            <a:solidFill>
              <a:srgbClr val="036B3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52805" y="342900"/>
            <a:ext cx="3199486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15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952805" y="1104595"/>
            <a:ext cx="16383305" cy="8860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5000" b="1" kern="0" spc="-112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3강 구성</a:t>
            </a:r>
            <a:endParaRPr lang="en-US" sz="5000" dirty="0"/>
          </a:p>
        </p:txBody>
      </p:sp>
      <p:sp>
        <p:nvSpPr>
          <p:cNvPr id="18" name="Shape 15"/>
          <p:cNvSpPr/>
          <p:nvPr/>
        </p:nvSpPr>
        <p:spPr>
          <a:xfrm>
            <a:off x="1295705" y="2905049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295705" y="2905049"/>
            <a:ext cx="324612" cy="3246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1867205" y="2829154"/>
            <a:ext cx="4953305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 kern="0" spc="-37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입법 경과</a:t>
            </a:r>
            <a:endParaRPr lang="en-US" sz="2500" dirty="0"/>
          </a:p>
        </p:txBody>
      </p:sp>
      <p:sp>
        <p:nvSpPr>
          <p:cNvPr id="21" name="Text 18"/>
          <p:cNvSpPr txBox="1"/>
          <p:nvPr/>
        </p:nvSpPr>
        <p:spPr>
          <a:xfrm>
            <a:off x="7048195" y="2895905"/>
            <a:ext cx="6096305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관보 게재 2024.7.12, 발효 2024.8.1, 옴니버스 연기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15383834" y="2895905"/>
            <a:ext cx="1791464" cy="33284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제113조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1295705" y="3781044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1295705" y="3781044"/>
            <a:ext cx="324612" cy="3246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1867205" y="3705149"/>
            <a:ext cx="4953305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 kern="0" spc="-37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규정 체계</a:t>
            </a:r>
            <a:endParaRPr lang="en-US" sz="2500" dirty="0"/>
          </a:p>
        </p:txBody>
      </p:sp>
      <p:sp>
        <p:nvSpPr>
          <p:cNvPr id="26" name="Text 23"/>
          <p:cNvSpPr txBox="1"/>
          <p:nvPr/>
        </p:nvSpPr>
        <p:spPr>
          <a:xfrm>
            <a:off x="7048195" y="3771900"/>
            <a:ext cx="6096305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13개 장, 113개 조문, 부속서 13개, 상호 참조 구조</a:t>
            </a:r>
            <a:endParaRPr lang="en-US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15383834" y="3771900"/>
            <a:ext cx="1791464" cy="33284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9A76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구조</a:t>
            </a:r>
            <a:endParaRPr lang="en-US" sz="1800" dirty="0"/>
          </a:p>
        </p:txBody>
      </p:sp>
      <p:sp>
        <p:nvSpPr>
          <p:cNvPr id="28" name="Shape 25"/>
          <p:cNvSpPr/>
          <p:nvPr/>
        </p:nvSpPr>
        <p:spPr>
          <a:xfrm>
            <a:off x="1295705" y="4657954"/>
            <a:ext cx="323698" cy="323698"/>
          </a:xfrm>
          <a:prstGeom prst="ellipse">
            <a:avLst/>
          </a:prstGeom>
          <a:solidFill>
            <a:srgbClr val="6B6B6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1295705" y="4657954"/>
            <a:ext cx="324612" cy="3246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30" name="Text 27"/>
          <p:cNvSpPr txBox="1"/>
          <p:nvPr/>
        </p:nvSpPr>
        <p:spPr>
          <a:xfrm>
            <a:off x="1867205" y="4581144"/>
            <a:ext cx="4953305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 kern="0" spc="-37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총칙</a:t>
            </a:r>
            <a:endParaRPr lang="en-US" sz="2500" dirty="0"/>
          </a:p>
        </p:txBody>
      </p:sp>
      <p:sp>
        <p:nvSpPr>
          <p:cNvPr id="31" name="Text 28"/>
          <p:cNvSpPr txBox="1"/>
          <p:nvPr/>
        </p:nvSpPr>
        <p:spPr>
          <a:xfrm>
            <a:off x="7048195" y="4647895"/>
            <a:ext cx="656082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목적, 역외 적용, 제외 영역, 정의, AI literacy</a:t>
            </a:r>
            <a:endParaRPr lang="en-US" sz="1800" dirty="0"/>
          </a:p>
        </p:txBody>
      </p:sp>
      <p:sp>
        <p:nvSpPr>
          <p:cNvPr id="32" name="Text 29"/>
          <p:cNvSpPr txBox="1"/>
          <p:nvPr/>
        </p:nvSpPr>
        <p:spPr>
          <a:xfrm>
            <a:off x="15383834" y="4647895"/>
            <a:ext cx="1791464" cy="33284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3A3A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제1~4조</a:t>
            </a:r>
            <a:endParaRPr lang="en-US" sz="1800" dirty="0"/>
          </a:p>
        </p:txBody>
      </p:sp>
      <p:sp>
        <p:nvSpPr>
          <p:cNvPr id="33" name="Shape 30"/>
          <p:cNvSpPr/>
          <p:nvPr/>
        </p:nvSpPr>
        <p:spPr>
          <a:xfrm>
            <a:off x="1295705" y="5533949"/>
            <a:ext cx="323698" cy="323698"/>
          </a:xfrm>
          <a:prstGeom prst="ellipse">
            <a:avLst/>
          </a:prstGeom>
          <a:solidFill>
            <a:srgbClr val="A82A2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1295705" y="5533949"/>
            <a:ext cx="324612" cy="3246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500" dirty="0"/>
          </a:p>
        </p:txBody>
      </p:sp>
      <p:sp>
        <p:nvSpPr>
          <p:cNvPr id="35" name="Text 32"/>
          <p:cNvSpPr txBox="1"/>
          <p:nvPr/>
        </p:nvSpPr>
        <p:spPr>
          <a:xfrm>
            <a:off x="1867205" y="5458054"/>
            <a:ext cx="4953305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 kern="0" spc="-37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금지 관행</a:t>
            </a:r>
            <a:endParaRPr lang="en-US" sz="2500" dirty="0"/>
          </a:p>
        </p:txBody>
      </p:sp>
      <p:sp>
        <p:nvSpPr>
          <p:cNvPr id="36" name="Text 33"/>
          <p:cNvSpPr txBox="1"/>
          <p:nvPr/>
        </p:nvSpPr>
        <p:spPr>
          <a:xfrm>
            <a:off x="7048195" y="5524805"/>
            <a:ext cx="6096305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금지, 고위험, 제한적, 최소 위험, 금지 10유형</a:t>
            </a:r>
            <a:endParaRPr lang="en-US" sz="1800" dirty="0"/>
          </a:p>
        </p:txBody>
      </p:sp>
      <p:sp>
        <p:nvSpPr>
          <p:cNvPr id="37" name="Text 34"/>
          <p:cNvSpPr txBox="1"/>
          <p:nvPr/>
        </p:nvSpPr>
        <p:spPr>
          <a:xfrm>
            <a:off x="15383834" y="5524805"/>
            <a:ext cx="1791464" cy="33284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A82A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제5조</a:t>
            </a:r>
            <a:endParaRPr lang="en-US" sz="1800" dirty="0"/>
          </a:p>
        </p:txBody>
      </p:sp>
      <p:sp>
        <p:nvSpPr>
          <p:cNvPr id="38" name="Shape 35"/>
          <p:cNvSpPr/>
          <p:nvPr/>
        </p:nvSpPr>
        <p:spPr>
          <a:xfrm>
            <a:off x="1295705" y="6409944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1295705" y="6409944"/>
            <a:ext cx="324612" cy="3246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500" dirty="0"/>
          </a:p>
        </p:txBody>
      </p:sp>
      <p:sp>
        <p:nvSpPr>
          <p:cNvPr id="40" name="Text 37"/>
          <p:cNvSpPr txBox="1"/>
          <p:nvPr/>
        </p:nvSpPr>
        <p:spPr>
          <a:xfrm>
            <a:off x="1867205" y="6334049"/>
            <a:ext cx="4953305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 kern="0" spc="-37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고위험</a:t>
            </a:r>
            <a:endParaRPr lang="en-US" sz="2500" dirty="0"/>
          </a:p>
        </p:txBody>
      </p:sp>
      <p:sp>
        <p:nvSpPr>
          <p:cNvPr id="41" name="Text 38"/>
          <p:cNvSpPr txBox="1"/>
          <p:nvPr/>
        </p:nvSpPr>
        <p:spPr>
          <a:xfrm>
            <a:off x="7048195" y="6400800"/>
            <a:ext cx="6096305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부속서 I 제품 안전, 부속서 III 8개 영역, 제외 요건</a:t>
            </a:r>
            <a:endParaRPr lang="en-US" sz="1800" dirty="0"/>
          </a:p>
        </p:txBody>
      </p:sp>
      <p:sp>
        <p:nvSpPr>
          <p:cNvPr id="42" name="Text 39"/>
          <p:cNvSpPr txBox="1"/>
          <p:nvPr/>
        </p:nvSpPr>
        <p:spPr>
          <a:xfrm>
            <a:off x="15383834" y="6400800"/>
            <a:ext cx="1791464" cy="33284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제6~7조</a:t>
            </a:r>
            <a:endParaRPr lang="en-US" sz="1800" dirty="0"/>
          </a:p>
        </p:txBody>
      </p:sp>
      <p:sp>
        <p:nvSpPr>
          <p:cNvPr id="46" name="Text 43"/>
          <p:cNvSpPr txBox="1"/>
          <p:nvPr/>
        </p:nvSpPr>
        <p:spPr>
          <a:xfrm>
            <a:off x="15430500" y="9791395"/>
            <a:ext cx="19056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4/51</a:t>
            </a:r>
            <a:endParaRPr lang="en-US" sz="1800" dirty="0"/>
          </a:p>
        </p:txBody>
      </p:sp>
      <p:sp>
        <p:nvSpPr>
          <p:cNvPr id="48" name="Text 8">
            <a:extLst>
              <a:ext uri="{FF2B5EF4-FFF2-40B4-BE49-F238E27FC236}">
                <a16:creationId xmlns:a16="http://schemas.microsoft.com/office/drawing/2014/main" id="{319ED123-617D-44A2-B8BE-FB62090D02D8}"/>
              </a:ext>
            </a:extLst>
          </p:cNvPr>
          <p:cNvSpPr txBox="1"/>
          <p:nvPr/>
        </p:nvSpPr>
        <p:spPr>
          <a:xfrm>
            <a:off x="10877702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규정 체계</a:t>
            </a:r>
            <a:endParaRPr lang="en-US" sz="1500" dirty="0"/>
          </a:p>
        </p:txBody>
      </p:sp>
      <p:sp>
        <p:nvSpPr>
          <p:cNvPr id="49" name="Text 9">
            <a:extLst>
              <a:ext uri="{FF2B5EF4-FFF2-40B4-BE49-F238E27FC236}">
                <a16:creationId xmlns:a16="http://schemas.microsoft.com/office/drawing/2014/main" id="{544F63C7-5BB2-417A-A72E-24FA8EA5CC19}"/>
              </a:ext>
            </a:extLst>
          </p:cNvPr>
          <p:cNvSpPr txBox="1"/>
          <p:nvPr/>
        </p:nvSpPr>
        <p:spPr>
          <a:xfrm>
            <a:off x="12687300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총칙</a:t>
            </a:r>
            <a:endParaRPr lang="en-US" sz="1500" dirty="0"/>
          </a:p>
        </p:txBody>
      </p:sp>
      <p:sp>
        <p:nvSpPr>
          <p:cNvPr id="50" name="Text 10">
            <a:extLst>
              <a:ext uri="{FF2B5EF4-FFF2-40B4-BE49-F238E27FC236}">
                <a16:creationId xmlns:a16="http://schemas.microsoft.com/office/drawing/2014/main" id="{A8105FBA-ED56-4848-A0AC-613B3AD2B961}"/>
              </a:ext>
            </a:extLst>
          </p:cNvPr>
          <p:cNvSpPr txBox="1"/>
          <p:nvPr/>
        </p:nvSpPr>
        <p:spPr>
          <a:xfrm>
            <a:off x="14477695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금지 관행</a:t>
            </a:r>
            <a:endParaRPr lang="en-US" sz="1500" dirty="0"/>
          </a:p>
        </p:txBody>
      </p:sp>
      <p:sp>
        <p:nvSpPr>
          <p:cNvPr id="51" name="Text 11">
            <a:extLst>
              <a:ext uri="{FF2B5EF4-FFF2-40B4-BE49-F238E27FC236}">
                <a16:creationId xmlns:a16="http://schemas.microsoft.com/office/drawing/2014/main" id="{B3604FB8-53EB-4690-8AE8-FA3BC75AF281}"/>
              </a:ext>
            </a:extLst>
          </p:cNvPr>
          <p:cNvSpPr txBox="1"/>
          <p:nvPr/>
        </p:nvSpPr>
        <p:spPr>
          <a:xfrm>
            <a:off x="16306495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고위험</a:t>
            </a:r>
            <a:endParaRPr lang="en-US" sz="1500" dirty="0"/>
          </a:p>
        </p:txBody>
      </p:sp>
      <p:sp>
        <p:nvSpPr>
          <p:cNvPr id="52" name="Text 13">
            <a:extLst>
              <a:ext uri="{FF2B5EF4-FFF2-40B4-BE49-F238E27FC236}">
                <a16:creationId xmlns:a16="http://schemas.microsoft.com/office/drawing/2014/main" id="{B0AE6A71-1440-4CB6-8B6C-0BD835EC0218}"/>
              </a:ext>
            </a:extLst>
          </p:cNvPr>
          <p:cNvSpPr txBox="1"/>
          <p:nvPr/>
        </p:nvSpPr>
        <p:spPr>
          <a:xfrm>
            <a:off x="9048902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입법 경과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e22c746fd81622b5deae707eff18ae09.png"/>
          <p:cNvPicPr>
            <a:picLocks noChangeAspect="1"/>
          </p:cNvPicPr>
          <p:nvPr/>
        </p:nvPicPr>
        <p:blipFill>
          <a:blip r:embed="rId3"/>
          <a:srcRect l="-80" r="-80"/>
          <a:stretch/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52805" y="2704795"/>
            <a:ext cx="8048549" cy="41532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52805" y="2704795"/>
            <a:ext cx="8048549" cy="47549"/>
          </a:xfrm>
          <a:prstGeom prst="rect">
            <a:avLst/>
          </a:prstGeom>
          <a:solidFill>
            <a:srgbClr val="036B3F"/>
          </a:solidFill>
          <a:ln w="12700">
            <a:solidFill>
              <a:srgbClr val="036B3F">
                <a:alpha val="0"/>
              </a:srgbClr>
            </a:solidFill>
            <a:prstDash val="solid"/>
          </a:ln>
        </p:spPr>
      </p:sp>
      <p:pic>
        <p:nvPicPr>
          <p:cNvPr id="5" name="Image 1" descr="gen-dedup-c2dfa98337e9cb6ce99e9e949a17a885.png"/>
          <p:cNvPicPr>
            <a:picLocks noChangeAspect="1"/>
          </p:cNvPicPr>
          <p:nvPr/>
        </p:nvPicPr>
        <p:blipFill>
          <a:blip r:embed="rId4"/>
          <a:srcRect l="-2083" r="-2083"/>
          <a:stretch/>
        </p:blipFill>
        <p:spPr>
          <a:xfrm>
            <a:off x="1257300" y="3715207"/>
            <a:ext cx="7438644" cy="9144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9286646" y="2704795"/>
            <a:ext cx="8048549" cy="41532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9286646" y="2704795"/>
            <a:ext cx="8048549" cy="47549"/>
          </a:xfrm>
          <a:prstGeom prst="rect">
            <a:avLst/>
          </a:prstGeom>
          <a:solidFill>
            <a:srgbClr val="A82A24"/>
          </a:solidFill>
          <a:ln w="12700">
            <a:solidFill>
              <a:srgbClr val="A82A24">
                <a:alpha val="0"/>
              </a:srgbClr>
            </a:solidFill>
            <a:prstDash val="solid"/>
          </a:ln>
        </p:spPr>
      </p:sp>
      <p:pic>
        <p:nvPicPr>
          <p:cNvPr id="8" name="Image 2" descr="gen-dedup-c2dfa98337e9cb6ce99e9e949a17a885.png"/>
          <p:cNvPicPr>
            <a:picLocks noChangeAspect="1"/>
          </p:cNvPicPr>
          <p:nvPr/>
        </p:nvPicPr>
        <p:blipFill>
          <a:blip r:embed="rId4"/>
          <a:srcRect l="-2083" r="-2083"/>
          <a:stretch/>
        </p:blipFill>
        <p:spPr>
          <a:xfrm>
            <a:off x="9592056" y="3715207"/>
            <a:ext cx="7438644" cy="9144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952805" y="8287207"/>
            <a:ext cx="16383305" cy="1238098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952805" y="342900"/>
            <a:ext cx="3199486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15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9048902" y="304495"/>
            <a:ext cx="1772107" cy="381305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입법 경과</a:t>
            </a:r>
            <a:endParaRPr lang="en-US" sz="1500" dirty="0"/>
          </a:p>
        </p:txBody>
      </p:sp>
      <p:sp>
        <p:nvSpPr>
          <p:cNvPr id="13" name="Text 8"/>
          <p:cNvSpPr txBox="1"/>
          <p:nvPr/>
        </p:nvSpPr>
        <p:spPr>
          <a:xfrm>
            <a:off x="10877702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규정 체계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12687300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총칙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14477695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금지 관행</a:t>
            </a:r>
            <a:endParaRPr lang="en-US" sz="1500" dirty="0"/>
          </a:p>
        </p:txBody>
      </p:sp>
      <p:sp>
        <p:nvSpPr>
          <p:cNvPr id="16" name="Text 11"/>
          <p:cNvSpPr txBox="1"/>
          <p:nvPr/>
        </p:nvSpPr>
        <p:spPr>
          <a:xfrm>
            <a:off x="16306495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고위험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952805" y="1104595"/>
            <a:ext cx="16383305" cy="8860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5000" b="1" kern="0" spc="-112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(1-1) 왜 경성규제를 택했는가?</a:t>
            </a:r>
            <a:endParaRPr lang="en-US" sz="5000" dirty="0"/>
          </a:p>
        </p:txBody>
      </p:sp>
      <p:sp>
        <p:nvSpPr>
          <p:cNvPr id="18" name="Text 13"/>
          <p:cNvSpPr txBox="1"/>
          <p:nvPr/>
        </p:nvSpPr>
        <p:spPr>
          <a:xfrm>
            <a:off x="952805" y="2000707"/>
            <a:ext cx="16383305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윤리 선언에서 법적 의무로, 세계 최초의 포괄적 AI 규정</a:t>
            </a:r>
            <a:endParaRPr lang="en-US" sz="1800" dirty="0"/>
          </a:p>
        </p:txBody>
      </p:sp>
      <p:sp>
        <p:nvSpPr>
          <p:cNvPr id="19" name="Text 14"/>
          <p:cNvSpPr txBox="1"/>
          <p:nvPr/>
        </p:nvSpPr>
        <p:spPr>
          <a:xfrm>
            <a:off x="1257300" y="2991002"/>
            <a:ext cx="7439558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 kern="0" spc="-37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선언의 한계</a:t>
            </a:r>
            <a:endParaRPr lang="en-US" sz="2500" dirty="0"/>
          </a:p>
        </p:txBody>
      </p:sp>
      <p:sp>
        <p:nvSpPr>
          <p:cNvPr id="20" name="Text 15"/>
          <p:cNvSpPr txBox="1"/>
          <p:nvPr/>
        </p:nvSpPr>
        <p:spPr>
          <a:xfrm>
            <a:off x="1257300" y="3981298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2019년 신뢰할 수 있는 AI 윤리 가이드라인, 7대 요건 제시</a:t>
            </a:r>
            <a:endParaRPr lang="en-US" sz="1800" dirty="0"/>
          </a:p>
        </p:txBody>
      </p:sp>
      <p:sp>
        <p:nvSpPr>
          <p:cNvPr id="21" name="Text 16"/>
          <p:cNvSpPr txBox="1"/>
          <p:nvPr/>
        </p:nvSpPr>
        <p:spPr>
          <a:xfrm>
            <a:off x="1257300" y="4499762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법적 구속력 없음, 위반해도 제재 없음</a:t>
            </a:r>
            <a:endParaRPr lang="en-US" sz="1800" dirty="0"/>
          </a:p>
        </p:txBody>
      </p:sp>
      <p:sp>
        <p:nvSpPr>
          <p:cNvPr id="22" name="Text 17"/>
          <p:cNvSpPr txBox="1"/>
          <p:nvPr/>
        </p:nvSpPr>
        <p:spPr>
          <a:xfrm>
            <a:off x="1257300" y="5018227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 세계 84개 윤리지침이 발표되었으나 이행 여부 확인 수단 부재</a:t>
            </a:r>
            <a:endParaRPr lang="en-US" sz="1800" dirty="0"/>
          </a:p>
        </p:txBody>
      </p:sp>
      <p:sp>
        <p:nvSpPr>
          <p:cNvPr id="23" name="Text 18"/>
          <p:cNvSpPr txBox="1"/>
          <p:nvPr/>
        </p:nvSpPr>
        <p:spPr>
          <a:xfrm>
            <a:off x="1257300" y="5535778"/>
            <a:ext cx="7575804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윤리 워싱(ethics washing) 논란, 선언만 하고 실행하지 않는 문제</a:t>
            </a:r>
            <a:endParaRPr lang="en-US" sz="1800" dirty="0"/>
          </a:p>
        </p:txBody>
      </p:sp>
      <p:sp>
        <p:nvSpPr>
          <p:cNvPr id="24" name="Text 19"/>
          <p:cNvSpPr txBox="1"/>
          <p:nvPr/>
        </p:nvSpPr>
        <p:spPr>
          <a:xfrm>
            <a:off x="9592056" y="2991002"/>
            <a:ext cx="7439558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 kern="0" spc="-37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규정 형식의 선택</a:t>
            </a:r>
            <a:endParaRPr lang="en-US" sz="2500" dirty="0"/>
          </a:p>
        </p:txBody>
      </p:sp>
      <p:sp>
        <p:nvSpPr>
          <p:cNvPr id="25" name="Text 20"/>
          <p:cNvSpPr txBox="1"/>
          <p:nvPr/>
        </p:nvSpPr>
        <p:spPr>
          <a:xfrm>
            <a:off x="9592056" y="3981298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지침(Directive)이 아니라 규정(Regulation) 형식 채택</a:t>
            </a:r>
            <a:endParaRPr lang="en-US" sz="1800" dirty="0"/>
          </a:p>
        </p:txBody>
      </p:sp>
      <p:sp>
        <p:nvSpPr>
          <p:cNvPr id="26" name="Text 21"/>
          <p:cNvSpPr txBox="1"/>
          <p:nvPr/>
        </p:nvSpPr>
        <p:spPr>
          <a:xfrm>
            <a:off x="9592056" y="4499762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규정은 회원국 국내법 전환 없이 직접 적용, 27개국 동일 기준</a:t>
            </a:r>
            <a:endParaRPr lang="en-US" sz="1800" dirty="0"/>
          </a:p>
        </p:txBody>
      </p:sp>
      <p:sp>
        <p:nvSpPr>
          <p:cNvPr id="27" name="Text 22"/>
          <p:cNvSpPr txBox="1"/>
          <p:nvPr/>
        </p:nvSpPr>
        <p:spPr>
          <a:xfrm>
            <a:off x="9592056" y="5018227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법적 근거 — 유럽연합 기능조약 제114조 단일시장, 제16조 개인정보</a:t>
            </a:r>
            <a:endParaRPr lang="en-US" sz="1800" dirty="0"/>
          </a:p>
        </p:txBody>
      </p:sp>
      <p:sp>
        <p:nvSpPr>
          <p:cNvPr id="28" name="Text 23"/>
          <p:cNvSpPr txBox="1"/>
          <p:nvPr/>
        </p:nvSpPr>
        <p:spPr>
          <a:xfrm>
            <a:off x="9592056" y="5535778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위반 시 과징금, 시정명령, 시장 배제까지 가능</a:t>
            </a:r>
            <a:endParaRPr lang="en-US" sz="1800" dirty="0"/>
          </a:p>
        </p:txBody>
      </p:sp>
      <p:sp>
        <p:nvSpPr>
          <p:cNvPr id="29" name="Text 24"/>
          <p:cNvSpPr txBox="1"/>
          <p:nvPr/>
        </p:nvSpPr>
        <p:spPr>
          <a:xfrm>
            <a:off x="952805" y="7018935"/>
            <a:ext cx="1562161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* </a:t>
            </a: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경성규제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(Hard Regulation): 국가나 지방자치단체가 특정 </a:t>
            </a: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행정목적을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달성</a:t>
            </a:r>
            <a:r>
              <a:rPr lang="ko-KR" alt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위해 법적 강제력을 </a:t>
            </a: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지닌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수단으로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국민의</a:t>
            </a:r>
            <a:r>
              <a:rPr lang="en-US" altLang="ko-KR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권리를</a:t>
            </a:r>
            <a:r>
              <a:rPr lang="en-US" altLang="ko-KR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제한하거나</a:t>
            </a:r>
            <a:r>
              <a:rPr lang="en-US" altLang="ko-KR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의무를</a:t>
            </a:r>
            <a:r>
              <a:rPr lang="en-US" altLang="ko-KR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부과하는</a:t>
            </a:r>
            <a:r>
              <a:rPr lang="en-US" altLang="ko-KR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규제</a:t>
            </a:r>
            <a:endParaRPr lang="en-US" sz="1800" dirty="0"/>
          </a:p>
        </p:txBody>
      </p:sp>
      <p:sp>
        <p:nvSpPr>
          <p:cNvPr id="30" name="Text 25"/>
          <p:cNvSpPr txBox="1"/>
          <p:nvPr/>
        </p:nvSpPr>
        <p:spPr>
          <a:xfrm>
            <a:off x="1333195" y="7733995"/>
            <a:ext cx="1562161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endParaRPr lang="en-US" sz="1800" dirty="0"/>
          </a:p>
        </p:txBody>
      </p:sp>
      <p:sp>
        <p:nvSpPr>
          <p:cNvPr id="31" name="Text 26"/>
          <p:cNvSpPr txBox="1"/>
          <p:nvPr/>
        </p:nvSpPr>
        <p:spPr>
          <a:xfrm>
            <a:off x="1476756" y="8496605"/>
            <a:ext cx="15621610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선언에서 법으로 옮겨가면 무엇이 달라지는가? 준수 행태가 실제로 바뀌는가?</a:t>
            </a:r>
            <a:endParaRPr lang="en-US" sz="1800" dirty="0"/>
          </a:p>
        </p:txBody>
      </p:sp>
      <p:sp>
        <p:nvSpPr>
          <p:cNvPr id="32" name="Text 27"/>
          <p:cNvSpPr txBox="1"/>
          <p:nvPr/>
        </p:nvSpPr>
        <p:spPr>
          <a:xfrm>
            <a:off x="1476756" y="8938260"/>
            <a:ext cx="15621610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윤리 가이드라인의 7대 요건과 이 법의 제8~15조 </a:t>
            </a: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요건을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대조</a:t>
            </a:r>
            <a:endParaRPr lang="en-US" sz="1800" dirty="0"/>
          </a:p>
        </p:txBody>
      </p:sp>
      <p:sp>
        <p:nvSpPr>
          <p:cNvPr id="33" name="Text 28"/>
          <p:cNvSpPr txBox="1"/>
          <p:nvPr/>
        </p:nvSpPr>
        <p:spPr>
          <a:xfrm>
            <a:off x="15430500" y="9791395"/>
            <a:ext cx="19056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5/51</a:t>
            </a:r>
            <a:endParaRPr lang="en-US" sz="1800" dirty="0"/>
          </a:p>
        </p:txBody>
      </p:sp>
      <p:sp>
        <p:nvSpPr>
          <p:cNvPr id="34" name="Text 24">
            <a:extLst>
              <a:ext uri="{FF2B5EF4-FFF2-40B4-BE49-F238E27FC236}">
                <a16:creationId xmlns:a16="http://schemas.microsoft.com/office/drawing/2014/main" id="{4E8A82E1-3818-46B0-9BCD-981CAC08154C}"/>
              </a:ext>
            </a:extLst>
          </p:cNvPr>
          <p:cNvSpPr txBox="1"/>
          <p:nvPr/>
        </p:nvSpPr>
        <p:spPr>
          <a:xfrm>
            <a:off x="952805" y="7481621"/>
            <a:ext cx="1562161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* </a:t>
            </a:r>
            <a:r>
              <a:rPr lang="en-US" altLang="ko-KR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</a:t>
            </a:r>
            <a:r>
              <a:rPr lang="ko-KR" alt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윤리 가이드라인</a:t>
            </a:r>
            <a:r>
              <a:rPr lang="en-US" altLang="ko-KR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7</a:t>
            </a:r>
            <a:r>
              <a:rPr lang="ko-KR" alt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 요건 </a:t>
            </a:r>
            <a:r>
              <a:rPr lang="en-US" altLang="ko-KR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: ① </a:t>
            </a:r>
            <a:r>
              <a:rPr lang="ko-KR" alt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인간 감독</a:t>
            </a:r>
            <a:r>
              <a:rPr lang="en-US" altLang="ko-KR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② </a:t>
            </a:r>
            <a:r>
              <a:rPr lang="ko-KR" alt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견고</a:t>
            </a:r>
            <a:r>
              <a:rPr lang="en-US" altLang="ko-KR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</a:t>
            </a:r>
            <a:r>
              <a:rPr lang="ko-KR" alt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안전성</a:t>
            </a:r>
            <a:r>
              <a:rPr lang="en-US" altLang="ko-KR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③ </a:t>
            </a:r>
            <a:r>
              <a:rPr lang="ko-KR" alt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프라이버시</a:t>
            </a:r>
            <a:r>
              <a:rPr lang="en-US" altLang="ko-KR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</a:t>
            </a:r>
            <a:r>
              <a:rPr lang="ko-KR" alt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</a:t>
            </a:r>
            <a:r>
              <a:rPr lang="en-US" altLang="ko-KR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④ </a:t>
            </a:r>
            <a:r>
              <a:rPr lang="ko-KR" alt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투명성</a:t>
            </a:r>
            <a:r>
              <a:rPr lang="en-US" altLang="ko-KR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⑤ </a:t>
            </a:r>
            <a:r>
              <a:rPr lang="ko-KR" alt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다양성</a:t>
            </a:r>
            <a:r>
              <a:rPr lang="en-US" altLang="ko-KR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</a:t>
            </a:r>
            <a:r>
              <a:rPr lang="ko-KR" alt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비차별</a:t>
            </a:r>
            <a:r>
              <a:rPr lang="en-US" altLang="ko-KR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⑥ </a:t>
            </a:r>
            <a:r>
              <a:rPr lang="ko-KR" alt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사회</a:t>
            </a:r>
            <a:r>
              <a:rPr lang="en-US" altLang="ko-KR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</a:t>
            </a:r>
            <a:r>
              <a:rPr lang="ko-KR" alt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</a:t>
            </a:r>
            <a:r>
              <a:rPr lang="en-US" altLang="ko-KR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⑦ </a:t>
            </a:r>
            <a:r>
              <a:rPr lang="ko-KR" alt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책임성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e22c746fd81622b5deae707eff18ae09.png"/>
          <p:cNvPicPr>
            <a:picLocks noChangeAspect="1"/>
          </p:cNvPicPr>
          <p:nvPr/>
        </p:nvPicPr>
        <p:blipFill>
          <a:blip r:embed="rId3"/>
          <a:srcRect l="-80" r="-80"/>
          <a:stretch/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52805" y="8076894"/>
            <a:ext cx="16383305" cy="1448411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952805" y="342900"/>
            <a:ext cx="3199486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15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9048902" y="304495"/>
            <a:ext cx="1772107" cy="381305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입법 경과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0877702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규정 체계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2687300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총칙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4477695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금지 관행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6306495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고위험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952805" y="1104595"/>
            <a:ext cx="16383305" cy="8860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5000" b="1" kern="0" spc="-112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(1-2) 입법 </a:t>
            </a:r>
            <a:r>
              <a:rPr lang="en-US" sz="5000" b="1" kern="0" spc="-112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경과</a:t>
            </a:r>
            <a:r>
              <a:rPr lang="en-US" sz="5000" b="1" kern="0" spc="-112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5000" b="1" kern="0" spc="-112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단계</a:t>
            </a:r>
            <a:endParaRPr lang="en-US" sz="5000" dirty="0"/>
          </a:p>
        </p:txBody>
      </p:sp>
      <p:sp>
        <p:nvSpPr>
          <p:cNvPr id="12" name="Text 9"/>
          <p:cNvSpPr txBox="1"/>
          <p:nvPr/>
        </p:nvSpPr>
        <p:spPr>
          <a:xfrm>
            <a:off x="952805" y="2000707"/>
            <a:ext cx="16383305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발의부터 발효까지 3년 4개월, 규정 (EU) 2024/1689</a:t>
            </a:r>
            <a:endParaRPr lang="en-US" sz="18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52805" y="2743200"/>
          <a:ext cx="16374161" cy="3943807"/>
        </p:xfrm>
        <a:graphic>
          <a:graphicData uri="http://schemas.openxmlformats.org/drawingml/2006/table">
            <a:tbl>
              <a:tblPr/>
              <a:tblGrid>
                <a:gridCol w="14292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4370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99164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0959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63401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단계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기간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핵심 내용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소요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340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발의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2021.4.21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집행위원회 규정안 제출, 위험기반 접근 골격 제시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340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심의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2021.4 ~ 2023.12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이사회 일반접근 채택(2022.12), 의회 협상안 채택(2023.6)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2년 8개월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340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3자 협의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2023.6 ~ 2023.12.9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이사회, 의회, 집행위 협상 6차, 범용 AI 규율 최대 쟁점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6개월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340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가결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2024.3.13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의회 본회의 가결, 찬성 523, 반대 46, 기권 49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3개월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340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공포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2024.7.12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관보(Official Journal) 게재, 규정 (EU) 2024/1689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4개월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340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발효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2024.8.1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게재 20일 후 발효, 의무는 단계적으로 적용 개시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20일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5" name="Text 11"/>
          <p:cNvSpPr txBox="1"/>
          <p:nvPr/>
        </p:nvSpPr>
        <p:spPr>
          <a:xfrm>
            <a:off x="1333195" y="7398196"/>
            <a:ext cx="15621610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endParaRPr lang="en-US" sz="1800" dirty="0"/>
          </a:p>
        </p:txBody>
      </p:sp>
      <p:sp>
        <p:nvSpPr>
          <p:cNvPr id="16" name="Text 12"/>
          <p:cNvSpPr txBox="1"/>
          <p:nvPr/>
        </p:nvSpPr>
        <p:spPr>
          <a:xfrm>
            <a:off x="1333195" y="8437626"/>
            <a:ext cx="15621610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</a:t>
            </a: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입법에서</a:t>
            </a:r>
            <a:r>
              <a:rPr lang="ko-KR" alt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소요 </a:t>
            </a: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</a:t>
            </a:r>
            <a:endParaRPr lang="en-US" sz="1800" dirty="0"/>
          </a:p>
        </p:txBody>
      </p:sp>
      <p:sp>
        <p:nvSpPr>
          <p:cNvPr id="17" name="Text 13"/>
          <p:cNvSpPr txBox="1"/>
          <p:nvPr/>
        </p:nvSpPr>
        <p:spPr>
          <a:xfrm>
            <a:off x="1333195" y="8879281"/>
            <a:ext cx="15621610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심의 중에 규율 대상이 바뀐 법은 어떤 흔적을 남기는가? 조문 배치에서 확인 가능한가?</a:t>
            </a:r>
            <a:endParaRPr lang="en-US" sz="1800" dirty="0"/>
          </a:p>
        </p:txBody>
      </p:sp>
      <p:sp>
        <p:nvSpPr>
          <p:cNvPr id="18" name="Text 14"/>
          <p:cNvSpPr txBox="1"/>
          <p:nvPr/>
        </p:nvSpPr>
        <p:spPr>
          <a:xfrm>
            <a:off x="15430500" y="9791395"/>
            <a:ext cx="19056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6/51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e22c746fd81622b5deae707eff18ae09.png"/>
          <p:cNvPicPr>
            <a:picLocks noChangeAspect="1"/>
          </p:cNvPicPr>
          <p:nvPr/>
        </p:nvPicPr>
        <p:blipFill>
          <a:blip r:embed="rId3"/>
          <a:srcRect l="-80" r="-80"/>
          <a:stretch/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52805" y="2704795"/>
            <a:ext cx="5266944" cy="476219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52805" y="2704795"/>
            <a:ext cx="5266944" cy="47549"/>
          </a:xfrm>
          <a:prstGeom prst="rect">
            <a:avLst/>
          </a:prstGeom>
          <a:solidFill>
            <a:srgbClr val="036B3F"/>
          </a:solidFill>
          <a:ln w="12700">
            <a:solidFill>
              <a:srgbClr val="036B3F">
                <a:alpha val="0"/>
              </a:srgbClr>
            </a:solidFill>
            <a:prstDash val="solid"/>
          </a:ln>
        </p:spPr>
      </p:sp>
      <p:pic>
        <p:nvPicPr>
          <p:cNvPr id="5" name="Image 1" descr="gen-dedup-ecf24681c8a913dc2f6d75d5c759c67f.png"/>
          <p:cNvPicPr>
            <a:picLocks noChangeAspect="1"/>
          </p:cNvPicPr>
          <p:nvPr/>
        </p:nvPicPr>
        <p:blipFill>
          <a:blip r:embed="rId4"/>
          <a:srcRect l="-2083" r="-2083"/>
          <a:stretch/>
        </p:blipFill>
        <p:spPr>
          <a:xfrm>
            <a:off x="1257300" y="4153205"/>
            <a:ext cx="4657954" cy="9144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6505956" y="2704795"/>
            <a:ext cx="5266944" cy="476219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6505956" y="2704795"/>
            <a:ext cx="5266944" cy="47549"/>
          </a:xfrm>
          <a:prstGeom prst="rect">
            <a:avLst/>
          </a:prstGeom>
          <a:solidFill>
            <a:srgbClr val="A82A24"/>
          </a:solidFill>
          <a:ln w="12700">
            <a:solidFill>
              <a:srgbClr val="A82A24">
                <a:alpha val="0"/>
              </a:srgbClr>
            </a:solidFill>
            <a:prstDash val="solid"/>
          </a:ln>
        </p:spPr>
      </p:sp>
      <p:pic>
        <p:nvPicPr>
          <p:cNvPr id="8" name="Image 2" descr="gen-dedup-ecf24681c8a913dc2f6d75d5c759c67f.png"/>
          <p:cNvPicPr>
            <a:picLocks noChangeAspect="1"/>
          </p:cNvPicPr>
          <p:nvPr/>
        </p:nvPicPr>
        <p:blipFill>
          <a:blip r:embed="rId4"/>
          <a:srcRect l="-2083" r="-2083"/>
          <a:stretch/>
        </p:blipFill>
        <p:spPr>
          <a:xfrm>
            <a:off x="6810451" y="4153205"/>
            <a:ext cx="4657954" cy="9144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12059107" y="2704795"/>
            <a:ext cx="5277002" cy="476219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12059107" y="2704795"/>
            <a:ext cx="5277002" cy="47549"/>
          </a:xfrm>
          <a:prstGeom prst="rect">
            <a:avLst/>
          </a:prstGeom>
          <a:solidFill>
            <a:srgbClr val="9A7620"/>
          </a:solidFill>
          <a:ln w="12700">
            <a:solidFill>
              <a:srgbClr val="9A7620">
                <a:alpha val="0"/>
              </a:srgbClr>
            </a:solidFill>
            <a:prstDash val="solid"/>
          </a:ln>
        </p:spPr>
      </p:sp>
      <p:pic>
        <p:nvPicPr>
          <p:cNvPr id="11" name="Image 3" descr="gen-dedup-871f3dfe2e6d510d81c0b0c2273c4c8e.png"/>
          <p:cNvPicPr>
            <a:picLocks noChangeAspect="1"/>
          </p:cNvPicPr>
          <p:nvPr/>
        </p:nvPicPr>
        <p:blipFill>
          <a:blip r:embed="rId5"/>
          <a:srcRect l="-2083" r="-2083"/>
          <a:stretch/>
        </p:blipFill>
        <p:spPr>
          <a:xfrm>
            <a:off x="12363602" y="4153205"/>
            <a:ext cx="4667098" cy="9144"/>
          </a:xfrm>
          <a:prstGeom prst="rect">
            <a:avLst/>
          </a:prstGeom>
        </p:spPr>
      </p:pic>
      <p:sp>
        <p:nvSpPr>
          <p:cNvPr id="12" name="Shape 6"/>
          <p:cNvSpPr/>
          <p:nvPr/>
        </p:nvSpPr>
        <p:spPr>
          <a:xfrm>
            <a:off x="952805" y="7677302"/>
            <a:ext cx="16383305" cy="1848002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7"/>
          <p:cNvSpPr txBox="1"/>
          <p:nvPr/>
        </p:nvSpPr>
        <p:spPr>
          <a:xfrm>
            <a:off x="952805" y="342900"/>
            <a:ext cx="3199486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15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500" dirty="0"/>
          </a:p>
        </p:txBody>
      </p:sp>
      <p:sp>
        <p:nvSpPr>
          <p:cNvPr id="14" name="Text 8"/>
          <p:cNvSpPr txBox="1"/>
          <p:nvPr/>
        </p:nvSpPr>
        <p:spPr>
          <a:xfrm>
            <a:off x="9048902" y="304495"/>
            <a:ext cx="1772107" cy="381305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입법 경과</a:t>
            </a:r>
            <a:endParaRPr lang="en-US" sz="1500" dirty="0"/>
          </a:p>
        </p:txBody>
      </p:sp>
      <p:sp>
        <p:nvSpPr>
          <p:cNvPr id="15" name="Text 9"/>
          <p:cNvSpPr txBox="1"/>
          <p:nvPr/>
        </p:nvSpPr>
        <p:spPr>
          <a:xfrm>
            <a:off x="10877702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규정 체계</a:t>
            </a:r>
            <a:endParaRPr lang="en-US" sz="1500" dirty="0"/>
          </a:p>
        </p:txBody>
      </p:sp>
      <p:sp>
        <p:nvSpPr>
          <p:cNvPr id="16" name="Text 10"/>
          <p:cNvSpPr txBox="1"/>
          <p:nvPr/>
        </p:nvSpPr>
        <p:spPr>
          <a:xfrm>
            <a:off x="12687300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총칙</a:t>
            </a:r>
            <a:endParaRPr lang="en-US" sz="1500" dirty="0"/>
          </a:p>
        </p:txBody>
      </p:sp>
      <p:sp>
        <p:nvSpPr>
          <p:cNvPr id="17" name="Text 11"/>
          <p:cNvSpPr txBox="1"/>
          <p:nvPr/>
        </p:nvSpPr>
        <p:spPr>
          <a:xfrm>
            <a:off x="14477695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금지 관행</a:t>
            </a:r>
            <a:endParaRPr lang="en-US" sz="1500" dirty="0"/>
          </a:p>
        </p:txBody>
      </p:sp>
      <p:sp>
        <p:nvSpPr>
          <p:cNvPr id="18" name="Text 12"/>
          <p:cNvSpPr txBox="1"/>
          <p:nvPr/>
        </p:nvSpPr>
        <p:spPr>
          <a:xfrm>
            <a:off x="16306495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고위험</a:t>
            </a:r>
            <a:endParaRPr lang="en-US" sz="1500" dirty="0"/>
          </a:p>
        </p:txBody>
      </p:sp>
      <p:sp>
        <p:nvSpPr>
          <p:cNvPr id="19" name="Text 13"/>
          <p:cNvSpPr txBox="1"/>
          <p:nvPr/>
        </p:nvSpPr>
        <p:spPr>
          <a:xfrm>
            <a:off x="952805" y="1104595"/>
            <a:ext cx="16383305" cy="8860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5000" b="1" kern="0" spc="-112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(1-3) 3자 협의 3대 쟁점</a:t>
            </a:r>
            <a:endParaRPr lang="en-US" sz="5000" dirty="0"/>
          </a:p>
        </p:txBody>
      </p:sp>
      <p:sp>
        <p:nvSpPr>
          <p:cNvPr id="20" name="Text 14"/>
          <p:cNvSpPr txBox="1"/>
          <p:nvPr/>
        </p:nvSpPr>
        <p:spPr>
          <a:xfrm>
            <a:off x="952805" y="2000707"/>
            <a:ext cx="16383305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이사회, 의회, 집행위원회가 6차에 걸쳐 협상, 2023.12.9 정치적 합의</a:t>
            </a:r>
            <a:endParaRPr lang="en-US" sz="1800" dirty="0"/>
          </a:p>
        </p:txBody>
      </p:sp>
      <p:sp>
        <p:nvSpPr>
          <p:cNvPr id="21" name="Shape 15"/>
          <p:cNvSpPr/>
          <p:nvPr/>
        </p:nvSpPr>
        <p:spPr>
          <a:xfrm>
            <a:off x="1257300" y="3029407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6"/>
          <p:cNvSpPr/>
          <p:nvPr/>
        </p:nvSpPr>
        <p:spPr>
          <a:xfrm>
            <a:off x="1257300" y="3029407"/>
            <a:ext cx="324612" cy="3246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23" name="Text 17"/>
          <p:cNvSpPr txBox="1"/>
          <p:nvPr/>
        </p:nvSpPr>
        <p:spPr>
          <a:xfrm>
            <a:off x="1257300" y="3543300"/>
            <a:ext cx="4657954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 kern="0" spc="-37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범용 AI 규율</a:t>
            </a:r>
            <a:endParaRPr lang="en-US" sz="2500" dirty="0"/>
          </a:p>
        </p:txBody>
      </p:sp>
      <p:sp>
        <p:nvSpPr>
          <p:cNvPr id="24" name="Text 18"/>
          <p:cNvSpPr txBox="1"/>
          <p:nvPr/>
        </p:nvSpPr>
        <p:spPr>
          <a:xfrm>
            <a:off x="1257300" y="4401007"/>
            <a:ext cx="4657954" cy="7342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88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발의안에 없던 대상, 생성형 AI 등장으로 신설 요구</a:t>
            </a:r>
            <a:endParaRPr lang="en-US" sz="1800" dirty="0"/>
          </a:p>
        </p:txBody>
      </p:sp>
      <p:sp>
        <p:nvSpPr>
          <p:cNvPr id="25" name="Text 19"/>
          <p:cNvSpPr txBox="1"/>
          <p:nvPr/>
        </p:nvSpPr>
        <p:spPr>
          <a:xfrm>
            <a:off x="1257300" y="5265115"/>
            <a:ext cx="4657954" cy="7342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88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프랑스, 독일, 이탈리아는 자국 기업 부담을 이유로 반대</a:t>
            </a:r>
            <a:endParaRPr lang="en-US" sz="1800" dirty="0"/>
          </a:p>
        </p:txBody>
      </p:sp>
      <p:sp>
        <p:nvSpPr>
          <p:cNvPr id="26" name="Text 20"/>
          <p:cNvSpPr txBox="1"/>
          <p:nvPr/>
        </p:nvSpPr>
        <p:spPr>
          <a:xfrm>
            <a:off x="1257300" y="6130138"/>
            <a:ext cx="4657954" cy="7342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88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— 2단 구조, 일반 의무와 체계적 위험 의무로 분리</a:t>
            </a:r>
            <a:endParaRPr lang="en-US" sz="1800" dirty="0"/>
          </a:p>
        </p:txBody>
      </p:sp>
      <p:sp>
        <p:nvSpPr>
          <p:cNvPr id="27" name="Shape 21"/>
          <p:cNvSpPr/>
          <p:nvPr/>
        </p:nvSpPr>
        <p:spPr>
          <a:xfrm>
            <a:off x="6810451" y="3029407"/>
            <a:ext cx="323698" cy="323698"/>
          </a:xfrm>
          <a:prstGeom prst="ellipse">
            <a:avLst/>
          </a:prstGeom>
          <a:solidFill>
            <a:srgbClr val="A82A2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2"/>
          <p:cNvSpPr/>
          <p:nvPr/>
        </p:nvSpPr>
        <p:spPr>
          <a:xfrm>
            <a:off x="6810451" y="3029407"/>
            <a:ext cx="324612" cy="3246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29" name="Text 23"/>
          <p:cNvSpPr txBox="1"/>
          <p:nvPr/>
        </p:nvSpPr>
        <p:spPr>
          <a:xfrm>
            <a:off x="6810451" y="3543300"/>
            <a:ext cx="4657954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 kern="0" spc="-37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실시간 생체인식</a:t>
            </a:r>
            <a:endParaRPr lang="en-US" sz="2500" dirty="0"/>
          </a:p>
        </p:txBody>
      </p:sp>
      <p:sp>
        <p:nvSpPr>
          <p:cNvPr id="30" name="Text 24"/>
          <p:cNvSpPr txBox="1"/>
          <p:nvPr/>
        </p:nvSpPr>
        <p:spPr>
          <a:xfrm>
            <a:off x="6810451" y="4401007"/>
            <a:ext cx="4657954" cy="7342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88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의회는 전면 금지 요구, </a:t>
            </a: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이사회</a:t>
            </a:r>
            <a:r>
              <a:rPr lang="ko-KR" alt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에서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법 </a:t>
            </a: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집행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예외</a:t>
            </a:r>
            <a:endParaRPr lang="en-US" sz="1800" dirty="0"/>
          </a:p>
        </p:txBody>
      </p:sp>
      <p:sp>
        <p:nvSpPr>
          <p:cNvPr id="31" name="Text 25"/>
          <p:cNvSpPr txBox="1"/>
          <p:nvPr/>
        </p:nvSpPr>
        <p:spPr>
          <a:xfrm>
            <a:off x="6810451" y="5332350"/>
            <a:ext cx="5458054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쟁점 — </a:t>
            </a: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공공장소</a:t>
            </a:r>
            <a:r>
              <a:rPr lang="ko-KR" alt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에서의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감시와 범죄 </a:t>
            </a: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수사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필요성의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충돌</a:t>
            </a:r>
            <a:endParaRPr lang="en-US" sz="1800" dirty="0"/>
          </a:p>
        </p:txBody>
      </p:sp>
      <p:sp>
        <p:nvSpPr>
          <p:cNvPr id="32" name="Text 26"/>
          <p:cNvSpPr txBox="1"/>
          <p:nvPr/>
        </p:nvSpPr>
        <p:spPr>
          <a:xfrm>
            <a:off x="6810451" y="6006424"/>
            <a:ext cx="4657954" cy="7342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88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— 원칙 금지, 3개 예외만 허용, 사전 사법 승인 조건</a:t>
            </a:r>
            <a:endParaRPr lang="en-US" sz="1800" dirty="0"/>
          </a:p>
        </p:txBody>
      </p:sp>
      <p:sp>
        <p:nvSpPr>
          <p:cNvPr id="33" name="Shape 27"/>
          <p:cNvSpPr/>
          <p:nvPr/>
        </p:nvSpPr>
        <p:spPr>
          <a:xfrm>
            <a:off x="12363602" y="3029407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28"/>
          <p:cNvSpPr/>
          <p:nvPr/>
        </p:nvSpPr>
        <p:spPr>
          <a:xfrm>
            <a:off x="12363602" y="3029407"/>
            <a:ext cx="324612" cy="3246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35" name="Text 29"/>
          <p:cNvSpPr txBox="1"/>
          <p:nvPr/>
        </p:nvSpPr>
        <p:spPr>
          <a:xfrm>
            <a:off x="12363602" y="3543300"/>
            <a:ext cx="4668012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 kern="0" spc="-37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고위험 분류 방식</a:t>
            </a:r>
            <a:endParaRPr lang="en-US" sz="2500" dirty="0"/>
          </a:p>
        </p:txBody>
      </p:sp>
      <p:sp>
        <p:nvSpPr>
          <p:cNvPr id="36" name="Text 30"/>
          <p:cNvSpPr txBox="1"/>
          <p:nvPr/>
        </p:nvSpPr>
        <p:spPr>
          <a:xfrm>
            <a:off x="12363602" y="4401007"/>
            <a:ext cx="4668012" cy="7342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88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목록 방식은 명확하나 경직, 자율 판단은 유연하나 회피 우려</a:t>
            </a:r>
            <a:endParaRPr lang="en-US" sz="1800" dirty="0"/>
          </a:p>
        </p:txBody>
      </p:sp>
      <p:sp>
        <p:nvSpPr>
          <p:cNvPr id="37" name="Text 31"/>
          <p:cNvSpPr txBox="1"/>
          <p:nvPr/>
        </p:nvSpPr>
        <p:spPr>
          <a:xfrm>
            <a:off x="12363602" y="5265115"/>
            <a:ext cx="4668012" cy="7342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88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산업계는 목록에 올라도 실제 위험이 낮은 경우 제외를 요구</a:t>
            </a:r>
            <a:endParaRPr lang="en-US" sz="1800" dirty="0"/>
          </a:p>
        </p:txBody>
      </p:sp>
      <p:sp>
        <p:nvSpPr>
          <p:cNvPr id="38" name="Text 32"/>
          <p:cNvSpPr txBox="1"/>
          <p:nvPr/>
        </p:nvSpPr>
        <p:spPr>
          <a:xfrm>
            <a:off x="12363602" y="6130138"/>
            <a:ext cx="4668012" cy="7342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88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— 목록 방식 유지, 제6조 3항에 제외 요건 신설</a:t>
            </a:r>
            <a:endParaRPr lang="en-US" sz="1800" dirty="0"/>
          </a:p>
        </p:txBody>
      </p:sp>
      <p:sp>
        <p:nvSpPr>
          <p:cNvPr id="39" name="Text 33"/>
          <p:cNvSpPr txBox="1"/>
          <p:nvPr/>
        </p:nvSpPr>
        <p:spPr>
          <a:xfrm>
            <a:off x="1333195" y="7944307"/>
            <a:ext cx="15621610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</a:t>
            </a: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쟁점</a:t>
            </a:r>
            <a:r>
              <a:rPr lang="ko-KR" alt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 </a:t>
            </a: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조문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반영 여부 확인</a:t>
            </a:r>
            <a:endParaRPr lang="en-US" sz="1800" dirty="0"/>
          </a:p>
        </p:txBody>
      </p:sp>
      <p:sp>
        <p:nvSpPr>
          <p:cNvPr id="40" name="Text 34"/>
          <p:cNvSpPr txBox="1"/>
          <p:nvPr/>
        </p:nvSpPr>
        <p:spPr>
          <a:xfrm>
            <a:off x="1333195" y="8385962"/>
            <a:ext cx="15621610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예외 조항이 </a:t>
            </a: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많은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법</a:t>
            </a:r>
            <a:r>
              <a:rPr lang="ko-KR" alt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집행</a:t>
            </a:r>
            <a:r>
              <a:rPr lang="ko-KR" alt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 실효성 검토</a:t>
            </a:r>
            <a:r>
              <a:rPr lang="en-US" altLang="ko-KR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lang="ko-KR" alt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 가능성 여부 확인</a:t>
            </a:r>
            <a:endParaRPr lang="en-US" sz="1800" dirty="0"/>
          </a:p>
        </p:txBody>
      </p:sp>
      <p:sp>
        <p:nvSpPr>
          <p:cNvPr id="41" name="Text 35"/>
          <p:cNvSpPr txBox="1"/>
          <p:nvPr/>
        </p:nvSpPr>
        <p:spPr>
          <a:xfrm>
            <a:off x="1333195" y="8827618"/>
            <a:ext cx="15621610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협상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과정</a:t>
            </a:r>
            <a:r>
              <a:rPr lang="ko-KR" alt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에서의 공개된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</a:t>
            </a:r>
            <a:r>
              <a:rPr lang="ko-KR" alt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와 </a:t>
            </a: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조문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간의 </a:t>
            </a: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대조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연</a:t>
            </a:r>
            <a:r>
              <a:rPr lang="ko-KR" alt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</a:t>
            </a:r>
            <a:endParaRPr lang="en-US" sz="1800" dirty="0"/>
          </a:p>
        </p:txBody>
      </p:sp>
      <p:sp>
        <p:nvSpPr>
          <p:cNvPr id="42" name="Text 36"/>
          <p:cNvSpPr txBox="1"/>
          <p:nvPr/>
        </p:nvSpPr>
        <p:spPr>
          <a:xfrm>
            <a:off x="15430500" y="9791395"/>
            <a:ext cx="19056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7/51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e22c746fd81622b5deae707eff18ae09.png"/>
          <p:cNvPicPr>
            <a:picLocks noChangeAspect="1"/>
          </p:cNvPicPr>
          <p:nvPr/>
        </p:nvPicPr>
        <p:blipFill>
          <a:blip r:embed="rId3"/>
          <a:srcRect l="-80" r="-80"/>
          <a:stretch/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52805" y="2704795"/>
            <a:ext cx="8048549" cy="28575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52805" y="2704795"/>
            <a:ext cx="8048549" cy="47549"/>
          </a:xfrm>
          <a:prstGeom prst="rect">
            <a:avLst/>
          </a:prstGeom>
          <a:solidFill>
            <a:srgbClr val="036B3F"/>
          </a:solidFill>
          <a:ln w="12700">
            <a:solidFill>
              <a:srgbClr val="036B3F">
                <a:alpha val="0"/>
              </a:srgbClr>
            </a:solidFill>
            <a:prstDash val="solid"/>
          </a:ln>
        </p:spPr>
      </p:sp>
      <p:pic>
        <p:nvPicPr>
          <p:cNvPr id="5" name="Image 1" descr="gen-dedup-c2dfa98337e9cb6ce99e9e949a17a885.png"/>
          <p:cNvPicPr>
            <a:picLocks noChangeAspect="1"/>
          </p:cNvPicPr>
          <p:nvPr/>
        </p:nvPicPr>
        <p:blipFill>
          <a:blip r:embed="rId4"/>
          <a:srcRect l="-2083" r="-2083"/>
          <a:stretch/>
        </p:blipFill>
        <p:spPr>
          <a:xfrm>
            <a:off x="1257300" y="3715207"/>
            <a:ext cx="7438644" cy="9144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9286646" y="2704795"/>
            <a:ext cx="8048549" cy="28575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9286646" y="2704795"/>
            <a:ext cx="8048549" cy="47549"/>
          </a:xfrm>
          <a:prstGeom prst="rect">
            <a:avLst/>
          </a:prstGeom>
          <a:solidFill>
            <a:srgbClr val="A82A24"/>
          </a:solidFill>
          <a:ln w="12700">
            <a:solidFill>
              <a:srgbClr val="A82A24">
                <a:alpha val="0"/>
              </a:srgbClr>
            </a:solidFill>
            <a:prstDash val="solid"/>
          </a:ln>
        </p:spPr>
      </p:sp>
      <p:pic>
        <p:nvPicPr>
          <p:cNvPr id="8" name="Image 2" descr="gen-dedup-c2dfa98337e9cb6ce99e9e949a17a885.png"/>
          <p:cNvPicPr>
            <a:picLocks noChangeAspect="1"/>
          </p:cNvPicPr>
          <p:nvPr/>
        </p:nvPicPr>
        <p:blipFill>
          <a:blip r:embed="rId4"/>
          <a:srcRect l="-2083" r="-2083"/>
          <a:stretch/>
        </p:blipFill>
        <p:spPr>
          <a:xfrm>
            <a:off x="9592056" y="3715207"/>
            <a:ext cx="7438644" cy="9144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952805" y="8438998"/>
            <a:ext cx="16383305" cy="10863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952805" y="342900"/>
            <a:ext cx="3199486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15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500" dirty="0"/>
          </a:p>
        </p:txBody>
      </p:sp>
      <p:sp>
        <p:nvSpPr>
          <p:cNvPr id="11" name="Text 6"/>
          <p:cNvSpPr txBox="1"/>
          <p:nvPr/>
        </p:nvSpPr>
        <p:spPr>
          <a:xfrm>
            <a:off x="9048902" y="304495"/>
            <a:ext cx="1772107" cy="381305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입법 경과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10877702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규정 체계</a:t>
            </a:r>
            <a:endParaRPr lang="en-US" sz="1500" dirty="0"/>
          </a:p>
        </p:txBody>
      </p:sp>
      <p:sp>
        <p:nvSpPr>
          <p:cNvPr id="13" name="Text 8"/>
          <p:cNvSpPr txBox="1"/>
          <p:nvPr/>
        </p:nvSpPr>
        <p:spPr>
          <a:xfrm>
            <a:off x="12687300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총칙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14477695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금지 관행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16306495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고위험</a:t>
            </a:r>
            <a:endParaRPr lang="en-US" sz="1500" dirty="0"/>
          </a:p>
        </p:txBody>
      </p:sp>
      <p:sp>
        <p:nvSpPr>
          <p:cNvPr id="16" name="Text 11"/>
          <p:cNvSpPr txBox="1"/>
          <p:nvPr/>
        </p:nvSpPr>
        <p:spPr>
          <a:xfrm>
            <a:off x="952805" y="1104595"/>
            <a:ext cx="16383305" cy="8860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5000" b="1" kern="0" spc="-112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(1-4) 발효와 단계적 적용</a:t>
            </a:r>
            <a:endParaRPr lang="en-US" sz="5000" dirty="0"/>
          </a:p>
        </p:txBody>
      </p:sp>
      <p:sp>
        <p:nvSpPr>
          <p:cNvPr id="17" name="Text 12"/>
          <p:cNvSpPr txBox="1"/>
          <p:nvPr/>
        </p:nvSpPr>
        <p:spPr>
          <a:xfrm>
            <a:off x="952805" y="2000707"/>
            <a:ext cx="16383305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발효일과 적용일은 다름, 의무마다 적용 시점이 따로 지정</a:t>
            </a:r>
            <a:endParaRPr lang="en-US" sz="1800" dirty="0"/>
          </a:p>
        </p:txBody>
      </p:sp>
      <p:sp>
        <p:nvSpPr>
          <p:cNvPr id="18" name="Text 13"/>
          <p:cNvSpPr txBox="1"/>
          <p:nvPr/>
        </p:nvSpPr>
        <p:spPr>
          <a:xfrm>
            <a:off x="1257300" y="2991002"/>
            <a:ext cx="7439558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 kern="0" spc="-37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발효(entry into force)</a:t>
            </a:r>
            <a:endParaRPr lang="en-US" sz="2500" dirty="0"/>
          </a:p>
        </p:txBody>
      </p:sp>
      <p:sp>
        <p:nvSpPr>
          <p:cNvPr id="19" name="Text 14"/>
          <p:cNvSpPr txBox="1"/>
          <p:nvPr/>
        </p:nvSpPr>
        <p:spPr>
          <a:xfrm>
            <a:off x="1257300" y="3981298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2024.8.1, 관보 게재 20일 후</a:t>
            </a:r>
            <a:endParaRPr lang="en-US" sz="1800" dirty="0"/>
          </a:p>
        </p:txBody>
      </p:sp>
      <p:sp>
        <p:nvSpPr>
          <p:cNvPr id="20" name="Text 15"/>
          <p:cNvSpPr txBox="1"/>
          <p:nvPr/>
        </p:nvSpPr>
        <p:spPr>
          <a:xfrm>
            <a:off x="1257300" y="4480560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법이 법으로서 존재하게 된 시점</a:t>
            </a:r>
            <a:endParaRPr lang="en-US" sz="1800" dirty="0"/>
          </a:p>
        </p:txBody>
      </p:sp>
      <p:sp>
        <p:nvSpPr>
          <p:cNvPr id="21" name="Text 16"/>
          <p:cNvSpPr txBox="1"/>
          <p:nvPr/>
        </p:nvSpPr>
        <p:spPr>
          <a:xfrm>
            <a:off x="1257300" y="4979822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시점부터 개별 의무의 유예 기간이 계산 시작</a:t>
            </a:r>
            <a:endParaRPr lang="en-US" sz="1800" dirty="0"/>
          </a:p>
        </p:txBody>
      </p:sp>
      <p:sp>
        <p:nvSpPr>
          <p:cNvPr id="22" name="Text 17"/>
          <p:cNvSpPr txBox="1"/>
          <p:nvPr/>
        </p:nvSpPr>
        <p:spPr>
          <a:xfrm>
            <a:off x="9592056" y="2991002"/>
            <a:ext cx="7439558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 kern="0" spc="-37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적용(application)</a:t>
            </a:r>
            <a:endParaRPr lang="en-US" sz="2500" dirty="0"/>
          </a:p>
        </p:txBody>
      </p:sp>
      <p:sp>
        <p:nvSpPr>
          <p:cNvPr id="23" name="Text 18"/>
          <p:cNvSpPr txBox="1"/>
          <p:nvPr/>
        </p:nvSpPr>
        <p:spPr>
          <a:xfrm>
            <a:off x="9592056" y="3981298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의무별로 6개월에서 4년까지 차등</a:t>
            </a:r>
            <a:endParaRPr lang="en-US" sz="1800" dirty="0"/>
          </a:p>
        </p:txBody>
      </p:sp>
      <p:sp>
        <p:nvSpPr>
          <p:cNvPr id="24" name="Text 19"/>
          <p:cNvSpPr txBox="1"/>
          <p:nvPr/>
        </p:nvSpPr>
        <p:spPr>
          <a:xfrm>
            <a:off x="9592056" y="4480560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사업자가 준비할 시간을 주려는 취지</a:t>
            </a:r>
            <a:endParaRPr lang="en-US" sz="1800" dirty="0"/>
          </a:p>
        </p:txBody>
      </p:sp>
      <p:sp>
        <p:nvSpPr>
          <p:cNvPr id="25" name="Text 20"/>
          <p:cNvSpPr txBox="1"/>
          <p:nvPr/>
        </p:nvSpPr>
        <p:spPr>
          <a:xfrm>
            <a:off x="9592056" y="4979822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 조항 — 제113조</a:t>
            </a:r>
            <a:endParaRPr lang="en-US" sz="18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23897356"/>
              </p:ext>
            </p:extLst>
          </p:nvPr>
        </p:nvGraphicFramePr>
        <p:xfrm>
          <a:off x="952805" y="5848502"/>
          <a:ext cx="16374161" cy="2200960"/>
        </p:xfrm>
        <a:graphic>
          <a:graphicData uri="http://schemas.openxmlformats.org/drawingml/2006/table">
            <a:tbl>
              <a:tblPr/>
              <a:tblGrid>
                <a:gridCol w="1714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2920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89826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33219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502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적용일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유예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대상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조항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02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2025.2.2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6개월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금지 관행, </a:t>
                      </a:r>
                      <a:r>
                        <a:rPr lang="en-US" sz="1800" dirty="0" err="1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인공지능</a:t>
                      </a: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</a:t>
                      </a:r>
                      <a:r>
                        <a:rPr lang="ko-KR" altLang="en-US" sz="1800" dirty="0" err="1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리터러시</a:t>
                      </a: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(AI literacy)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제5조, 제4조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02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2025.8.2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12개월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범용 AI, 거버넌스, 제재, 관할당국 지정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제51~56조, 제64~70조, 제99~101조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02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2026.8.2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24개월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투명성 의무, 시장감시 일반 적용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제50조, 제72~94조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7" name="Text 21"/>
          <p:cNvSpPr txBox="1"/>
          <p:nvPr/>
        </p:nvSpPr>
        <p:spPr>
          <a:xfrm>
            <a:off x="1333195" y="8648395"/>
            <a:ext cx="15621610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금지 조항이 가장 먼저 적용된 이유는 무엇인가? 유예 길이는 무엇에 따라 정해지는가?</a:t>
            </a:r>
            <a:endParaRPr lang="en-US" sz="1800" dirty="0"/>
          </a:p>
        </p:txBody>
      </p:sp>
      <p:sp>
        <p:nvSpPr>
          <p:cNvPr id="28" name="Text 22"/>
          <p:cNvSpPr txBox="1"/>
          <p:nvPr/>
        </p:nvSpPr>
        <p:spPr>
          <a:xfrm>
            <a:off x="1333195" y="9059875"/>
            <a:ext cx="15621610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고위험 의무는 표에 없음, 다음 장에서 그 이유를 확인</a:t>
            </a:r>
            <a:endParaRPr lang="en-US" sz="1800" dirty="0"/>
          </a:p>
        </p:txBody>
      </p:sp>
      <p:sp>
        <p:nvSpPr>
          <p:cNvPr id="29" name="Text 23"/>
          <p:cNvSpPr txBox="1"/>
          <p:nvPr/>
        </p:nvSpPr>
        <p:spPr>
          <a:xfrm>
            <a:off x="15430500" y="9791395"/>
            <a:ext cx="19056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8/51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e22c746fd81622b5deae707eff18ae09.png"/>
          <p:cNvPicPr>
            <a:picLocks noChangeAspect="1"/>
          </p:cNvPicPr>
          <p:nvPr/>
        </p:nvPicPr>
        <p:blipFill>
          <a:blip r:embed="rId3"/>
          <a:srcRect l="-80" r="-80"/>
          <a:stretch/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286646" y="2743200"/>
            <a:ext cx="8048549" cy="2495398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286646" y="2743200"/>
            <a:ext cx="8048549" cy="47549"/>
          </a:xfrm>
          <a:prstGeom prst="rect">
            <a:avLst/>
          </a:prstGeom>
          <a:solidFill>
            <a:srgbClr val="9A7620"/>
          </a:solidFill>
          <a:ln w="12700">
            <a:solidFill>
              <a:srgbClr val="9A7620">
                <a:alpha val="0"/>
              </a:srgbClr>
            </a:solidFill>
            <a:prstDash val="solid"/>
          </a:ln>
        </p:spPr>
      </p:sp>
      <p:pic>
        <p:nvPicPr>
          <p:cNvPr id="5" name="Image 1" descr="gen-dedup-c2dfa98337e9cb6ce99e9e949a17a885.png"/>
          <p:cNvPicPr>
            <a:picLocks noChangeAspect="1"/>
          </p:cNvPicPr>
          <p:nvPr/>
        </p:nvPicPr>
        <p:blipFill>
          <a:blip r:embed="rId4"/>
          <a:srcRect l="-2083" r="-2083"/>
          <a:stretch/>
        </p:blipFill>
        <p:spPr>
          <a:xfrm>
            <a:off x="9592056" y="3733495"/>
            <a:ext cx="7438644" cy="9144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952805" y="8343900"/>
            <a:ext cx="16383305" cy="1181405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952805" y="342900"/>
            <a:ext cx="3199486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15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500" dirty="0"/>
          </a:p>
        </p:txBody>
      </p:sp>
      <p:sp>
        <p:nvSpPr>
          <p:cNvPr id="8" name="Text 4"/>
          <p:cNvSpPr txBox="1"/>
          <p:nvPr/>
        </p:nvSpPr>
        <p:spPr>
          <a:xfrm>
            <a:off x="9048902" y="304495"/>
            <a:ext cx="1772107" cy="381305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입법 경과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10877702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규정 체계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12687300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총칙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14477695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금지 관행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16306495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고위험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952805" y="1104595"/>
            <a:ext cx="16383305" cy="8860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5000" b="1" kern="0" spc="-112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(1-5) 옴니버스 개정, 고위험 의무 연기</a:t>
            </a:r>
            <a:endParaRPr lang="en-US" sz="5000" dirty="0"/>
          </a:p>
        </p:txBody>
      </p:sp>
      <p:sp>
        <p:nvSpPr>
          <p:cNvPr id="14" name="Text 10"/>
          <p:cNvSpPr txBox="1"/>
          <p:nvPr/>
        </p:nvSpPr>
        <p:spPr>
          <a:xfrm>
            <a:off x="952805" y="2000707"/>
            <a:ext cx="16383305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규정 (EU) 2026/1744 · 1학기 교안 시점에는 없던 개정</a:t>
            </a:r>
            <a:endParaRPr lang="en-US" sz="18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4565163"/>
              </p:ext>
            </p:extLst>
          </p:nvPr>
        </p:nvGraphicFramePr>
        <p:xfrm>
          <a:off x="952805" y="2743198"/>
          <a:ext cx="8039405" cy="2495400"/>
        </p:xfrm>
        <a:graphic>
          <a:graphicData uri="http://schemas.openxmlformats.org/drawingml/2006/table">
            <a:tbl>
              <a:tblPr/>
              <a:tblGrid>
                <a:gridCol w="1714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3249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99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일자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개정 절차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90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2026.5.7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이사회와 의회 정치적 합의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90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2026.6.29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이사회 최종 채택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90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2026.7.24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관보 게재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90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2026.7.27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발효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6" name="Text 11"/>
          <p:cNvSpPr txBox="1"/>
          <p:nvPr/>
        </p:nvSpPr>
        <p:spPr>
          <a:xfrm>
            <a:off x="9592056" y="3010205"/>
            <a:ext cx="7439558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 kern="0" spc="-37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개정 취지</a:t>
            </a:r>
            <a:endParaRPr lang="en-US" sz="2500" dirty="0"/>
          </a:p>
        </p:txBody>
      </p:sp>
      <p:sp>
        <p:nvSpPr>
          <p:cNvPr id="17" name="Text 12"/>
          <p:cNvSpPr txBox="1"/>
          <p:nvPr/>
        </p:nvSpPr>
        <p:spPr>
          <a:xfrm>
            <a:off x="9592056" y="3981298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표준과 지침이 준비되지 않은 상태에서 의무만 발생하는 문제</a:t>
            </a:r>
            <a:endParaRPr lang="en-US" sz="1800" dirty="0"/>
          </a:p>
        </p:txBody>
      </p:sp>
      <p:sp>
        <p:nvSpPr>
          <p:cNvPr id="18" name="Text 13"/>
          <p:cNvSpPr txBox="1"/>
          <p:nvPr/>
        </p:nvSpPr>
        <p:spPr>
          <a:xfrm>
            <a:off x="9592056" y="4480560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규칙 단순화와 간소화를 명분으로 제시</a:t>
            </a:r>
            <a:endParaRPr lang="en-US" sz="1800" dirty="0"/>
          </a:p>
        </p:txBody>
      </p:sp>
      <p:sp>
        <p:nvSpPr>
          <p:cNvPr id="19" name="Text 14"/>
          <p:cNvSpPr txBox="1"/>
          <p:nvPr/>
        </p:nvSpPr>
        <p:spPr>
          <a:xfrm>
            <a:off x="952805" y="5562295"/>
            <a:ext cx="16383305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개정 내용</a:t>
            </a:r>
            <a:endParaRPr lang="en-US" sz="2000" dirty="0"/>
          </a:p>
        </p:txBody>
      </p:sp>
      <p:graphicFrame>
        <p:nvGraphicFramePr>
          <p:cNvPr id="20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8798962"/>
              </p:ext>
            </p:extLst>
          </p:nvPr>
        </p:nvGraphicFramePr>
        <p:xfrm>
          <a:off x="952805" y="6019495"/>
          <a:ext cx="16374161" cy="2200960"/>
        </p:xfrm>
        <a:graphic>
          <a:graphicData uri="http://schemas.openxmlformats.org/drawingml/2006/table">
            <a:tbl>
              <a:tblPr/>
              <a:tblGrid>
                <a:gridCol w="4000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673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6730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03905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502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대상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개정 전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개정 후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비고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02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고위험 부속서 III 경로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2026.8.2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2027.12.2</a:t>
                      </a:r>
                      <a:endParaRPr lang="en-US" sz="1800" b="0" dirty="0">
                        <a:solidFill>
                          <a:schemeClr val="tx1"/>
                        </a:solidFill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16개월 연기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02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고위험 부속서 I 경로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2026.8.2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2028.8.2</a:t>
                      </a:r>
                      <a:endParaRPr lang="en-US" sz="1800" b="0" dirty="0">
                        <a:solidFill>
                          <a:schemeClr val="tx1"/>
                        </a:solidFill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24개월 연기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02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금지 관행 2유형 신설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없음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2026.12.2</a:t>
                      </a:r>
                      <a:endParaRPr lang="en-US" sz="1800" b="0" dirty="0">
                        <a:solidFill>
                          <a:schemeClr val="tx1"/>
                        </a:solidFill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제5조 (ba), (bb)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1" name="Text 15"/>
          <p:cNvSpPr txBox="1"/>
          <p:nvPr/>
        </p:nvSpPr>
        <p:spPr>
          <a:xfrm>
            <a:off x="1333195" y="8553298"/>
            <a:ext cx="15621610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연기는 규제 완화인가, 준비 기간 확보인가? 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1333195" y="8976665"/>
            <a:ext cx="15621610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연기 전후 준수 준비 수준을 비교하면 규제 유예의 효과를 측정할 수 있는가?</a:t>
            </a:r>
            <a:endParaRPr lang="en-US" sz="1800" dirty="0"/>
          </a:p>
        </p:txBody>
      </p:sp>
      <p:sp>
        <p:nvSpPr>
          <p:cNvPr id="23" name="Text 17"/>
          <p:cNvSpPr txBox="1"/>
          <p:nvPr/>
        </p:nvSpPr>
        <p:spPr>
          <a:xfrm>
            <a:off x="15430500" y="9791395"/>
            <a:ext cx="19056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9/51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e22c746fd81622b5deae707eff18ae09.png"/>
          <p:cNvPicPr>
            <a:picLocks noChangeAspect="1"/>
          </p:cNvPicPr>
          <p:nvPr/>
        </p:nvPicPr>
        <p:blipFill>
          <a:blip r:embed="rId3"/>
          <a:srcRect l="-80" r="-80"/>
          <a:stretch/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52805" y="8419795"/>
            <a:ext cx="16383305" cy="1104595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952805" y="342900"/>
            <a:ext cx="3199486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15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9048902" y="304495"/>
            <a:ext cx="1772107" cy="381305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입법 경과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10877702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규정 체계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2687300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총칙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4477695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금지 관행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6306495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고위험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952805" y="1104595"/>
            <a:ext cx="16383305" cy="8860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5000" b="1" kern="0" spc="-112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(1-6) 확정 시행 일정</a:t>
            </a:r>
            <a:endParaRPr lang="en-US" sz="5000" dirty="0"/>
          </a:p>
        </p:txBody>
      </p:sp>
      <p:sp>
        <p:nvSpPr>
          <p:cNvPr id="11" name="Text 8"/>
          <p:cNvSpPr txBox="1"/>
          <p:nvPr/>
        </p:nvSpPr>
        <p:spPr>
          <a:xfrm>
            <a:off x="952805" y="2000707"/>
            <a:ext cx="16383305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2026년 9월 현재 기준 · 옴니버스 개정 반영 후 최종 일정</a:t>
            </a:r>
            <a:endParaRPr lang="en-US" sz="18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85221711"/>
              </p:ext>
            </p:extLst>
          </p:nvPr>
        </p:nvGraphicFramePr>
        <p:xfrm>
          <a:off x="952805" y="2704795"/>
          <a:ext cx="16374160" cy="5563206"/>
        </p:xfrm>
        <a:graphic>
          <a:graphicData uri="http://schemas.openxmlformats.org/drawingml/2006/table">
            <a:tbl>
              <a:tblPr/>
              <a:tblGrid>
                <a:gridCol w="14292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94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0305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479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0574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일자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적용 대상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조항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상태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574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2024.8.1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발효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제113조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완료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574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2025.2.2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금지 관행 8유형, </a:t>
                      </a:r>
                      <a:r>
                        <a:rPr lang="en-US" sz="1800" dirty="0" err="1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인공지능</a:t>
                      </a: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</a:t>
                      </a:r>
                      <a:r>
                        <a:rPr lang="ko-KR" altLang="en-US" sz="1800" dirty="0" err="1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리터러시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제5조, 제4조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완료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574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2025.7.10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범용 AI 행동강령 공개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제56조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완료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574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2025.8.2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범용 AI, 거버넌스, 제재, 관할당국 지정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제51~56조, 제64~70조, 제99~101조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완료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574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2026.7.27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옴니버스 개정 발효, 고위험 의무 연기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규정 2026/1744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완료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574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2026.8.2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9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투명성 의무, 시장감시 일반 적용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9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제50조, 제72~94조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9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 err="1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적용중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9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0574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2026.12.2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금지 2유형 추가, 기존 시스템 표시 경과 종료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제5조 (ba)(bb), 제50조 2항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예정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0574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2027.8.2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기존 출시 범용 AI 모델 의무 이행 기한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제111조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예정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50574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2027.12.2</a:t>
                      </a:r>
                      <a:endParaRPr lang="en-US" sz="1800" b="0" dirty="0">
                        <a:solidFill>
                          <a:schemeClr val="tx1"/>
                        </a:solidFill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고위험 의무, 부속서 III 경로</a:t>
                      </a:r>
                      <a:endParaRPr lang="en-US" sz="1800" b="0" dirty="0">
                        <a:solidFill>
                          <a:schemeClr val="tx1"/>
                        </a:solidFill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제6조 2항</a:t>
                      </a:r>
                      <a:endParaRPr lang="en-US" sz="1800" b="0" dirty="0">
                        <a:solidFill>
                          <a:schemeClr val="tx1"/>
                        </a:solidFill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예정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50574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2028.8.2</a:t>
                      </a:r>
                      <a:endParaRPr lang="en-US" sz="1800" b="0" dirty="0">
                        <a:solidFill>
                          <a:schemeClr val="tx1"/>
                        </a:solidFill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고위험 의무, 부속서 I 경로</a:t>
                      </a:r>
                      <a:endParaRPr lang="en-US" sz="1800" b="0" dirty="0">
                        <a:solidFill>
                          <a:schemeClr val="tx1"/>
                        </a:solidFill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제6조 1항</a:t>
                      </a:r>
                      <a:endParaRPr lang="en-US" sz="1800" b="0" dirty="0">
                        <a:solidFill>
                          <a:schemeClr val="tx1"/>
                        </a:solidFill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예정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1333195" y="8567713"/>
            <a:ext cx="15621610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발효부터 전면 적용까지 6년, 이 긴 이행기 자체가 연구 대상</a:t>
            </a:r>
            <a:endParaRPr lang="en-US" sz="1800" dirty="0"/>
          </a:p>
        </p:txBody>
      </p:sp>
      <p:sp>
        <p:nvSpPr>
          <p:cNvPr id="14" name="Text 10"/>
          <p:cNvSpPr txBox="1"/>
          <p:nvPr/>
        </p:nvSpPr>
        <p:spPr>
          <a:xfrm>
            <a:off x="1333195" y="9010283"/>
            <a:ext cx="15621610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단계적 시행은 준수를 돕는가, 규제 회피 시간을 주는가? 무엇을 관찰하면 답할 수 있는가?</a:t>
            </a:r>
            <a:endParaRPr lang="en-US" sz="1800" dirty="0"/>
          </a:p>
        </p:txBody>
      </p:sp>
      <p:sp>
        <p:nvSpPr>
          <p:cNvPr id="15" name="Text 11"/>
          <p:cNvSpPr txBox="1"/>
          <p:nvPr/>
        </p:nvSpPr>
        <p:spPr>
          <a:xfrm>
            <a:off x="15430500" y="9791395"/>
            <a:ext cx="19056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10/51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e22c746fd81622b5deae707eff18ae09.png"/>
          <p:cNvPicPr>
            <a:picLocks noChangeAspect="1"/>
          </p:cNvPicPr>
          <p:nvPr/>
        </p:nvPicPr>
        <p:blipFill>
          <a:blip r:embed="rId3"/>
          <a:srcRect l="-80" r="-80"/>
          <a:stretch/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52805" y="2704795"/>
            <a:ext cx="5266944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52805" y="2704795"/>
            <a:ext cx="5266944" cy="47549"/>
          </a:xfrm>
          <a:prstGeom prst="rect">
            <a:avLst/>
          </a:prstGeom>
          <a:solidFill>
            <a:srgbClr val="036B3F"/>
          </a:solidFill>
          <a:ln w="12700">
            <a:solidFill>
              <a:srgbClr val="036B3F">
                <a:alpha val="0"/>
              </a:srgbClr>
            </a:solidFill>
            <a:prstDash val="solid"/>
          </a:ln>
        </p:spPr>
      </p:sp>
      <p:pic>
        <p:nvPicPr>
          <p:cNvPr id="5" name="Image 1" descr="gen-dedup-ecf24681c8a913dc2f6d75d5c759c67f.png"/>
          <p:cNvPicPr>
            <a:picLocks noChangeAspect="1"/>
          </p:cNvPicPr>
          <p:nvPr/>
        </p:nvPicPr>
        <p:blipFill>
          <a:blip r:embed="rId4"/>
          <a:srcRect l="-2083" r="-2083"/>
          <a:stretch/>
        </p:blipFill>
        <p:spPr>
          <a:xfrm>
            <a:off x="1257300" y="3715207"/>
            <a:ext cx="4657954" cy="9144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6505956" y="2704795"/>
            <a:ext cx="5266944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6505956" y="2704795"/>
            <a:ext cx="5266944" cy="47549"/>
          </a:xfrm>
          <a:prstGeom prst="rect">
            <a:avLst/>
          </a:prstGeom>
          <a:solidFill>
            <a:srgbClr val="9A7620"/>
          </a:solidFill>
          <a:ln w="12700">
            <a:solidFill>
              <a:srgbClr val="9A7620">
                <a:alpha val="0"/>
              </a:srgbClr>
            </a:solidFill>
            <a:prstDash val="solid"/>
          </a:ln>
        </p:spPr>
      </p:sp>
      <p:pic>
        <p:nvPicPr>
          <p:cNvPr id="8" name="Image 2" descr="gen-dedup-ecf24681c8a913dc2f6d75d5c759c67f.png"/>
          <p:cNvPicPr>
            <a:picLocks noChangeAspect="1"/>
          </p:cNvPicPr>
          <p:nvPr/>
        </p:nvPicPr>
        <p:blipFill>
          <a:blip r:embed="rId4"/>
          <a:srcRect l="-2083" r="-2083"/>
          <a:stretch/>
        </p:blipFill>
        <p:spPr>
          <a:xfrm>
            <a:off x="6810451" y="3715207"/>
            <a:ext cx="4657954" cy="9144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12059107" y="2704795"/>
            <a:ext cx="5277002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12059107" y="2704795"/>
            <a:ext cx="5277002" cy="47549"/>
          </a:xfrm>
          <a:prstGeom prst="rect">
            <a:avLst/>
          </a:prstGeom>
          <a:solidFill>
            <a:srgbClr val="6B6B6B"/>
          </a:solidFill>
          <a:ln w="12700">
            <a:solidFill>
              <a:srgbClr val="6B6B6B">
                <a:alpha val="0"/>
              </a:srgbClr>
            </a:solidFill>
            <a:prstDash val="solid"/>
          </a:ln>
        </p:spPr>
      </p:sp>
      <p:pic>
        <p:nvPicPr>
          <p:cNvPr id="11" name="Image 3" descr="gen-dedup-871f3dfe2e6d510d81c0b0c2273c4c8e.png"/>
          <p:cNvPicPr>
            <a:picLocks noChangeAspect="1"/>
          </p:cNvPicPr>
          <p:nvPr/>
        </p:nvPicPr>
        <p:blipFill>
          <a:blip r:embed="rId5"/>
          <a:srcRect l="-2083" r="-2083"/>
          <a:stretch/>
        </p:blipFill>
        <p:spPr>
          <a:xfrm>
            <a:off x="12363602" y="3715207"/>
            <a:ext cx="4667098" cy="9144"/>
          </a:xfrm>
          <a:prstGeom prst="rect">
            <a:avLst/>
          </a:prstGeom>
        </p:spPr>
      </p:pic>
      <p:sp>
        <p:nvSpPr>
          <p:cNvPr id="13" name="Shape 7"/>
          <p:cNvSpPr/>
          <p:nvPr/>
        </p:nvSpPr>
        <p:spPr>
          <a:xfrm>
            <a:off x="952805" y="8033004"/>
            <a:ext cx="16383305" cy="1492301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952805" y="342900"/>
            <a:ext cx="3199486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15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500" dirty="0"/>
          </a:p>
        </p:txBody>
      </p:sp>
      <p:sp>
        <p:nvSpPr>
          <p:cNvPr id="15" name="Text 9"/>
          <p:cNvSpPr txBox="1"/>
          <p:nvPr/>
        </p:nvSpPr>
        <p:spPr>
          <a:xfrm>
            <a:off x="9048902" y="304495"/>
            <a:ext cx="1772107" cy="381305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입법 경과</a:t>
            </a:r>
            <a:endParaRPr lang="en-US" sz="1500" dirty="0"/>
          </a:p>
        </p:txBody>
      </p:sp>
      <p:sp>
        <p:nvSpPr>
          <p:cNvPr id="16" name="Text 10"/>
          <p:cNvSpPr txBox="1"/>
          <p:nvPr/>
        </p:nvSpPr>
        <p:spPr>
          <a:xfrm>
            <a:off x="10877702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규정 체계</a:t>
            </a:r>
            <a:endParaRPr lang="en-US" sz="1500" dirty="0"/>
          </a:p>
        </p:txBody>
      </p:sp>
      <p:sp>
        <p:nvSpPr>
          <p:cNvPr id="17" name="Text 11"/>
          <p:cNvSpPr txBox="1"/>
          <p:nvPr/>
        </p:nvSpPr>
        <p:spPr>
          <a:xfrm>
            <a:off x="12687300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총칙</a:t>
            </a:r>
            <a:endParaRPr lang="en-US" sz="1500" dirty="0"/>
          </a:p>
        </p:txBody>
      </p:sp>
      <p:sp>
        <p:nvSpPr>
          <p:cNvPr id="18" name="Text 12"/>
          <p:cNvSpPr txBox="1"/>
          <p:nvPr/>
        </p:nvSpPr>
        <p:spPr>
          <a:xfrm>
            <a:off x="14477695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금지 관행</a:t>
            </a:r>
            <a:endParaRPr lang="en-US" sz="1500" dirty="0"/>
          </a:p>
        </p:txBody>
      </p:sp>
      <p:sp>
        <p:nvSpPr>
          <p:cNvPr id="19" name="Text 13"/>
          <p:cNvSpPr txBox="1"/>
          <p:nvPr/>
        </p:nvSpPr>
        <p:spPr>
          <a:xfrm>
            <a:off x="16306495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고위험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952805" y="1104595"/>
            <a:ext cx="16383305" cy="8860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5000" b="1" kern="0" spc="-112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(1-7) 경과 규정, 기존 시스템의 취급</a:t>
            </a:r>
            <a:endParaRPr lang="en-US" sz="5000" dirty="0"/>
          </a:p>
        </p:txBody>
      </p:sp>
      <p:sp>
        <p:nvSpPr>
          <p:cNvPr id="21" name="Text 15"/>
          <p:cNvSpPr txBox="1"/>
          <p:nvPr/>
        </p:nvSpPr>
        <p:spPr>
          <a:xfrm>
            <a:off x="952805" y="2000707"/>
            <a:ext cx="16383305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 시장에 나온 시스템에 소급 적용하는지 여부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1257300" y="2991002"/>
            <a:ext cx="4657954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 kern="0" spc="-37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고위험 시스템</a:t>
            </a:r>
            <a:endParaRPr lang="en-US" sz="2500" dirty="0"/>
          </a:p>
        </p:txBody>
      </p:sp>
      <p:sp>
        <p:nvSpPr>
          <p:cNvPr id="23" name="Text 17"/>
          <p:cNvSpPr txBox="1"/>
          <p:nvPr/>
        </p:nvSpPr>
        <p:spPr>
          <a:xfrm>
            <a:off x="1257300" y="3981298"/>
            <a:ext cx="5403190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적용일 이전 출시분은 원칙적으로 소급 적용 제외</a:t>
            </a:r>
            <a:endParaRPr lang="en-US" sz="1800" dirty="0"/>
          </a:p>
        </p:txBody>
      </p:sp>
      <p:sp>
        <p:nvSpPr>
          <p:cNvPr id="24" name="Text 18"/>
          <p:cNvSpPr txBox="1"/>
          <p:nvPr/>
        </p:nvSpPr>
        <p:spPr>
          <a:xfrm>
            <a:off x="1257300" y="4480560"/>
            <a:ext cx="4657954" cy="7342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88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단, 설계에 중대한 변경이 있으면 신규 출시로 간주</a:t>
            </a:r>
            <a:endParaRPr lang="en-US" sz="1800" dirty="0"/>
          </a:p>
        </p:txBody>
      </p:sp>
      <p:sp>
        <p:nvSpPr>
          <p:cNvPr id="25" name="Text 19"/>
          <p:cNvSpPr txBox="1"/>
          <p:nvPr/>
        </p:nvSpPr>
        <p:spPr>
          <a:xfrm>
            <a:off x="1257300" y="5345582"/>
            <a:ext cx="4657954" cy="7342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88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공공기관 사용분은 2030.8.2까지 적합성 확보 의무</a:t>
            </a:r>
            <a:endParaRPr lang="en-US" sz="1800" dirty="0"/>
          </a:p>
        </p:txBody>
      </p:sp>
      <p:sp>
        <p:nvSpPr>
          <p:cNvPr id="26" name="Text 20"/>
          <p:cNvSpPr txBox="1"/>
          <p:nvPr/>
        </p:nvSpPr>
        <p:spPr>
          <a:xfrm>
            <a:off x="6810451" y="2991002"/>
            <a:ext cx="4657954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 kern="0" spc="-37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범용 AI 모델</a:t>
            </a:r>
            <a:endParaRPr lang="en-US" sz="2500" dirty="0"/>
          </a:p>
        </p:txBody>
      </p:sp>
      <p:sp>
        <p:nvSpPr>
          <p:cNvPr id="27" name="Text 21"/>
          <p:cNvSpPr txBox="1"/>
          <p:nvPr/>
        </p:nvSpPr>
        <p:spPr>
          <a:xfrm>
            <a:off x="6810451" y="3981298"/>
            <a:ext cx="4657954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2025.8.2 이전 출시 모델도 의무 대상</a:t>
            </a:r>
            <a:endParaRPr lang="en-US" sz="1800" dirty="0"/>
          </a:p>
        </p:txBody>
      </p:sp>
      <p:sp>
        <p:nvSpPr>
          <p:cNvPr id="28" name="Text 22"/>
          <p:cNvSpPr txBox="1"/>
          <p:nvPr/>
        </p:nvSpPr>
        <p:spPr>
          <a:xfrm>
            <a:off x="6810451" y="4480560"/>
            <a:ext cx="4942332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이행 기한 2027.8.2, 2년의 준비 기간 부여</a:t>
            </a:r>
            <a:endParaRPr lang="en-US" sz="1800" dirty="0"/>
          </a:p>
        </p:txBody>
      </p:sp>
      <p:sp>
        <p:nvSpPr>
          <p:cNvPr id="29" name="Text 23"/>
          <p:cNvSpPr txBox="1"/>
          <p:nvPr/>
        </p:nvSpPr>
        <p:spPr>
          <a:xfrm>
            <a:off x="6810451" y="4979822"/>
            <a:ext cx="4657954" cy="7342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88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고위험과 달리 소급 적용, 기존 대형 모델을 포섭하려는 의도</a:t>
            </a:r>
            <a:endParaRPr lang="en-US" sz="1800" dirty="0"/>
          </a:p>
        </p:txBody>
      </p:sp>
      <p:sp>
        <p:nvSpPr>
          <p:cNvPr id="30" name="Text 24"/>
          <p:cNvSpPr txBox="1"/>
          <p:nvPr/>
        </p:nvSpPr>
        <p:spPr>
          <a:xfrm>
            <a:off x="12363602" y="2991002"/>
            <a:ext cx="4668012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 kern="0" spc="-37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투명성 표시</a:t>
            </a:r>
            <a:endParaRPr lang="en-US" sz="2500" dirty="0"/>
          </a:p>
        </p:txBody>
      </p:sp>
      <p:sp>
        <p:nvSpPr>
          <p:cNvPr id="31" name="Text 25"/>
          <p:cNvSpPr txBox="1"/>
          <p:nvPr/>
        </p:nvSpPr>
        <p:spPr>
          <a:xfrm>
            <a:off x="12363602" y="3981298"/>
            <a:ext cx="4668012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합성 콘텐츠 표시 의무는 2026.8.2 적용</a:t>
            </a:r>
            <a:endParaRPr lang="en-US" sz="1800" dirty="0"/>
          </a:p>
        </p:txBody>
      </p:sp>
      <p:sp>
        <p:nvSpPr>
          <p:cNvPr id="32" name="Text 26"/>
          <p:cNvSpPr txBox="1"/>
          <p:nvPr/>
        </p:nvSpPr>
        <p:spPr>
          <a:xfrm>
            <a:off x="12363602" y="4480560"/>
            <a:ext cx="4668012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시스템은 2026.12.2까지 경과 기간</a:t>
            </a:r>
            <a:endParaRPr lang="en-US" sz="1800" dirty="0"/>
          </a:p>
        </p:txBody>
      </p:sp>
      <p:sp>
        <p:nvSpPr>
          <p:cNvPr id="33" name="Text 27"/>
          <p:cNvSpPr txBox="1"/>
          <p:nvPr/>
        </p:nvSpPr>
        <p:spPr>
          <a:xfrm>
            <a:off x="12363602" y="4979822"/>
            <a:ext cx="4668012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 조항 — 제50조 2항, 제111조 4항</a:t>
            </a:r>
            <a:endParaRPr lang="en-US" sz="1800" dirty="0"/>
          </a:p>
        </p:txBody>
      </p:sp>
      <p:sp>
        <p:nvSpPr>
          <p:cNvPr id="34" name="Text 28"/>
          <p:cNvSpPr txBox="1"/>
          <p:nvPr/>
        </p:nvSpPr>
        <p:spPr>
          <a:xfrm>
            <a:off x="1333195" y="8146011"/>
            <a:ext cx="15621610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중대한 변경(substantial modification)의 판단이 실무 쟁점</a:t>
            </a:r>
            <a:endParaRPr lang="en-US" sz="1800" dirty="0"/>
          </a:p>
        </p:txBody>
      </p:sp>
      <p:sp>
        <p:nvSpPr>
          <p:cNvPr id="35" name="Text 29"/>
          <p:cNvSpPr txBox="1"/>
          <p:nvPr/>
        </p:nvSpPr>
        <p:spPr>
          <a:xfrm>
            <a:off x="1333195" y="8557491"/>
            <a:ext cx="15621610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재학습, 용도 확대, 성능 개선 중 어디까지가 신규 출시인지 지침이 필요한 상태</a:t>
            </a:r>
            <a:endParaRPr lang="en-US" sz="1800" dirty="0"/>
          </a:p>
        </p:txBody>
      </p:sp>
      <p:sp>
        <p:nvSpPr>
          <p:cNvPr id="36" name="Text 30"/>
          <p:cNvSpPr txBox="1"/>
          <p:nvPr/>
        </p:nvSpPr>
        <p:spPr>
          <a:xfrm>
            <a:off x="1333195" y="9011465"/>
            <a:ext cx="15621610" cy="3246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고위험은 소급 제외, 범용 AI는 소급 적용, 같은 법에서 왜 다르게 정했는가?</a:t>
            </a:r>
            <a:endParaRPr lang="en-US" sz="1800" dirty="0"/>
          </a:p>
        </p:txBody>
      </p:sp>
      <p:sp>
        <p:nvSpPr>
          <p:cNvPr id="37" name="Text 31"/>
          <p:cNvSpPr txBox="1"/>
          <p:nvPr/>
        </p:nvSpPr>
        <p:spPr>
          <a:xfrm>
            <a:off x="15430500" y="9791395"/>
            <a:ext cx="19056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11/51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e22c746fd81622b5deae707eff18ae09.png"/>
          <p:cNvPicPr>
            <a:picLocks noChangeAspect="1"/>
          </p:cNvPicPr>
          <p:nvPr/>
        </p:nvPicPr>
        <p:blipFill>
          <a:blip r:embed="rId3"/>
          <a:srcRect l="-80" r="-80"/>
          <a:stretch/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52805" y="2704795"/>
            <a:ext cx="8048549" cy="28575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52805" y="2704795"/>
            <a:ext cx="8048549" cy="47549"/>
          </a:xfrm>
          <a:prstGeom prst="rect">
            <a:avLst/>
          </a:prstGeom>
          <a:solidFill>
            <a:srgbClr val="036B3F"/>
          </a:solidFill>
          <a:ln w="12700">
            <a:solidFill>
              <a:srgbClr val="036B3F">
                <a:alpha val="0"/>
              </a:srgbClr>
            </a:solidFill>
            <a:prstDash val="solid"/>
          </a:ln>
        </p:spPr>
      </p:sp>
      <p:pic>
        <p:nvPicPr>
          <p:cNvPr id="5" name="Image 1" descr="gen-dedup-c2dfa98337e9cb6ce99e9e949a17a885.png"/>
          <p:cNvPicPr>
            <a:picLocks noChangeAspect="1"/>
          </p:cNvPicPr>
          <p:nvPr/>
        </p:nvPicPr>
        <p:blipFill>
          <a:blip r:embed="rId4"/>
          <a:srcRect l="-2083" r="-2083"/>
          <a:stretch/>
        </p:blipFill>
        <p:spPr>
          <a:xfrm>
            <a:off x="1257300" y="3715207"/>
            <a:ext cx="7438644" cy="9144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9286646" y="2704795"/>
            <a:ext cx="8048549" cy="28575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9286646" y="2704795"/>
            <a:ext cx="8048549" cy="47549"/>
          </a:xfrm>
          <a:prstGeom prst="rect">
            <a:avLst/>
          </a:prstGeom>
          <a:solidFill>
            <a:srgbClr val="9A7620"/>
          </a:solidFill>
          <a:ln w="12700">
            <a:solidFill>
              <a:srgbClr val="9A7620">
                <a:alpha val="0"/>
              </a:srgbClr>
            </a:solidFill>
            <a:prstDash val="solid"/>
          </a:ln>
        </p:spPr>
      </p:sp>
      <p:pic>
        <p:nvPicPr>
          <p:cNvPr id="8" name="Image 2" descr="gen-dedup-c2dfa98337e9cb6ce99e9e949a17a885.png"/>
          <p:cNvPicPr>
            <a:picLocks noChangeAspect="1"/>
          </p:cNvPicPr>
          <p:nvPr/>
        </p:nvPicPr>
        <p:blipFill>
          <a:blip r:embed="rId4"/>
          <a:srcRect l="-2083" r="-2083"/>
          <a:stretch/>
        </p:blipFill>
        <p:spPr>
          <a:xfrm>
            <a:off x="9592056" y="3715207"/>
            <a:ext cx="7438644" cy="9144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952805" y="8382305"/>
            <a:ext cx="16383305" cy="1143000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952805" y="342900"/>
            <a:ext cx="3199486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15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500" dirty="0"/>
          </a:p>
        </p:txBody>
      </p:sp>
      <p:sp>
        <p:nvSpPr>
          <p:cNvPr id="11" name="Text 6"/>
          <p:cNvSpPr txBox="1"/>
          <p:nvPr/>
        </p:nvSpPr>
        <p:spPr>
          <a:xfrm>
            <a:off x="9048902" y="304495"/>
            <a:ext cx="1772107" cy="381305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입법 경과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10877702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규정 체계</a:t>
            </a:r>
            <a:endParaRPr lang="en-US" sz="1500" dirty="0"/>
          </a:p>
        </p:txBody>
      </p:sp>
      <p:sp>
        <p:nvSpPr>
          <p:cNvPr id="13" name="Text 8"/>
          <p:cNvSpPr txBox="1"/>
          <p:nvPr/>
        </p:nvSpPr>
        <p:spPr>
          <a:xfrm>
            <a:off x="12687300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총칙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14477695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금지 관행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16306495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고위험</a:t>
            </a:r>
            <a:endParaRPr lang="en-US" sz="1500" dirty="0"/>
          </a:p>
        </p:txBody>
      </p:sp>
      <p:sp>
        <p:nvSpPr>
          <p:cNvPr id="16" name="Text 11"/>
          <p:cNvSpPr txBox="1"/>
          <p:nvPr/>
        </p:nvSpPr>
        <p:spPr>
          <a:xfrm>
            <a:off x="952805" y="1104595"/>
            <a:ext cx="16383305" cy="8860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5000" b="1" kern="0" spc="-112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(1-8) 집행 준비 현황</a:t>
            </a:r>
            <a:endParaRPr lang="en-US" sz="5000" dirty="0"/>
          </a:p>
        </p:txBody>
      </p:sp>
      <p:sp>
        <p:nvSpPr>
          <p:cNvPr id="17" name="Text 12"/>
          <p:cNvSpPr txBox="1"/>
          <p:nvPr/>
        </p:nvSpPr>
        <p:spPr>
          <a:xfrm>
            <a:off x="952805" y="2000707"/>
            <a:ext cx="16383305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법은 적용 중이나 집행 기구는 아직 구축 단계</a:t>
            </a:r>
            <a:endParaRPr lang="en-US" sz="1800" dirty="0"/>
          </a:p>
        </p:txBody>
      </p:sp>
      <p:sp>
        <p:nvSpPr>
          <p:cNvPr id="18" name="Text 13"/>
          <p:cNvSpPr txBox="1"/>
          <p:nvPr/>
        </p:nvSpPr>
        <p:spPr>
          <a:xfrm>
            <a:off x="1257300" y="2991002"/>
            <a:ext cx="7439558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 kern="0" spc="-37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유럽 AI청(AI Office)</a:t>
            </a:r>
            <a:endParaRPr lang="en-US" sz="2500" dirty="0"/>
          </a:p>
        </p:txBody>
      </p:sp>
      <p:sp>
        <p:nvSpPr>
          <p:cNvPr id="19" name="Text 14"/>
          <p:cNvSpPr txBox="1"/>
          <p:nvPr/>
        </p:nvSpPr>
        <p:spPr>
          <a:xfrm>
            <a:off x="1257300" y="3981298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2024.1.24 집행위원회 결정으로 설치, 산하 6개 부서, 약 125명</a:t>
            </a:r>
            <a:endParaRPr lang="en-US" sz="1800" dirty="0"/>
          </a:p>
        </p:txBody>
      </p:sp>
      <p:sp>
        <p:nvSpPr>
          <p:cNvPr id="20" name="Text 15"/>
          <p:cNvSpPr txBox="1"/>
          <p:nvPr/>
        </p:nvSpPr>
        <p:spPr>
          <a:xfrm>
            <a:off x="1257300" y="4480560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범용 AI 모델은 AI청이 직접 감독, 과징금도 직접 부과</a:t>
            </a:r>
            <a:endParaRPr lang="en-US" sz="1800" dirty="0"/>
          </a:p>
        </p:txBody>
      </p:sp>
      <p:sp>
        <p:nvSpPr>
          <p:cNvPr id="21" name="Text 16"/>
          <p:cNvSpPr txBox="1"/>
          <p:nvPr/>
        </p:nvSpPr>
        <p:spPr>
          <a:xfrm>
            <a:off x="1257300" y="4979822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기술문서 요구, 모델 접근 요구, 시정조치 명령, 회수 명령 권한</a:t>
            </a:r>
            <a:endParaRPr lang="en-US" sz="1800" dirty="0"/>
          </a:p>
        </p:txBody>
      </p:sp>
      <p:sp>
        <p:nvSpPr>
          <p:cNvPr id="22" name="Text 17"/>
          <p:cNvSpPr txBox="1"/>
          <p:nvPr/>
        </p:nvSpPr>
        <p:spPr>
          <a:xfrm>
            <a:off x="9592056" y="2991002"/>
            <a:ext cx="7439558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 kern="0" spc="-37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회원국 관할당국</a:t>
            </a:r>
            <a:endParaRPr lang="en-US" sz="2500" dirty="0"/>
          </a:p>
        </p:txBody>
      </p:sp>
      <p:sp>
        <p:nvSpPr>
          <p:cNvPr id="23" name="Text 18"/>
          <p:cNvSpPr txBox="1"/>
          <p:nvPr/>
        </p:nvSpPr>
        <p:spPr>
          <a:xfrm>
            <a:off x="9592056" y="3981298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지정 의무 기한 2025.8.2, 27개국 중 상당수가 미완</a:t>
            </a:r>
            <a:endParaRPr lang="en-US" sz="1800" dirty="0"/>
          </a:p>
        </p:txBody>
      </p:sp>
      <p:sp>
        <p:nvSpPr>
          <p:cNvPr id="24" name="Text 19"/>
          <p:cNvSpPr txBox="1"/>
          <p:nvPr/>
        </p:nvSpPr>
        <p:spPr>
          <a:xfrm>
            <a:off x="9592056" y="4480560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이탈리아가 최초로 국내 이행법 통과, 2025.10.10 발효</a:t>
            </a:r>
            <a:endParaRPr lang="en-US" sz="1800" dirty="0"/>
          </a:p>
        </p:txBody>
      </p:sp>
      <p:sp>
        <p:nvSpPr>
          <p:cNvPr id="25" name="Text 20"/>
          <p:cNvSpPr txBox="1"/>
          <p:nvPr/>
        </p:nvSpPr>
        <p:spPr>
          <a:xfrm>
            <a:off x="9592056" y="4979822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지정 완료 9개국, 부분 진행 8개국, 미확정 다수</a:t>
            </a:r>
            <a:endParaRPr lang="en-US" sz="18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52805" y="5848502"/>
          <a:ext cx="16374161" cy="2362810"/>
        </p:xfrm>
        <a:graphic>
          <a:graphicData uri="http://schemas.openxmlformats.org/drawingml/2006/table">
            <a:tbl>
              <a:tblPr/>
              <a:tblGrid>
                <a:gridCol w="20958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103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46805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7256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75895" marB="7589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사례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75895" marB="7589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75895" marB="7589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256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이행법 제정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75895" marB="7589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이탈리아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75895" marB="7589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법률 132/2025, 사이버보안청이 시장감시와 단일 접점 담당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75895" marB="7589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256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다원 모델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75895" marB="7589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아일랜드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75895" marB="7589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기존 15개 기관 분담, 국가 AI청 신설 예정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75895" marB="7589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256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단일 기관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75895" marB="7589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덴마크, 핀란드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75895" marB="7589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디지털청과 통신청이 단일 접점 역할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75895" marB="7589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256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의안 단계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75895" marB="7589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독일, 프랑스, 폴란드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75895" marB="7589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연방망청, 소비자보호국 등이 유력하나 확정 전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75895" marB="7589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7" name="Text 21"/>
          <p:cNvSpPr txBox="1"/>
          <p:nvPr/>
        </p:nvSpPr>
        <p:spPr>
          <a:xfrm>
            <a:off x="1333195" y="8610905"/>
            <a:ext cx="15621610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법은 적용 중이나 제99조 과징금 부과 사례는 2026년 9월 현재 확인되지 않음</a:t>
            </a:r>
            <a:endParaRPr lang="en-US" sz="1800" dirty="0"/>
          </a:p>
        </p:txBody>
      </p:sp>
      <p:sp>
        <p:nvSpPr>
          <p:cNvPr id="28" name="Text 22"/>
          <p:cNvSpPr txBox="1"/>
          <p:nvPr/>
        </p:nvSpPr>
        <p:spPr>
          <a:xfrm>
            <a:off x="1333195" y="9033358"/>
            <a:ext cx="15621610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27개국이 서로 다른 기관을 지정하면 단일시장의 통일성은 유지되는가?</a:t>
            </a:r>
            <a:endParaRPr lang="en-US" sz="1800" dirty="0"/>
          </a:p>
        </p:txBody>
      </p:sp>
      <p:sp>
        <p:nvSpPr>
          <p:cNvPr id="29" name="Text 23"/>
          <p:cNvSpPr txBox="1"/>
          <p:nvPr/>
        </p:nvSpPr>
        <p:spPr>
          <a:xfrm>
            <a:off x="15430500" y="9791395"/>
            <a:ext cx="19056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12/51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e22c746fd81622b5deae707eff18ae09.png"/>
          <p:cNvPicPr>
            <a:picLocks noChangeAspect="1"/>
          </p:cNvPicPr>
          <p:nvPr/>
        </p:nvPicPr>
        <p:blipFill>
          <a:blip r:embed="rId3"/>
          <a:srcRect l="-80" r="-80"/>
          <a:stretch/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52805" y="2704795"/>
            <a:ext cx="16383305" cy="8385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52805" y="2704795"/>
            <a:ext cx="16383305" cy="47549"/>
          </a:xfrm>
          <a:prstGeom prst="rect">
            <a:avLst/>
          </a:prstGeom>
          <a:solidFill>
            <a:srgbClr val="036B3F"/>
          </a:solidFill>
          <a:ln w="12700">
            <a:solidFill>
              <a:srgbClr val="036B3F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952805" y="3619195"/>
            <a:ext cx="16383305" cy="8385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2805" y="3619195"/>
            <a:ext cx="16383305" cy="47549"/>
          </a:xfrm>
          <a:prstGeom prst="rect">
            <a:avLst/>
          </a:prstGeom>
          <a:solidFill>
            <a:srgbClr val="036B3F"/>
          </a:solidFill>
          <a:ln w="12700">
            <a:solidFill>
              <a:srgbClr val="036B3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52805" y="4533595"/>
            <a:ext cx="16383305" cy="8385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52805" y="4533595"/>
            <a:ext cx="16383305" cy="47549"/>
          </a:xfrm>
          <a:prstGeom prst="rect">
            <a:avLst/>
          </a:prstGeom>
          <a:solidFill>
            <a:srgbClr val="036B3F"/>
          </a:solidFill>
          <a:ln w="12700">
            <a:solidFill>
              <a:srgbClr val="036B3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52805" y="5447995"/>
            <a:ext cx="16383305" cy="8385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952805" y="5447995"/>
            <a:ext cx="16383305" cy="47549"/>
          </a:xfrm>
          <a:prstGeom prst="rect">
            <a:avLst/>
          </a:prstGeom>
          <a:solidFill>
            <a:srgbClr val="A82A24"/>
          </a:solidFill>
          <a:ln w="12700">
            <a:solidFill>
              <a:srgbClr val="A82A24">
                <a:alpha val="0"/>
              </a:srgbClr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52805" y="6362395"/>
            <a:ext cx="16383305" cy="8385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952805" y="6362395"/>
            <a:ext cx="16383305" cy="47549"/>
          </a:xfrm>
          <a:prstGeom prst="rect">
            <a:avLst/>
          </a:prstGeom>
          <a:solidFill>
            <a:srgbClr val="A82A24"/>
          </a:solidFill>
          <a:ln w="12700">
            <a:solidFill>
              <a:srgbClr val="A82A24">
                <a:alpha val="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952805" y="8438998"/>
            <a:ext cx="16383305" cy="10863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52805" y="342900"/>
            <a:ext cx="3199486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15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9048902" y="304495"/>
            <a:ext cx="1772107" cy="381305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입법 경과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10877702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규정 체계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12687300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총칙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14477695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금지 관행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6306495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고위험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952805" y="1104595"/>
            <a:ext cx="16383305" cy="8860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5000" b="1" kern="0" spc="-112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입법 경과 정리</a:t>
            </a:r>
            <a:endParaRPr lang="en-US" sz="5000" dirty="0"/>
          </a:p>
        </p:txBody>
      </p:sp>
      <p:sp>
        <p:nvSpPr>
          <p:cNvPr id="21" name="Shape 18"/>
          <p:cNvSpPr/>
          <p:nvPr/>
        </p:nvSpPr>
        <p:spPr>
          <a:xfrm>
            <a:off x="1295705" y="2962656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295705" y="2962656"/>
            <a:ext cx="324612" cy="3246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1867205" y="2952598"/>
            <a:ext cx="15145207" cy="381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선언이 아니라 규정 형식, 27개국에 국내법 전환 없이 직접 적용</a:t>
            </a:r>
            <a:endParaRPr lang="en-US" sz="2000" dirty="0"/>
          </a:p>
        </p:txBody>
      </p:sp>
      <p:sp>
        <p:nvSpPr>
          <p:cNvPr id="24" name="Shape 21"/>
          <p:cNvSpPr/>
          <p:nvPr/>
        </p:nvSpPr>
        <p:spPr>
          <a:xfrm>
            <a:off x="1295705" y="3877056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295705" y="3877056"/>
            <a:ext cx="324612" cy="3246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1867205" y="3866998"/>
            <a:ext cx="15145207" cy="381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발의 2021.4 부터 발효 2024.8 까지 3년 4개월, 심의 중 생성형 AI 등장으로 규율 대상 확대</a:t>
            </a:r>
            <a:endParaRPr lang="en-US" sz="2000" dirty="0"/>
          </a:p>
        </p:txBody>
      </p:sp>
      <p:sp>
        <p:nvSpPr>
          <p:cNvPr id="27" name="Shape 24"/>
          <p:cNvSpPr/>
          <p:nvPr/>
        </p:nvSpPr>
        <p:spPr>
          <a:xfrm>
            <a:off x="1295705" y="4791456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1295705" y="4791456"/>
            <a:ext cx="324612" cy="3246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1867205" y="4781398"/>
            <a:ext cx="15145207" cy="381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발효일과 적용일은 별개, 의무마다 6개월에서 4년까지 유예 차등</a:t>
            </a:r>
            <a:endParaRPr lang="en-US" sz="2000" dirty="0"/>
          </a:p>
        </p:txBody>
      </p:sp>
      <p:sp>
        <p:nvSpPr>
          <p:cNvPr id="30" name="Shape 27"/>
          <p:cNvSpPr/>
          <p:nvPr/>
        </p:nvSpPr>
        <p:spPr>
          <a:xfrm>
            <a:off x="1295705" y="5705856"/>
            <a:ext cx="323698" cy="323698"/>
          </a:xfrm>
          <a:prstGeom prst="ellipse">
            <a:avLst/>
          </a:prstGeom>
          <a:solidFill>
            <a:srgbClr val="A82A2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1295705" y="5705856"/>
            <a:ext cx="324612" cy="3246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1867205" y="5695798"/>
            <a:ext cx="15145207" cy="381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옴니버스 개정으로 고위험 의무 연기, 부속서 III 2027.12.2, 부속서 I 2028.8.2</a:t>
            </a:r>
            <a:endParaRPr lang="en-US" sz="2000" dirty="0"/>
          </a:p>
        </p:txBody>
      </p:sp>
      <p:sp>
        <p:nvSpPr>
          <p:cNvPr id="33" name="Shape 30"/>
          <p:cNvSpPr/>
          <p:nvPr/>
        </p:nvSpPr>
        <p:spPr>
          <a:xfrm>
            <a:off x="1295705" y="6620256"/>
            <a:ext cx="323698" cy="323698"/>
          </a:xfrm>
          <a:prstGeom prst="ellipse">
            <a:avLst/>
          </a:prstGeom>
          <a:solidFill>
            <a:srgbClr val="A82A2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1295705" y="6620256"/>
            <a:ext cx="324612" cy="3246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500" dirty="0"/>
          </a:p>
        </p:txBody>
      </p:sp>
      <p:sp>
        <p:nvSpPr>
          <p:cNvPr id="35" name="Text 32"/>
          <p:cNvSpPr txBox="1"/>
          <p:nvPr/>
        </p:nvSpPr>
        <p:spPr>
          <a:xfrm>
            <a:off x="1867205" y="6610198"/>
            <a:ext cx="15145207" cy="381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개정이 금지 관행은 2유형 확대, 완화와 강화가 동시에 진행</a:t>
            </a:r>
            <a:endParaRPr lang="en-US" sz="2000" dirty="0"/>
          </a:p>
        </p:txBody>
      </p:sp>
      <p:sp>
        <p:nvSpPr>
          <p:cNvPr id="36" name="Text 33"/>
          <p:cNvSpPr txBox="1"/>
          <p:nvPr/>
        </p:nvSpPr>
        <p:spPr>
          <a:xfrm>
            <a:off x="1333195" y="8600363"/>
            <a:ext cx="15621610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정책 형성 과정을 연구 대상으로 삼는다면</a:t>
            </a:r>
            <a:endParaRPr lang="en-US" sz="1800" dirty="0"/>
          </a:p>
        </p:txBody>
      </p:sp>
      <p:sp>
        <p:nvSpPr>
          <p:cNvPr id="37" name="Text 34"/>
          <p:cNvSpPr txBox="1"/>
          <p:nvPr/>
        </p:nvSpPr>
        <p:spPr>
          <a:xfrm>
            <a:off x="1333195" y="9042932"/>
            <a:ext cx="15621610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입법 문서, 로비 기록, 회원국 입장문이 모두 공개 자료, 내용분석 방법을 쓸 수 있음</a:t>
            </a:r>
            <a:endParaRPr lang="en-US" sz="1800" dirty="0"/>
          </a:p>
        </p:txBody>
      </p:sp>
      <p:sp>
        <p:nvSpPr>
          <p:cNvPr id="38" name="Text 35"/>
          <p:cNvSpPr txBox="1"/>
          <p:nvPr/>
        </p:nvSpPr>
        <p:spPr>
          <a:xfrm>
            <a:off x="15430500" y="9791395"/>
            <a:ext cx="19056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13/51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e22c746fd81622b5deae707eff18ae09.png"/>
          <p:cNvPicPr>
            <a:picLocks noChangeAspect="1"/>
          </p:cNvPicPr>
          <p:nvPr/>
        </p:nvPicPr>
        <p:blipFill>
          <a:blip r:embed="rId3"/>
          <a:srcRect l="-80" r="-80"/>
          <a:stretch/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52805" y="2704795"/>
            <a:ext cx="5266944" cy="28575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52805" y="2704795"/>
            <a:ext cx="5266944" cy="47549"/>
          </a:xfrm>
          <a:prstGeom prst="rect">
            <a:avLst/>
          </a:prstGeom>
          <a:solidFill>
            <a:srgbClr val="036B3F"/>
          </a:solidFill>
          <a:ln w="12700">
            <a:solidFill>
              <a:srgbClr val="036B3F">
                <a:alpha val="0"/>
              </a:srgbClr>
            </a:solidFill>
            <a:prstDash val="solid"/>
          </a:ln>
        </p:spPr>
      </p:sp>
      <p:pic>
        <p:nvPicPr>
          <p:cNvPr id="5" name="Image 1" descr="gen-dedup-ecf24681c8a913dc2f6d75d5c759c67f.png"/>
          <p:cNvPicPr>
            <a:picLocks noChangeAspect="1"/>
          </p:cNvPicPr>
          <p:nvPr/>
        </p:nvPicPr>
        <p:blipFill>
          <a:blip r:embed="rId4"/>
          <a:srcRect l="-2083" r="-2083"/>
          <a:stretch/>
        </p:blipFill>
        <p:spPr>
          <a:xfrm>
            <a:off x="1257300" y="3715207"/>
            <a:ext cx="4657954" cy="9144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6505956" y="2704795"/>
            <a:ext cx="5266944" cy="28575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6505956" y="2704795"/>
            <a:ext cx="5266944" cy="47549"/>
          </a:xfrm>
          <a:prstGeom prst="rect">
            <a:avLst/>
          </a:prstGeom>
          <a:solidFill>
            <a:srgbClr val="9A7620"/>
          </a:solidFill>
          <a:ln w="12700">
            <a:solidFill>
              <a:srgbClr val="9A7620">
                <a:alpha val="0"/>
              </a:srgbClr>
            </a:solidFill>
            <a:prstDash val="solid"/>
          </a:ln>
        </p:spPr>
      </p:sp>
      <p:pic>
        <p:nvPicPr>
          <p:cNvPr id="8" name="Image 2" descr="gen-dedup-ecf24681c8a913dc2f6d75d5c759c67f.png"/>
          <p:cNvPicPr>
            <a:picLocks noChangeAspect="1"/>
          </p:cNvPicPr>
          <p:nvPr/>
        </p:nvPicPr>
        <p:blipFill>
          <a:blip r:embed="rId4"/>
          <a:srcRect l="-2083" r="-2083"/>
          <a:stretch/>
        </p:blipFill>
        <p:spPr>
          <a:xfrm>
            <a:off x="6810451" y="3715207"/>
            <a:ext cx="4657954" cy="9144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12059107" y="2704795"/>
            <a:ext cx="5277002" cy="28575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12059107" y="2704795"/>
            <a:ext cx="5277002" cy="47549"/>
          </a:xfrm>
          <a:prstGeom prst="rect">
            <a:avLst/>
          </a:prstGeom>
          <a:solidFill>
            <a:srgbClr val="6B6B6B"/>
          </a:solidFill>
          <a:ln w="12700">
            <a:solidFill>
              <a:srgbClr val="6B6B6B">
                <a:alpha val="0"/>
              </a:srgbClr>
            </a:solidFill>
            <a:prstDash val="solid"/>
          </a:ln>
        </p:spPr>
      </p:sp>
      <p:pic>
        <p:nvPicPr>
          <p:cNvPr id="11" name="Image 3" descr="gen-dedup-871f3dfe2e6d510d81c0b0c2273c4c8e.png"/>
          <p:cNvPicPr>
            <a:picLocks noChangeAspect="1"/>
          </p:cNvPicPr>
          <p:nvPr/>
        </p:nvPicPr>
        <p:blipFill>
          <a:blip r:embed="rId5"/>
          <a:srcRect l="-2083" r="-2083"/>
          <a:stretch/>
        </p:blipFill>
        <p:spPr>
          <a:xfrm>
            <a:off x="12363602" y="3715207"/>
            <a:ext cx="4667098" cy="9144"/>
          </a:xfrm>
          <a:prstGeom prst="rect">
            <a:avLst/>
          </a:prstGeom>
        </p:spPr>
      </p:pic>
      <p:sp>
        <p:nvSpPr>
          <p:cNvPr id="12" name="Shape 6"/>
          <p:cNvSpPr/>
          <p:nvPr/>
        </p:nvSpPr>
        <p:spPr>
          <a:xfrm>
            <a:off x="952805" y="6344107"/>
            <a:ext cx="3143707" cy="1047902"/>
          </a:xfrm>
          <a:prstGeom prst="rect">
            <a:avLst/>
          </a:prstGeom>
          <a:solidFill>
            <a:srgbClr val="FBECEB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4667098" y="6344107"/>
            <a:ext cx="3143707" cy="1047902"/>
          </a:xfrm>
          <a:prstGeom prst="rect">
            <a:avLst/>
          </a:prstGeom>
          <a:solidFill>
            <a:srgbClr val="FAF5E8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14" name="Shape 8"/>
          <p:cNvSpPr/>
          <p:nvPr/>
        </p:nvSpPr>
        <p:spPr>
          <a:xfrm>
            <a:off x="8382305" y="6344107"/>
            <a:ext cx="3143707" cy="1047902"/>
          </a:xfrm>
          <a:prstGeom prst="rect">
            <a:avLst/>
          </a:prstGeom>
          <a:solidFill>
            <a:srgbClr val="E8F1FA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12096598" y="6344107"/>
            <a:ext cx="5238598" cy="1047902"/>
          </a:xfrm>
          <a:prstGeom prst="rect">
            <a:avLst/>
          </a:prstGeom>
          <a:solidFill>
            <a:srgbClr val="EAF2ED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17" name="Shape 11"/>
          <p:cNvSpPr/>
          <p:nvPr/>
        </p:nvSpPr>
        <p:spPr>
          <a:xfrm>
            <a:off x="952805" y="7963508"/>
            <a:ext cx="16383305" cy="156179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952805" y="342900"/>
            <a:ext cx="3199486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15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500" dirty="0"/>
          </a:p>
        </p:txBody>
      </p:sp>
      <p:sp>
        <p:nvSpPr>
          <p:cNvPr id="19" name="Text 13"/>
          <p:cNvSpPr txBox="1"/>
          <p:nvPr/>
        </p:nvSpPr>
        <p:spPr>
          <a:xfrm>
            <a:off x="9048902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입법 경과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10877702" y="304495"/>
            <a:ext cx="1772107" cy="381305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규정 체계</a:t>
            </a:r>
            <a:endParaRPr lang="en-US" sz="1500" dirty="0"/>
          </a:p>
        </p:txBody>
      </p:sp>
      <p:sp>
        <p:nvSpPr>
          <p:cNvPr id="21" name="Text 15"/>
          <p:cNvSpPr txBox="1"/>
          <p:nvPr/>
        </p:nvSpPr>
        <p:spPr>
          <a:xfrm>
            <a:off x="12687300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총칙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14477695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금지 관행</a:t>
            </a:r>
            <a:endParaRPr lang="en-US" sz="1500" dirty="0"/>
          </a:p>
        </p:txBody>
      </p:sp>
      <p:sp>
        <p:nvSpPr>
          <p:cNvPr id="23" name="Text 17"/>
          <p:cNvSpPr txBox="1"/>
          <p:nvPr/>
        </p:nvSpPr>
        <p:spPr>
          <a:xfrm>
            <a:off x="16306495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고위험</a:t>
            </a:r>
            <a:endParaRPr lang="en-US" sz="1500" dirty="0"/>
          </a:p>
        </p:txBody>
      </p:sp>
      <p:sp>
        <p:nvSpPr>
          <p:cNvPr id="24" name="Text 18"/>
          <p:cNvSpPr txBox="1"/>
          <p:nvPr/>
        </p:nvSpPr>
        <p:spPr>
          <a:xfrm>
            <a:off x="952805" y="1104595"/>
            <a:ext cx="16383305" cy="8860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5000" b="1" kern="0" spc="-112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(2-1) 규정 전체 구조</a:t>
            </a:r>
            <a:endParaRPr lang="en-US" sz="5000" dirty="0"/>
          </a:p>
        </p:txBody>
      </p:sp>
      <p:sp>
        <p:nvSpPr>
          <p:cNvPr id="25" name="Text 19"/>
          <p:cNvSpPr txBox="1"/>
          <p:nvPr/>
        </p:nvSpPr>
        <p:spPr>
          <a:xfrm>
            <a:off x="952805" y="2000707"/>
            <a:ext cx="16383305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전문 180항, 본문 13개 장 113개 조문, 부속서 13개</a:t>
            </a:r>
            <a:endParaRPr lang="en-US" sz="1800" dirty="0"/>
          </a:p>
        </p:txBody>
      </p:sp>
      <p:sp>
        <p:nvSpPr>
          <p:cNvPr id="26" name="Text 20"/>
          <p:cNvSpPr txBox="1"/>
          <p:nvPr/>
        </p:nvSpPr>
        <p:spPr>
          <a:xfrm>
            <a:off x="1257300" y="2991002"/>
            <a:ext cx="4657954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 kern="0" spc="-37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전문(Recitals)</a:t>
            </a:r>
            <a:endParaRPr lang="en-US" sz="2500" dirty="0"/>
          </a:p>
        </p:txBody>
      </p:sp>
      <p:sp>
        <p:nvSpPr>
          <p:cNvPr id="27" name="Text 21"/>
          <p:cNvSpPr txBox="1"/>
          <p:nvPr/>
        </p:nvSpPr>
        <p:spPr>
          <a:xfrm>
            <a:off x="1257300" y="3981298"/>
            <a:ext cx="4657954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180개 항, 약 175쪽</a:t>
            </a:r>
            <a:endParaRPr lang="en-US" sz="1800" dirty="0"/>
          </a:p>
        </p:txBody>
      </p:sp>
      <p:sp>
        <p:nvSpPr>
          <p:cNvPr id="28" name="Text 22"/>
          <p:cNvSpPr txBox="1"/>
          <p:nvPr/>
        </p:nvSpPr>
        <p:spPr>
          <a:xfrm>
            <a:off x="1257300" y="4480560"/>
            <a:ext cx="4657954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법적 구속력은 없으나 조문 해석의 기준</a:t>
            </a:r>
            <a:endParaRPr lang="en-US" sz="1800" dirty="0"/>
          </a:p>
        </p:txBody>
      </p:sp>
      <p:sp>
        <p:nvSpPr>
          <p:cNvPr id="29" name="Text 23"/>
          <p:cNvSpPr txBox="1"/>
          <p:nvPr/>
        </p:nvSpPr>
        <p:spPr>
          <a:xfrm>
            <a:off x="1257300" y="4979822"/>
            <a:ext cx="4657954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입법 취지와 개념 설명이 여기에 있음</a:t>
            </a:r>
            <a:endParaRPr lang="en-US" sz="1800" dirty="0"/>
          </a:p>
        </p:txBody>
      </p:sp>
      <p:sp>
        <p:nvSpPr>
          <p:cNvPr id="30" name="Text 24"/>
          <p:cNvSpPr txBox="1"/>
          <p:nvPr/>
        </p:nvSpPr>
        <p:spPr>
          <a:xfrm>
            <a:off x="6810451" y="2991002"/>
            <a:ext cx="4657954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 kern="0" spc="-37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본문(Articles)</a:t>
            </a:r>
            <a:endParaRPr lang="en-US" sz="2500" dirty="0"/>
          </a:p>
        </p:txBody>
      </p:sp>
      <p:sp>
        <p:nvSpPr>
          <p:cNvPr id="31" name="Text 25"/>
          <p:cNvSpPr txBox="1"/>
          <p:nvPr/>
        </p:nvSpPr>
        <p:spPr>
          <a:xfrm>
            <a:off x="6810451" y="3981298"/>
            <a:ext cx="4657954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13개 장, 113개 조문</a:t>
            </a:r>
            <a:endParaRPr lang="en-US" sz="1800" dirty="0"/>
          </a:p>
        </p:txBody>
      </p:sp>
      <p:sp>
        <p:nvSpPr>
          <p:cNvPr id="32" name="Text 26"/>
          <p:cNvSpPr txBox="1"/>
          <p:nvPr/>
        </p:nvSpPr>
        <p:spPr>
          <a:xfrm>
            <a:off x="6810451" y="4480560"/>
            <a:ext cx="4657954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법적 구속력을 갖는 부분</a:t>
            </a:r>
            <a:endParaRPr lang="en-US" sz="1800" dirty="0"/>
          </a:p>
        </p:txBody>
      </p:sp>
      <p:sp>
        <p:nvSpPr>
          <p:cNvPr id="33" name="Text 27"/>
          <p:cNvSpPr txBox="1"/>
          <p:nvPr/>
        </p:nvSpPr>
        <p:spPr>
          <a:xfrm>
            <a:off x="6810451" y="4979822"/>
            <a:ext cx="4657954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위험 등급 순서로 배치</a:t>
            </a:r>
            <a:endParaRPr lang="en-US" sz="1800" dirty="0"/>
          </a:p>
        </p:txBody>
      </p:sp>
      <p:sp>
        <p:nvSpPr>
          <p:cNvPr id="34" name="Text 28"/>
          <p:cNvSpPr txBox="1"/>
          <p:nvPr/>
        </p:nvSpPr>
        <p:spPr>
          <a:xfrm>
            <a:off x="12363602" y="2991002"/>
            <a:ext cx="4668012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 kern="0" spc="-37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부속서(Annexes)</a:t>
            </a:r>
            <a:endParaRPr lang="en-US" sz="2500" dirty="0"/>
          </a:p>
        </p:txBody>
      </p:sp>
      <p:sp>
        <p:nvSpPr>
          <p:cNvPr id="35" name="Text 29"/>
          <p:cNvSpPr txBox="1"/>
          <p:nvPr/>
        </p:nvSpPr>
        <p:spPr>
          <a:xfrm>
            <a:off x="12363602" y="3981298"/>
            <a:ext cx="4668012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13개, 로마숫자 I부터 XIII</a:t>
            </a:r>
            <a:endParaRPr lang="en-US" sz="1800" dirty="0"/>
          </a:p>
        </p:txBody>
      </p:sp>
      <p:sp>
        <p:nvSpPr>
          <p:cNvPr id="36" name="Text 30"/>
          <p:cNvSpPr txBox="1"/>
          <p:nvPr/>
        </p:nvSpPr>
        <p:spPr>
          <a:xfrm>
            <a:off x="12363602" y="4480560"/>
            <a:ext cx="4668012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본문과 동일한 구속력</a:t>
            </a:r>
            <a:endParaRPr lang="en-US" sz="1800" dirty="0"/>
          </a:p>
        </p:txBody>
      </p:sp>
      <p:sp>
        <p:nvSpPr>
          <p:cNvPr id="37" name="Text 31"/>
          <p:cNvSpPr txBox="1"/>
          <p:nvPr/>
        </p:nvSpPr>
        <p:spPr>
          <a:xfrm>
            <a:off x="12363602" y="4979822"/>
            <a:ext cx="4668012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목록과 서식, 위임입법으로 개정 가능</a:t>
            </a:r>
            <a:endParaRPr lang="en-US" sz="1800" dirty="0"/>
          </a:p>
        </p:txBody>
      </p:sp>
      <p:sp>
        <p:nvSpPr>
          <p:cNvPr id="38" name="Text 32"/>
          <p:cNvSpPr txBox="1"/>
          <p:nvPr/>
        </p:nvSpPr>
        <p:spPr>
          <a:xfrm>
            <a:off x="952805" y="5848502"/>
            <a:ext cx="16383305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조문 배치의 논리 — 위험 등급 순</a:t>
            </a:r>
            <a:endParaRPr lang="en-US" sz="2000" dirty="0"/>
          </a:p>
        </p:txBody>
      </p:sp>
      <p:sp>
        <p:nvSpPr>
          <p:cNvPr id="39" name="Text 33"/>
          <p:cNvSpPr txBox="1"/>
          <p:nvPr/>
        </p:nvSpPr>
        <p:spPr>
          <a:xfrm>
            <a:off x="1181405" y="6549847"/>
            <a:ext cx="2686507" cy="6711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금지</a:t>
            </a:r>
            <a:endParaRPr lang="en-US" sz="1800" dirty="0"/>
          </a:p>
          <a:p>
            <a:pPr marL="0" indent="0" algn="ctr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제2장 제5조</a:t>
            </a:r>
            <a:endParaRPr lang="en-US" sz="1800" dirty="0"/>
          </a:p>
        </p:txBody>
      </p:sp>
      <p:sp>
        <p:nvSpPr>
          <p:cNvPr id="40" name="Text 34"/>
          <p:cNvSpPr txBox="1"/>
          <p:nvPr/>
        </p:nvSpPr>
        <p:spPr>
          <a:xfrm>
            <a:off x="4190695" y="6724498"/>
            <a:ext cx="381305" cy="381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100" dirty="0"/>
          </a:p>
        </p:txBody>
      </p:sp>
      <p:sp>
        <p:nvSpPr>
          <p:cNvPr id="41" name="Text 35"/>
          <p:cNvSpPr txBox="1"/>
          <p:nvPr/>
        </p:nvSpPr>
        <p:spPr>
          <a:xfrm>
            <a:off x="4895698" y="6549847"/>
            <a:ext cx="2686507" cy="6711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고위험</a:t>
            </a:r>
            <a:endParaRPr lang="en-US" sz="1800" dirty="0"/>
          </a:p>
          <a:p>
            <a:pPr marL="0" indent="0" algn="ctr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제3장 제6~49조</a:t>
            </a:r>
            <a:endParaRPr lang="en-US" sz="1800" dirty="0"/>
          </a:p>
        </p:txBody>
      </p:sp>
      <p:sp>
        <p:nvSpPr>
          <p:cNvPr id="42" name="Text 36"/>
          <p:cNvSpPr txBox="1"/>
          <p:nvPr/>
        </p:nvSpPr>
        <p:spPr>
          <a:xfrm>
            <a:off x="7905902" y="6724498"/>
            <a:ext cx="381305" cy="381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100" dirty="0"/>
          </a:p>
        </p:txBody>
      </p:sp>
      <p:sp>
        <p:nvSpPr>
          <p:cNvPr id="43" name="Text 37"/>
          <p:cNvSpPr txBox="1"/>
          <p:nvPr/>
        </p:nvSpPr>
        <p:spPr>
          <a:xfrm>
            <a:off x="8610905" y="6549847"/>
            <a:ext cx="2686507" cy="6711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제한적 위험</a:t>
            </a:r>
            <a:endParaRPr lang="en-US" sz="1800" dirty="0"/>
          </a:p>
          <a:p>
            <a:pPr marL="0" indent="0" algn="ctr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제4장 제50조</a:t>
            </a:r>
            <a:endParaRPr lang="en-US" sz="1800" dirty="0"/>
          </a:p>
        </p:txBody>
      </p:sp>
      <p:sp>
        <p:nvSpPr>
          <p:cNvPr id="44" name="Text 38"/>
          <p:cNvSpPr txBox="1"/>
          <p:nvPr/>
        </p:nvSpPr>
        <p:spPr>
          <a:xfrm>
            <a:off x="11620195" y="6724498"/>
            <a:ext cx="381305" cy="381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100" dirty="0"/>
          </a:p>
        </p:txBody>
      </p:sp>
      <p:sp>
        <p:nvSpPr>
          <p:cNvPr id="45" name="Text 39"/>
          <p:cNvSpPr txBox="1"/>
          <p:nvPr/>
        </p:nvSpPr>
        <p:spPr>
          <a:xfrm>
            <a:off x="12325198" y="6549847"/>
            <a:ext cx="4782312" cy="6711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범용 AI 모델, 그 뒤 거버넌스와 제재</a:t>
            </a:r>
            <a:endParaRPr lang="en-US" sz="1800" dirty="0"/>
          </a:p>
          <a:p>
            <a:pPr marL="0" indent="0" algn="ctr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제5장 제51조 이후</a:t>
            </a:r>
            <a:endParaRPr lang="en-US" sz="1800" dirty="0"/>
          </a:p>
        </p:txBody>
      </p:sp>
      <p:sp>
        <p:nvSpPr>
          <p:cNvPr id="46" name="Text 40"/>
          <p:cNvSpPr txBox="1"/>
          <p:nvPr/>
        </p:nvSpPr>
        <p:spPr>
          <a:xfrm>
            <a:off x="1328623" y="8182562"/>
            <a:ext cx="15621610" cy="3246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위험이 높을수록 앞에, 의무도 무겁게, 제3장이 44개 조문으로 전체의 약 40퍼센트</a:t>
            </a:r>
            <a:endParaRPr lang="en-US" sz="1800" dirty="0"/>
          </a:p>
        </p:txBody>
      </p:sp>
      <p:sp>
        <p:nvSpPr>
          <p:cNvPr id="47" name="Text 41"/>
          <p:cNvSpPr txBox="1"/>
          <p:nvPr/>
        </p:nvSpPr>
        <p:spPr>
          <a:xfrm>
            <a:off x="1333195" y="8603214"/>
            <a:ext cx="15621610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조문 수의 분포 자체가 입법자의 관심 배분을 보여주는 자료</a:t>
            </a:r>
            <a:endParaRPr lang="en-US" sz="1800" dirty="0"/>
          </a:p>
        </p:txBody>
      </p:sp>
      <p:sp>
        <p:nvSpPr>
          <p:cNvPr id="48" name="Text 42"/>
          <p:cNvSpPr txBox="1"/>
          <p:nvPr/>
        </p:nvSpPr>
        <p:spPr>
          <a:xfrm>
            <a:off x="1333195" y="9025667"/>
            <a:ext cx="15621610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고위험에 44개 조문, 범용 AI에 6개 조문, 이 비대칭은 무엇을 뜻하는가?</a:t>
            </a:r>
            <a:endParaRPr lang="en-US" sz="1800" dirty="0"/>
          </a:p>
        </p:txBody>
      </p:sp>
      <p:sp>
        <p:nvSpPr>
          <p:cNvPr id="49" name="Text 43"/>
          <p:cNvSpPr txBox="1"/>
          <p:nvPr/>
        </p:nvSpPr>
        <p:spPr>
          <a:xfrm>
            <a:off x="15430500" y="9791395"/>
            <a:ext cx="19056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14/51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e22c746fd81622b5deae707eff18ae09.png"/>
          <p:cNvPicPr>
            <a:picLocks noChangeAspect="1"/>
          </p:cNvPicPr>
          <p:nvPr/>
        </p:nvPicPr>
        <p:blipFill>
          <a:blip r:embed="rId3"/>
          <a:srcRect l="-80" r="-80"/>
          <a:stretch/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952805" y="342900"/>
            <a:ext cx="3199486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15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9048902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입법 경과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10877702" y="304495"/>
            <a:ext cx="1772107" cy="381305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규정 체계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12687300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총칙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4477695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금지 관행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6306495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고위험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952805" y="1104595"/>
            <a:ext cx="16383305" cy="8860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5000" b="1" kern="0" spc="-112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(2-2) 제1장~제6장</a:t>
            </a:r>
            <a:endParaRPr lang="en-US" sz="5000" dirty="0"/>
          </a:p>
        </p:txBody>
      </p:sp>
      <p:sp>
        <p:nvSpPr>
          <p:cNvPr id="10" name="Text 7"/>
          <p:cNvSpPr txBox="1"/>
          <p:nvPr/>
        </p:nvSpPr>
        <p:spPr>
          <a:xfrm>
            <a:off x="952805" y="2000707"/>
            <a:ext cx="16383305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총칙에서 혁신 지원까지, 실체 의무가 배치된 전반부</a:t>
            </a:r>
            <a:endParaRPr lang="en-US" sz="18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5856303"/>
              </p:ext>
            </p:extLst>
          </p:nvPr>
        </p:nvGraphicFramePr>
        <p:xfrm>
          <a:off x="952805" y="2704794"/>
          <a:ext cx="16373247" cy="3158974"/>
        </p:xfrm>
        <a:graphic>
          <a:graphicData uri="http://schemas.openxmlformats.org/drawingml/2006/table">
            <a:tbl>
              <a:tblPr/>
              <a:tblGrid>
                <a:gridCol w="123809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103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14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61034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128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주제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조문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핵심 내용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128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제1장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총칙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제1~4조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목적, 적용 범위, 정의 68개, </a:t>
                      </a:r>
                      <a:r>
                        <a:rPr lang="en-US" sz="1800" dirty="0" err="1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인공지능</a:t>
                      </a: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</a:t>
                      </a:r>
                      <a:r>
                        <a:rPr lang="ko-KR" altLang="en-US" sz="1800" dirty="0" err="1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리터러시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128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제2장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금지된 AI 관행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제5조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단일 조문, 금지 10유형과 예외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128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제3장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고위험 AI 시스템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제6~49조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44개 조문, 5개 절로 구성, 전체의 약 40퍼센트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128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제4장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특정 AI 시스템 투명성 의무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제50조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단일 조문, 고지와 표시 의무 4가지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128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제5장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범용 AI 모델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제51~56조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분류, 일반 의무, 체계적 위험 의무, 행동강령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128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제6장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혁신 지원 조치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제57~63조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규제 샌드박스, 실환경 시험, 중소기업 지원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2" name="Text 8"/>
          <p:cNvSpPr txBox="1"/>
          <p:nvPr/>
        </p:nvSpPr>
        <p:spPr>
          <a:xfrm>
            <a:off x="952805" y="6400800"/>
            <a:ext cx="16383305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제3장의 내부 5개 절</a:t>
            </a:r>
            <a:endParaRPr lang="en-US" sz="2000" dirty="0"/>
          </a:p>
        </p:txBody>
      </p:sp>
      <p:graphicFrame>
        <p:nvGraphicFramePr>
          <p:cNvPr id="3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9497309"/>
              </p:ext>
            </p:extLst>
          </p:nvPr>
        </p:nvGraphicFramePr>
        <p:xfrm>
          <a:off x="952805" y="6858000"/>
          <a:ext cx="16373247" cy="2648100"/>
        </p:xfrm>
        <a:graphic>
          <a:graphicData uri="http://schemas.openxmlformats.org/drawingml/2006/table">
            <a:tbl>
              <a:tblPr/>
              <a:tblGrid>
                <a:gridCol w="123809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388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14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18184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4135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25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절</a:t>
                      </a:r>
                      <a:endParaRPr lang="en-US" sz="1725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66751" marB="66751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725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주제</a:t>
                      </a:r>
                      <a:endParaRPr lang="en-US" sz="1725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66751" marB="66751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725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조문</a:t>
                      </a:r>
                      <a:endParaRPr lang="en-US" sz="1725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66751" marB="66751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725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다루는 강</a:t>
                      </a:r>
                      <a:endParaRPr lang="en-US" sz="1725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66751" marB="66751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135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25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제1절</a:t>
                      </a:r>
                      <a:endParaRPr lang="en-US" sz="1725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66751" marB="66751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5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고위험 분류</a:t>
                      </a:r>
                      <a:endParaRPr lang="en-US" sz="1725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66751" marB="66751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5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제6~7조</a:t>
                      </a:r>
                      <a:endParaRPr lang="en-US" sz="1725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66751" marB="66751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5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제3강 (5)</a:t>
                      </a:r>
                      <a:endParaRPr lang="en-US" sz="1725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66751" marB="66751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135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25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제2절</a:t>
                      </a:r>
                      <a:endParaRPr lang="en-US" sz="1725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66751" marB="66751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5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고위험 요건</a:t>
                      </a:r>
                      <a:endParaRPr lang="en-US" sz="1725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66751" marB="66751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5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제8~15조</a:t>
                      </a:r>
                      <a:endParaRPr lang="en-US" sz="1725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66751" marB="66751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5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제4강 블록 1</a:t>
                      </a:r>
                      <a:endParaRPr lang="en-US" sz="1725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66751" marB="66751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135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25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제3절</a:t>
                      </a:r>
                      <a:endParaRPr lang="en-US" sz="1725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66751" marB="66751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5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제공자와 배포자 의무</a:t>
                      </a:r>
                      <a:endParaRPr lang="en-US" sz="1725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66751" marB="66751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5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제16~27조</a:t>
                      </a:r>
                      <a:endParaRPr lang="en-US" sz="1725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66751" marB="66751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5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제4강 블록 2</a:t>
                      </a:r>
                      <a:endParaRPr lang="en-US" sz="1725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66751" marB="66751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135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25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제4절</a:t>
                      </a:r>
                      <a:endParaRPr lang="en-US" sz="1725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66751" marB="66751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5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통지당국과 피통지기관</a:t>
                      </a:r>
                      <a:endParaRPr lang="en-US" sz="1725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66751" marB="66751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5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제28~39조</a:t>
                      </a:r>
                      <a:endParaRPr lang="en-US" sz="1725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66751" marB="66751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5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제4강 블록 3</a:t>
                      </a:r>
                      <a:endParaRPr lang="en-US" sz="1725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66751" marB="66751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135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25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제5절</a:t>
                      </a:r>
                      <a:endParaRPr lang="en-US" sz="1725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66751" marB="66751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5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표준, 적합성 평가, 등록</a:t>
                      </a:r>
                      <a:endParaRPr lang="en-US" sz="1725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66751" marB="66751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5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제40~49조</a:t>
                      </a:r>
                      <a:endParaRPr lang="en-US" sz="1725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66751" marB="66751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5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제4강 블록 3</a:t>
                      </a:r>
                      <a:endParaRPr lang="en-US" sz="1725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66751" marB="66751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4" name="Text 9"/>
          <p:cNvSpPr txBox="1"/>
          <p:nvPr/>
        </p:nvSpPr>
        <p:spPr>
          <a:xfrm>
            <a:off x="15430500" y="9791395"/>
            <a:ext cx="19056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15/51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e22c746fd81622b5deae707eff18ae09.png"/>
          <p:cNvPicPr>
            <a:picLocks noChangeAspect="1"/>
          </p:cNvPicPr>
          <p:nvPr/>
        </p:nvPicPr>
        <p:blipFill>
          <a:blip r:embed="rId3"/>
          <a:srcRect l="-80" r="-80"/>
          <a:stretch/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52805" y="8142732"/>
            <a:ext cx="16383305" cy="1382573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952805" y="342900"/>
            <a:ext cx="3199486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15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9048902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입법 경과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0877702" y="304495"/>
            <a:ext cx="1772107" cy="381305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규정 체계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2687300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총칙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4477695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금지 관행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6306495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고위험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952805" y="1104595"/>
            <a:ext cx="16383305" cy="8860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5000" b="1" kern="0" spc="-112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(2-3) 제7장~제13장</a:t>
            </a:r>
            <a:endParaRPr lang="en-US" sz="5000" dirty="0"/>
          </a:p>
        </p:txBody>
      </p:sp>
      <p:sp>
        <p:nvSpPr>
          <p:cNvPr id="12" name="Text 9"/>
          <p:cNvSpPr txBox="1"/>
          <p:nvPr/>
        </p:nvSpPr>
        <p:spPr>
          <a:xfrm>
            <a:off x="952805" y="2000707"/>
            <a:ext cx="16383305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거버넌스에서 최종 규정까지, 집행 장치가 배치된 후반부</a:t>
            </a:r>
            <a:endParaRPr lang="en-US" sz="18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12371210"/>
              </p:ext>
            </p:extLst>
          </p:nvPr>
        </p:nvGraphicFramePr>
        <p:xfrm>
          <a:off x="952805" y="2704795"/>
          <a:ext cx="16373247" cy="4169664"/>
        </p:xfrm>
        <a:graphic>
          <a:graphicData uri="http://schemas.openxmlformats.org/drawingml/2006/table">
            <a:tbl>
              <a:tblPr/>
              <a:tblGrid>
                <a:gridCol w="123809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00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0959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32505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04023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23444" marB="123444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주제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23444" marB="123444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조문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23444" marB="123444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핵심 내용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23444" marB="123444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4023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제7장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23444" marB="123444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거버넌스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23444" marB="123444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제64~70조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23444" marB="123444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AI청, 유럽 AI 위원회, 과학자문단, 회원국 관할당국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23444" marB="123444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4023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제8장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23444" marB="123444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EU 고위험 데이터베이스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23444" marB="123444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제71조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23444" marB="123444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단일 조문, 고위험 시스템 등록과 공개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23444" marB="123444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4023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제9장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23444" marB="123444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사후 모니터링, 정보공유, 시장감시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23444" marB="123444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제72~94조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23444" marB="123444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23개 조문, 중대사고 보고, 집행 절차, 이의신청권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23444" marB="123444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4023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제10장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23444" marB="123444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행동규범과 지침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23444" marB="123444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제95~96조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23444" marB="123444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자발적 행동규범, 집행위원회 지침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23444" marB="123444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4023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제11장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23444" marB="123444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위임입법권과 위원회 절차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23444" marB="123444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제97~98조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23444" marB="123444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부속서 개정 권한, 위원회 심의 절차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23444" marB="123444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4023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제12장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23444" marB="123444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제재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23444" marB="123444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제99~101조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23444" marB="123444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과징금 3단계, EU 기관 제재, 범용 AI 제재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23444" marB="123444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04023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제13장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23444" marB="123444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최종 규정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23444" marB="123444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제102~113조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23444" marB="123444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기존 법령 개정, 경과 조치, 시행일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23444" marB="123444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5" name="Text 11"/>
          <p:cNvSpPr txBox="1"/>
          <p:nvPr/>
        </p:nvSpPr>
        <p:spPr>
          <a:xfrm>
            <a:off x="1333195" y="8282687"/>
            <a:ext cx="15621610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제85~87조에 이의신청권과 설명받을 권리, 개인이 직접 행사할 수 있는 권리 조항</a:t>
            </a:r>
            <a:endParaRPr lang="en-US" sz="1800" dirty="0"/>
          </a:p>
        </p:txBody>
      </p:sp>
      <p:sp>
        <p:nvSpPr>
          <p:cNvPr id="16" name="Text 12"/>
          <p:cNvSpPr txBox="1"/>
          <p:nvPr/>
        </p:nvSpPr>
        <p:spPr>
          <a:xfrm>
            <a:off x="1333195" y="8647399"/>
            <a:ext cx="15621610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제85~87조의 개인 권리는 국내 인공지능기본법에 대응 조항이 있는가?</a:t>
            </a:r>
            <a:endParaRPr lang="en-US" sz="1800" dirty="0"/>
          </a:p>
        </p:txBody>
      </p:sp>
      <p:sp>
        <p:nvSpPr>
          <p:cNvPr id="13" name="Text 13"/>
          <p:cNvSpPr txBox="1"/>
          <p:nvPr/>
        </p:nvSpPr>
        <p:spPr>
          <a:xfrm>
            <a:off x="1333195" y="9069852"/>
            <a:ext cx="15621610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권리 조항의 유무는 법의 성격을 가르는 지점, 사업자 규제인가 개인 권리 보장인가?</a:t>
            </a:r>
            <a:endParaRPr lang="en-US" sz="1800" dirty="0"/>
          </a:p>
        </p:txBody>
      </p:sp>
      <p:sp>
        <p:nvSpPr>
          <p:cNvPr id="18" name="Text 14"/>
          <p:cNvSpPr txBox="1"/>
          <p:nvPr/>
        </p:nvSpPr>
        <p:spPr>
          <a:xfrm>
            <a:off x="15430500" y="9791395"/>
            <a:ext cx="19056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16/51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e22c746fd81622b5deae707eff18ae09.png"/>
          <p:cNvPicPr>
            <a:picLocks noChangeAspect="1"/>
          </p:cNvPicPr>
          <p:nvPr/>
        </p:nvPicPr>
        <p:blipFill>
          <a:blip r:embed="rId3"/>
          <a:srcRect l="-80" r="-80"/>
          <a:stretch/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952805" y="7912860"/>
            <a:ext cx="16383305" cy="1612445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2805" y="342900"/>
            <a:ext cx="3199486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15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9048902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입법 경과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0877702" y="304495"/>
            <a:ext cx="1772107" cy="381305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규정 체계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2687300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총칙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4477695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금지 관행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16306495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고위험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952805" y="1104595"/>
            <a:ext cx="16383305" cy="8860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5000" b="1" kern="0" spc="-112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(2-4) 부속서 13개</a:t>
            </a:r>
            <a:endParaRPr lang="en-US" sz="5000" dirty="0"/>
          </a:p>
        </p:txBody>
      </p:sp>
      <p:sp>
        <p:nvSpPr>
          <p:cNvPr id="14" name="Text 11"/>
          <p:cNvSpPr txBox="1"/>
          <p:nvPr/>
        </p:nvSpPr>
        <p:spPr>
          <a:xfrm>
            <a:off x="952805" y="2000707"/>
            <a:ext cx="16383305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본문과 동일한 구속력, 위임입법으로 개정 가능한 부분</a:t>
            </a:r>
            <a:endParaRPr lang="en-US" sz="18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288766"/>
              </p:ext>
            </p:extLst>
          </p:nvPr>
        </p:nvGraphicFramePr>
        <p:xfrm>
          <a:off x="952805" y="2704795"/>
          <a:ext cx="8039405" cy="4079240"/>
        </p:xfrm>
        <a:graphic>
          <a:graphicData uri="http://schemas.openxmlformats.org/drawingml/2006/table">
            <a:tbl>
              <a:tblPr/>
              <a:tblGrid>
                <a:gridCol w="9528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86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0990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25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부속서</a:t>
                      </a:r>
                      <a:endParaRPr lang="en-US" sz="1725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66751" marB="66751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725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725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66751" marB="66751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990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25" b="1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</a:t>
                      </a:r>
                      <a:endParaRPr lang="en-US" sz="1725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66751" marB="66751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5" b="1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EU 조화 법령 목록, 고위험 경로 1</a:t>
                      </a:r>
                      <a:endParaRPr lang="en-US" sz="1725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66751" marB="66751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990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25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II</a:t>
                      </a:r>
                      <a:endParaRPr lang="en-US" sz="1725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66751" marB="66751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5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범죄 목록, 실시간 생체인식 예외 판단</a:t>
                      </a:r>
                      <a:endParaRPr lang="en-US" sz="1725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66751" marB="66751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990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25" b="1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III</a:t>
                      </a:r>
                      <a:endParaRPr lang="en-US" sz="1725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66751" marB="66751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5" b="1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고위험 AI 시스템 8개 영역, 고위험 경로 2</a:t>
                      </a:r>
                      <a:endParaRPr lang="en-US" sz="1725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66751" marB="66751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990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25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IV</a:t>
                      </a:r>
                      <a:endParaRPr lang="en-US" sz="1725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66751" marB="66751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5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기술문서 요구 항목</a:t>
                      </a:r>
                      <a:endParaRPr lang="en-US" sz="1725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66751" marB="66751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990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25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</a:t>
                      </a:r>
                      <a:endParaRPr lang="en-US" sz="1725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66751" marB="66751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5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EU 적합성 선언 서식</a:t>
                      </a:r>
                      <a:endParaRPr lang="en-US" sz="1725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66751" marB="66751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990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25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VI</a:t>
                      </a:r>
                      <a:endParaRPr lang="en-US" sz="1725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66751" marB="66751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5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내부 통제 방식 적합성 평가 절차</a:t>
                      </a:r>
                      <a:endParaRPr lang="en-US" sz="1725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66751" marB="66751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0990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25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VII</a:t>
                      </a:r>
                      <a:endParaRPr lang="en-US" sz="1725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66751" marB="66751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5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품질관리체계와 기술문서 평가 절차</a:t>
                      </a:r>
                      <a:endParaRPr lang="en-US" sz="1725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66751" marB="66751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3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36908145"/>
              </p:ext>
            </p:extLst>
          </p:nvPr>
        </p:nvGraphicFramePr>
        <p:xfrm>
          <a:off x="9286646" y="2704795"/>
          <a:ext cx="8039405" cy="3534643"/>
        </p:xfrm>
        <a:graphic>
          <a:graphicData uri="http://schemas.openxmlformats.org/drawingml/2006/table">
            <a:tbl>
              <a:tblPr/>
              <a:tblGrid>
                <a:gridCol w="9528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86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0494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25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부속서</a:t>
                      </a:r>
                      <a:endParaRPr lang="en-US" sz="1725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66751" marB="66751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725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725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66751" marB="66751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494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25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VIII</a:t>
                      </a:r>
                      <a:endParaRPr lang="en-US" sz="1725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66751" marB="66751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5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고위험 시스템 등록 제출 정보</a:t>
                      </a:r>
                      <a:endParaRPr lang="en-US" sz="1725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66751" marB="66751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494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25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IX</a:t>
                      </a:r>
                      <a:endParaRPr lang="en-US" sz="1725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66751" marB="66751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5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실환경 시험 등록 정보</a:t>
                      </a:r>
                      <a:endParaRPr lang="en-US" sz="1725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66751" marB="66751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494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25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X</a:t>
                      </a:r>
                      <a:endParaRPr lang="en-US" sz="1725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66751" marB="66751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5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EU 대규모 IT 시스템 관련 법령</a:t>
                      </a:r>
                      <a:endParaRPr lang="en-US" sz="1725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66751" marB="66751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494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25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XI</a:t>
                      </a:r>
                      <a:endParaRPr lang="en-US" sz="1725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66751" marB="66751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5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범용 AI 모델 기술문서</a:t>
                      </a:r>
                      <a:endParaRPr lang="en-US" sz="1725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66751" marB="66751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494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25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XII</a:t>
                      </a:r>
                      <a:endParaRPr lang="en-US" sz="1725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66751" marB="66751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5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하위 제공자 투명성 정보</a:t>
                      </a:r>
                      <a:endParaRPr lang="en-US" sz="1725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66751" marB="66751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494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25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XIII</a:t>
                      </a:r>
                      <a:endParaRPr lang="en-US" sz="1725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66751" marB="66751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25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체계적 위험 모델 판단 기준</a:t>
                      </a:r>
                      <a:endParaRPr lang="en-US" sz="1725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66751" marB="66751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7" name="Text 12"/>
          <p:cNvSpPr txBox="1"/>
          <p:nvPr/>
        </p:nvSpPr>
        <p:spPr>
          <a:xfrm>
            <a:off x="1333195" y="8190484"/>
            <a:ext cx="1577340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고위험 여부가 이 두 부속서로 갈림, 본문 제6조는 판단 기준만 두고 실제 목록은 부속서에 위임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1333195" y="8628024"/>
            <a:ext cx="15621610" cy="3246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부속서는 위임입법으로 집행위원회가 개정 가능, 의회 표결 없이 규율 범위가 바뀔 수 있는 구조</a:t>
            </a:r>
            <a:endParaRPr lang="en-US" sz="1800" dirty="0"/>
          </a:p>
        </p:txBody>
      </p:sp>
      <p:sp>
        <p:nvSpPr>
          <p:cNvPr id="19" name="Text 14"/>
          <p:cNvSpPr txBox="1"/>
          <p:nvPr/>
        </p:nvSpPr>
        <p:spPr>
          <a:xfrm>
            <a:off x="1333195" y="9010498"/>
            <a:ext cx="15621610" cy="3246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목록을 부속서로 빼면 유연성은 얻으나 예측 가능성은 잃음, 어느 쪽이 더 중요한가?</a:t>
            </a:r>
            <a:endParaRPr lang="en-US" sz="1800" dirty="0"/>
          </a:p>
        </p:txBody>
      </p:sp>
      <p:sp>
        <p:nvSpPr>
          <p:cNvPr id="20" name="Text 15"/>
          <p:cNvSpPr txBox="1"/>
          <p:nvPr/>
        </p:nvSpPr>
        <p:spPr>
          <a:xfrm>
            <a:off x="15430500" y="9791395"/>
            <a:ext cx="19056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17/51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e22c746fd81622b5deae707eff18ae09.png"/>
          <p:cNvPicPr>
            <a:picLocks noChangeAspect="1"/>
          </p:cNvPicPr>
          <p:nvPr/>
        </p:nvPicPr>
        <p:blipFill>
          <a:blip r:embed="rId3"/>
          <a:srcRect l="-80" r="-80"/>
          <a:stretch/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52805" y="3200400"/>
            <a:ext cx="16383305" cy="8385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52805" y="3200400"/>
            <a:ext cx="16383305" cy="47549"/>
          </a:xfrm>
          <a:prstGeom prst="rect">
            <a:avLst/>
          </a:prstGeom>
          <a:solidFill>
            <a:srgbClr val="036B3F"/>
          </a:solidFill>
          <a:ln w="12700">
            <a:solidFill>
              <a:srgbClr val="036B3F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952805" y="4114800"/>
            <a:ext cx="16383305" cy="8385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2805" y="4114800"/>
            <a:ext cx="16383305" cy="47549"/>
          </a:xfrm>
          <a:prstGeom prst="rect">
            <a:avLst/>
          </a:prstGeom>
          <a:solidFill>
            <a:srgbClr val="9A7620"/>
          </a:solidFill>
          <a:ln w="12700">
            <a:solidFill>
              <a:srgbClr val="9A7620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52805" y="5029200"/>
            <a:ext cx="16383305" cy="8385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52805" y="5029200"/>
            <a:ext cx="16383305" cy="47549"/>
          </a:xfrm>
          <a:prstGeom prst="rect">
            <a:avLst/>
          </a:prstGeom>
          <a:solidFill>
            <a:srgbClr val="6B6B6B"/>
          </a:solidFill>
          <a:ln w="12700">
            <a:solidFill>
              <a:srgbClr val="6B6B6B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52805" y="5943600"/>
            <a:ext cx="16383305" cy="8385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952805" y="5943600"/>
            <a:ext cx="16383305" cy="47549"/>
          </a:xfrm>
          <a:prstGeom prst="rect">
            <a:avLst/>
          </a:prstGeom>
          <a:solidFill>
            <a:srgbClr val="A82A24"/>
          </a:solidFill>
          <a:ln w="12700">
            <a:solidFill>
              <a:srgbClr val="A82A24">
                <a:alpha val="0"/>
              </a:srgbClr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952805" y="8419795"/>
            <a:ext cx="16383305" cy="1104595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952805" y="342900"/>
            <a:ext cx="3199486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15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9048902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입법 경과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10877702" y="304495"/>
            <a:ext cx="1772107" cy="381305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규정 체계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12687300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총칙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14477695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금지 관행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16306495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고위험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952805" y="1104595"/>
            <a:ext cx="16383305" cy="8860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5000" b="1" kern="0" spc="-112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(2-5) 조문 상호 참조 구조</a:t>
            </a:r>
            <a:endParaRPr lang="en-US" sz="5000" dirty="0"/>
          </a:p>
        </p:txBody>
      </p:sp>
      <p:sp>
        <p:nvSpPr>
          <p:cNvPr id="20" name="Text 17"/>
          <p:cNvSpPr txBox="1"/>
          <p:nvPr/>
        </p:nvSpPr>
        <p:spPr>
          <a:xfrm>
            <a:off x="952805" y="2000707"/>
            <a:ext cx="16383305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조문을 읽으려면 다른 조문과 부속서를 함께 봐야 하는 구조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952805" y="2704795"/>
            <a:ext cx="16383305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 — 고위험 여부를 판단하는 경로</a:t>
            </a:r>
            <a:endParaRPr lang="en-US" sz="2000" dirty="0"/>
          </a:p>
        </p:txBody>
      </p:sp>
      <p:sp>
        <p:nvSpPr>
          <p:cNvPr id="22" name="Shape 19"/>
          <p:cNvSpPr/>
          <p:nvPr/>
        </p:nvSpPr>
        <p:spPr>
          <a:xfrm>
            <a:off x="1295705" y="3457346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1295705" y="3457346"/>
            <a:ext cx="324612" cy="3246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1867205" y="3448202"/>
            <a:ext cx="3810305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제6조 분류 기준</a:t>
            </a:r>
            <a:endParaRPr lang="en-US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5905195" y="3448202"/>
            <a:ext cx="11106302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 기준만 규정, 실제 목록은 부속서 I과 부속서 III으로 넘김</a:t>
            </a:r>
            <a:endParaRPr lang="en-US" sz="1800" dirty="0"/>
          </a:p>
        </p:txBody>
      </p:sp>
      <p:sp>
        <p:nvSpPr>
          <p:cNvPr id="26" name="Shape 23"/>
          <p:cNvSpPr/>
          <p:nvPr/>
        </p:nvSpPr>
        <p:spPr>
          <a:xfrm>
            <a:off x="1295705" y="4371746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1295705" y="4371746"/>
            <a:ext cx="324612" cy="3246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1867205" y="4362602"/>
            <a:ext cx="3810305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부속서 I 또는 III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5905195" y="4362602"/>
            <a:ext cx="11106302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부속서 I은 다시 20여 개 개별 EU 법령을 인용, 그 법령도 확인 필요</a:t>
            </a:r>
            <a:endParaRPr lang="en-US" sz="1800" dirty="0"/>
          </a:p>
        </p:txBody>
      </p:sp>
      <p:sp>
        <p:nvSpPr>
          <p:cNvPr id="30" name="Shape 27"/>
          <p:cNvSpPr/>
          <p:nvPr/>
        </p:nvSpPr>
        <p:spPr>
          <a:xfrm>
            <a:off x="1295705" y="5286146"/>
            <a:ext cx="323698" cy="323698"/>
          </a:xfrm>
          <a:prstGeom prst="ellipse">
            <a:avLst/>
          </a:prstGeom>
          <a:solidFill>
            <a:srgbClr val="6B6B6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1295705" y="5286146"/>
            <a:ext cx="324612" cy="3246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1867205" y="5277002"/>
            <a:ext cx="3810305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제6조 3항 제외 요건</a:t>
            </a:r>
            <a:endParaRPr lang="en-US" sz="1800" dirty="0"/>
          </a:p>
        </p:txBody>
      </p:sp>
      <p:sp>
        <p:nvSpPr>
          <p:cNvPr id="33" name="Text 30"/>
          <p:cNvSpPr txBox="1"/>
          <p:nvPr/>
        </p:nvSpPr>
        <p:spPr>
          <a:xfrm>
            <a:off x="5905195" y="5277002"/>
            <a:ext cx="11106302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목록에 있어도 4개 요건 충족 시 제외 가능, 단 프로파일링은 항상 고위험</a:t>
            </a:r>
            <a:endParaRPr lang="en-US" sz="1800" dirty="0"/>
          </a:p>
        </p:txBody>
      </p:sp>
      <p:sp>
        <p:nvSpPr>
          <p:cNvPr id="34" name="Shape 31"/>
          <p:cNvSpPr/>
          <p:nvPr/>
        </p:nvSpPr>
        <p:spPr>
          <a:xfrm>
            <a:off x="1295705" y="6200546"/>
            <a:ext cx="323698" cy="323698"/>
          </a:xfrm>
          <a:prstGeom prst="ellipse">
            <a:avLst/>
          </a:prstGeom>
          <a:solidFill>
            <a:srgbClr val="A82A2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1295705" y="6200546"/>
            <a:ext cx="324612" cy="3246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1867205" y="6191402"/>
            <a:ext cx="3810305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제8~15조 요건</a:t>
            </a:r>
            <a:endParaRPr lang="en-US" sz="1800" dirty="0"/>
          </a:p>
        </p:txBody>
      </p:sp>
      <p:sp>
        <p:nvSpPr>
          <p:cNvPr id="37" name="Text 34"/>
          <p:cNvSpPr txBox="1"/>
          <p:nvPr/>
        </p:nvSpPr>
        <p:spPr>
          <a:xfrm>
            <a:off x="5905195" y="6191402"/>
            <a:ext cx="11106302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고위험으로 확정되면 7대 요건 적용, 기술문서는 부속서 IV 참조</a:t>
            </a:r>
            <a:endParaRPr lang="en-US" sz="1800" dirty="0"/>
          </a:p>
        </p:txBody>
      </p:sp>
      <p:sp>
        <p:nvSpPr>
          <p:cNvPr id="39" name="Text 36"/>
          <p:cNvSpPr txBox="1"/>
          <p:nvPr/>
        </p:nvSpPr>
        <p:spPr>
          <a:xfrm>
            <a:off x="1333195" y="7023587"/>
            <a:ext cx="15621610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* </a:t>
            </a: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법지도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앱(AILawMap)이 이 참조 관계를 시각화한 도구, 조문 간 연결을 눌러가며 확인 가능</a:t>
            </a:r>
            <a:endParaRPr lang="en-US" sz="1800" dirty="0"/>
          </a:p>
        </p:txBody>
      </p:sp>
      <p:sp>
        <p:nvSpPr>
          <p:cNvPr id="40" name="Text 37"/>
          <p:cNvSpPr txBox="1"/>
          <p:nvPr/>
        </p:nvSpPr>
        <p:spPr>
          <a:xfrm>
            <a:off x="1333195" y="8648395"/>
            <a:ext cx="15621610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참조 깊이가 준수 비용을 만드는가?</a:t>
            </a:r>
            <a:endParaRPr lang="en-US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1333195" y="9090965"/>
            <a:ext cx="15621610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중소기업이 이 구조를 따라가는 데 드는 비용을 추정하면 규제 부담을 정량화할 수 있음</a:t>
            </a:r>
            <a:endParaRPr lang="en-US" sz="1800" dirty="0"/>
          </a:p>
        </p:txBody>
      </p:sp>
      <p:sp>
        <p:nvSpPr>
          <p:cNvPr id="42" name="Text 39"/>
          <p:cNvSpPr txBox="1"/>
          <p:nvPr/>
        </p:nvSpPr>
        <p:spPr>
          <a:xfrm>
            <a:off x="15430500" y="9791395"/>
            <a:ext cx="19056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18/51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e22c746fd81622b5deae707eff18ae09.png"/>
          <p:cNvPicPr>
            <a:picLocks noChangeAspect="1"/>
          </p:cNvPicPr>
          <p:nvPr/>
        </p:nvPicPr>
        <p:blipFill>
          <a:blip r:embed="rId3"/>
          <a:srcRect l="-80" r="-80"/>
          <a:stretch/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52805" y="8610905"/>
            <a:ext cx="16383305" cy="914400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952805" y="342900"/>
            <a:ext cx="3199486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15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9048902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입법 경과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0877702" y="304495"/>
            <a:ext cx="1772107" cy="381305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규정 체계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2687300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총칙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4477695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금지 관행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6306495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고위험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952805" y="1104595"/>
            <a:ext cx="16383305" cy="8860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5000" b="1" kern="0" spc="-112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(2-6) 조문 번호 대조, 초안과 최종본</a:t>
            </a:r>
            <a:endParaRPr lang="en-US" sz="5000" dirty="0"/>
          </a:p>
        </p:txBody>
      </p:sp>
      <p:sp>
        <p:nvSpPr>
          <p:cNvPr id="12" name="Text 9"/>
          <p:cNvSpPr txBox="1"/>
          <p:nvPr/>
        </p:nvSpPr>
        <p:spPr>
          <a:xfrm>
            <a:off x="952805" y="2000707"/>
            <a:ext cx="16383305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입법 초안과 관보 최종본의 조문 번호가 다름, 인용 시 주의 필요</a:t>
            </a:r>
            <a:endParaRPr lang="en-US" sz="18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01309339"/>
              </p:ext>
            </p:extLst>
          </p:nvPr>
        </p:nvGraphicFramePr>
        <p:xfrm>
          <a:off x="952805" y="2704794"/>
          <a:ext cx="16375075" cy="3696008"/>
        </p:xfrm>
        <a:graphic>
          <a:graphicData uri="http://schemas.openxmlformats.org/drawingml/2006/table">
            <a:tbl>
              <a:tblPr/>
              <a:tblGrid>
                <a:gridCol w="38103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4370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437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7735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62001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초안 단계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관보 최종본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비고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200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투명성 의무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제34~37조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제50조</a:t>
                      </a:r>
                      <a:endParaRPr lang="en-US" sz="1800" b="0" dirty="0">
                        <a:solidFill>
                          <a:schemeClr val="tx1"/>
                        </a:solidFill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4개 조문이 단일 조문으로 통합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200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범용 AI 모델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제38~44조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제51~56조</a:t>
                      </a:r>
                      <a:endParaRPr lang="en-US" sz="1800" b="0" dirty="0">
                        <a:solidFill>
                          <a:schemeClr val="tx1"/>
                        </a:solidFill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7개에서 6개로 축소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200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혁신 지원 조치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제45~49조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제57~63조</a:t>
                      </a:r>
                      <a:endParaRPr lang="en-US" sz="1800" b="0" dirty="0">
                        <a:solidFill>
                          <a:schemeClr val="tx1"/>
                        </a:solidFill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5개에서 7개로 확대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200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거버넌스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제50~56조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제64~70조</a:t>
                      </a:r>
                      <a:endParaRPr lang="en-US" sz="1800" b="0" dirty="0">
                        <a:solidFill>
                          <a:schemeClr val="tx1"/>
                        </a:solidFill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AI청 조항 신설 반영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6200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시장감시와 집행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제57~63조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제72~94조</a:t>
                      </a:r>
                      <a:endParaRPr lang="en-US" sz="1800" b="0" dirty="0">
                        <a:solidFill>
                          <a:schemeClr val="tx1"/>
                        </a:solidFill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7개에서 23개로 대폭 확대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6200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제재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제60~63조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제99~101조</a:t>
                      </a:r>
                      <a:endParaRPr lang="en-US" sz="1800" b="0" dirty="0">
                        <a:solidFill>
                          <a:schemeClr val="tx1"/>
                        </a:solidFill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과징금 3단계로 정리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6200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고위험 7대 요건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제8~15조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제8~15조</a:t>
                      </a:r>
                      <a:endParaRPr lang="en-US" sz="1800" b="0" dirty="0">
                        <a:solidFill>
                          <a:schemeClr val="tx1"/>
                        </a:solidFill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변동 없음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4" name="Text 10"/>
          <p:cNvSpPr txBox="1"/>
          <p:nvPr/>
        </p:nvSpPr>
        <p:spPr>
          <a:xfrm>
            <a:off x="1238097" y="6588064"/>
            <a:ext cx="15621610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* </a:t>
            </a: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방법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: </a:t>
            </a: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관보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원문(EUR-Lex) 또는 조문 정리 사이트(artificialintelligenceact.eu)로 대조</a:t>
            </a:r>
            <a:endParaRPr lang="en-US" sz="1800" dirty="0"/>
          </a:p>
        </p:txBody>
      </p:sp>
      <p:sp>
        <p:nvSpPr>
          <p:cNvPr id="16" name="Text 12"/>
          <p:cNvSpPr txBox="1"/>
          <p:nvPr/>
        </p:nvSpPr>
        <p:spPr>
          <a:xfrm>
            <a:off x="1333195" y="8708879"/>
            <a:ext cx="15621610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시장감시 조문이 7개에서 23개로 늘어난 것은 무엇을 뜻하는가?</a:t>
            </a:r>
            <a:endParaRPr lang="en-US" sz="1800" dirty="0"/>
          </a:p>
        </p:txBody>
      </p:sp>
      <p:sp>
        <p:nvSpPr>
          <p:cNvPr id="17" name="Text 13"/>
          <p:cNvSpPr txBox="1"/>
          <p:nvPr/>
        </p:nvSpPr>
        <p:spPr>
          <a:xfrm>
            <a:off x="1333195" y="9131332"/>
            <a:ext cx="15621610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심의 과정에서 무엇이 문제로 지적되었는지 조문 증감으로 역추적하는 연구가 가능</a:t>
            </a:r>
            <a:endParaRPr lang="en-US" sz="1800" dirty="0"/>
          </a:p>
        </p:txBody>
      </p:sp>
      <p:sp>
        <p:nvSpPr>
          <p:cNvPr id="18" name="Text 14"/>
          <p:cNvSpPr txBox="1"/>
          <p:nvPr/>
        </p:nvSpPr>
        <p:spPr>
          <a:xfrm>
            <a:off x="15430500" y="9791395"/>
            <a:ext cx="19056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19/51</a:t>
            </a:r>
            <a:endParaRPr lang="en-US" sz="1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e22c746fd81622b5deae707eff18ae09.png"/>
          <p:cNvPicPr>
            <a:picLocks noChangeAspect="1"/>
          </p:cNvPicPr>
          <p:nvPr/>
        </p:nvPicPr>
        <p:blipFill>
          <a:blip r:embed="rId3"/>
          <a:srcRect l="-80" r="-80"/>
          <a:stretch/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52805" y="2704795"/>
            <a:ext cx="8048549" cy="3143707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52805" y="2704795"/>
            <a:ext cx="8048549" cy="47549"/>
          </a:xfrm>
          <a:prstGeom prst="rect">
            <a:avLst/>
          </a:prstGeom>
          <a:solidFill>
            <a:srgbClr val="036B3F"/>
          </a:solidFill>
          <a:ln w="12700">
            <a:solidFill>
              <a:srgbClr val="036B3F">
                <a:alpha val="0"/>
              </a:srgbClr>
            </a:solidFill>
            <a:prstDash val="solid"/>
          </a:ln>
        </p:spPr>
      </p:sp>
      <p:pic>
        <p:nvPicPr>
          <p:cNvPr id="5" name="Image 1" descr="gen-dedup-c2dfa98337e9cb6ce99e9e949a17a885.png"/>
          <p:cNvPicPr>
            <a:picLocks noChangeAspect="1"/>
          </p:cNvPicPr>
          <p:nvPr/>
        </p:nvPicPr>
        <p:blipFill>
          <a:blip r:embed="rId4"/>
          <a:srcRect l="-2083" r="-2083"/>
          <a:stretch/>
        </p:blipFill>
        <p:spPr>
          <a:xfrm>
            <a:off x="1257300" y="3715207"/>
            <a:ext cx="7438644" cy="9144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9286646" y="2704795"/>
            <a:ext cx="8048549" cy="3143707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9286646" y="2704795"/>
            <a:ext cx="8048549" cy="47549"/>
          </a:xfrm>
          <a:prstGeom prst="rect">
            <a:avLst/>
          </a:prstGeom>
          <a:solidFill>
            <a:srgbClr val="9A7620"/>
          </a:solidFill>
          <a:ln w="12700">
            <a:solidFill>
              <a:srgbClr val="9A7620">
                <a:alpha val="0"/>
              </a:srgbClr>
            </a:solidFill>
            <a:prstDash val="solid"/>
          </a:ln>
        </p:spPr>
      </p:sp>
      <p:pic>
        <p:nvPicPr>
          <p:cNvPr id="8" name="Image 2" descr="gen-dedup-c2dfa98337e9cb6ce99e9e949a17a885.png"/>
          <p:cNvPicPr>
            <a:picLocks noChangeAspect="1"/>
          </p:cNvPicPr>
          <p:nvPr/>
        </p:nvPicPr>
        <p:blipFill>
          <a:blip r:embed="rId4"/>
          <a:srcRect l="-2083" r="-2083"/>
          <a:stretch/>
        </p:blipFill>
        <p:spPr>
          <a:xfrm>
            <a:off x="9592056" y="3715207"/>
            <a:ext cx="7438644" cy="9144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952805" y="6133795"/>
            <a:ext cx="16383305" cy="1619402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52805" y="6133795"/>
            <a:ext cx="16383305" cy="47549"/>
          </a:xfrm>
          <a:prstGeom prst="rect">
            <a:avLst/>
          </a:prstGeom>
          <a:solidFill>
            <a:srgbClr val="6B6B6B"/>
          </a:solidFill>
          <a:ln w="12700">
            <a:solidFill>
              <a:srgbClr val="6B6B6B">
                <a:alpha val="0"/>
              </a:srgbClr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952805" y="7944307"/>
            <a:ext cx="16383305" cy="1580998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952805" y="342900"/>
            <a:ext cx="3199486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15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500" dirty="0"/>
          </a:p>
        </p:txBody>
      </p:sp>
      <p:sp>
        <p:nvSpPr>
          <p:cNvPr id="13" name="Text 8"/>
          <p:cNvSpPr txBox="1"/>
          <p:nvPr/>
        </p:nvSpPr>
        <p:spPr>
          <a:xfrm>
            <a:off x="9048902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입법 경과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10877702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규정 체계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12687300" y="304495"/>
            <a:ext cx="1772107" cy="381305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총칙</a:t>
            </a:r>
            <a:endParaRPr lang="en-US" sz="1500" dirty="0"/>
          </a:p>
        </p:txBody>
      </p:sp>
      <p:sp>
        <p:nvSpPr>
          <p:cNvPr id="16" name="Text 11"/>
          <p:cNvSpPr txBox="1"/>
          <p:nvPr/>
        </p:nvSpPr>
        <p:spPr>
          <a:xfrm>
            <a:off x="14477695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금지 관행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16306495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고위험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952805" y="1104595"/>
            <a:ext cx="16383305" cy="8860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5000" b="1" kern="0" spc="-112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(3-1) 제1조 목적</a:t>
            </a:r>
            <a:endParaRPr lang="en-US" sz="5000" dirty="0"/>
          </a:p>
        </p:txBody>
      </p:sp>
      <p:sp>
        <p:nvSpPr>
          <p:cNvPr id="19" name="Text 14"/>
          <p:cNvSpPr txBox="1"/>
          <p:nvPr/>
        </p:nvSpPr>
        <p:spPr>
          <a:xfrm>
            <a:off x="952805" y="2000707"/>
            <a:ext cx="16383305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인간 중심(human-centric)이고 신뢰할 수 있는(trustworthy) AI</a:t>
            </a:r>
            <a:endParaRPr lang="en-US" sz="1800" dirty="0"/>
          </a:p>
        </p:txBody>
      </p:sp>
      <p:sp>
        <p:nvSpPr>
          <p:cNvPr id="20" name="Text 15"/>
          <p:cNvSpPr txBox="1"/>
          <p:nvPr/>
        </p:nvSpPr>
        <p:spPr>
          <a:xfrm>
            <a:off x="1257300" y="2991002"/>
            <a:ext cx="7439558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 kern="0" spc="-37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개의 목적이 병존</a:t>
            </a:r>
            <a:endParaRPr lang="en-US" sz="2500" dirty="0"/>
          </a:p>
        </p:txBody>
      </p:sp>
      <p:sp>
        <p:nvSpPr>
          <p:cNvPr id="21" name="Text 16"/>
          <p:cNvSpPr txBox="1"/>
          <p:nvPr/>
        </p:nvSpPr>
        <p:spPr>
          <a:xfrm>
            <a:off x="1257300" y="3981298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단일시장 기능 개선, 역내 규칙의 조화(harmonisation)</a:t>
            </a:r>
            <a:endParaRPr lang="en-US" sz="1800" dirty="0"/>
          </a:p>
        </p:txBody>
      </p:sp>
      <p:sp>
        <p:nvSpPr>
          <p:cNvPr id="22" name="Text 17"/>
          <p:cNvSpPr txBox="1"/>
          <p:nvPr/>
        </p:nvSpPr>
        <p:spPr>
          <a:xfrm>
            <a:off x="1257300" y="4480560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건강, 안전, 기본권 보호와 혁신 지원</a:t>
            </a:r>
            <a:endParaRPr lang="en-US" sz="1800" dirty="0"/>
          </a:p>
        </p:txBody>
      </p:sp>
      <p:sp>
        <p:nvSpPr>
          <p:cNvPr id="23" name="Text 18"/>
          <p:cNvSpPr txBox="1"/>
          <p:nvPr/>
        </p:nvSpPr>
        <p:spPr>
          <a:xfrm>
            <a:off x="1257300" y="4979822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경제적 목적과 권리 보호 목적이 한 조문에 함께 놓임</a:t>
            </a:r>
            <a:endParaRPr lang="en-US" sz="1800" dirty="0"/>
          </a:p>
        </p:txBody>
      </p:sp>
      <p:sp>
        <p:nvSpPr>
          <p:cNvPr id="24" name="Text 19"/>
          <p:cNvSpPr txBox="1"/>
          <p:nvPr/>
        </p:nvSpPr>
        <p:spPr>
          <a:xfrm>
            <a:off x="9592056" y="2991002"/>
            <a:ext cx="7439558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 kern="0" spc="-37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규율 대상 7가지</a:t>
            </a:r>
            <a:endParaRPr lang="en-US" sz="2500" dirty="0"/>
          </a:p>
        </p:txBody>
      </p:sp>
      <p:sp>
        <p:nvSpPr>
          <p:cNvPr id="25" name="Text 20"/>
          <p:cNvSpPr txBox="1"/>
          <p:nvPr/>
        </p:nvSpPr>
        <p:spPr>
          <a:xfrm>
            <a:off x="9592056" y="3981298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출시와 사용에 관한 조화 규칙, 금지 관행, 고위험 요건</a:t>
            </a:r>
            <a:endParaRPr lang="en-US" sz="1800" dirty="0"/>
          </a:p>
        </p:txBody>
      </p:sp>
      <p:sp>
        <p:nvSpPr>
          <p:cNvPr id="26" name="Text 21"/>
          <p:cNvSpPr txBox="1"/>
          <p:nvPr/>
        </p:nvSpPr>
        <p:spPr>
          <a:xfrm>
            <a:off x="9592056" y="4442155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투명성 의무, 범용 AI 모델 규칙</a:t>
            </a:r>
            <a:endParaRPr lang="en-US" sz="1800" dirty="0"/>
          </a:p>
        </p:txBody>
      </p:sp>
      <p:sp>
        <p:nvSpPr>
          <p:cNvPr id="27" name="Text 22"/>
          <p:cNvSpPr txBox="1"/>
          <p:nvPr/>
        </p:nvSpPr>
        <p:spPr>
          <a:xfrm>
            <a:off x="9592056" y="4903927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시장감시와 거버넌스, 혁신 지원 조치</a:t>
            </a:r>
            <a:endParaRPr lang="en-US" sz="1800" dirty="0"/>
          </a:p>
        </p:txBody>
      </p:sp>
      <p:sp>
        <p:nvSpPr>
          <p:cNvPr id="28" name="Text 23"/>
          <p:cNvSpPr txBox="1"/>
          <p:nvPr/>
        </p:nvSpPr>
        <p:spPr>
          <a:xfrm>
            <a:off x="1257300" y="6400800"/>
            <a:ext cx="15773400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 kern="0" spc="-37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개념의 출처</a:t>
            </a:r>
            <a:endParaRPr lang="en-US" sz="2500" dirty="0"/>
          </a:p>
        </p:txBody>
      </p:sp>
      <p:sp>
        <p:nvSpPr>
          <p:cNvPr id="29" name="Text 24"/>
          <p:cNvSpPr txBox="1"/>
          <p:nvPr/>
        </p:nvSpPr>
        <p:spPr>
          <a:xfrm>
            <a:off x="4000500" y="6543626"/>
            <a:ext cx="12305995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인간 중심과 신뢰 개념은 2019년 고위전문가그룹(HLEG) 윤리 가이드라인 7대 요건에서 옴</a:t>
            </a:r>
            <a:endParaRPr lang="en-US" sz="1800" dirty="0"/>
          </a:p>
        </p:txBody>
      </p:sp>
      <p:sp>
        <p:nvSpPr>
          <p:cNvPr id="30" name="Text 25"/>
          <p:cNvSpPr txBox="1"/>
          <p:nvPr/>
        </p:nvSpPr>
        <p:spPr>
          <a:xfrm>
            <a:off x="4000500" y="6985282"/>
            <a:ext cx="12305995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전문 제1항이 법치, 민주주의, 기본권을 명시, 경제협력개발기구(OECD) 원칙도 참조</a:t>
            </a:r>
            <a:endParaRPr lang="en-US" sz="1800" dirty="0"/>
          </a:p>
        </p:txBody>
      </p:sp>
      <p:sp>
        <p:nvSpPr>
          <p:cNvPr id="31" name="Text 26"/>
          <p:cNvSpPr txBox="1"/>
          <p:nvPr/>
        </p:nvSpPr>
        <p:spPr>
          <a:xfrm>
            <a:off x="1333195" y="8282968"/>
            <a:ext cx="15621610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단일시장 조화와 기본권 보호가 충돌하면 어느 쪽이 우선하는가? 조문에 답이 있는가?</a:t>
            </a:r>
            <a:endParaRPr lang="en-US" sz="1800" dirty="0"/>
          </a:p>
        </p:txBody>
      </p:sp>
      <p:sp>
        <p:nvSpPr>
          <p:cNvPr id="32" name="Text 27"/>
          <p:cNvSpPr txBox="1"/>
          <p:nvPr/>
        </p:nvSpPr>
        <p:spPr>
          <a:xfrm>
            <a:off x="1333195" y="8725537"/>
            <a:ext cx="15621610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윤리 가이드라인 7대 요건과 제8~15조 7대 요건은 같은 것인가? 항목을 대조해 볼 것</a:t>
            </a:r>
            <a:endParaRPr lang="en-US" sz="1800" dirty="0"/>
          </a:p>
        </p:txBody>
      </p:sp>
      <p:sp>
        <p:nvSpPr>
          <p:cNvPr id="33" name="Text 28"/>
          <p:cNvSpPr txBox="1"/>
          <p:nvPr/>
        </p:nvSpPr>
        <p:spPr>
          <a:xfrm>
            <a:off x="15430500" y="9791395"/>
            <a:ext cx="19056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20/51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e22c746fd81622b5deae707eff18ae09.png"/>
          <p:cNvPicPr>
            <a:picLocks noChangeAspect="1"/>
          </p:cNvPicPr>
          <p:nvPr/>
        </p:nvPicPr>
        <p:blipFill>
          <a:blip r:embed="rId3"/>
          <a:srcRect l="-80" r="-80"/>
          <a:stretch/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52805" y="7207625"/>
            <a:ext cx="16383305" cy="2317680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952805" y="342900"/>
            <a:ext cx="3199486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15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9048902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입법 경과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0877702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규정 체계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2687300" y="304495"/>
            <a:ext cx="1772107" cy="381305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총칙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4477695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금지 관행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6306495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고위험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952805" y="1104595"/>
            <a:ext cx="16383305" cy="8860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5000" b="1" kern="0" spc="-112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(3-2) 제2조 적용 범위, 적용 대상</a:t>
            </a:r>
            <a:endParaRPr lang="en-US" sz="5000" dirty="0"/>
          </a:p>
        </p:txBody>
      </p:sp>
      <p:sp>
        <p:nvSpPr>
          <p:cNvPr id="12" name="Text 9"/>
          <p:cNvSpPr txBox="1"/>
          <p:nvPr/>
        </p:nvSpPr>
        <p:spPr>
          <a:xfrm>
            <a:off x="952805" y="2000707"/>
            <a:ext cx="16383305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6개 주체 유형</a:t>
            </a:r>
            <a:endParaRPr lang="en-US" sz="18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82938931"/>
              </p:ext>
            </p:extLst>
          </p:nvPr>
        </p:nvGraphicFramePr>
        <p:xfrm>
          <a:off x="952805" y="2704795"/>
          <a:ext cx="16373246" cy="3362177"/>
        </p:xfrm>
        <a:graphic>
          <a:graphicData uri="http://schemas.openxmlformats.org/drawingml/2006/table">
            <a:tbl>
              <a:tblPr/>
              <a:tblGrid>
                <a:gridCol w="2857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336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18205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80311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주체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정의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적용 요건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031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제공자(provider)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시스템을 개발하여 자기 이름으로 출시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EU 내 출시 또는 서비스 개시, 소재지 무관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031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배포자(deployer)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자기 권한으로 시스템을 사용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EU 내 설립 또는 소재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031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수입자(importer)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역외 제공자의 시스템을 EU 시장에 출시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EU 내 설립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031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유통자(distributor)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공급망에서 시스템을 시장에 제공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제공자와 수입자 외의 공급망 참여자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8031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제품 제조자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AI를 내장한 제품을 자기 상표로 출시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부속서 I 법령 적용 제품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8031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권한 있는 대표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역외 제공자를 대리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EU 내 지정 의무, 제22조와 제54조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4" name="Text 10"/>
          <p:cNvSpPr txBox="1"/>
          <p:nvPr/>
        </p:nvSpPr>
        <p:spPr>
          <a:xfrm>
            <a:off x="1333195" y="7553803"/>
            <a:ext cx="15621610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의무의 무게가 주체별로 다름, 제공자가 가장 무겁고 유통자가 가장 가벼움</a:t>
            </a:r>
            <a:endParaRPr lang="en-US" sz="1800" dirty="0"/>
          </a:p>
        </p:txBody>
      </p:sp>
      <p:sp>
        <p:nvSpPr>
          <p:cNvPr id="15" name="Text 11"/>
          <p:cNvSpPr txBox="1"/>
          <p:nvPr/>
        </p:nvSpPr>
        <p:spPr>
          <a:xfrm>
            <a:off x="1333195" y="7965283"/>
            <a:ext cx="15621610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사업자가 여러 역할을 겸할 수 있음, 예를 들어 모델을 만들어 자사 서비스에 쓰면 제공자와 배포자</a:t>
            </a:r>
            <a:endParaRPr lang="en-US" sz="1800" dirty="0"/>
          </a:p>
        </p:txBody>
      </p:sp>
      <p:sp>
        <p:nvSpPr>
          <p:cNvPr id="16" name="Text 12"/>
          <p:cNvSpPr txBox="1"/>
          <p:nvPr/>
        </p:nvSpPr>
        <p:spPr>
          <a:xfrm>
            <a:off x="1333195" y="8382305"/>
            <a:ext cx="15621610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역할이 겹칠 때 의무는 합산되는가, 가장 무거운 쪽을 따르는가? 조문에 명확한 답이 있는가?</a:t>
            </a:r>
            <a:endParaRPr lang="en-US" sz="1800" dirty="0"/>
          </a:p>
        </p:txBody>
      </p:sp>
      <p:sp>
        <p:nvSpPr>
          <p:cNvPr id="17" name="Text 13"/>
          <p:cNvSpPr txBox="1"/>
          <p:nvPr/>
        </p:nvSpPr>
        <p:spPr>
          <a:xfrm>
            <a:off x="1333195" y="8823960"/>
            <a:ext cx="15621610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국내 인공지능기본법의 AI 사업자 구분과 대조하면 포섭 범위 차이를 볼 수 있음</a:t>
            </a:r>
            <a:endParaRPr lang="en-US" sz="1800" dirty="0"/>
          </a:p>
        </p:txBody>
      </p:sp>
      <p:sp>
        <p:nvSpPr>
          <p:cNvPr id="18" name="Text 14"/>
          <p:cNvSpPr txBox="1"/>
          <p:nvPr/>
        </p:nvSpPr>
        <p:spPr>
          <a:xfrm>
            <a:off x="15430500" y="9791395"/>
            <a:ext cx="19056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21/51</a:t>
            </a:r>
            <a:endParaRPr lang="en-US" sz="1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e22c746fd81622b5deae707eff18ae09.png"/>
          <p:cNvPicPr>
            <a:picLocks noChangeAspect="1"/>
          </p:cNvPicPr>
          <p:nvPr/>
        </p:nvPicPr>
        <p:blipFill>
          <a:blip r:embed="rId3"/>
          <a:srcRect l="-80" r="-80"/>
          <a:stretch/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52805" y="2704795"/>
            <a:ext cx="8048549" cy="304769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52805" y="2704795"/>
            <a:ext cx="8048549" cy="47549"/>
          </a:xfrm>
          <a:prstGeom prst="rect">
            <a:avLst/>
          </a:prstGeom>
          <a:solidFill>
            <a:srgbClr val="036B3F"/>
          </a:solidFill>
          <a:ln w="12700">
            <a:solidFill>
              <a:srgbClr val="036B3F">
                <a:alpha val="0"/>
              </a:srgbClr>
            </a:solidFill>
            <a:prstDash val="solid"/>
          </a:ln>
        </p:spPr>
      </p:sp>
      <p:pic>
        <p:nvPicPr>
          <p:cNvPr id="5" name="Image 1" descr="gen-dedup-c2dfa98337e9cb6ce99e9e949a17a885.png"/>
          <p:cNvPicPr>
            <a:picLocks noChangeAspect="1"/>
          </p:cNvPicPr>
          <p:nvPr/>
        </p:nvPicPr>
        <p:blipFill>
          <a:blip r:embed="rId4"/>
          <a:srcRect l="-2083" r="-2083"/>
          <a:stretch/>
        </p:blipFill>
        <p:spPr>
          <a:xfrm>
            <a:off x="1257300" y="3715207"/>
            <a:ext cx="7438644" cy="9144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9286646" y="2704795"/>
            <a:ext cx="8048549" cy="304769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9286646" y="2704795"/>
            <a:ext cx="8048549" cy="47549"/>
          </a:xfrm>
          <a:prstGeom prst="rect">
            <a:avLst/>
          </a:prstGeom>
          <a:solidFill>
            <a:srgbClr val="9A7620"/>
          </a:solidFill>
          <a:ln w="12700">
            <a:solidFill>
              <a:srgbClr val="9A7620">
                <a:alpha val="0"/>
              </a:srgbClr>
            </a:solidFill>
            <a:prstDash val="solid"/>
          </a:ln>
        </p:spPr>
      </p:sp>
      <p:pic>
        <p:nvPicPr>
          <p:cNvPr id="8" name="Image 2" descr="gen-dedup-c2dfa98337e9cb6ce99e9e949a17a885.png"/>
          <p:cNvPicPr>
            <a:picLocks noChangeAspect="1"/>
          </p:cNvPicPr>
          <p:nvPr/>
        </p:nvPicPr>
        <p:blipFill>
          <a:blip r:embed="rId4"/>
          <a:srcRect l="-2083" r="-2083"/>
          <a:stretch/>
        </p:blipFill>
        <p:spPr>
          <a:xfrm>
            <a:off x="9592056" y="3715207"/>
            <a:ext cx="7438644" cy="9144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952805" y="5962802"/>
            <a:ext cx="16383305" cy="18672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52805" y="5962802"/>
            <a:ext cx="16383305" cy="47549"/>
          </a:xfrm>
          <a:prstGeom prst="rect">
            <a:avLst/>
          </a:prstGeom>
          <a:solidFill>
            <a:srgbClr val="6B6B6B"/>
          </a:solidFill>
          <a:ln w="12700">
            <a:solidFill>
              <a:srgbClr val="6B6B6B">
                <a:alpha val="0"/>
              </a:srgbClr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952805" y="8134502"/>
            <a:ext cx="16383305" cy="1390802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952805" y="342900"/>
            <a:ext cx="3199486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15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500" dirty="0"/>
          </a:p>
        </p:txBody>
      </p:sp>
      <p:sp>
        <p:nvSpPr>
          <p:cNvPr id="13" name="Text 8"/>
          <p:cNvSpPr txBox="1"/>
          <p:nvPr/>
        </p:nvSpPr>
        <p:spPr>
          <a:xfrm>
            <a:off x="9048902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입법 경과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10877702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규정 체계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12687300" y="304495"/>
            <a:ext cx="1772107" cy="381305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총칙</a:t>
            </a:r>
            <a:endParaRPr lang="en-US" sz="1500" dirty="0"/>
          </a:p>
        </p:txBody>
      </p:sp>
      <p:sp>
        <p:nvSpPr>
          <p:cNvPr id="16" name="Text 11"/>
          <p:cNvSpPr txBox="1"/>
          <p:nvPr/>
        </p:nvSpPr>
        <p:spPr>
          <a:xfrm>
            <a:off x="14477695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금지 관행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16306495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고위험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952805" y="1104595"/>
            <a:ext cx="16383305" cy="8860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5000" b="1" kern="0" spc="-112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(3-3) 역외 적용</a:t>
            </a:r>
            <a:endParaRPr lang="en-US" sz="5000" dirty="0"/>
          </a:p>
        </p:txBody>
      </p:sp>
      <p:sp>
        <p:nvSpPr>
          <p:cNvPr id="19" name="Text 14"/>
          <p:cNvSpPr txBox="1"/>
          <p:nvPr/>
        </p:nvSpPr>
        <p:spPr>
          <a:xfrm>
            <a:off x="952805" y="2000707"/>
            <a:ext cx="16383305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EU에 법인이 없어도 의무 발생, 브뤼셀 효과의 법적 근거</a:t>
            </a:r>
            <a:endParaRPr lang="en-US" sz="1800" dirty="0"/>
          </a:p>
        </p:txBody>
      </p:sp>
      <p:sp>
        <p:nvSpPr>
          <p:cNvPr id="20" name="Text 15"/>
          <p:cNvSpPr txBox="1"/>
          <p:nvPr/>
        </p:nvSpPr>
        <p:spPr>
          <a:xfrm>
            <a:off x="1257300" y="2991002"/>
            <a:ext cx="7439558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 kern="0" spc="-37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적용되는 경우</a:t>
            </a:r>
            <a:endParaRPr lang="en-US" sz="2500" dirty="0"/>
          </a:p>
        </p:txBody>
      </p:sp>
      <p:sp>
        <p:nvSpPr>
          <p:cNvPr id="21" name="Text 16"/>
          <p:cNvSpPr txBox="1"/>
          <p:nvPr/>
        </p:nvSpPr>
        <p:spPr>
          <a:xfrm>
            <a:off x="1257300" y="3981298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EU 시장에 시스템을 출시하는 경우, 제공자 소재지 무관</a:t>
            </a:r>
            <a:endParaRPr lang="en-US" sz="1800" dirty="0"/>
          </a:p>
        </p:txBody>
      </p:sp>
      <p:sp>
        <p:nvSpPr>
          <p:cNvPr id="22" name="Text 17"/>
          <p:cNvSpPr txBox="1"/>
          <p:nvPr/>
        </p:nvSpPr>
        <p:spPr>
          <a:xfrm>
            <a:off x="1257300" y="4461358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EU 내 배포자가 사용하는 경우</a:t>
            </a:r>
            <a:endParaRPr lang="en-US" sz="1800" dirty="0"/>
          </a:p>
        </p:txBody>
      </p:sp>
      <p:sp>
        <p:nvSpPr>
          <p:cNvPr id="23" name="Text 18"/>
          <p:cNvSpPr txBox="1"/>
          <p:nvPr/>
        </p:nvSpPr>
        <p:spPr>
          <a:xfrm>
            <a:off x="1257300" y="4941418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역외에서 사용하나 그 산출물이 EU 내에서 쓰이는 경우</a:t>
            </a:r>
            <a:endParaRPr lang="en-US" sz="1800" dirty="0"/>
          </a:p>
        </p:txBody>
      </p:sp>
      <p:sp>
        <p:nvSpPr>
          <p:cNvPr id="24" name="Text 19"/>
          <p:cNvSpPr txBox="1"/>
          <p:nvPr/>
        </p:nvSpPr>
        <p:spPr>
          <a:xfrm>
            <a:off x="9592056" y="2991002"/>
            <a:ext cx="7439558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ko-KR" altLang="en-US" sz="2500" b="1" kern="0" spc="-37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역외 적용되는 경우</a:t>
            </a:r>
            <a:endParaRPr lang="en-US" sz="2500" dirty="0"/>
          </a:p>
        </p:txBody>
      </p:sp>
      <p:sp>
        <p:nvSpPr>
          <p:cNvPr id="25" name="Text 20"/>
          <p:cNvSpPr txBox="1"/>
          <p:nvPr/>
        </p:nvSpPr>
        <p:spPr>
          <a:xfrm>
            <a:off x="9592056" y="3981298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 — 한국 기업이 한국에서 이력서 심사 AI를 운영</a:t>
            </a:r>
            <a:endParaRPr lang="en-US" sz="1800" dirty="0"/>
          </a:p>
        </p:txBody>
      </p:sp>
      <p:sp>
        <p:nvSpPr>
          <p:cNvPr id="26" name="Text 21"/>
          <p:cNvSpPr txBox="1"/>
          <p:nvPr/>
        </p:nvSpPr>
        <p:spPr>
          <a:xfrm>
            <a:off x="9592056" y="4461358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심사 결과가 EU 내 지원자에게 적용되면 의무 발생</a:t>
            </a:r>
            <a:endParaRPr lang="en-US" sz="1800" dirty="0"/>
          </a:p>
        </p:txBody>
      </p:sp>
      <p:sp>
        <p:nvSpPr>
          <p:cNvPr id="27" name="Text 22"/>
          <p:cNvSpPr txBox="1"/>
          <p:nvPr/>
        </p:nvSpPr>
        <p:spPr>
          <a:xfrm>
            <a:off x="9592056" y="4941418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위치, 법인 소재지, 계약 준거법과 무관</a:t>
            </a:r>
            <a:endParaRPr lang="en-US" sz="1800" dirty="0"/>
          </a:p>
        </p:txBody>
      </p:sp>
      <p:sp>
        <p:nvSpPr>
          <p:cNvPr id="28" name="Text 23"/>
          <p:cNvSpPr txBox="1"/>
          <p:nvPr/>
        </p:nvSpPr>
        <p:spPr>
          <a:xfrm>
            <a:off x="1257300" y="6210605"/>
            <a:ext cx="15773400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 kern="0" spc="-37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역외 제공자의 대응 의무</a:t>
            </a:r>
            <a:endParaRPr lang="en-US" sz="2500" dirty="0"/>
          </a:p>
        </p:txBody>
      </p:sp>
      <p:sp>
        <p:nvSpPr>
          <p:cNvPr id="29" name="Text 24"/>
          <p:cNvSpPr txBox="1"/>
          <p:nvPr/>
        </p:nvSpPr>
        <p:spPr>
          <a:xfrm>
            <a:off x="1257300" y="6782105"/>
            <a:ext cx="15773400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고위험 시스템 제공자는 EU 내 권한 있는 대표를 서면으로 지정, 제22조, 범용 AI 모델 제공자도 동일한 지정 의무, 제54조</a:t>
            </a:r>
            <a:endParaRPr lang="en-US" sz="1800" dirty="0"/>
          </a:p>
        </p:txBody>
      </p:sp>
      <p:sp>
        <p:nvSpPr>
          <p:cNvPr id="30" name="Text 25"/>
          <p:cNvSpPr txBox="1"/>
          <p:nvPr/>
        </p:nvSpPr>
        <p:spPr>
          <a:xfrm>
            <a:off x="1257300" y="7223760"/>
            <a:ext cx="15773400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대표는 기술문서 보관, 당국 협력, 적합성 선언 유지를 담당</a:t>
            </a:r>
            <a:endParaRPr lang="en-US" sz="1800" dirty="0"/>
          </a:p>
        </p:txBody>
      </p:sp>
      <p:sp>
        <p:nvSpPr>
          <p:cNvPr id="31" name="Text 26"/>
          <p:cNvSpPr txBox="1"/>
          <p:nvPr/>
        </p:nvSpPr>
        <p:spPr>
          <a:xfrm>
            <a:off x="1333195" y="8193623"/>
            <a:ext cx="15621610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제2강에서 다룬 브뤼셀 효과가 이 조문에서 발생</a:t>
            </a:r>
            <a:endParaRPr lang="en-US" sz="1800" dirty="0"/>
          </a:p>
        </p:txBody>
      </p:sp>
      <p:sp>
        <p:nvSpPr>
          <p:cNvPr id="32" name="Text 27"/>
          <p:cNvSpPr txBox="1"/>
          <p:nvPr/>
        </p:nvSpPr>
        <p:spPr>
          <a:xfrm>
            <a:off x="1333195" y="8635278"/>
            <a:ext cx="15621610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국내 기업이 EU 기준을 따르면 국내 서비스도 같은 기준이 적용되는가? 분리 운영이 가능한가?</a:t>
            </a:r>
            <a:endParaRPr lang="en-US" sz="1800" dirty="0"/>
          </a:p>
        </p:txBody>
      </p:sp>
      <p:sp>
        <p:nvSpPr>
          <p:cNvPr id="33" name="Text 28"/>
          <p:cNvSpPr txBox="1"/>
          <p:nvPr/>
        </p:nvSpPr>
        <p:spPr>
          <a:xfrm>
            <a:off x="1333195" y="9076933"/>
            <a:ext cx="15621610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국내 인공지능기본법 제4조의 역외 적용 문언과 비교하면 어느 쪽이 더 넓은가?</a:t>
            </a:r>
            <a:endParaRPr lang="en-US" sz="1800" dirty="0"/>
          </a:p>
        </p:txBody>
      </p:sp>
      <p:sp>
        <p:nvSpPr>
          <p:cNvPr id="34" name="Text 29"/>
          <p:cNvSpPr txBox="1"/>
          <p:nvPr/>
        </p:nvSpPr>
        <p:spPr>
          <a:xfrm>
            <a:off x="15430500" y="9791395"/>
            <a:ext cx="19056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22/51</a:t>
            </a:r>
            <a:endParaRPr lang="en-US" sz="1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e22c746fd81622b5deae707eff18ae09.png"/>
          <p:cNvPicPr>
            <a:picLocks noChangeAspect="1"/>
          </p:cNvPicPr>
          <p:nvPr/>
        </p:nvPicPr>
        <p:blipFill>
          <a:blip r:embed="rId3"/>
          <a:srcRect l="-80" r="-80"/>
          <a:stretch/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52805" y="6705295"/>
            <a:ext cx="8048549" cy="1429207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52805" y="6705295"/>
            <a:ext cx="8048549" cy="47549"/>
          </a:xfrm>
          <a:prstGeom prst="rect">
            <a:avLst/>
          </a:prstGeom>
          <a:solidFill>
            <a:srgbClr val="6B6B6B"/>
          </a:solidFill>
          <a:ln w="12700">
            <a:solidFill>
              <a:srgbClr val="6B6B6B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9286646" y="6705295"/>
            <a:ext cx="8048549" cy="1429207"/>
          </a:xfrm>
          <a:prstGeom prst="rect">
            <a:avLst/>
          </a:prstGeom>
          <a:solidFill>
            <a:srgbClr val="E8F1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2805" y="8324698"/>
            <a:ext cx="16383305" cy="12006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2805" y="342900"/>
            <a:ext cx="3199486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15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9048902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입법 경과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0877702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규정 체계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2687300" y="304495"/>
            <a:ext cx="1772107" cy="381305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총칙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4477695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금지 관행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16306495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고위험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952805" y="1104595"/>
            <a:ext cx="16383305" cy="8860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5000" b="1" kern="0" spc="-112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(3-4) 적용 제외 영역</a:t>
            </a:r>
            <a:endParaRPr lang="en-US" sz="5000" dirty="0"/>
          </a:p>
        </p:txBody>
      </p:sp>
      <p:sp>
        <p:nvSpPr>
          <p:cNvPr id="14" name="Text 11"/>
          <p:cNvSpPr txBox="1"/>
          <p:nvPr/>
        </p:nvSpPr>
        <p:spPr>
          <a:xfrm>
            <a:off x="952805" y="2000707"/>
            <a:ext cx="16383305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제2조 2항부터 12항, 이 법이 미치지 않는 범위</a:t>
            </a:r>
            <a:endParaRPr lang="en-US" sz="18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6597516"/>
              </p:ext>
            </p:extLst>
          </p:nvPr>
        </p:nvGraphicFramePr>
        <p:xfrm>
          <a:off x="952805" y="2704795"/>
          <a:ext cx="16374161" cy="3620113"/>
        </p:xfrm>
        <a:graphic>
          <a:graphicData uri="http://schemas.openxmlformats.org/drawingml/2006/table">
            <a:tbl>
              <a:tblPr/>
              <a:tblGrid>
                <a:gridCol w="276240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533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65845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1715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제외 영역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105156" marB="105156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범위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105156" marB="105156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근거와 취지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105156" marB="105156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715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군사, 국방, 안보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해당 목적으로만 개발되거나 사용되는 시스템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회원국 주권 사항, EU 권한 범위 밖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715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제3국 공공기관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국제 협력 협정에 따른 법 집행, 사법 공조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기본권 보호 수준이 상응하는 경우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715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연구 개발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출시 전 연구, 시험, 개발 활동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실환경 시험은 제외되지 않음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715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개인적 비직업 사용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자연인이 사적으로 사용하는 경우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가정 내 사용 등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715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무료 공개 소스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자유 공개 라이선스로 배포되는 시스템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단, 금지 관행과 고위험, 제50조는 적용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1715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출시 전 부속서 I 제품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기존 제품안전 법령 적용 대상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중복 규제 회피, 해당 법령 절차에 편입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105156" marB="105156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6" name="Text 12"/>
          <p:cNvSpPr txBox="1"/>
          <p:nvPr/>
        </p:nvSpPr>
        <p:spPr>
          <a:xfrm>
            <a:off x="1257300" y="6953098"/>
            <a:ext cx="7439558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법이 우선하는 영역</a:t>
            </a:r>
            <a:endParaRPr lang="en-US" sz="2000" dirty="0"/>
          </a:p>
        </p:txBody>
      </p:sp>
      <p:sp>
        <p:nvSpPr>
          <p:cNvPr id="17" name="Text 13"/>
          <p:cNvSpPr txBox="1"/>
          <p:nvPr/>
        </p:nvSpPr>
        <p:spPr>
          <a:xfrm>
            <a:off x="1257300" y="7394753"/>
            <a:ext cx="7439558" cy="7205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개인정보보호 규정(GDPR)과 디지털서비스법(DSA)은 영향받지 않음,</a:t>
            </a:r>
            <a:endParaRPr lang="en-US" sz="1800" dirty="0"/>
          </a:p>
          <a:p>
            <a:pPr marL="0" indent="0" algn="l">
              <a:lnSpc>
                <a:spcPts val="27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제2조 5항과 7항</a:t>
            </a:r>
            <a:endParaRPr lang="en-US" sz="1800" dirty="0"/>
          </a:p>
        </p:txBody>
      </p:sp>
      <p:sp>
        <p:nvSpPr>
          <p:cNvPr id="18" name="Text 14"/>
          <p:cNvSpPr txBox="1"/>
          <p:nvPr/>
        </p:nvSpPr>
        <p:spPr>
          <a:xfrm>
            <a:off x="9592056" y="6953098"/>
            <a:ext cx="7439558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공개 소스 제외의 한계</a:t>
            </a:r>
            <a:endParaRPr lang="en-US" sz="2000" dirty="0"/>
          </a:p>
        </p:txBody>
      </p:sp>
      <p:sp>
        <p:nvSpPr>
          <p:cNvPr id="19" name="Text 15"/>
          <p:cNvSpPr txBox="1"/>
          <p:nvPr/>
        </p:nvSpPr>
        <p:spPr>
          <a:xfrm>
            <a:off x="9592056" y="7429500"/>
            <a:ext cx="7439558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공개했다고 전부 면제가 아님, 금지와 고위험은 그대로 적용</a:t>
            </a:r>
            <a:endParaRPr lang="en-US" sz="1800" dirty="0"/>
          </a:p>
        </p:txBody>
      </p:sp>
      <p:sp>
        <p:nvSpPr>
          <p:cNvPr id="20" name="Text 16"/>
          <p:cNvSpPr txBox="1"/>
          <p:nvPr/>
        </p:nvSpPr>
        <p:spPr>
          <a:xfrm>
            <a:off x="1333195" y="8553298"/>
            <a:ext cx="15621610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군사 제외와 공개 소스 제외는 각각 어떤 공백을 만드는가?</a:t>
            </a:r>
            <a:endParaRPr lang="en-US" sz="1800" dirty="0"/>
          </a:p>
        </p:txBody>
      </p:sp>
      <p:sp>
        <p:nvSpPr>
          <p:cNvPr id="21" name="Text 17"/>
          <p:cNvSpPr txBox="1"/>
          <p:nvPr/>
        </p:nvSpPr>
        <p:spPr>
          <a:xfrm>
            <a:off x="1333195" y="8995867"/>
            <a:ext cx="15621610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제외 규정을 모아 보면 이 법이 포기한 영역이 드러남, 그 공백을 메우는 다른 규범이 있는가?</a:t>
            </a:r>
            <a:endParaRPr lang="en-US" sz="1800" dirty="0"/>
          </a:p>
        </p:txBody>
      </p:sp>
      <p:sp>
        <p:nvSpPr>
          <p:cNvPr id="22" name="Text 18"/>
          <p:cNvSpPr txBox="1"/>
          <p:nvPr/>
        </p:nvSpPr>
        <p:spPr>
          <a:xfrm>
            <a:off x="15430500" y="9791395"/>
            <a:ext cx="19056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23/51</a:t>
            </a:r>
            <a:endParaRPr lang="en-US" sz="1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e22c746fd81622b5deae707eff18ae09.png"/>
          <p:cNvPicPr>
            <a:picLocks noChangeAspect="1"/>
          </p:cNvPicPr>
          <p:nvPr/>
        </p:nvPicPr>
        <p:blipFill>
          <a:blip r:embed="rId3"/>
          <a:srcRect l="-80" r="-80"/>
          <a:stretch/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52805" y="2704795"/>
            <a:ext cx="16383305" cy="1809598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52805" y="2704795"/>
            <a:ext cx="16383305" cy="47549"/>
          </a:xfrm>
          <a:prstGeom prst="rect">
            <a:avLst/>
          </a:prstGeom>
          <a:solidFill>
            <a:srgbClr val="036B3F"/>
          </a:solidFill>
          <a:ln w="12700">
            <a:solidFill>
              <a:srgbClr val="036B3F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952805" y="8305495"/>
            <a:ext cx="16383305" cy="1218895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952805" y="342900"/>
            <a:ext cx="3199486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15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048902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입법 경과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0877702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규정 체계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2687300" y="304495"/>
            <a:ext cx="1772107" cy="381305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총칙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4477695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금지 관행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6306495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고위험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952805" y="1104595"/>
            <a:ext cx="16383305" cy="8860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5000" b="1" kern="0" spc="-112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(3-5) 제3조 정의, AI 시스템</a:t>
            </a:r>
            <a:endParaRPr lang="en-US" sz="5000" dirty="0"/>
          </a:p>
        </p:txBody>
      </p:sp>
      <p:sp>
        <p:nvSpPr>
          <p:cNvPr id="13" name="Text 10"/>
          <p:cNvSpPr txBox="1"/>
          <p:nvPr/>
        </p:nvSpPr>
        <p:spPr>
          <a:xfrm>
            <a:off x="952805" y="2000707"/>
            <a:ext cx="16383305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 68개 중 제1호, 이 법의 적용 대상을 가르는 문언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1257300" y="2971800"/>
            <a:ext cx="15773400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 kern="0" spc="-37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제3조 1호 AI 시스템</a:t>
            </a:r>
            <a:endParaRPr lang="en-US" sz="2500" dirty="0"/>
          </a:p>
        </p:txBody>
      </p:sp>
      <p:sp>
        <p:nvSpPr>
          <p:cNvPr id="15" name="Text 12"/>
          <p:cNvSpPr txBox="1"/>
          <p:nvPr/>
        </p:nvSpPr>
        <p:spPr>
          <a:xfrm>
            <a:off x="1257300" y="3562502"/>
            <a:ext cx="15773400" cy="7909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31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다양한 수준의 자율성으로 작동하도록 설계된 기계 기반 시스템으로, 배치 후 적응성을 보일 수 있고, 명시적 또는 묵시적 목적을 위해 입력으로부터 물리적 또는 가상 환경에 영향을 미치는 예측, 콘텐츠, 권고, 결정 등의 산출물을 추론(infer)하는 것</a:t>
            </a:r>
            <a:endParaRPr lang="en-US" sz="2000" dirty="0"/>
          </a:p>
        </p:txBody>
      </p:sp>
      <p:sp>
        <p:nvSpPr>
          <p:cNvPr id="16" name="Text 13"/>
          <p:cNvSpPr txBox="1"/>
          <p:nvPr/>
        </p:nvSpPr>
        <p:spPr>
          <a:xfrm>
            <a:off x="952805" y="4800600"/>
            <a:ext cx="16383305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정의의 구성 요소 5가지</a:t>
            </a:r>
            <a:endParaRPr lang="en-US" sz="20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65619877"/>
              </p:ext>
            </p:extLst>
          </p:nvPr>
        </p:nvGraphicFramePr>
        <p:xfrm>
          <a:off x="952805" y="5257799"/>
          <a:ext cx="16373246" cy="2608944"/>
        </p:xfrm>
        <a:graphic>
          <a:graphicData uri="http://schemas.openxmlformats.org/drawingml/2006/table">
            <a:tbl>
              <a:tblPr/>
              <a:tblGrid>
                <a:gridCol w="30476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621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5633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48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요소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의미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판단의 실익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48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기계 기반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하드웨어와 소프트웨어의 결합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사람이 수행하는 판단은 제외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48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자율성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인간 개입 없이 작동하는 정도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수준의 차이만 있고 유무는 묻지 않음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48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적응성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배치 후 학습으로 변화하는 성질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가능성만 있어도 충족, 필수 요건은 아님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48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추론(infer)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입력에서 산출물을 도출하는 과정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핵심 요건, 단순 규칙 기반 연산과 구분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48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환경에 영향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물리적 또는 가상 환경을 변화시킴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내부 계산만 하고 끝나는 경우 제외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8" name="Text 14"/>
          <p:cNvSpPr txBox="1"/>
          <p:nvPr/>
        </p:nvSpPr>
        <p:spPr>
          <a:xfrm>
            <a:off x="1333195" y="8534095"/>
            <a:ext cx="15621610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추론 요건이 경계선, 엑셀 수식과 회귀모형은 </a:t>
            </a: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어디서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나뉘</a:t>
            </a: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는가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?</a:t>
            </a:r>
            <a:endParaRPr lang="en-US" sz="1800" dirty="0"/>
          </a:p>
        </p:txBody>
      </p:sp>
      <p:sp>
        <p:nvSpPr>
          <p:cNvPr id="19" name="Text 15"/>
          <p:cNvSpPr txBox="1"/>
          <p:nvPr/>
        </p:nvSpPr>
        <p:spPr>
          <a:xfrm>
            <a:off x="1333195" y="8976665"/>
            <a:ext cx="15621610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정의가 넓으면 규율 범위가 넓어지나 예측 가능성이 낮아짐, 이 정의는 어느 쪽에 가까운가?</a:t>
            </a:r>
            <a:endParaRPr lang="en-US" sz="1800" dirty="0"/>
          </a:p>
        </p:txBody>
      </p:sp>
      <p:sp>
        <p:nvSpPr>
          <p:cNvPr id="20" name="Text 16"/>
          <p:cNvSpPr txBox="1"/>
          <p:nvPr/>
        </p:nvSpPr>
        <p:spPr>
          <a:xfrm>
            <a:off x="15430500" y="9791395"/>
            <a:ext cx="19056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24/51</a:t>
            </a:r>
            <a:endParaRPr lang="en-US" sz="1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e22c746fd81622b5deae707eff18ae09.png"/>
          <p:cNvPicPr>
            <a:picLocks noChangeAspect="1"/>
          </p:cNvPicPr>
          <p:nvPr/>
        </p:nvPicPr>
        <p:blipFill>
          <a:blip r:embed="rId3"/>
          <a:srcRect l="-80" r="-80"/>
          <a:stretch/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52805" y="7684619"/>
            <a:ext cx="16383305" cy="1840686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952805" y="342900"/>
            <a:ext cx="3199486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15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9048902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입법 경과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0877702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규정 체계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2687300" y="304495"/>
            <a:ext cx="1772107" cy="381305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총칙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4477695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금지 관행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6306495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고위험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952805" y="1104595"/>
            <a:ext cx="16383305" cy="8860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5000" b="1" kern="0" spc="-112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(3-6) 주체와 행위 관련 정의</a:t>
            </a:r>
            <a:endParaRPr lang="en-US" sz="5000" dirty="0"/>
          </a:p>
        </p:txBody>
      </p:sp>
      <p:sp>
        <p:nvSpPr>
          <p:cNvPr id="12" name="Text 9"/>
          <p:cNvSpPr txBox="1"/>
          <p:nvPr/>
        </p:nvSpPr>
        <p:spPr>
          <a:xfrm>
            <a:off x="952805" y="2000707"/>
            <a:ext cx="16383305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누가 무엇을 하면 의무가 발생하는지 가르는 문언</a:t>
            </a:r>
            <a:endParaRPr lang="en-US" sz="18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41785362"/>
              </p:ext>
            </p:extLst>
          </p:nvPr>
        </p:nvGraphicFramePr>
        <p:xfrm>
          <a:off x="952805" y="2704795"/>
          <a:ext cx="16374161" cy="4190697"/>
        </p:xfrm>
        <a:graphic>
          <a:graphicData uri="http://schemas.openxmlformats.org/drawingml/2006/table">
            <a:tbl>
              <a:tblPr/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517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67942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65633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호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용어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정의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5633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3호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제공자(provider)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시스템이나 범용 AI 모델을 개발하거나 개발시켜 자기 이름 또는 상표로 출시하는 자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5633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4호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배포자(deployer)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자기 권한으로 시스템을 사용하는 자, 개인적 비직업 활동은 제외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5633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6호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수입자(importer)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역외 설립 제공자의 시스템을 EU 시장에 출시하는 EU 내 설립자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5633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7호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유통자(distributor)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제공자와 수입자 외에 공급망에서 시스템을 시장에 제공하는 자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65633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9호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출시(placing on the market)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시스템을 EU 시장에 최초로 제공하는 행위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65633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11호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서비스 개시(putting into service)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의도된 목적에 따라 최초 사용에 제공하는 행위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65633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23호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중대한 변경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출시 후 적합성이나 의도된 목적에 영향을 주는 변경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65633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68호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영향받는 자(affected person)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시스템의 산출물이 적용되는 자연인 또는 집단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14" name="Text 10"/>
          <p:cNvSpPr txBox="1"/>
          <p:nvPr/>
        </p:nvSpPr>
        <p:spPr>
          <a:xfrm>
            <a:off x="1333195" y="7797089"/>
            <a:ext cx="15621610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출시와 서비스 개시가 별개 개념, 시장에 내놓는 행위와 실제 사용에 넘기는 행위를 구분</a:t>
            </a:r>
            <a:endParaRPr lang="en-US" sz="1800" dirty="0"/>
          </a:p>
        </p:txBody>
      </p:sp>
      <p:sp>
        <p:nvSpPr>
          <p:cNvPr id="15" name="Text 11"/>
          <p:cNvSpPr txBox="1"/>
          <p:nvPr/>
        </p:nvSpPr>
        <p:spPr>
          <a:xfrm>
            <a:off x="1333195" y="8208569"/>
            <a:ext cx="15621610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개발시켜 출시하는 경우도 제공자, 외주 개발을 맡겨도 발주자가 의무를 짐</a:t>
            </a:r>
            <a:endParaRPr lang="en-US" sz="1800" dirty="0"/>
          </a:p>
        </p:txBody>
      </p:sp>
      <p:sp>
        <p:nvSpPr>
          <p:cNvPr id="16" name="Text 12"/>
          <p:cNvSpPr txBox="1"/>
          <p:nvPr/>
        </p:nvSpPr>
        <p:spPr>
          <a:xfrm>
            <a:off x="1333195" y="8630107"/>
            <a:ext cx="15621610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중대한 변경의 판단 기준이 실무 공백</a:t>
            </a:r>
            <a:endParaRPr lang="en-US" sz="1800" dirty="0"/>
          </a:p>
        </p:txBody>
      </p:sp>
      <p:sp>
        <p:nvSpPr>
          <p:cNvPr id="17" name="Text 13"/>
          <p:cNvSpPr txBox="1"/>
          <p:nvPr/>
        </p:nvSpPr>
        <p:spPr>
          <a:xfrm>
            <a:off x="1333195" y="9071762"/>
            <a:ext cx="15621610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재학습이 중대한 변경인가? 판단 기준을 세우는 것 자체가 연구 주제가 될 수 있음</a:t>
            </a:r>
            <a:endParaRPr lang="en-US" sz="1800" dirty="0"/>
          </a:p>
        </p:txBody>
      </p:sp>
      <p:sp>
        <p:nvSpPr>
          <p:cNvPr id="18" name="Text 14"/>
          <p:cNvSpPr txBox="1"/>
          <p:nvPr/>
        </p:nvSpPr>
        <p:spPr>
          <a:xfrm>
            <a:off x="15430500" y="9791395"/>
            <a:ext cx="19056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25/51</a:t>
            </a:r>
            <a:endParaRPr lang="en-US" sz="1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e22c746fd81622b5deae707eff18ae09.png"/>
          <p:cNvPicPr>
            <a:picLocks noChangeAspect="1"/>
          </p:cNvPicPr>
          <p:nvPr/>
        </p:nvPicPr>
        <p:blipFill>
          <a:blip r:embed="rId3"/>
          <a:srcRect l="-80" r="-80"/>
          <a:stretch/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52805" y="7239305"/>
            <a:ext cx="16383305" cy="972007"/>
          </a:xfrm>
          <a:prstGeom prst="rect">
            <a:avLst/>
          </a:prstGeom>
          <a:solidFill>
            <a:srgbClr val="E8F1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52805" y="8401507"/>
            <a:ext cx="16383305" cy="1123798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952805" y="342900"/>
            <a:ext cx="3199486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15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9048902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입법 경과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0877702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규정 체계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2687300" y="304495"/>
            <a:ext cx="1772107" cy="381305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총칙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4477695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금지 관행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6306495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고위험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952805" y="1104595"/>
            <a:ext cx="16383305" cy="8860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5000" b="1" kern="0" spc="-112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(3-7) 위험과 생체정보 관련 정의</a:t>
            </a:r>
            <a:endParaRPr lang="en-US" sz="5000" dirty="0"/>
          </a:p>
        </p:txBody>
      </p:sp>
      <p:sp>
        <p:nvSpPr>
          <p:cNvPr id="12" name="Text 9"/>
          <p:cNvSpPr txBox="1"/>
          <p:nvPr/>
        </p:nvSpPr>
        <p:spPr>
          <a:xfrm>
            <a:off x="952805" y="2000707"/>
            <a:ext cx="16383305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금지 관행과 고위험 판단에 직접 쓰이는 개념</a:t>
            </a:r>
            <a:endParaRPr lang="en-US" sz="18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1018513"/>
              </p:ext>
            </p:extLst>
          </p:nvPr>
        </p:nvGraphicFramePr>
        <p:xfrm>
          <a:off x="952805" y="2704793"/>
          <a:ext cx="16374161" cy="4044348"/>
        </p:xfrm>
        <a:graphic>
          <a:graphicData uri="http://schemas.openxmlformats.org/drawingml/2006/table">
            <a:tbl>
              <a:tblPr/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8076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65039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493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호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용어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정의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93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2호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위험(risk)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해악 발생 확률과 그 해악의 심각성의 조합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93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65호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체계적 위험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범용 AI 모델의 고영향 능력에 특유한 위험, 공중보건, 안전, 기본권, 사회 전체에 중대한 영향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93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34호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생체정보(biometric data)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신체적, 생리적, 행동적 특성에 관한 개인정보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93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35호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생체인식(biometric identification)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데이터베이스와 대조하여 개인의 신원을 확인하는 자동 처리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93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40호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감정인식 시스템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생체정보에 기초하여 감정이나 의도를 식별하거나 추론하는 시스템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493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41호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생체분류 시스템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생체정보로 개인을 특정 범주에 배정하는 시스템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493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60호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딥페이크(deep fake)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실제 인물, 사물, 장소와 유사하여 진정한 것으로 오인될 수 있는 생성 또는 조작된 콘텐츠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493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52호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프로파일링(profiling)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개인정보보호 규정 제4조 4항의 정의를 준용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14" name="Text 10"/>
          <p:cNvSpPr txBox="1"/>
          <p:nvPr/>
        </p:nvSpPr>
        <p:spPr>
          <a:xfrm>
            <a:off x="1333195" y="7337279"/>
            <a:ext cx="15621610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위험의 정의가 확률과 심각성의 조합, 이 두 축으로 위험 등급이 결정</a:t>
            </a:r>
            <a:endParaRPr lang="en-US" sz="1800" dirty="0"/>
          </a:p>
        </p:txBody>
      </p:sp>
      <p:sp>
        <p:nvSpPr>
          <p:cNvPr id="15" name="Text 11"/>
          <p:cNvSpPr txBox="1"/>
          <p:nvPr/>
        </p:nvSpPr>
        <p:spPr>
          <a:xfrm>
            <a:off x="1333195" y="7748759"/>
            <a:ext cx="15621610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생체 관련 정의가 4개, 금지 관행 중 3개 유형이 생체정보를 다루기 때문</a:t>
            </a:r>
            <a:endParaRPr lang="en-US" sz="1800" dirty="0"/>
          </a:p>
        </p:txBody>
      </p:sp>
      <p:sp>
        <p:nvSpPr>
          <p:cNvPr id="16" name="Text 12"/>
          <p:cNvSpPr txBox="1"/>
          <p:nvPr/>
        </p:nvSpPr>
        <p:spPr>
          <a:xfrm>
            <a:off x="1333195" y="8630107"/>
            <a:ext cx="15621610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국내법은 위험이 아니라 영향(impact)을 쓰고 별도 정의를 두지 않음</a:t>
            </a:r>
            <a:endParaRPr lang="en-US" sz="1800" dirty="0"/>
          </a:p>
        </p:txBody>
      </p:sp>
      <p:sp>
        <p:nvSpPr>
          <p:cNvPr id="17" name="Text 13"/>
          <p:cNvSpPr txBox="1"/>
          <p:nvPr/>
        </p:nvSpPr>
        <p:spPr>
          <a:xfrm>
            <a:off x="1333195" y="9071762"/>
            <a:ext cx="15621610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확률과 심각성으로 분해되지 않는 개념을 쓰면 판단 기준은 어디서 오는가?</a:t>
            </a:r>
            <a:endParaRPr lang="en-US" sz="1800" dirty="0"/>
          </a:p>
        </p:txBody>
      </p:sp>
      <p:sp>
        <p:nvSpPr>
          <p:cNvPr id="18" name="Text 14"/>
          <p:cNvSpPr txBox="1"/>
          <p:nvPr/>
        </p:nvSpPr>
        <p:spPr>
          <a:xfrm>
            <a:off x="15430500" y="9791395"/>
            <a:ext cx="19056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26/51</a:t>
            </a:r>
            <a:endParaRPr lang="en-US" sz="1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e22c746fd81622b5deae707eff18ae09.png"/>
          <p:cNvPicPr>
            <a:picLocks noChangeAspect="1"/>
          </p:cNvPicPr>
          <p:nvPr/>
        </p:nvPicPr>
        <p:blipFill>
          <a:blip r:embed="rId3"/>
          <a:srcRect l="-80" r="-80"/>
          <a:stretch/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52805" y="2704795"/>
            <a:ext cx="16383305" cy="1429207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52805" y="2704795"/>
            <a:ext cx="16383305" cy="47549"/>
          </a:xfrm>
          <a:prstGeom prst="rect">
            <a:avLst/>
          </a:prstGeom>
          <a:solidFill>
            <a:srgbClr val="036B3F"/>
          </a:solidFill>
          <a:ln w="12700">
            <a:solidFill>
              <a:srgbClr val="036B3F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952805" y="4419295"/>
            <a:ext cx="8048549" cy="28575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2805" y="4419295"/>
            <a:ext cx="8048549" cy="47549"/>
          </a:xfrm>
          <a:prstGeom prst="rect">
            <a:avLst/>
          </a:prstGeom>
          <a:solidFill>
            <a:srgbClr val="9A7620"/>
          </a:solidFill>
          <a:ln w="12700">
            <a:solidFill>
              <a:srgbClr val="9A7620">
                <a:alpha val="0"/>
              </a:srgbClr>
            </a:solidFill>
            <a:prstDash val="solid"/>
          </a:ln>
        </p:spPr>
      </p:sp>
      <p:pic>
        <p:nvPicPr>
          <p:cNvPr id="7" name="Image 1" descr="gen-dedup-c2dfa98337e9cb6ce99e9e949a17a885.png"/>
          <p:cNvPicPr>
            <a:picLocks noChangeAspect="1"/>
          </p:cNvPicPr>
          <p:nvPr/>
        </p:nvPicPr>
        <p:blipFill>
          <a:blip r:embed="rId4"/>
          <a:srcRect l="-2083" r="-2083"/>
          <a:stretch/>
        </p:blipFill>
        <p:spPr>
          <a:xfrm>
            <a:off x="1257300" y="5352898"/>
            <a:ext cx="7438644" cy="9144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9286646" y="4419295"/>
            <a:ext cx="8048549" cy="28575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9286646" y="4419295"/>
            <a:ext cx="8048549" cy="47549"/>
          </a:xfrm>
          <a:prstGeom prst="rect">
            <a:avLst/>
          </a:prstGeom>
          <a:solidFill>
            <a:srgbClr val="6B6B6B"/>
          </a:solidFill>
          <a:ln w="12700">
            <a:solidFill>
              <a:srgbClr val="6B6B6B">
                <a:alpha val="0"/>
              </a:srgbClr>
            </a:solidFill>
            <a:prstDash val="solid"/>
          </a:ln>
        </p:spPr>
      </p:sp>
      <p:pic>
        <p:nvPicPr>
          <p:cNvPr id="10" name="Image 2" descr="gen-dedup-c2dfa98337e9cb6ce99e9e949a17a885.png"/>
          <p:cNvPicPr>
            <a:picLocks noChangeAspect="1"/>
          </p:cNvPicPr>
          <p:nvPr/>
        </p:nvPicPr>
        <p:blipFill>
          <a:blip r:embed="rId4"/>
          <a:srcRect l="-2083" r="-2083"/>
          <a:stretch/>
        </p:blipFill>
        <p:spPr>
          <a:xfrm>
            <a:off x="9592056" y="5352898"/>
            <a:ext cx="7438644" cy="9144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952805" y="7876642"/>
            <a:ext cx="16383305" cy="1648663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952805" y="342900"/>
            <a:ext cx="3199486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15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9048902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입법 경과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10877702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규정 체계</a:t>
            </a:r>
            <a:endParaRPr lang="en-US" sz="1500" dirty="0"/>
          </a:p>
        </p:txBody>
      </p:sp>
      <p:sp>
        <p:nvSpPr>
          <p:cNvPr id="16" name="Text 11"/>
          <p:cNvSpPr txBox="1"/>
          <p:nvPr/>
        </p:nvSpPr>
        <p:spPr>
          <a:xfrm>
            <a:off x="12687300" y="304495"/>
            <a:ext cx="1772107" cy="381305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총칙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14477695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금지 관행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16306495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고위험</a:t>
            </a:r>
            <a:endParaRPr lang="en-US" sz="1500" dirty="0"/>
          </a:p>
        </p:txBody>
      </p:sp>
      <p:sp>
        <p:nvSpPr>
          <p:cNvPr id="19" name="Text 14"/>
          <p:cNvSpPr txBox="1"/>
          <p:nvPr/>
        </p:nvSpPr>
        <p:spPr>
          <a:xfrm>
            <a:off x="952805" y="1104595"/>
            <a:ext cx="16383305" cy="8860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5000" b="1" kern="0" spc="-112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(3-8) 제4조 </a:t>
            </a:r>
            <a:r>
              <a:rPr lang="en-US" sz="5000" b="1" kern="0" spc="-112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인공지능</a:t>
            </a:r>
            <a:r>
              <a:rPr lang="en-US" sz="5000" b="1" kern="0" spc="-112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5000" b="1" kern="0" spc="-112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리터러시</a:t>
            </a:r>
            <a:endParaRPr lang="en-US" sz="5000" dirty="0"/>
          </a:p>
        </p:txBody>
      </p:sp>
      <p:sp>
        <p:nvSpPr>
          <p:cNvPr id="20" name="Text 15"/>
          <p:cNvSpPr txBox="1"/>
          <p:nvPr/>
        </p:nvSpPr>
        <p:spPr>
          <a:xfrm>
            <a:off x="952805" y="2000707"/>
            <a:ext cx="16383305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2025.2.2 적용, 위험 등급과 무관하게 모든 제공자와 배포자에게 부과</a:t>
            </a:r>
            <a:endParaRPr lang="en-US" sz="1800" dirty="0"/>
          </a:p>
        </p:txBody>
      </p:sp>
      <p:sp>
        <p:nvSpPr>
          <p:cNvPr id="21" name="Text 16"/>
          <p:cNvSpPr txBox="1"/>
          <p:nvPr/>
        </p:nvSpPr>
        <p:spPr>
          <a:xfrm>
            <a:off x="1257300" y="2971800"/>
            <a:ext cx="15773400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 kern="0" spc="-37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조문 내용</a:t>
            </a:r>
            <a:endParaRPr lang="en-US" sz="2500" dirty="0"/>
          </a:p>
        </p:txBody>
      </p:sp>
      <p:sp>
        <p:nvSpPr>
          <p:cNvPr id="22" name="Text 17"/>
          <p:cNvSpPr txBox="1"/>
          <p:nvPr/>
        </p:nvSpPr>
        <p:spPr>
          <a:xfrm>
            <a:off x="1257300" y="3504895"/>
            <a:ext cx="15773400" cy="381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제공자와 배포자는 자기를 위해 시스템을 운영하는 직원과 관련자가 충분한 문해력을 갖추도록 조치</a:t>
            </a:r>
            <a:endParaRPr lang="en-US" sz="2000" dirty="0"/>
          </a:p>
        </p:txBody>
      </p:sp>
      <p:sp>
        <p:nvSpPr>
          <p:cNvPr id="23" name="Text 18"/>
          <p:cNvSpPr txBox="1"/>
          <p:nvPr/>
        </p:nvSpPr>
        <p:spPr>
          <a:xfrm>
            <a:off x="1257300" y="4686300"/>
            <a:ext cx="7439558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 kern="0" spc="-37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고려 요소</a:t>
            </a:r>
            <a:endParaRPr lang="en-US" sz="2500" dirty="0"/>
          </a:p>
        </p:txBody>
      </p:sp>
      <p:sp>
        <p:nvSpPr>
          <p:cNvPr id="24" name="Text 19"/>
          <p:cNvSpPr txBox="1"/>
          <p:nvPr/>
        </p:nvSpPr>
        <p:spPr>
          <a:xfrm>
            <a:off x="1257300" y="5619902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 지식, 경험, 교육 수준, 훈련 이력</a:t>
            </a:r>
            <a:endParaRPr lang="en-US" sz="1800" dirty="0"/>
          </a:p>
        </p:txBody>
      </p:sp>
      <p:sp>
        <p:nvSpPr>
          <p:cNvPr id="25" name="Text 20"/>
          <p:cNvSpPr txBox="1"/>
          <p:nvPr/>
        </p:nvSpPr>
        <p:spPr>
          <a:xfrm>
            <a:off x="1257300" y="6099962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시스템이 사용될 맥락</a:t>
            </a:r>
            <a:endParaRPr lang="en-US" sz="1800" dirty="0"/>
          </a:p>
        </p:txBody>
      </p:sp>
      <p:sp>
        <p:nvSpPr>
          <p:cNvPr id="26" name="Text 21"/>
          <p:cNvSpPr txBox="1"/>
          <p:nvPr/>
        </p:nvSpPr>
        <p:spPr>
          <a:xfrm>
            <a:off x="1257300" y="6580022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영향받는 자 또는 집단의 특성</a:t>
            </a:r>
            <a:endParaRPr lang="en-US" sz="1800" dirty="0"/>
          </a:p>
        </p:txBody>
      </p:sp>
      <p:sp>
        <p:nvSpPr>
          <p:cNvPr id="27" name="Text 22"/>
          <p:cNvSpPr txBox="1"/>
          <p:nvPr/>
        </p:nvSpPr>
        <p:spPr>
          <a:xfrm>
            <a:off x="9592056" y="4686300"/>
            <a:ext cx="7439558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 kern="0" spc="-37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조문의 특징</a:t>
            </a:r>
            <a:endParaRPr lang="en-US" sz="2500" dirty="0"/>
          </a:p>
        </p:txBody>
      </p:sp>
      <p:sp>
        <p:nvSpPr>
          <p:cNvPr id="28" name="Text 23"/>
          <p:cNvSpPr txBox="1"/>
          <p:nvPr/>
        </p:nvSpPr>
        <p:spPr>
          <a:xfrm>
            <a:off x="9592056" y="5619902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충분한 수준을 수치로 정하지 않음, 성과 기반 규제 방식</a:t>
            </a:r>
            <a:endParaRPr lang="en-US" sz="1800" dirty="0"/>
          </a:p>
        </p:txBody>
      </p:sp>
      <p:sp>
        <p:nvSpPr>
          <p:cNvPr id="29" name="Text 24"/>
          <p:cNvSpPr txBox="1"/>
          <p:nvPr/>
        </p:nvSpPr>
        <p:spPr>
          <a:xfrm>
            <a:off x="9592056" y="6099962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위반에 대한 직접 과징금 조항 없음</a:t>
            </a:r>
            <a:endParaRPr lang="en-US" sz="1800" dirty="0"/>
          </a:p>
        </p:txBody>
      </p:sp>
      <p:sp>
        <p:nvSpPr>
          <p:cNvPr id="30" name="Text 25"/>
          <p:cNvSpPr txBox="1"/>
          <p:nvPr/>
        </p:nvSpPr>
        <p:spPr>
          <a:xfrm>
            <a:off x="9592056" y="6580022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이행 여부는 시장감시 과정에서 확인</a:t>
            </a:r>
            <a:endParaRPr lang="en-US" sz="1800" dirty="0"/>
          </a:p>
        </p:txBody>
      </p:sp>
      <p:sp>
        <p:nvSpPr>
          <p:cNvPr id="31" name="Text 26"/>
          <p:cNvSpPr txBox="1"/>
          <p:nvPr/>
        </p:nvSpPr>
        <p:spPr>
          <a:xfrm>
            <a:off x="1333195" y="7565879"/>
            <a:ext cx="15621610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endParaRPr lang="en-US" sz="1800" dirty="0"/>
          </a:p>
        </p:txBody>
      </p:sp>
      <p:sp>
        <p:nvSpPr>
          <p:cNvPr id="32" name="Text 27"/>
          <p:cNvSpPr txBox="1"/>
          <p:nvPr/>
        </p:nvSpPr>
        <p:spPr>
          <a:xfrm>
            <a:off x="1333195" y="8166893"/>
            <a:ext cx="15621610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altLang="ko-KR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</a:t>
            </a:r>
            <a:r>
              <a:rPr lang="en-US" altLang="ko-KR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비대칭</a:t>
            </a:r>
            <a:r>
              <a:rPr lang="ko-KR" alt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인해 </a:t>
            </a: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사용자가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시스템의 한계를 모르면 산출물을 </a:t>
            </a: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과신하는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</a:t>
            </a:r>
            <a:endParaRPr lang="en-US" sz="1800" dirty="0"/>
          </a:p>
        </p:txBody>
      </p:sp>
      <p:sp>
        <p:nvSpPr>
          <p:cNvPr id="33" name="Text 28"/>
          <p:cNvSpPr txBox="1"/>
          <p:nvPr/>
        </p:nvSpPr>
        <p:spPr>
          <a:xfrm>
            <a:off x="1333195" y="8563599"/>
            <a:ext cx="15621610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충분한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리터러시는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무엇으로 측정할 수 있는가?</a:t>
            </a:r>
            <a:endParaRPr lang="en-US" sz="1800" dirty="0"/>
          </a:p>
        </p:txBody>
      </p:sp>
      <p:sp>
        <p:nvSpPr>
          <p:cNvPr id="34" name="Text 29"/>
          <p:cNvSpPr txBox="1"/>
          <p:nvPr/>
        </p:nvSpPr>
        <p:spPr>
          <a:xfrm>
            <a:off x="1333195" y="8986966"/>
            <a:ext cx="15621610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선행연구의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윤리성 인식 </a:t>
            </a: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척도를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리터러시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측정 도구로 전용하는 연구가 가능한가?</a:t>
            </a:r>
            <a:endParaRPr lang="en-US" sz="1800" dirty="0"/>
          </a:p>
        </p:txBody>
      </p:sp>
      <p:sp>
        <p:nvSpPr>
          <p:cNvPr id="35" name="Text 30"/>
          <p:cNvSpPr txBox="1"/>
          <p:nvPr/>
        </p:nvSpPr>
        <p:spPr>
          <a:xfrm>
            <a:off x="15430500" y="9791395"/>
            <a:ext cx="19056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27/51</a:t>
            </a:r>
            <a:endParaRPr lang="en-US" sz="1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e22c746fd81622b5deae707eff18ae09.png"/>
          <p:cNvPicPr>
            <a:picLocks noChangeAspect="1"/>
          </p:cNvPicPr>
          <p:nvPr/>
        </p:nvPicPr>
        <p:blipFill>
          <a:blip r:embed="rId3"/>
          <a:srcRect l="-80" r="-80"/>
          <a:stretch/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52805" y="7750629"/>
            <a:ext cx="16383305" cy="1850716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952805" y="342900"/>
            <a:ext cx="3199486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15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9048902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입법 경과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0877702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규정 체계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2687300" y="304495"/>
            <a:ext cx="1772107" cy="381305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총칙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4477695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금지 관행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6306495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고위험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952805" y="1104595"/>
            <a:ext cx="16383305" cy="8860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5000" b="1" kern="0" spc="-112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(3-9) 국내 인공지능기본법과 정의 대조</a:t>
            </a:r>
            <a:endParaRPr lang="en-US" sz="5000" dirty="0"/>
          </a:p>
        </p:txBody>
      </p:sp>
      <p:sp>
        <p:nvSpPr>
          <p:cNvPr id="12" name="Text 9"/>
          <p:cNvSpPr txBox="1"/>
          <p:nvPr/>
        </p:nvSpPr>
        <p:spPr>
          <a:xfrm>
            <a:off x="952805" y="2000707"/>
            <a:ext cx="16383305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인공지능 발전과 신뢰 기반 조성 등에 관한 기본법, 2026.1.22 시행</a:t>
            </a:r>
            <a:endParaRPr lang="en-US" sz="18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52805" y="2704795"/>
          <a:ext cx="16374160" cy="3838653"/>
        </p:xfrm>
        <a:graphic>
          <a:graphicData uri="http://schemas.openxmlformats.org/drawingml/2006/table">
            <a:tbl>
              <a:tblPr/>
              <a:tblGrid>
                <a:gridCol w="26673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484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4840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61005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4837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EU AI Act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국내 인공지능기본법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차이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37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핵심 개념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고위험(high-risk)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고영향(제2조 4호)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위험 대 영향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37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개념 분해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확률과 심각성의 조합으로 정의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별도 정의 없이 영역 열거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판단 기준의 출처가 다름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37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분류 방식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부속서 목록 2경로, 제외 요건 有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법률에 영역 열거, 사전 검토 권고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EU는 의무, 국내는 권고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37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연산량 기준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10의 25제곱 부동소수점 연산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대통령령에 위임(제32조)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EU는 법률에 명시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37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영향평가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적합성 평가 의무, CE 표시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노력 의무(제35조)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강제력의 유무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837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제재 상한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3,500만 유로 또는 매출 7퍼센트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과태료 3,000만 원(제43조)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규모가 약 100배 차이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4" name="Text 10"/>
          <p:cNvSpPr txBox="1"/>
          <p:nvPr/>
        </p:nvSpPr>
        <p:spPr>
          <a:xfrm>
            <a:off x="1333195" y="8006944"/>
            <a:ext cx="15621610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국내법은 산업 진흥과 규제를 한 법에 담음, EU는 규제 단일 목적</a:t>
            </a:r>
            <a:endParaRPr lang="en-US" sz="1800" dirty="0"/>
          </a:p>
        </p:txBody>
      </p:sp>
      <p:sp>
        <p:nvSpPr>
          <p:cNvPr id="15" name="Text 11"/>
          <p:cNvSpPr txBox="1"/>
          <p:nvPr/>
        </p:nvSpPr>
        <p:spPr>
          <a:xfrm>
            <a:off x="1333195" y="8418424"/>
            <a:ext cx="15621610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국내법 제4조의 역외 적용 문언이 EU보다 넓다는 평가도 있음, 국내 이용자에 영향을 미치는 국외 행위까지 포섭</a:t>
            </a:r>
            <a:endParaRPr lang="en-US" sz="1800" dirty="0"/>
          </a:p>
        </p:txBody>
      </p:sp>
      <p:sp>
        <p:nvSpPr>
          <p:cNvPr id="17" name="Text 13"/>
          <p:cNvSpPr txBox="1"/>
          <p:nvPr/>
        </p:nvSpPr>
        <p:spPr>
          <a:xfrm>
            <a:off x="1333195" y="8880204"/>
            <a:ext cx="15621610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위험을 영향으로 바꾸면 포섭되는 시스템의 수는 늘어나는가 줄어드는가? 무엇으로 확인할 수 있는가?</a:t>
            </a:r>
            <a:endParaRPr lang="en-US" sz="1800" dirty="0"/>
          </a:p>
        </p:txBody>
      </p:sp>
      <p:sp>
        <p:nvSpPr>
          <p:cNvPr id="18" name="Text 14"/>
          <p:cNvSpPr txBox="1"/>
          <p:nvPr/>
        </p:nvSpPr>
        <p:spPr>
          <a:xfrm>
            <a:off x="15430500" y="9791395"/>
            <a:ext cx="19056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28/51</a:t>
            </a:r>
            <a:endParaRPr lang="en-US" sz="1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e22c746fd81622b5deae707eff18ae09.png"/>
          <p:cNvPicPr>
            <a:picLocks noChangeAspect="1"/>
          </p:cNvPicPr>
          <p:nvPr/>
        </p:nvPicPr>
        <p:blipFill>
          <a:blip r:embed="rId3"/>
          <a:srcRect l="-80" r="-80"/>
          <a:stretch/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52805" y="2704795"/>
            <a:ext cx="16383305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52805" y="2704795"/>
            <a:ext cx="16383305" cy="47549"/>
          </a:xfrm>
          <a:prstGeom prst="rect">
            <a:avLst/>
          </a:prstGeom>
          <a:solidFill>
            <a:srgbClr val="036B3F"/>
          </a:solidFill>
          <a:ln w="12700">
            <a:solidFill>
              <a:srgbClr val="036B3F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952805" y="3696005"/>
            <a:ext cx="16383305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2805" y="3696005"/>
            <a:ext cx="16383305" cy="47549"/>
          </a:xfrm>
          <a:prstGeom prst="rect">
            <a:avLst/>
          </a:prstGeom>
          <a:solidFill>
            <a:srgbClr val="9A7620"/>
          </a:solidFill>
          <a:ln w="12700">
            <a:solidFill>
              <a:srgbClr val="9A7620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52805" y="4686300"/>
            <a:ext cx="16383305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52805" y="4686300"/>
            <a:ext cx="16383305" cy="47549"/>
          </a:xfrm>
          <a:prstGeom prst="rect">
            <a:avLst/>
          </a:prstGeom>
          <a:solidFill>
            <a:srgbClr val="6B6B6B"/>
          </a:solidFill>
          <a:ln w="12700">
            <a:solidFill>
              <a:srgbClr val="6B6B6B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52805" y="5676595"/>
            <a:ext cx="16383305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952805" y="5676595"/>
            <a:ext cx="16383305" cy="47549"/>
          </a:xfrm>
          <a:prstGeom prst="rect">
            <a:avLst/>
          </a:prstGeom>
          <a:solidFill>
            <a:srgbClr val="036B3F"/>
          </a:solidFill>
          <a:ln w="12700">
            <a:solidFill>
              <a:srgbClr val="036B3F">
                <a:alpha val="0"/>
              </a:srgbClr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52805" y="6667805"/>
            <a:ext cx="16383305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952805" y="6667805"/>
            <a:ext cx="16383305" cy="47549"/>
          </a:xfrm>
          <a:prstGeom prst="rect">
            <a:avLst/>
          </a:prstGeom>
          <a:solidFill>
            <a:srgbClr val="9A7620"/>
          </a:solidFill>
          <a:ln w="12700">
            <a:solidFill>
              <a:srgbClr val="9A7620">
                <a:alpha val="0"/>
              </a:srgbClr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952805" y="8706002"/>
            <a:ext cx="16383305" cy="819302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52805" y="342900"/>
            <a:ext cx="3199486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15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9048902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입법 경과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10877702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규정 체계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12687300" y="304495"/>
            <a:ext cx="1772107" cy="381305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총칙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4477695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금지 관행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16306495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고위험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952805" y="1104595"/>
            <a:ext cx="16383305" cy="8860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5000" b="1" kern="0" spc="-112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총칙 정리</a:t>
            </a:r>
            <a:endParaRPr lang="en-US" sz="5000" dirty="0"/>
          </a:p>
        </p:txBody>
      </p:sp>
      <p:sp>
        <p:nvSpPr>
          <p:cNvPr id="22" name="Text 19"/>
          <p:cNvSpPr txBox="1"/>
          <p:nvPr/>
        </p:nvSpPr>
        <p:spPr>
          <a:xfrm>
            <a:off x="952805" y="2000707"/>
            <a:ext cx="16383305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총칙 제1~4조에서 확인한 것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1295705" y="3000146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1295705" y="3000146"/>
            <a:ext cx="324612" cy="3246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1867205" y="2958489"/>
            <a:ext cx="3238805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제1조 목적</a:t>
            </a:r>
            <a:endParaRPr lang="en-US" sz="2000" dirty="0"/>
          </a:p>
        </p:txBody>
      </p:sp>
      <p:sp>
        <p:nvSpPr>
          <p:cNvPr id="26" name="Text 23"/>
          <p:cNvSpPr txBox="1"/>
          <p:nvPr/>
        </p:nvSpPr>
        <p:spPr>
          <a:xfrm>
            <a:off x="5333695" y="2958489"/>
            <a:ext cx="11677802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단일시장 조화와 기본권 보호가 병존, 인간 중심과 신뢰 개념은 2019년 윤리 가이드라인에서 옴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1295705" y="3991356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1295705" y="3991356"/>
            <a:ext cx="324612" cy="3246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1867205" y="3948784"/>
            <a:ext cx="3238805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제2조 적용 범위</a:t>
            </a:r>
            <a:endParaRPr lang="en-US" sz="2000" dirty="0"/>
          </a:p>
        </p:txBody>
      </p:sp>
      <p:sp>
        <p:nvSpPr>
          <p:cNvPr id="30" name="Text 27"/>
          <p:cNvSpPr txBox="1"/>
          <p:nvPr/>
        </p:nvSpPr>
        <p:spPr>
          <a:xfrm>
            <a:off x="5333695" y="3948784"/>
            <a:ext cx="11677802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6개 주체 유형, 제공자가 가장 무거운 의무, 산출물이 EU에 쓰이면 역외에도 적용</a:t>
            </a:r>
            <a:endParaRPr lang="en-US" sz="1800" dirty="0"/>
          </a:p>
        </p:txBody>
      </p:sp>
      <p:sp>
        <p:nvSpPr>
          <p:cNvPr id="31" name="Shape 28"/>
          <p:cNvSpPr/>
          <p:nvPr/>
        </p:nvSpPr>
        <p:spPr>
          <a:xfrm>
            <a:off x="1295705" y="4981651"/>
            <a:ext cx="323698" cy="323698"/>
          </a:xfrm>
          <a:prstGeom prst="ellipse">
            <a:avLst/>
          </a:prstGeom>
          <a:solidFill>
            <a:srgbClr val="6B6B6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1295705" y="4981651"/>
            <a:ext cx="324612" cy="3246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1867205" y="4939994"/>
            <a:ext cx="3238805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제2조 제외</a:t>
            </a:r>
            <a:endParaRPr lang="en-US" sz="2000" dirty="0"/>
          </a:p>
        </p:txBody>
      </p:sp>
      <p:sp>
        <p:nvSpPr>
          <p:cNvPr id="34" name="Text 31"/>
          <p:cNvSpPr txBox="1"/>
          <p:nvPr/>
        </p:nvSpPr>
        <p:spPr>
          <a:xfrm>
            <a:off x="5333695" y="4939994"/>
            <a:ext cx="11677802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군사와 국방, 연구 개발, 개인적 사용, 공개 소스 일부, 개인정보보호 규정은 그대로 우선</a:t>
            </a:r>
            <a:endParaRPr lang="en-US" sz="1800" dirty="0"/>
          </a:p>
        </p:txBody>
      </p:sp>
      <p:sp>
        <p:nvSpPr>
          <p:cNvPr id="35" name="Shape 32"/>
          <p:cNvSpPr/>
          <p:nvPr/>
        </p:nvSpPr>
        <p:spPr>
          <a:xfrm>
            <a:off x="1295705" y="5971946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1295705" y="5971946"/>
            <a:ext cx="324612" cy="3246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1867205" y="5930289"/>
            <a:ext cx="3238805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제3조 정의</a:t>
            </a:r>
            <a:endParaRPr lang="en-US" sz="2000" dirty="0"/>
          </a:p>
        </p:txBody>
      </p:sp>
      <p:sp>
        <p:nvSpPr>
          <p:cNvPr id="38" name="Text 35"/>
          <p:cNvSpPr txBox="1"/>
          <p:nvPr/>
        </p:nvSpPr>
        <p:spPr>
          <a:xfrm>
            <a:off x="5333695" y="5930289"/>
            <a:ext cx="11677802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68개, 추론(infer)이 AI 시스템 판단의 핵심 요건, 위험은 확률과 심각성의 조합</a:t>
            </a:r>
            <a:endParaRPr lang="en-US" sz="1800" dirty="0"/>
          </a:p>
        </p:txBody>
      </p:sp>
      <p:sp>
        <p:nvSpPr>
          <p:cNvPr id="39" name="Shape 36"/>
          <p:cNvSpPr/>
          <p:nvPr/>
        </p:nvSpPr>
        <p:spPr>
          <a:xfrm>
            <a:off x="1295705" y="6963156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1295705" y="6963156"/>
            <a:ext cx="324612" cy="3246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500" dirty="0"/>
          </a:p>
        </p:txBody>
      </p:sp>
      <p:sp>
        <p:nvSpPr>
          <p:cNvPr id="41" name="Text 38"/>
          <p:cNvSpPr txBox="1"/>
          <p:nvPr/>
        </p:nvSpPr>
        <p:spPr>
          <a:xfrm>
            <a:off x="1867205" y="6920584"/>
            <a:ext cx="3238805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제4조 </a:t>
            </a:r>
            <a:r>
              <a:rPr lang="ko-KR" altLang="en-US" sz="2000" b="1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리터러시</a:t>
            </a:r>
            <a:endParaRPr lang="en-US" sz="2000" dirty="0"/>
          </a:p>
        </p:txBody>
      </p:sp>
      <p:sp>
        <p:nvSpPr>
          <p:cNvPr id="42" name="Text 39"/>
          <p:cNvSpPr txBox="1"/>
          <p:nvPr/>
        </p:nvSpPr>
        <p:spPr>
          <a:xfrm>
            <a:off x="5333695" y="6979251"/>
            <a:ext cx="11677802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위험 등급과 무관하게 전 사업자 적용, 수준을 수치로 정하지 않은 성과 기반 규정</a:t>
            </a:r>
            <a:endParaRPr lang="en-US" sz="1800" dirty="0"/>
          </a:p>
        </p:txBody>
      </p:sp>
      <p:sp>
        <p:nvSpPr>
          <p:cNvPr id="44" name="Text 41"/>
          <p:cNvSpPr txBox="1"/>
          <p:nvPr/>
        </p:nvSpPr>
        <p:spPr>
          <a:xfrm>
            <a:off x="1333195" y="8934602"/>
            <a:ext cx="15621610" cy="3246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 조항만으로도 연구가 성립, 68개 정의 중 국내법에 대응 개념이 없는 것은 무엇인가?</a:t>
            </a:r>
            <a:endParaRPr lang="en-US" sz="1800" dirty="0"/>
          </a:p>
        </p:txBody>
      </p:sp>
      <p:sp>
        <p:nvSpPr>
          <p:cNvPr id="45" name="Text 42"/>
          <p:cNvSpPr txBox="1"/>
          <p:nvPr/>
        </p:nvSpPr>
        <p:spPr>
          <a:xfrm>
            <a:off x="15430500" y="9791395"/>
            <a:ext cx="19056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29/51</a:t>
            </a:r>
            <a:endParaRPr lang="en-US" sz="1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e22c746fd81622b5deae707eff18ae09.png"/>
          <p:cNvPicPr>
            <a:picLocks noChangeAspect="1"/>
          </p:cNvPicPr>
          <p:nvPr/>
        </p:nvPicPr>
        <p:blipFill>
          <a:blip r:embed="rId3"/>
          <a:srcRect l="-80" r="-80"/>
          <a:stretch/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953305" y="2762402"/>
            <a:ext cx="4000500" cy="1047902"/>
          </a:xfrm>
          <a:prstGeom prst="rect">
            <a:avLst/>
          </a:prstGeom>
          <a:solidFill>
            <a:srgbClr val="A82A2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4286707" y="3905402"/>
            <a:ext cx="5333695" cy="1238098"/>
          </a:xfrm>
          <a:prstGeom prst="rect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3619195" y="5238598"/>
            <a:ext cx="6667805" cy="1238098"/>
          </a:xfrm>
          <a:prstGeom prst="rect">
            <a:avLst/>
          </a:prstGeom>
          <a:solidFill>
            <a:srgbClr val="5A8FB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2952598" y="6572707"/>
            <a:ext cx="8001000" cy="1238098"/>
          </a:xfrm>
          <a:prstGeom prst="rect">
            <a:avLst/>
          </a:prstGeom>
          <a:solidFill>
            <a:srgbClr val="8A9A8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1" descr="gen-dedup-2b594ba194fa3f5a7accba747a8d18c4.png"/>
          <p:cNvPicPr>
            <a:picLocks noChangeAspect="1"/>
          </p:cNvPicPr>
          <p:nvPr/>
        </p:nvPicPr>
        <p:blipFill>
          <a:blip r:embed="rId4"/>
          <a:srcRect l="-404" r="-404"/>
          <a:stretch/>
        </p:blipFill>
        <p:spPr>
          <a:xfrm>
            <a:off x="1714500" y="3333902"/>
            <a:ext cx="38405" cy="3619195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952805" y="8324700"/>
            <a:ext cx="16383305" cy="1200606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952805" y="342900"/>
            <a:ext cx="3199486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15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9048902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입법 경과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10877702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규정 체계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12687300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총칙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14477695" y="304495"/>
            <a:ext cx="1772107" cy="381305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금지 관행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16306495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고위험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952805" y="1104595"/>
            <a:ext cx="16383305" cy="8860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5000" b="1" kern="0" spc="-112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(4-1) 위험기반 접근</a:t>
            </a:r>
            <a:endParaRPr lang="en-US" sz="5000" dirty="0"/>
          </a:p>
        </p:txBody>
      </p:sp>
      <p:sp>
        <p:nvSpPr>
          <p:cNvPr id="17" name="Text 13"/>
          <p:cNvSpPr txBox="1"/>
          <p:nvPr/>
        </p:nvSpPr>
        <p:spPr>
          <a:xfrm>
            <a:off x="952805" y="2000707"/>
            <a:ext cx="16383305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위험기반 접근(risk-based approach), 위험이 높을수록 의무가 무거워지는 구조</a:t>
            </a:r>
            <a:endParaRPr lang="en-US" sz="1800" dirty="0"/>
          </a:p>
        </p:txBody>
      </p:sp>
      <p:sp>
        <p:nvSpPr>
          <p:cNvPr id="18" name="Text 14"/>
          <p:cNvSpPr txBox="1"/>
          <p:nvPr/>
        </p:nvSpPr>
        <p:spPr>
          <a:xfrm>
            <a:off x="5181905" y="3047695"/>
            <a:ext cx="3543300" cy="381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금지</a:t>
            </a:r>
            <a:endParaRPr lang="en-US" sz="2100" dirty="0"/>
          </a:p>
        </p:txBody>
      </p:sp>
      <p:sp>
        <p:nvSpPr>
          <p:cNvPr id="19" name="Text 15"/>
          <p:cNvSpPr txBox="1"/>
          <p:nvPr/>
        </p:nvSpPr>
        <p:spPr>
          <a:xfrm>
            <a:off x="9334195" y="3047695"/>
            <a:ext cx="800100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출시와 사용 자체가 불가, 제5조 10유형</a:t>
            </a:r>
            <a:endParaRPr lang="en-US" sz="1800" dirty="0"/>
          </a:p>
        </p:txBody>
      </p:sp>
      <p:sp>
        <p:nvSpPr>
          <p:cNvPr id="20" name="Text 16"/>
          <p:cNvSpPr txBox="1"/>
          <p:nvPr/>
        </p:nvSpPr>
        <p:spPr>
          <a:xfrm>
            <a:off x="4515307" y="4286707"/>
            <a:ext cx="4877410" cy="381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고위험</a:t>
            </a:r>
            <a:endParaRPr lang="en-US" sz="2100" dirty="0"/>
          </a:p>
        </p:txBody>
      </p:sp>
      <p:sp>
        <p:nvSpPr>
          <p:cNvPr id="21" name="Text 17"/>
          <p:cNvSpPr txBox="1"/>
          <p:nvPr/>
        </p:nvSpPr>
        <p:spPr>
          <a:xfrm>
            <a:off x="10001707" y="4286707"/>
            <a:ext cx="7334402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7대 요건 충족과 적합성 평가 후 출시 가능, 제6~49조</a:t>
            </a:r>
            <a:endParaRPr lang="en-US" sz="1800" dirty="0"/>
          </a:p>
        </p:txBody>
      </p:sp>
      <p:sp>
        <p:nvSpPr>
          <p:cNvPr id="22" name="Text 18"/>
          <p:cNvSpPr txBox="1"/>
          <p:nvPr/>
        </p:nvSpPr>
        <p:spPr>
          <a:xfrm>
            <a:off x="3847795" y="5619902"/>
            <a:ext cx="6210605" cy="381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제한적 위험</a:t>
            </a:r>
            <a:endParaRPr lang="en-US" sz="2100" dirty="0"/>
          </a:p>
        </p:txBody>
      </p:sp>
      <p:sp>
        <p:nvSpPr>
          <p:cNvPr id="23" name="Text 19"/>
          <p:cNvSpPr txBox="1"/>
          <p:nvPr/>
        </p:nvSpPr>
        <p:spPr>
          <a:xfrm>
            <a:off x="10668305" y="5619902"/>
            <a:ext cx="6667805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투명성 의무만 부과, 제50조</a:t>
            </a:r>
            <a:endParaRPr lang="en-US" sz="1800" dirty="0"/>
          </a:p>
        </p:txBody>
      </p:sp>
      <p:sp>
        <p:nvSpPr>
          <p:cNvPr id="24" name="Text 20"/>
          <p:cNvSpPr txBox="1"/>
          <p:nvPr/>
        </p:nvSpPr>
        <p:spPr>
          <a:xfrm>
            <a:off x="3181198" y="6953098"/>
            <a:ext cx="7543800" cy="381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최소 위험</a:t>
            </a:r>
            <a:endParaRPr lang="en-US" sz="2100" dirty="0"/>
          </a:p>
        </p:txBody>
      </p:sp>
      <p:sp>
        <p:nvSpPr>
          <p:cNvPr id="25" name="Text 21"/>
          <p:cNvSpPr txBox="1"/>
          <p:nvPr/>
        </p:nvSpPr>
        <p:spPr>
          <a:xfrm>
            <a:off x="11334902" y="6953098"/>
            <a:ext cx="6001207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의무 없음, 자발적 행동규범 권장</a:t>
            </a:r>
            <a:endParaRPr lang="en-US" sz="1800" dirty="0"/>
          </a:p>
        </p:txBody>
      </p:sp>
      <p:sp>
        <p:nvSpPr>
          <p:cNvPr id="26" name="Text 22"/>
          <p:cNvSpPr txBox="1"/>
          <p:nvPr/>
        </p:nvSpPr>
        <p:spPr>
          <a:xfrm>
            <a:off x="952805" y="2857500"/>
            <a:ext cx="362011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위험 높음</a:t>
            </a:r>
            <a:endParaRPr lang="en-US" sz="1800" dirty="0"/>
          </a:p>
        </p:txBody>
      </p:sp>
      <p:sp>
        <p:nvSpPr>
          <p:cNvPr id="27" name="Text 23"/>
          <p:cNvSpPr txBox="1"/>
          <p:nvPr/>
        </p:nvSpPr>
        <p:spPr>
          <a:xfrm>
            <a:off x="952805" y="7239305"/>
            <a:ext cx="171450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위험 낮음</a:t>
            </a:r>
            <a:endParaRPr lang="en-US" sz="1800" dirty="0"/>
          </a:p>
        </p:txBody>
      </p:sp>
      <p:sp>
        <p:nvSpPr>
          <p:cNvPr id="28" name="Text 24"/>
          <p:cNvSpPr txBox="1"/>
          <p:nvPr/>
        </p:nvSpPr>
        <p:spPr>
          <a:xfrm>
            <a:off x="1333195" y="8596312"/>
            <a:ext cx="15621610" cy="3246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범용 AI 모델은 이 4단계와 별개 축, 제5장에서 모델 수준으로 따로 규율</a:t>
            </a:r>
            <a:endParaRPr lang="en-US" sz="1800" dirty="0"/>
          </a:p>
        </p:txBody>
      </p:sp>
      <p:sp>
        <p:nvSpPr>
          <p:cNvPr id="29" name="Text 25"/>
          <p:cNvSpPr txBox="1"/>
          <p:nvPr/>
        </p:nvSpPr>
        <p:spPr>
          <a:xfrm>
            <a:off x="1333195" y="9087307"/>
            <a:ext cx="15621610" cy="3246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4단계 사이의 경계는 명확한가? 등급이 바뀌면 의무가 계단식으로 변하는 구조의 부작용은?</a:t>
            </a:r>
            <a:endParaRPr lang="en-US" sz="1800" dirty="0"/>
          </a:p>
        </p:txBody>
      </p:sp>
      <p:sp>
        <p:nvSpPr>
          <p:cNvPr id="30" name="Text 26"/>
          <p:cNvSpPr txBox="1"/>
          <p:nvPr/>
        </p:nvSpPr>
        <p:spPr>
          <a:xfrm>
            <a:off x="15430500" y="9791395"/>
            <a:ext cx="19056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30/51</a:t>
            </a:r>
            <a:endParaRPr lang="en-US" sz="1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e22c746fd81622b5deae707eff18ae09.png"/>
          <p:cNvPicPr>
            <a:picLocks noChangeAspect="1"/>
          </p:cNvPicPr>
          <p:nvPr/>
        </p:nvPicPr>
        <p:blipFill>
          <a:blip r:embed="rId2"/>
          <a:srcRect l="-80" r="-80"/>
          <a:stretch/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52805" y="6705295"/>
            <a:ext cx="8048549" cy="167609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52805" y="6705295"/>
            <a:ext cx="8048549" cy="47549"/>
          </a:xfrm>
          <a:prstGeom prst="rect">
            <a:avLst/>
          </a:prstGeom>
          <a:solidFill>
            <a:srgbClr val="036B3F"/>
          </a:solidFill>
          <a:ln w="12700">
            <a:solidFill>
              <a:srgbClr val="036B3F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9286646" y="6705295"/>
            <a:ext cx="8048549" cy="167609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286646" y="6705295"/>
            <a:ext cx="8048549" cy="47549"/>
          </a:xfrm>
          <a:prstGeom prst="rect">
            <a:avLst/>
          </a:prstGeom>
          <a:solidFill>
            <a:srgbClr val="A82A24"/>
          </a:solidFill>
          <a:ln w="12700">
            <a:solidFill>
              <a:srgbClr val="A82A24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52805" y="8496605"/>
            <a:ext cx="16383305" cy="990295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952805" y="342900"/>
            <a:ext cx="3199486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15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9048902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입법 경과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0877702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규정 체계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2687300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총칙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14477695" y="304495"/>
            <a:ext cx="1772107" cy="381305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금지 관행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16306495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고위험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952805" y="1104595"/>
            <a:ext cx="16383305" cy="8860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5000" b="1" kern="0" spc="-112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(4-2) 위험 4단계 비교</a:t>
            </a:r>
            <a:endParaRPr lang="en-US" sz="5000" dirty="0"/>
          </a:p>
        </p:txBody>
      </p:sp>
      <p:sp>
        <p:nvSpPr>
          <p:cNvPr id="15" name="Text 12"/>
          <p:cNvSpPr txBox="1"/>
          <p:nvPr/>
        </p:nvSpPr>
        <p:spPr>
          <a:xfrm>
            <a:off x="952805" y="2000707"/>
            <a:ext cx="16383305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단계별 판단 주체, 의무, 사전 절차, 제재가 모두 다름</a:t>
            </a:r>
            <a:endParaRPr lang="en-US" sz="18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77950764"/>
              </p:ext>
            </p:extLst>
          </p:nvPr>
        </p:nvGraphicFramePr>
        <p:xfrm>
          <a:off x="952805" y="2704795"/>
          <a:ext cx="16372331" cy="3458260"/>
        </p:xfrm>
        <a:graphic>
          <a:graphicData uri="http://schemas.openxmlformats.org/drawingml/2006/table">
            <a:tbl>
              <a:tblPr/>
              <a:tblGrid>
                <a:gridCol w="15871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3805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573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8970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916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1800" b="1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57607" marB="57607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예시</a:t>
                      </a:r>
                      <a:endParaRPr lang="en-US" sz="1800" b="1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57607" marB="57607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의무</a:t>
                      </a:r>
                      <a:endParaRPr lang="en-US" sz="1800" b="1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57607" marB="57607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제재 상한</a:t>
                      </a:r>
                      <a:endParaRPr lang="en-US" sz="1800" b="1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57607" marB="57607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916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금지</a:t>
                      </a:r>
                      <a:endParaRPr lang="en-US" sz="1800" b="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57607" marB="57607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E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사회 평점, 무차별 얼굴 수집, 직장 감정인식</a:t>
                      </a:r>
                      <a:endParaRPr lang="en-US" sz="1800" b="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57607" marB="57607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E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출시와 사용 금지, 예외는 제5조가 열거한 경우만</a:t>
                      </a:r>
                      <a:endParaRPr lang="en-US" sz="1800" b="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57607" marB="57607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E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3,500만 유로 또는 매출 7퍼센트</a:t>
                      </a:r>
                      <a:endParaRPr lang="en-US" sz="1800" b="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57607" marB="57607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916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고위험</a:t>
                      </a:r>
                      <a:endParaRPr lang="en-US" sz="1800" b="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57607" marB="57607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채용 심사, 신용 평가, 의료기기, 입학 사정</a:t>
                      </a:r>
                      <a:endParaRPr lang="en-US" sz="1800" b="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57607" marB="57607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7대 요건, 적합성 평가, CE 표시, 등록, 사후 감시</a:t>
                      </a:r>
                      <a:endParaRPr lang="en-US" sz="1800" b="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57607" marB="57607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1,500만 유로 또는 매출 3퍼센트</a:t>
                      </a:r>
                      <a:endParaRPr lang="en-US" sz="1800" b="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57607" marB="57607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916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제한적 위험</a:t>
                      </a:r>
                      <a:endParaRPr lang="en-US" sz="1800" b="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57607" marB="57607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대화형 챗봇, 딥페이크, 감정인식 일반 사용</a:t>
                      </a:r>
                      <a:endParaRPr lang="en-US" sz="1800" b="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57607" marB="57607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고지와 표시 의무만, 사전 평가 없음</a:t>
                      </a:r>
                      <a:endParaRPr lang="en-US" sz="1800" b="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57607" marB="57607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1,500만 유로 또는 매출 3퍼센트</a:t>
                      </a:r>
                      <a:endParaRPr lang="en-US" sz="1800" b="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57607" marB="57607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916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최소 위험</a:t>
                      </a:r>
                      <a:endParaRPr lang="en-US" sz="1800" b="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57607" marB="57607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스팸 필터, 추천 알고리즘, 재고 관리</a:t>
                      </a:r>
                      <a:endParaRPr lang="en-US" sz="1800" b="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57607" marB="57607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법적 의무 없음, 자발적 행동규범 권장</a:t>
                      </a:r>
                      <a:endParaRPr lang="en-US" sz="1800" b="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57607" marB="57607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해당 없음</a:t>
                      </a:r>
                      <a:endParaRPr lang="en-US" sz="1800" b="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33502" marR="133502" marT="57607" marB="57607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7" name="Text 13"/>
          <p:cNvSpPr txBox="1"/>
          <p:nvPr/>
        </p:nvSpPr>
        <p:spPr>
          <a:xfrm>
            <a:off x="1257300" y="6933895"/>
            <a:ext cx="7439558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 kern="0" spc="-37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등급 판단의 주체</a:t>
            </a:r>
            <a:endParaRPr lang="en-US" sz="2500" dirty="0"/>
          </a:p>
        </p:txBody>
      </p:sp>
      <p:sp>
        <p:nvSpPr>
          <p:cNvPr id="18" name="Text 14"/>
          <p:cNvSpPr txBox="1"/>
          <p:nvPr/>
        </p:nvSpPr>
        <p:spPr>
          <a:xfrm>
            <a:off x="1257300" y="7524598"/>
            <a:ext cx="7439558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제공자가 스스로 판단, 자기 분류(self-classification) 방식</a:t>
            </a:r>
            <a:endParaRPr lang="en-US" sz="1800" dirty="0"/>
          </a:p>
        </p:txBody>
      </p:sp>
      <p:sp>
        <p:nvSpPr>
          <p:cNvPr id="19" name="Text 15"/>
          <p:cNvSpPr txBox="1"/>
          <p:nvPr/>
        </p:nvSpPr>
        <p:spPr>
          <a:xfrm>
            <a:off x="1257300" y="7936078"/>
            <a:ext cx="7439558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당국은 사후에 시장감시로 확인, 사전 허가제가 아님</a:t>
            </a:r>
            <a:endParaRPr lang="en-US" sz="1800" dirty="0"/>
          </a:p>
        </p:txBody>
      </p:sp>
      <p:sp>
        <p:nvSpPr>
          <p:cNvPr id="20" name="Text 16"/>
          <p:cNvSpPr txBox="1"/>
          <p:nvPr/>
        </p:nvSpPr>
        <p:spPr>
          <a:xfrm>
            <a:off x="9592056" y="6933895"/>
            <a:ext cx="7439558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 kern="0" spc="-37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구조의 취약점</a:t>
            </a:r>
            <a:endParaRPr lang="en-US" sz="2500" dirty="0"/>
          </a:p>
        </p:txBody>
      </p:sp>
      <p:sp>
        <p:nvSpPr>
          <p:cNvPr id="21" name="Text 17"/>
          <p:cNvSpPr txBox="1"/>
          <p:nvPr/>
        </p:nvSpPr>
        <p:spPr>
          <a:xfrm>
            <a:off x="9592056" y="7524598"/>
            <a:ext cx="7439558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낮은 등급으로 자기 분류할 유인이 존재</a:t>
            </a:r>
            <a:endParaRPr lang="en-US" sz="1800" dirty="0"/>
          </a:p>
        </p:txBody>
      </p:sp>
      <p:sp>
        <p:nvSpPr>
          <p:cNvPr id="22" name="Text 18"/>
          <p:cNvSpPr txBox="1"/>
          <p:nvPr/>
        </p:nvSpPr>
        <p:spPr>
          <a:xfrm>
            <a:off x="9592056" y="7936078"/>
            <a:ext cx="7439558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제6조 3항 제외 요건이 그 통로가 될 수 있다는 지적</a:t>
            </a:r>
            <a:endParaRPr lang="en-US" sz="1800" dirty="0"/>
          </a:p>
        </p:txBody>
      </p:sp>
      <p:sp>
        <p:nvSpPr>
          <p:cNvPr id="23" name="Text 19"/>
          <p:cNvSpPr txBox="1"/>
          <p:nvPr/>
        </p:nvSpPr>
        <p:spPr>
          <a:xfrm>
            <a:off x="1333195" y="8686800"/>
            <a:ext cx="15621610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고위험과 제한적 위험의 제재 상한이 같음, 의무의 무게는 크게 다른데 왜 같은가?</a:t>
            </a:r>
            <a:endParaRPr lang="en-US" sz="1800" dirty="0"/>
          </a:p>
        </p:txBody>
      </p:sp>
      <p:sp>
        <p:nvSpPr>
          <p:cNvPr id="24" name="Text 20"/>
          <p:cNvSpPr txBox="1"/>
          <p:nvPr/>
        </p:nvSpPr>
        <p:spPr>
          <a:xfrm>
            <a:off x="1333195" y="9098280"/>
            <a:ext cx="15621610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자기 분류 방식에서 등급 하향 유인을 억제하는 장치는 무엇인가? 충분한가?</a:t>
            </a:r>
            <a:endParaRPr lang="en-US" sz="1800" dirty="0"/>
          </a:p>
        </p:txBody>
      </p:sp>
      <p:sp>
        <p:nvSpPr>
          <p:cNvPr id="25" name="Text 21"/>
          <p:cNvSpPr txBox="1"/>
          <p:nvPr/>
        </p:nvSpPr>
        <p:spPr>
          <a:xfrm>
            <a:off x="15430500" y="9791395"/>
            <a:ext cx="19056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31/51</a:t>
            </a:r>
            <a:endParaRPr lang="en-US" sz="18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e22c746fd81622b5deae707eff18ae09.png"/>
          <p:cNvPicPr>
            <a:picLocks noChangeAspect="1"/>
          </p:cNvPicPr>
          <p:nvPr/>
        </p:nvPicPr>
        <p:blipFill>
          <a:blip r:embed="rId2"/>
          <a:srcRect l="-80" r="-80"/>
          <a:stretch/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52805" y="8490858"/>
            <a:ext cx="16383305" cy="1034448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952805" y="342900"/>
            <a:ext cx="3199486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15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9048902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입법 경과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0877702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규정 체계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2687300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총칙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4477695" y="304495"/>
            <a:ext cx="1772107" cy="381305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금지 관행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6306495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고위험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952805" y="1104595"/>
            <a:ext cx="16383305" cy="8860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5000" b="1" kern="0" spc="-112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(4-3) 제5조 금지된 AI 관행 10유형</a:t>
            </a:r>
            <a:endParaRPr lang="en-US" sz="5000" dirty="0"/>
          </a:p>
        </p:txBody>
      </p:sp>
      <p:sp>
        <p:nvSpPr>
          <p:cNvPr id="12" name="Text 9"/>
          <p:cNvSpPr txBox="1"/>
          <p:nvPr/>
        </p:nvSpPr>
        <p:spPr>
          <a:xfrm>
            <a:off x="952805" y="2000707"/>
            <a:ext cx="16383305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최초 8유형에 옴니버스 개정으로 2유형 추가, 단일 조문에 집약</a:t>
            </a:r>
            <a:endParaRPr lang="en-US" sz="18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2996304"/>
              </p:ext>
            </p:extLst>
          </p:nvPr>
        </p:nvGraphicFramePr>
        <p:xfrm>
          <a:off x="952805" y="2704795"/>
          <a:ext cx="16373247" cy="4907859"/>
        </p:xfrm>
        <a:graphic>
          <a:graphicData uri="http://schemas.openxmlformats.org/drawingml/2006/table">
            <a:tbl>
              <a:tblPr/>
              <a:tblGrid>
                <a:gridCol w="123809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103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42014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0469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4616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호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57607" marB="57607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유형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57607" marB="57607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겨냥하는 해악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57607" marB="57607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적용일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57607" marB="57607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616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(a)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57607" marB="57607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잠재의식 조작과 기만 기법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57607" marB="57607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의사결정 능력 훼손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57607" marB="57607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2025.2.2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57607" marB="57607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616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(b)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57607" marB="57607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취약성 악용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57607" marB="57607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연령, 장애, 사회경제적 취약 계층 착취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57607" marB="57607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2025.2.2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57607" marB="57607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616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(ba)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57607" marB="57607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비자발적 성적 콘텐츠 생성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57607" marB="57607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동의 없는 친밀 이미지 제작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57607" marB="57607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2026.12.2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57607" marB="57607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616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(bb)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57607" marB="57607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아동 성학대 물질 생성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57607" marB="57607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아동 보호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57607" marB="57607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2026.12.2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57607" marB="57607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616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(c)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57607" marB="57607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사회 평점(social scoring)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57607" marB="57607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맥락과 무관한 불이익 부과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57607" marB="57607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2025.2.2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57607" marB="57607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4616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(d)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57607" marB="57607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프로파일링만으로 범죄 위험 예측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57607" marB="57607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무죄추정 원칙 침해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57607" marB="57607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2025.2.2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57607" marB="57607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4616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(e)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57607" marB="57607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얼굴 이미지 무차별 수집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57607" marB="57607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대량 감시 기반 구축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57607" marB="57607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2025.2.2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57607" marB="57607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4616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(f)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57607" marB="57607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직장과 교육기관 감정인식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57607" marB="57607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종속 관계에서 감정 감시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57607" marB="57607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2025.2.2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57607" marB="57607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4616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(g)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57607" marB="57607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민감 속성 추정 생체분류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57607" marB="57607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인종, 종교, 성적 지향 추론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57607" marB="57607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2025.2.2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57607" marB="57607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4616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(h)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57607" marB="57607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공공장소 실시간 원격 생체인식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57607" marB="57607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법 집행 목적 대량 감시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57607" marB="57607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2025.2.2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42646" marR="142646" marT="57607" marB="57607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14" name="Text 10"/>
          <p:cNvSpPr txBox="1"/>
          <p:nvPr/>
        </p:nvSpPr>
        <p:spPr>
          <a:xfrm>
            <a:off x="1238097" y="7693171"/>
            <a:ext cx="15621610" cy="3246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* </a:t>
            </a: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집행위원회는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(ba)와 (bb)를 (a)~(h) 안에 포함해 9유형으로 세기도 함, 조문상 실질은 10유형</a:t>
            </a:r>
            <a:endParaRPr lang="en-US" sz="1800" dirty="0"/>
          </a:p>
        </p:txBody>
      </p:sp>
      <p:sp>
        <p:nvSpPr>
          <p:cNvPr id="15" name="Text 11"/>
          <p:cNvSpPr txBox="1"/>
          <p:nvPr/>
        </p:nvSpPr>
        <p:spPr>
          <a:xfrm>
            <a:off x="1328623" y="8793088"/>
            <a:ext cx="15621610" cy="3246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10유형을 관통하는 공통 기준이 있는가? 무엇이 금지선을 넘게 만드는가?</a:t>
            </a:r>
            <a:endParaRPr lang="en-US" sz="1800" dirty="0"/>
          </a:p>
        </p:txBody>
      </p:sp>
      <p:sp>
        <p:nvSpPr>
          <p:cNvPr id="16" name="Text 12"/>
          <p:cNvSpPr txBox="1"/>
          <p:nvPr/>
        </p:nvSpPr>
        <p:spPr>
          <a:xfrm>
            <a:off x="15430500" y="9791395"/>
            <a:ext cx="19056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32/51</a:t>
            </a:r>
            <a:endParaRPr lang="en-US" sz="18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e22c746fd81622b5deae707eff18ae09.png"/>
          <p:cNvPicPr>
            <a:picLocks noChangeAspect="1"/>
          </p:cNvPicPr>
          <p:nvPr/>
        </p:nvPicPr>
        <p:blipFill>
          <a:blip r:embed="rId2"/>
          <a:srcRect l="-80" r="-80"/>
          <a:stretch/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52805" y="2704795"/>
            <a:ext cx="8048549" cy="4953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52805" y="2704795"/>
            <a:ext cx="8048549" cy="47549"/>
          </a:xfrm>
          <a:prstGeom prst="rect">
            <a:avLst/>
          </a:prstGeom>
          <a:solidFill>
            <a:srgbClr val="A82A24"/>
          </a:solidFill>
          <a:ln w="12700">
            <a:solidFill>
              <a:srgbClr val="A82A24">
                <a:alpha val="0"/>
              </a:srgbClr>
            </a:solidFill>
            <a:prstDash val="solid"/>
          </a:ln>
        </p:spPr>
      </p:sp>
      <p:pic>
        <p:nvPicPr>
          <p:cNvPr id="5" name="Image 1" descr="gen-dedup-c2dfa98337e9cb6ce99e9e949a17a885.png"/>
          <p:cNvPicPr>
            <a:picLocks noChangeAspect="1"/>
          </p:cNvPicPr>
          <p:nvPr/>
        </p:nvPicPr>
        <p:blipFill>
          <a:blip r:embed="rId3"/>
          <a:srcRect l="-2083" r="-2083"/>
          <a:stretch/>
        </p:blipFill>
        <p:spPr>
          <a:xfrm>
            <a:off x="1257300" y="3715207"/>
            <a:ext cx="7438644" cy="9144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9286646" y="2704795"/>
            <a:ext cx="8048549" cy="4953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9286646" y="2704795"/>
            <a:ext cx="8048549" cy="47549"/>
          </a:xfrm>
          <a:prstGeom prst="rect">
            <a:avLst/>
          </a:prstGeom>
          <a:solidFill>
            <a:srgbClr val="A82A24"/>
          </a:solidFill>
          <a:ln w="12700">
            <a:solidFill>
              <a:srgbClr val="A82A24">
                <a:alpha val="0"/>
              </a:srgbClr>
            </a:solidFill>
            <a:prstDash val="solid"/>
          </a:ln>
        </p:spPr>
      </p:sp>
      <p:pic>
        <p:nvPicPr>
          <p:cNvPr id="8" name="Image 2" descr="gen-dedup-c2dfa98337e9cb6ce99e9e949a17a885.png"/>
          <p:cNvPicPr>
            <a:picLocks noChangeAspect="1"/>
          </p:cNvPicPr>
          <p:nvPr/>
        </p:nvPicPr>
        <p:blipFill>
          <a:blip r:embed="rId3"/>
          <a:srcRect l="-2083" r="-2083"/>
          <a:stretch/>
        </p:blipFill>
        <p:spPr>
          <a:xfrm>
            <a:off x="9592056" y="3715207"/>
            <a:ext cx="7438644" cy="9144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952805" y="7867498"/>
            <a:ext cx="16383305" cy="165780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952805" y="342900"/>
            <a:ext cx="3199486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15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500" dirty="0"/>
          </a:p>
        </p:txBody>
      </p:sp>
      <p:sp>
        <p:nvSpPr>
          <p:cNvPr id="11" name="Text 6"/>
          <p:cNvSpPr txBox="1"/>
          <p:nvPr/>
        </p:nvSpPr>
        <p:spPr>
          <a:xfrm>
            <a:off x="9048902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입법 경과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10877702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규정 체계</a:t>
            </a:r>
            <a:endParaRPr lang="en-US" sz="1500" dirty="0"/>
          </a:p>
        </p:txBody>
      </p:sp>
      <p:sp>
        <p:nvSpPr>
          <p:cNvPr id="13" name="Text 8"/>
          <p:cNvSpPr txBox="1"/>
          <p:nvPr/>
        </p:nvSpPr>
        <p:spPr>
          <a:xfrm>
            <a:off x="12687300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총칙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14477695" y="304495"/>
            <a:ext cx="1772107" cy="381305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금지 관행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16306495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고위험</a:t>
            </a:r>
            <a:endParaRPr lang="en-US" sz="1500" dirty="0"/>
          </a:p>
        </p:txBody>
      </p:sp>
      <p:sp>
        <p:nvSpPr>
          <p:cNvPr id="16" name="Text 11"/>
          <p:cNvSpPr txBox="1"/>
          <p:nvPr/>
        </p:nvSpPr>
        <p:spPr>
          <a:xfrm>
            <a:off x="952805" y="1104595"/>
            <a:ext cx="16383305" cy="8860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5000" b="1" kern="0" spc="-112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(4-4) 조작 기법과 취약성 악용</a:t>
            </a:r>
            <a:endParaRPr lang="en-US" sz="5000" dirty="0"/>
          </a:p>
        </p:txBody>
      </p:sp>
      <p:sp>
        <p:nvSpPr>
          <p:cNvPr id="17" name="Text 12"/>
          <p:cNvSpPr txBox="1"/>
          <p:nvPr/>
        </p:nvSpPr>
        <p:spPr>
          <a:xfrm>
            <a:off x="952805" y="2000707"/>
            <a:ext cx="16383305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제5조 1항 (a)호와 (b)호, 의사결정 자율성을 해치는 유형</a:t>
            </a:r>
            <a:endParaRPr lang="en-US" sz="1800" dirty="0"/>
          </a:p>
        </p:txBody>
      </p:sp>
      <p:sp>
        <p:nvSpPr>
          <p:cNvPr id="18" name="Text 13"/>
          <p:cNvSpPr txBox="1"/>
          <p:nvPr/>
        </p:nvSpPr>
        <p:spPr>
          <a:xfrm>
            <a:off x="1257300" y="2991002"/>
            <a:ext cx="7439558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 kern="0" spc="-37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(a) 잠재의식 조작과 기만</a:t>
            </a:r>
            <a:endParaRPr lang="en-US" sz="2500" dirty="0"/>
          </a:p>
        </p:txBody>
      </p:sp>
      <p:sp>
        <p:nvSpPr>
          <p:cNvPr id="19" name="Text 14"/>
          <p:cNvSpPr txBox="1"/>
          <p:nvPr/>
        </p:nvSpPr>
        <p:spPr>
          <a:xfrm>
            <a:off x="1257300" y="3981298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잠재의식 기법, 의도적 조작, 기만 기법을 사용</a:t>
            </a:r>
            <a:endParaRPr lang="en-US" sz="1800" dirty="0"/>
          </a:p>
        </p:txBody>
      </p:sp>
      <p:sp>
        <p:nvSpPr>
          <p:cNvPr id="20" name="Text 15"/>
          <p:cNvSpPr txBox="1"/>
          <p:nvPr/>
        </p:nvSpPr>
        <p:spPr>
          <a:xfrm>
            <a:off x="1257300" y="4480560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의사결정 능력을 실질적으로 훼손</a:t>
            </a:r>
            <a:endParaRPr lang="en-US" sz="1800" dirty="0"/>
          </a:p>
        </p:txBody>
      </p:sp>
      <p:sp>
        <p:nvSpPr>
          <p:cNvPr id="21" name="Text 16"/>
          <p:cNvSpPr txBox="1"/>
          <p:nvPr/>
        </p:nvSpPr>
        <p:spPr>
          <a:xfrm>
            <a:off x="1257300" y="4979822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본인이라면 하지 않았을 행위를 유발</a:t>
            </a:r>
            <a:endParaRPr lang="en-US" sz="1800" dirty="0"/>
          </a:p>
        </p:txBody>
      </p:sp>
      <p:sp>
        <p:nvSpPr>
          <p:cNvPr id="22" name="Text 17"/>
          <p:cNvSpPr txBox="1"/>
          <p:nvPr/>
        </p:nvSpPr>
        <p:spPr>
          <a:xfrm>
            <a:off x="1257300" y="5479085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본인, 타인, 집단에 중대한 해악 발생 또는 발생 가능</a:t>
            </a:r>
            <a:endParaRPr lang="en-US" sz="1800" dirty="0"/>
          </a:p>
        </p:txBody>
      </p:sp>
      <p:sp>
        <p:nvSpPr>
          <p:cNvPr id="23" name="Text 18"/>
          <p:cNvSpPr txBox="1"/>
          <p:nvPr/>
        </p:nvSpPr>
        <p:spPr>
          <a:xfrm>
            <a:off x="1257300" y="5978347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성립 요건 3개가 모두 충족되어야 금지</a:t>
            </a:r>
            <a:endParaRPr lang="en-US" sz="1800" dirty="0"/>
          </a:p>
        </p:txBody>
      </p:sp>
      <p:sp>
        <p:nvSpPr>
          <p:cNvPr id="24" name="Text 19"/>
          <p:cNvSpPr txBox="1"/>
          <p:nvPr/>
        </p:nvSpPr>
        <p:spPr>
          <a:xfrm>
            <a:off x="9592056" y="2991002"/>
            <a:ext cx="7439558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 kern="0" spc="-37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(b) 취약성 악용</a:t>
            </a:r>
            <a:endParaRPr lang="en-US" sz="2500" dirty="0"/>
          </a:p>
        </p:txBody>
      </p:sp>
      <p:sp>
        <p:nvSpPr>
          <p:cNvPr id="25" name="Text 20"/>
          <p:cNvSpPr txBox="1"/>
          <p:nvPr/>
        </p:nvSpPr>
        <p:spPr>
          <a:xfrm>
            <a:off x="9592056" y="3981298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취약성의 원인 3가지를 열거, 연령, 장애, 사회경제적 상황</a:t>
            </a:r>
            <a:endParaRPr lang="en-US" sz="1800" dirty="0"/>
          </a:p>
        </p:txBody>
      </p:sp>
      <p:sp>
        <p:nvSpPr>
          <p:cNvPr id="26" name="Text 21"/>
          <p:cNvSpPr txBox="1"/>
          <p:nvPr/>
        </p:nvSpPr>
        <p:spPr>
          <a:xfrm>
            <a:off x="9592056" y="4480560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 또는 특정 집단의 취약성을 악용</a:t>
            </a:r>
            <a:endParaRPr lang="en-US" sz="1800" dirty="0"/>
          </a:p>
        </p:txBody>
      </p:sp>
      <p:sp>
        <p:nvSpPr>
          <p:cNvPr id="27" name="Text 22"/>
          <p:cNvSpPr txBox="1"/>
          <p:nvPr/>
        </p:nvSpPr>
        <p:spPr>
          <a:xfrm>
            <a:off x="9592056" y="4979822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행동을 실질적으로 왜곡</a:t>
            </a:r>
            <a:endParaRPr lang="en-US" sz="1800" dirty="0"/>
          </a:p>
        </p:txBody>
      </p:sp>
      <p:sp>
        <p:nvSpPr>
          <p:cNvPr id="28" name="Text 23"/>
          <p:cNvSpPr txBox="1"/>
          <p:nvPr/>
        </p:nvSpPr>
        <p:spPr>
          <a:xfrm>
            <a:off x="9592056" y="5479085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중대한 해악 발생 또는 발생 가능</a:t>
            </a:r>
            <a:endParaRPr lang="en-US" sz="1800" dirty="0"/>
          </a:p>
        </p:txBody>
      </p:sp>
      <p:sp>
        <p:nvSpPr>
          <p:cNvPr id="29" name="Text 24"/>
          <p:cNvSpPr txBox="1"/>
          <p:nvPr/>
        </p:nvSpPr>
        <p:spPr>
          <a:xfrm>
            <a:off x="9592056" y="5978347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아동 대상 유해 콘텐츠 유도, 고령자 대상 금융 상품 권유 등</a:t>
            </a:r>
            <a:endParaRPr lang="en-US" sz="1800" dirty="0"/>
          </a:p>
        </p:txBody>
      </p:sp>
      <p:sp>
        <p:nvSpPr>
          <p:cNvPr id="30" name="Text 25"/>
          <p:cNvSpPr txBox="1"/>
          <p:nvPr/>
        </p:nvSpPr>
        <p:spPr>
          <a:xfrm>
            <a:off x="1333195" y="8134502"/>
            <a:ext cx="15621610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실질적 훼손과 중대한 해악을 어떻게 입증하는가? 입증 책임은 누가 지는가?</a:t>
            </a:r>
            <a:endParaRPr lang="en-US" sz="1800" dirty="0"/>
          </a:p>
        </p:txBody>
      </p:sp>
      <p:sp>
        <p:nvSpPr>
          <p:cNvPr id="31" name="Text 26"/>
          <p:cNvSpPr txBox="1"/>
          <p:nvPr/>
        </p:nvSpPr>
        <p:spPr>
          <a:xfrm>
            <a:off x="1333195" y="8576158"/>
            <a:ext cx="15621610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추천 알고리즘의 몰입 유도 설계는 (a)호에 해당하는가? 경계가 어디인가?</a:t>
            </a:r>
            <a:endParaRPr lang="en-US" sz="1800" dirty="0"/>
          </a:p>
        </p:txBody>
      </p:sp>
      <p:sp>
        <p:nvSpPr>
          <p:cNvPr id="32" name="Text 27"/>
          <p:cNvSpPr txBox="1"/>
          <p:nvPr/>
        </p:nvSpPr>
        <p:spPr>
          <a:xfrm>
            <a:off x="15430500" y="9791395"/>
            <a:ext cx="19056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33/51</a:t>
            </a:r>
            <a:endParaRPr lang="en-US" sz="18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e22c746fd81622b5deae707eff18ae09.png"/>
          <p:cNvPicPr>
            <a:picLocks noChangeAspect="1"/>
          </p:cNvPicPr>
          <p:nvPr/>
        </p:nvPicPr>
        <p:blipFill>
          <a:blip r:embed="rId2"/>
          <a:srcRect l="-80" r="-80"/>
          <a:stretch/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52805" y="2704795"/>
            <a:ext cx="8048549" cy="476219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52805" y="2704795"/>
            <a:ext cx="8048549" cy="47549"/>
          </a:xfrm>
          <a:prstGeom prst="rect">
            <a:avLst/>
          </a:prstGeom>
          <a:solidFill>
            <a:srgbClr val="036B3F"/>
          </a:solidFill>
          <a:ln w="12700">
            <a:solidFill>
              <a:srgbClr val="036B3F">
                <a:alpha val="0"/>
              </a:srgbClr>
            </a:solidFill>
            <a:prstDash val="solid"/>
          </a:ln>
        </p:spPr>
      </p:sp>
      <p:pic>
        <p:nvPicPr>
          <p:cNvPr id="5" name="Image 1" descr="gen-dedup-c2dfa98337e9cb6ce99e9e949a17a885.png"/>
          <p:cNvPicPr>
            <a:picLocks noChangeAspect="1"/>
          </p:cNvPicPr>
          <p:nvPr/>
        </p:nvPicPr>
        <p:blipFill>
          <a:blip r:embed="rId3"/>
          <a:srcRect l="-2083" r="-2083"/>
          <a:stretch/>
        </p:blipFill>
        <p:spPr>
          <a:xfrm>
            <a:off x="1257300" y="3715207"/>
            <a:ext cx="7438644" cy="9144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9286646" y="2704795"/>
            <a:ext cx="8048549" cy="476219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9286646" y="2704795"/>
            <a:ext cx="8048549" cy="47549"/>
          </a:xfrm>
          <a:prstGeom prst="rect">
            <a:avLst/>
          </a:prstGeom>
          <a:solidFill>
            <a:srgbClr val="036B3F"/>
          </a:solidFill>
          <a:ln w="12700">
            <a:solidFill>
              <a:srgbClr val="036B3F">
                <a:alpha val="0"/>
              </a:srgbClr>
            </a:solidFill>
            <a:prstDash val="solid"/>
          </a:ln>
        </p:spPr>
      </p:sp>
      <p:pic>
        <p:nvPicPr>
          <p:cNvPr id="8" name="Image 2" descr="gen-dedup-c2dfa98337e9cb6ce99e9e949a17a885.png"/>
          <p:cNvPicPr>
            <a:picLocks noChangeAspect="1"/>
          </p:cNvPicPr>
          <p:nvPr/>
        </p:nvPicPr>
        <p:blipFill>
          <a:blip r:embed="rId3"/>
          <a:srcRect l="-2083" r="-2083"/>
          <a:stretch/>
        </p:blipFill>
        <p:spPr>
          <a:xfrm>
            <a:off x="9592056" y="3715207"/>
            <a:ext cx="7438644" cy="9144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952805" y="8192110"/>
            <a:ext cx="16383305" cy="1333195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952805" y="342900"/>
            <a:ext cx="3199486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15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9048902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입법 경과</a:t>
            </a:r>
            <a:endParaRPr lang="en-US" sz="1500" dirty="0"/>
          </a:p>
        </p:txBody>
      </p:sp>
      <p:sp>
        <p:nvSpPr>
          <p:cNvPr id="13" name="Text 8"/>
          <p:cNvSpPr txBox="1"/>
          <p:nvPr/>
        </p:nvSpPr>
        <p:spPr>
          <a:xfrm>
            <a:off x="10877702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규정 체계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12687300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총칙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14477695" y="304495"/>
            <a:ext cx="1772107" cy="381305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금지 관행</a:t>
            </a:r>
            <a:endParaRPr lang="en-US" sz="1500" dirty="0"/>
          </a:p>
        </p:txBody>
      </p:sp>
      <p:sp>
        <p:nvSpPr>
          <p:cNvPr id="16" name="Text 11"/>
          <p:cNvSpPr txBox="1"/>
          <p:nvPr/>
        </p:nvSpPr>
        <p:spPr>
          <a:xfrm>
            <a:off x="16306495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고위험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952805" y="1104595"/>
            <a:ext cx="16383305" cy="8860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5000" b="1" kern="0" spc="-112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(4-5) 옴니버스 신설 2유형</a:t>
            </a:r>
            <a:endParaRPr lang="en-US" sz="5000" dirty="0"/>
          </a:p>
        </p:txBody>
      </p:sp>
      <p:sp>
        <p:nvSpPr>
          <p:cNvPr id="18" name="Text 13"/>
          <p:cNvSpPr txBox="1"/>
          <p:nvPr/>
        </p:nvSpPr>
        <p:spPr>
          <a:xfrm>
            <a:off x="952805" y="2000707"/>
            <a:ext cx="16383305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제5조 1항 (ba)호와 (bb)호, 2026.12.2 적용</a:t>
            </a:r>
            <a:endParaRPr lang="en-US" sz="1800" dirty="0"/>
          </a:p>
        </p:txBody>
      </p:sp>
      <p:sp>
        <p:nvSpPr>
          <p:cNvPr id="19" name="Text 14"/>
          <p:cNvSpPr txBox="1"/>
          <p:nvPr/>
        </p:nvSpPr>
        <p:spPr>
          <a:xfrm>
            <a:off x="1257300" y="2991002"/>
            <a:ext cx="7439558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 kern="0" spc="-37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(ba) 비자발적 성적 콘텐츠</a:t>
            </a:r>
            <a:endParaRPr lang="en-US" sz="2500" dirty="0"/>
          </a:p>
        </p:txBody>
      </p:sp>
      <p:sp>
        <p:nvSpPr>
          <p:cNvPr id="20" name="Text 15"/>
          <p:cNvSpPr txBox="1"/>
          <p:nvPr/>
        </p:nvSpPr>
        <p:spPr>
          <a:xfrm>
            <a:off x="1257300" y="3981298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식별 가능한 자연인의 친밀한 부위 또는 성적 행위를 포함</a:t>
            </a:r>
            <a:endParaRPr lang="en-US" sz="1800" dirty="0"/>
          </a:p>
        </p:txBody>
      </p:sp>
      <p:sp>
        <p:nvSpPr>
          <p:cNvPr id="21" name="Text 16"/>
          <p:cNvSpPr txBox="1"/>
          <p:nvPr/>
        </p:nvSpPr>
        <p:spPr>
          <a:xfrm>
            <a:off x="1257300" y="4480560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사실적인 이미지, 영상, 오디오를 생성 또는 조작</a:t>
            </a:r>
            <a:endParaRPr lang="en-US" sz="1800" dirty="0"/>
          </a:p>
        </p:txBody>
      </p:sp>
      <p:sp>
        <p:nvSpPr>
          <p:cNvPr id="22" name="Text 17"/>
          <p:cNvSpPr txBox="1"/>
          <p:nvPr/>
        </p:nvSpPr>
        <p:spPr>
          <a:xfrm>
            <a:off x="1257300" y="4979822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해당인의 자유롭고 특정되고 정보에 기반한 명시적 동의 없음</a:t>
            </a:r>
            <a:endParaRPr lang="en-US" sz="1800" dirty="0"/>
          </a:p>
        </p:txBody>
      </p:sp>
      <p:sp>
        <p:nvSpPr>
          <p:cNvPr id="23" name="Text 18"/>
          <p:cNvSpPr txBox="1"/>
          <p:nvPr/>
        </p:nvSpPr>
        <p:spPr>
          <a:xfrm>
            <a:off x="1257300" y="5479085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동의 요건이 개인정보보호 규정의 동의 기준을 차용</a:t>
            </a:r>
            <a:endParaRPr lang="en-US" sz="1800" dirty="0"/>
          </a:p>
        </p:txBody>
      </p:sp>
      <p:sp>
        <p:nvSpPr>
          <p:cNvPr id="24" name="Text 19"/>
          <p:cNvSpPr txBox="1"/>
          <p:nvPr/>
        </p:nvSpPr>
        <p:spPr>
          <a:xfrm>
            <a:off x="9592056" y="2991002"/>
            <a:ext cx="7439558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 kern="0" spc="-37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(bb) 아동 성학대 물질</a:t>
            </a:r>
            <a:endParaRPr lang="en-US" sz="2500" dirty="0"/>
          </a:p>
        </p:txBody>
      </p:sp>
      <p:sp>
        <p:nvSpPr>
          <p:cNvPr id="25" name="Text 20"/>
          <p:cNvSpPr txBox="1"/>
          <p:nvPr/>
        </p:nvSpPr>
        <p:spPr>
          <a:xfrm>
            <a:off x="9592056" y="3981298"/>
            <a:ext cx="825611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아동 성착취 대응 지침(2011/93/EU) 제2조가 정한 자료를 생성 또는 조작</a:t>
            </a:r>
            <a:endParaRPr lang="en-US" sz="1800" dirty="0"/>
          </a:p>
        </p:txBody>
      </p:sp>
      <p:sp>
        <p:nvSpPr>
          <p:cNvPr id="26" name="Text 21"/>
          <p:cNvSpPr txBox="1"/>
          <p:nvPr/>
        </p:nvSpPr>
        <p:spPr>
          <a:xfrm>
            <a:off x="9592056" y="4480560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아동이 등장하지 않는 합성 자료도 포함</a:t>
            </a:r>
            <a:endParaRPr lang="en-US" sz="1800" dirty="0"/>
          </a:p>
        </p:txBody>
      </p:sp>
      <p:sp>
        <p:nvSpPr>
          <p:cNvPr id="27" name="Text 22"/>
          <p:cNvSpPr txBox="1"/>
          <p:nvPr/>
        </p:nvSpPr>
        <p:spPr>
          <a:xfrm>
            <a:off x="9592056" y="4979822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회원국 법에서 정당한 권원 항변이 허용되는 경우는 제외</a:t>
            </a:r>
            <a:endParaRPr lang="en-US" sz="1800" dirty="0"/>
          </a:p>
        </p:txBody>
      </p:sp>
      <p:sp>
        <p:nvSpPr>
          <p:cNvPr id="28" name="Text 23"/>
          <p:cNvSpPr txBox="1"/>
          <p:nvPr/>
        </p:nvSpPr>
        <p:spPr>
          <a:xfrm>
            <a:off x="1333195" y="8418881"/>
            <a:ext cx="15621610" cy="3246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유형은 생성형 AI 확산 이후 발생한 피해 유형, 2021년 발의안에는 없던 조항</a:t>
            </a:r>
            <a:endParaRPr lang="en-US" sz="1800" dirty="0"/>
          </a:p>
        </p:txBody>
      </p:sp>
      <p:sp>
        <p:nvSpPr>
          <p:cNvPr id="29" name="Text 24"/>
          <p:cNvSpPr txBox="1"/>
          <p:nvPr/>
        </p:nvSpPr>
        <p:spPr>
          <a:xfrm>
            <a:off x="1333195" y="8896198"/>
            <a:ext cx="15621610" cy="3246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국내 성폭력처벌법과 청소년성보호법의 딥페이크 조항과 규율 방식이 어떻게 다른가?</a:t>
            </a:r>
            <a:endParaRPr lang="en-US" sz="1800" dirty="0"/>
          </a:p>
        </p:txBody>
      </p:sp>
      <p:sp>
        <p:nvSpPr>
          <p:cNvPr id="30" name="Text 25"/>
          <p:cNvSpPr txBox="1"/>
          <p:nvPr/>
        </p:nvSpPr>
        <p:spPr>
          <a:xfrm>
            <a:off x="15430500" y="9791395"/>
            <a:ext cx="19056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34/51</a:t>
            </a:r>
            <a:endParaRPr lang="en-US" sz="18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e22c746fd81622b5deae707eff18ae09.png"/>
          <p:cNvPicPr>
            <a:picLocks noChangeAspect="1"/>
          </p:cNvPicPr>
          <p:nvPr/>
        </p:nvPicPr>
        <p:blipFill>
          <a:blip r:embed="rId2"/>
          <a:srcRect l="-80" r="-80"/>
          <a:stretch/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52805" y="2704795"/>
            <a:ext cx="16383305" cy="17145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52805" y="2704795"/>
            <a:ext cx="16383305" cy="47549"/>
          </a:xfrm>
          <a:prstGeom prst="rect">
            <a:avLst/>
          </a:prstGeom>
          <a:solidFill>
            <a:srgbClr val="A82A24"/>
          </a:solidFill>
          <a:ln w="12700">
            <a:solidFill>
              <a:srgbClr val="A82A24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952805" y="4686300"/>
            <a:ext cx="8048549" cy="2667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2805" y="4686300"/>
            <a:ext cx="8048549" cy="47549"/>
          </a:xfrm>
          <a:prstGeom prst="rect">
            <a:avLst/>
          </a:prstGeom>
          <a:solidFill>
            <a:srgbClr val="9A7620"/>
          </a:solidFill>
          <a:ln w="12700">
            <a:solidFill>
              <a:srgbClr val="9A7620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286646" y="4686300"/>
            <a:ext cx="8048549" cy="2667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286646" y="4686300"/>
            <a:ext cx="8048549" cy="47549"/>
          </a:xfrm>
          <a:prstGeom prst="rect">
            <a:avLst/>
          </a:prstGeom>
          <a:solidFill>
            <a:srgbClr val="9A7620"/>
          </a:solidFill>
          <a:ln w="12700">
            <a:solidFill>
              <a:srgbClr val="9A7620">
                <a:alpha val="0"/>
              </a:srgbClr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952805" y="8077811"/>
            <a:ext cx="16383305" cy="1446580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952805" y="342900"/>
            <a:ext cx="3199486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15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9048902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입법 경과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10877702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규정 체계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12687300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총칙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14477695" y="304495"/>
            <a:ext cx="1772107" cy="381305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금지 관행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16306495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고위험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952805" y="1104595"/>
            <a:ext cx="16383305" cy="8860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5000" b="1" kern="0" spc="-112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(4-6) 사회 평점</a:t>
            </a:r>
            <a:endParaRPr lang="en-US" sz="5000" dirty="0"/>
          </a:p>
        </p:txBody>
      </p:sp>
      <p:sp>
        <p:nvSpPr>
          <p:cNvPr id="18" name="Text 15"/>
          <p:cNvSpPr txBox="1"/>
          <p:nvPr/>
        </p:nvSpPr>
        <p:spPr>
          <a:xfrm>
            <a:off x="952805" y="2000707"/>
            <a:ext cx="16383305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제5조 1항 (c)호, 사회 평점(social scoring)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1257300" y="2971800"/>
            <a:ext cx="15773400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 kern="0" spc="-37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성립 구조</a:t>
            </a:r>
            <a:endParaRPr lang="en-US" sz="2500" dirty="0"/>
          </a:p>
        </p:txBody>
      </p:sp>
      <p:sp>
        <p:nvSpPr>
          <p:cNvPr id="20" name="Text 17"/>
          <p:cNvSpPr txBox="1"/>
          <p:nvPr/>
        </p:nvSpPr>
        <p:spPr>
          <a:xfrm>
            <a:off x="1257300" y="3543300"/>
            <a:ext cx="15773400" cy="381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사회 행태 또는 인격 특성에 기초해 자연인이나 집단의 점수를 산정하고, 그 점수로 (i) 또는 (ii)의 불이익을 초래하는 경우</a:t>
            </a:r>
            <a:endParaRPr lang="en-US" sz="2000" dirty="0"/>
          </a:p>
        </p:txBody>
      </p:sp>
      <p:sp>
        <p:nvSpPr>
          <p:cNvPr id="21" name="Shape 18"/>
          <p:cNvSpPr/>
          <p:nvPr/>
        </p:nvSpPr>
        <p:spPr>
          <a:xfrm>
            <a:off x="1257300" y="4934102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257300" y="4934102"/>
            <a:ext cx="324612" cy="3246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1257300" y="5447995"/>
            <a:ext cx="7439558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(i) 맥락 이탈</a:t>
            </a:r>
            <a:endParaRPr lang="en-US" sz="2000" dirty="0"/>
          </a:p>
        </p:txBody>
      </p:sp>
      <p:sp>
        <p:nvSpPr>
          <p:cNvPr id="24" name="Text 21"/>
          <p:cNvSpPr txBox="1"/>
          <p:nvPr/>
        </p:nvSpPr>
        <p:spPr>
          <a:xfrm>
            <a:off x="1257300" y="5905195"/>
            <a:ext cx="7439558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데이터를 수집한 원래 맥락과 무관한 사회적 맥락에서 불리한 취급</a:t>
            </a:r>
            <a:endParaRPr lang="en-US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1257300" y="6335878"/>
            <a:ext cx="7439558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 — 교통 위반 기록을 대출 심사에 사용</a:t>
            </a:r>
            <a:endParaRPr lang="en-US" sz="1800" dirty="0"/>
          </a:p>
        </p:txBody>
      </p:sp>
      <p:sp>
        <p:nvSpPr>
          <p:cNvPr id="26" name="Shape 23"/>
          <p:cNvSpPr/>
          <p:nvPr/>
        </p:nvSpPr>
        <p:spPr>
          <a:xfrm>
            <a:off x="9592056" y="4934102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9592056" y="4934102"/>
            <a:ext cx="324612" cy="3246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9592056" y="5447995"/>
            <a:ext cx="7439558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(ii) 비례성 결여</a:t>
            </a:r>
            <a:endParaRPr lang="en-US" sz="2000" dirty="0"/>
          </a:p>
        </p:txBody>
      </p:sp>
      <p:sp>
        <p:nvSpPr>
          <p:cNvPr id="29" name="Text 26"/>
          <p:cNvSpPr txBox="1"/>
          <p:nvPr/>
        </p:nvSpPr>
        <p:spPr>
          <a:xfrm>
            <a:off x="9592056" y="5905195"/>
            <a:ext cx="7439558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행위에 비해 정당화되지 않거나 비례적이지 않은 불이익</a:t>
            </a:r>
            <a:endParaRPr lang="en-US" sz="1800" dirty="0"/>
          </a:p>
        </p:txBody>
      </p:sp>
      <p:sp>
        <p:nvSpPr>
          <p:cNvPr id="30" name="Text 27"/>
          <p:cNvSpPr txBox="1"/>
          <p:nvPr/>
        </p:nvSpPr>
        <p:spPr>
          <a:xfrm>
            <a:off x="9592056" y="6335878"/>
            <a:ext cx="7439558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 — 경미한 위반으로 공공서비스 전면 배제</a:t>
            </a:r>
            <a:endParaRPr lang="en-US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1333195" y="8230059"/>
            <a:ext cx="15621610" cy="3246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점수 산정 자체가 금지는 아님, 신용평가처럼 맥락이 일치하고 비례적인 평가는 고위험으로 규율</a:t>
            </a:r>
            <a:endParaRPr lang="en-US" sz="1800" dirty="0"/>
          </a:p>
        </p:txBody>
      </p:sp>
      <p:sp>
        <p:nvSpPr>
          <p:cNvPr id="32" name="Text 29"/>
          <p:cNvSpPr txBox="1"/>
          <p:nvPr/>
        </p:nvSpPr>
        <p:spPr>
          <a:xfrm>
            <a:off x="1333195" y="8617555"/>
            <a:ext cx="15621610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맥락 이탈의 판단 기준은 무엇으로 세울 수 있는가?</a:t>
            </a:r>
            <a:endParaRPr lang="en-US" sz="1800" dirty="0"/>
          </a:p>
        </p:txBody>
      </p:sp>
      <p:sp>
        <p:nvSpPr>
          <p:cNvPr id="33" name="Text 30"/>
          <p:cNvSpPr txBox="1"/>
          <p:nvPr/>
        </p:nvSpPr>
        <p:spPr>
          <a:xfrm>
            <a:off x="1333195" y="9040922"/>
            <a:ext cx="15621610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신용평가와 사회 평점을 가르는 선이 조문에서 명확한가? 국내 신용정보법과 대조해 볼 것</a:t>
            </a:r>
            <a:endParaRPr lang="en-US" sz="1800" dirty="0"/>
          </a:p>
        </p:txBody>
      </p:sp>
      <p:sp>
        <p:nvSpPr>
          <p:cNvPr id="34" name="Text 31"/>
          <p:cNvSpPr txBox="1"/>
          <p:nvPr/>
        </p:nvSpPr>
        <p:spPr>
          <a:xfrm>
            <a:off x="15430500" y="9791395"/>
            <a:ext cx="19056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35/51</a:t>
            </a:r>
            <a:endParaRPr lang="en-US" sz="18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e22c746fd81622b5deae707eff18ae09.png"/>
          <p:cNvPicPr>
            <a:picLocks noChangeAspect="1"/>
          </p:cNvPicPr>
          <p:nvPr/>
        </p:nvPicPr>
        <p:blipFill>
          <a:blip r:embed="rId2"/>
          <a:srcRect l="-80" r="-80"/>
          <a:stretch/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52805" y="2704795"/>
            <a:ext cx="8048549" cy="43818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52805" y="2704795"/>
            <a:ext cx="8048549" cy="47549"/>
          </a:xfrm>
          <a:prstGeom prst="rect">
            <a:avLst/>
          </a:prstGeom>
          <a:solidFill>
            <a:srgbClr val="A82A24"/>
          </a:solidFill>
          <a:ln w="12700">
            <a:solidFill>
              <a:srgbClr val="A82A24">
                <a:alpha val="0"/>
              </a:srgbClr>
            </a:solidFill>
            <a:prstDash val="solid"/>
          </a:ln>
        </p:spPr>
      </p:sp>
      <p:pic>
        <p:nvPicPr>
          <p:cNvPr id="5" name="Image 1" descr="gen-dedup-c2dfa98337e9cb6ce99e9e949a17a885.png"/>
          <p:cNvPicPr>
            <a:picLocks noChangeAspect="1"/>
          </p:cNvPicPr>
          <p:nvPr/>
        </p:nvPicPr>
        <p:blipFill>
          <a:blip r:embed="rId3"/>
          <a:srcRect l="-2083" r="-2083"/>
          <a:stretch/>
        </p:blipFill>
        <p:spPr>
          <a:xfrm>
            <a:off x="1257300" y="3715207"/>
            <a:ext cx="7438644" cy="9144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9286646" y="2704795"/>
            <a:ext cx="8048549" cy="43818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9286646" y="2704795"/>
            <a:ext cx="8048549" cy="47549"/>
          </a:xfrm>
          <a:prstGeom prst="rect">
            <a:avLst/>
          </a:prstGeom>
          <a:solidFill>
            <a:srgbClr val="036B3F"/>
          </a:solidFill>
          <a:ln w="12700">
            <a:solidFill>
              <a:srgbClr val="036B3F">
                <a:alpha val="0"/>
              </a:srgbClr>
            </a:solidFill>
            <a:prstDash val="solid"/>
          </a:ln>
        </p:spPr>
      </p:sp>
      <p:pic>
        <p:nvPicPr>
          <p:cNvPr id="8" name="Image 2" descr="gen-dedup-c2dfa98337e9cb6ce99e9e949a17a885.png"/>
          <p:cNvPicPr>
            <a:picLocks noChangeAspect="1"/>
          </p:cNvPicPr>
          <p:nvPr/>
        </p:nvPicPr>
        <p:blipFill>
          <a:blip r:embed="rId3"/>
          <a:srcRect l="-2083" r="-2083"/>
          <a:stretch/>
        </p:blipFill>
        <p:spPr>
          <a:xfrm>
            <a:off x="9592056" y="3715207"/>
            <a:ext cx="7438644" cy="9144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952805" y="7794928"/>
            <a:ext cx="16383305" cy="1730378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952805" y="342900"/>
            <a:ext cx="3199486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15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9048902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입법 경과</a:t>
            </a:r>
            <a:endParaRPr lang="en-US" sz="1500" dirty="0"/>
          </a:p>
        </p:txBody>
      </p:sp>
      <p:sp>
        <p:nvSpPr>
          <p:cNvPr id="13" name="Text 8"/>
          <p:cNvSpPr txBox="1"/>
          <p:nvPr/>
        </p:nvSpPr>
        <p:spPr>
          <a:xfrm>
            <a:off x="10877702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규정 체계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12687300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총칙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14477695" y="304495"/>
            <a:ext cx="1772107" cy="381305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금지 관행</a:t>
            </a:r>
            <a:endParaRPr lang="en-US" sz="1500" dirty="0"/>
          </a:p>
        </p:txBody>
      </p:sp>
      <p:sp>
        <p:nvSpPr>
          <p:cNvPr id="16" name="Text 11"/>
          <p:cNvSpPr txBox="1"/>
          <p:nvPr/>
        </p:nvSpPr>
        <p:spPr>
          <a:xfrm>
            <a:off x="16306495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고위험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952805" y="1104595"/>
            <a:ext cx="16383305" cy="8860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5000" b="1" kern="0" spc="-112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(4-7) 범죄 위험 예측</a:t>
            </a:r>
            <a:endParaRPr lang="en-US" sz="5000" dirty="0"/>
          </a:p>
        </p:txBody>
      </p:sp>
      <p:sp>
        <p:nvSpPr>
          <p:cNvPr id="18" name="Text 13"/>
          <p:cNvSpPr txBox="1"/>
          <p:nvPr/>
        </p:nvSpPr>
        <p:spPr>
          <a:xfrm>
            <a:off x="952805" y="2000707"/>
            <a:ext cx="16383305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제5조 1항 (d)호, 프로파일링만으로 개인의 범죄 위험을 평가하는 행위</a:t>
            </a:r>
            <a:endParaRPr lang="en-US" sz="1800" dirty="0"/>
          </a:p>
        </p:txBody>
      </p:sp>
      <p:sp>
        <p:nvSpPr>
          <p:cNvPr id="19" name="Text 14"/>
          <p:cNvSpPr txBox="1"/>
          <p:nvPr/>
        </p:nvSpPr>
        <p:spPr>
          <a:xfrm>
            <a:off x="1257300" y="2991002"/>
            <a:ext cx="7439558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 kern="0" spc="-37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금지되는 경우</a:t>
            </a:r>
            <a:endParaRPr lang="en-US" sz="2500" dirty="0"/>
          </a:p>
        </p:txBody>
      </p:sp>
      <p:sp>
        <p:nvSpPr>
          <p:cNvPr id="20" name="Text 15"/>
          <p:cNvSpPr txBox="1"/>
          <p:nvPr/>
        </p:nvSpPr>
        <p:spPr>
          <a:xfrm>
            <a:off x="1257300" y="3981298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자연인이 범죄를 범할 위험을 평가 또는 예측</a:t>
            </a:r>
            <a:endParaRPr lang="en-US" sz="1800" dirty="0"/>
          </a:p>
        </p:txBody>
      </p:sp>
      <p:sp>
        <p:nvSpPr>
          <p:cNvPr id="21" name="Text 16"/>
          <p:cNvSpPr txBox="1"/>
          <p:nvPr/>
        </p:nvSpPr>
        <p:spPr>
          <a:xfrm>
            <a:off x="1257300" y="4480560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근거가 오로지 프로파일링 또는 성격 특성 평가</a:t>
            </a:r>
            <a:endParaRPr lang="en-US" sz="1800" dirty="0"/>
          </a:p>
        </p:txBody>
      </p:sp>
      <p:sp>
        <p:nvSpPr>
          <p:cNvPr id="22" name="Text 17"/>
          <p:cNvSpPr txBox="1"/>
          <p:nvPr/>
        </p:nvSpPr>
        <p:spPr>
          <a:xfrm>
            <a:off x="1257300" y="4979822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프로파일링은 개인정보보호 규정 제4조 4항의 정의를 준용</a:t>
            </a:r>
            <a:endParaRPr lang="en-US" sz="1800" dirty="0"/>
          </a:p>
        </p:txBody>
      </p:sp>
      <p:sp>
        <p:nvSpPr>
          <p:cNvPr id="23" name="Text 18"/>
          <p:cNvSpPr txBox="1"/>
          <p:nvPr/>
        </p:nvSpPr>
        <p:spPr>
          <a:xfrm>
            <a:off x="9592056" y="2991002"/>
            <a:ext cx="7439558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 kern="0" spc="-37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허용되는 경우</a:t>
            </a:r>
            <a:endParaRPr lang="en-US" sz="2500" dirty="0"/>
          </a:p>
        </p:txBody>
      </p:sp>
      <p:sp>
        <p:nvSpPr>
          <p:cNvPr id="24" name="Text 19"/>
          <p:cNvSpPr txBox="1"/>
          <p:nvPr/>
        </p:nvSpPr>
        <p:spPr>
          <a:xfrm>
            <a:off x="9592056" y="3981298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 범죄 활동에 연루된 객관적 사실을 근거로 삼는 경우</a:t>
            </a:r>
            <a:endParaRPr lang="en-US" sz="1800" dirty="0"/>
          </a:p>
        </p:txBody>
      </p:sp>
      <p:sp>
        <p:nvSpPr>
          <p:cNvPr id="25" name="Text 20"/>
          <p:cNvSpPr txBox="1"/>
          <p:nvPr/>
        </p:nvSpPr>
        <p:spPr>
          <a:xfrm>
            <a:off x="9592056" y="4480560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인간의 평가를 보조하는 용도</a:t>
            </a:r>
            <a:endParaRPr lang="en-US" sz="1800" dirty="0"/>
          </a:p>
        </p:txBody>
      </p:sp>
      <p:sp>
        <p:nvSpPr>
          <p:cNvPr id="26" name="Text 21"/>
          <p:cNvSpPr txBox="1"/>
          <p:nvPr/>
        </p:nvSpPr>
        <p:spPr>
          <a:xfrm>
            <a:off x="9592056" y="4979822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장소 단위 예측은 대상이 개인이 아니므로 이 조항 밖</a:t>
            </a:r>
            <a:endParaRPr lang="en-US" sz="1800" dirty="0"/>
          </a:p>
        </p:txBody>
      </p:sp>
      <p:sp>
        <p:nvSpPr>
          <p:cNvPr id="27" name="Text 22"/>
          <p:cNvSpPr txBox="1"/>
          <p:nvPr/>
        </p:nvSpPr>
        <p:spPr>
          <a:xfrm>
            <a:off x="1333195" y="7913218"/>
            <a:ext cx="15621610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무죄추정 원칙이 근거, 행위가 아니라 속성으로 사람을 판단하는 것을 차단</a:t>
            </a:r>
            <a:endParaRPr lang="en-US" sz="1800" dirty="0"/>
          </a:p>
        </p:txBody>
      </p:sp>
      <p:sp>
        <p:nvSpPr>
          <p:cNvPr id="28" name="Text 23"/>
          <p:cNvSpPr txBox="1"/>
          <p:nvPr/>
        </p:nvSpPr>
        <p:spPr>
          <a:xfrm>
            <a:off x="1333195" y="8324698"/>
            <a:ext cx="15621610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재범 위험 평가는 이미 유죄 판결을 받은 자를 대상으로 하므로 고위험으로 분류</a:t>
            </a:r>
            <a:endParaRPr lang="en-US" sz="1800" dirty="0"/>
          </a:p>
        </p:txBody>
      </p:sp>
      <p:sp>
        <p:nvSpPr>
          <p:cNvPr id="29" name="Text 24"/>
          <p:cNvSpPr txBox="1"/>
          <p:nvPr/>
        </p:nvSpPr>
        <p:spPr>
          <a:xfrm>
            <a:off x="1333195" y="8686800"/>
            <a:ext cx="15621610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오로지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(solely)라는 문언이 회피 통로가 되는가?</a:t>
            </a:r>
            <a:endParaRPr lang="en-US" sz="1800" dirty="0"/>
          </a:p>
        </p:txBody>
      </p:sp>
      <p:sp>
        <p:nvSpPr>
          <p:cNvPr id="30" name="Text 25"/>
          <p:cNvSpPr txBox="1"/>
          <p:nvPr/>
        </p:nvSpPr>
        <p:spPr>
          <a:xfrm>
            <a:off x="1333195" y="9110167"/>
            <a:ext cx="15621610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최종 결정에 형식적으로만 개입하면 금지를 벗어나는지, 인간 감독의 실질을 어떻게 측정할 것인가?</a:t>
            </a:r>
            <a:endParaRPr lang="en-US" sz="1800" dirty="0"/>
          </a:p>
        </p:txBody>
      </p:sp>
      <p:sp>
        <p:nvSpPr>
          <p:cNvPr id="31" name="Text 26"/>
          <p:cNvSpPr txBox="1"/>
          <p:nvPr/>
        </p:nvSpPr>
        <p:spPr>
          <a:xfrm>
            <a:off x="15430500" y="9791395"/>
            <a:ext cx="19056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36/51</a:t>
            </a:r>
            <a:endParaRPr lang="en-US" sz="18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e22c746fd81622b5deae707eff18ae09.png"/>
          <p:cNvPicPr>
            <a:picLocks noChangeAspect="1"/>
          </p:cNvPicPr>
          <p:nvPr/>
        </p:nvPicPr>
        <p:blipFill>
          <a:blip r:embed="rId2"/>
          <a:srcRect l="-80" r="-80"/>
          <a:stretch/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52805" y="2704795"/>
            <a:ext cx="16383305" cy="1619402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52805" y="2704795"/>
            <a:ext cx="16383305" cy="47549"/>
          </a:xfrm>
          <a:prstGeom prst="rect">
            <a:avLst/>
          </a:prstGeom>
          <a:solidFill>
            <a:srgbClr val="A82A24"/>
          </a:solidFill>
          <a:ln w="12700">
            <a:solidFill>
              <a:srgbClr val="A82A24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952805" y="4591202"/>
            <a:ext cx="8048549" cy="2762402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2805" y="4591202"/>
            <a:ext cx="8048549" cy="47549"/>
          </a:xfrm>
          <a:prstGeom prst="rect">
            <a:avLst/>
          </a:prstGeom>
          <a:solidFill>
            <a:srgbClr val="9A7620"/>
          </a:solidFill>
          <a:ln w="12700">
            <a:solidFill>
              <a:srgbClr val="9A7620">
                <a:alpha val="0"/>
              </a:srgbClr>
            </a:solidFill>
            <a:prstDash val="solid"/>
          </a:ln>
        </p:spPr>
      </p:sp>
      <p:pic>
        <p:nvPicPr>
          <p:cNvPr id="7" name="Image 1" descr="gen-dedup-c2dfa98337e9cb6ce99e9e949a17a885.png"/>
          <p:cNvPicPr>
            <a:picLocks noChangeAspect="1"/>
          </p:cNvPicPr>
          <p:nvPr/>
        </p:nvPicPr>
        <p:blipFill>
          <a:blip r:embed="rId3"/>
          <a:srcRect l="-2083" r="-2083"/>
          <a:stretch/>
        </p:blipFill>
        <p:spPr>
          <a:xfrm>
            <a:off x="1257300" y="5505602"/>
            <a:ext cx="7438644" cy="9144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9286646" y="4591202"/>
            <a:ext cx="8048549" cy="2762402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9286646" y="4591202"/>
            <a:ext cx="8048549" cy="47549"/>
          </a:xfrm>
          <a:prstGeom prst="rect">
            <a:avLst/>
          </a:prstGeom>
          <a:solidFill>
            <a:srgbClr val="6B6B6B"/>
          </a:solidFill>
          <a:ln w="12700">
            <a:solidFill>
              <a:srgbClr val="6B6B6B">
                <a:alpha val="0"/>
              </a:srgbClr>
            </a:solidFill>
            <a:prstDash val="solid"/>
          </a:ln>
        </p:spPr>
      </p:sp>
      <p:pic>
        <p:nvPicPr>
          <p:cNvPr id="10" name="Image 2" descr="gen-dedup-c2dfa98337e9cb6ce99e9e949a17a885.png"/>
          <p:cNvPicPr>
            <a:picLocks noChangeAspect="1"/>
          </p:cNvPicPr>
          <p:nvPr/>
        </p:nvPicPr>
        <p:blipFill>
          <a:blip r:embed="rId3"/>
          <a:srcRect l="-2083" r="-2083"/>
          <a:stretch/>
        </p:blipFill>
        <p:spPr>
          <a:xfrm>
            <a:off x="9592056" y="5505602"/>
            <a:ext cx="7438644" cy="9144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952805" y="8129017"/>
            <a:ext cx="16383305" cy="1395374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952805" y="342900"/>
            <a:ext cx="3199486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15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9048902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입법 경과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10877702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규정 체계</a:t>
            </a:r>
            <a:endParaRPr lang="en-US" sz="1500" dirty="0"/>
          </a:p>
        </p:txBody>
      </p:sp>
      <p:sp>
        <p:nvSpPr>
          <p:cNvPr id="16" name="Text 11"/>
          <p:cNvSpPr txBox="1"/>
          <p:nvPr/>
        </p:nvSpPr>
        <p:spPr>
          <a:xfrm>
            <a:off x="12687300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총칙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14477695" y="304495"/>
            <a:ext cx="1772107" cy="381305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금지 관행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16306495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고위험</a:t>
            </a:r>
            <a:endParaRPr lang="en-US" sz="1500" dirty="0"/>
          </a:p>
        </p:txBody>
      </p:sp>
      <p:sp>
        <p:nvSpPr>
          <p:cNvPr id="19" name="Text 14"/>
          <p:cNvSpPr txBox="1"/>
          <p:nvPr/>
        </p:nvSpPr>
        <p:spPr>
          <a:xfrm>
            <a:off x="952805" y="1104595"/>
            <a:ext cx="16383305" cy="8860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5000" b="1" kern="0" spc="-112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(4-8) 얼굴 이미지 무차별 수집</a:t>
            </a:r>
            <a:endParaRPr lang="en-US" sz="5000" dirty="0"/>
          </a:p>
        </p:txBody>
      </p:sp>
      <p:sp>
        <p:nvSpPr>
          <p:cNvPr id="20" name="Text 15"/>
          <p:cNvSpPr txBox="1"/>
          <p:nvPr/>
        </p:nvSpPr>
        <p:spPr>
          <a:xfrm>
            <a:off x="952805" y="2000707"/>
            <a:ext cx="16383305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제5조 1항 (e)호, 얼굴인식 데이터베이스의 무차별 구축</a:t>
            </a:r>
            <a:endParaRPr lang="en-US" sz="1800" dirty="0"/>
          </a:p>
        </p:txBody>
      </p:sp>
      <p:sp>
        <p:nvSpPr>
          <p:cNvPr id="21" name="Text 16"/>
          <p:cNvSpPr txBox="1"/>
          <p:nvPr/>
        </p:nvSpPr>
        <p:spPr>
          <a:xfrm>
            <a:off x="1257300" y="2971800"/>
            <a:ext cx="15773400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 kern="0" spc="-37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금지 내용</a:t>
            </a:r>
            <a:endParaRPr lang="en-US" sz="2500" dirty="0"/>
          </a:p>
        </p:txBody>
      </p:sp>
      <p:sp>
        <p:nvSpPr>
          <p:cNvPr id="22" name="Text 17"/>
          <p:cNvSpPr txBox="1"/>
          <p:nvPr/>
        </p:nvSpPr>
        <p:spPr>
          <a:xfrm>
            <a:off x="1257300" y="3524098"/>
            <a:ext cx="16042234" cy="381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인터넷 또는 폐쇄회로 영상에서 얼굴 이미지를 무표적(untargeted)으로 긁어모아 얼굴인식 데이터베이스를 생성하거나 확장하는 행위</a:t>
            </a:r>
            <a:endParaRPr lang="en-US" sz="2000" dirty="0"/>
          </a:p>
        </p:txBody>
      </p:sp>
      <p:sp>
        <p:nvSpPr>
          <p:cNvPr id="23" name="Text 18"/>
          <p:cNvSpPr txBox="1"/>
          <p:nvPr/>
        </p:nvSpPr>
        <p:spPr>
          <a:xfrm>
            <a:off x="1257300" y="4858207"/>
            <a:ext cx="7439558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 kern="0" spc="-37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요건, 무표적</a:t>
            </a:r>
            <a:endParaRPr lang="en-US" sz="2500" dirty="0"/>
          </a:p>
        </p:txBody>
      </p:sp>
      <p:sp>
        <p:nvSpPr>
          <p:cNvPr id="24" name="Text 19"/>
          <p:cNvSpPr txBox="1"/>
          <p:nvPr/>
        </p:nvSpPr>
        <p:spPr>
          <a:xfrm>
            <a:off x="1257300" y="5772607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특정 대상을 정하지 않고 수집하는 방식이 금지의 핵심</a:t>
            </a:r>
            <a:endParaRPr lang="en-US" sz="1800" dirty="0"/>
          </a:p>
        </p:txBody>
      </p:sp>
      <p:sp>
        <p:nvSpPr>
          <p:cNvPr id="25" name="Text 20"/>
          <p:cNvSpPr txBox="1"/>
          <p:nvPr/>
        </p:nvSpPr>
        <p:spPr>
          <a:xfrm>
            <a:off x="1257300" y="6252667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수사 대상자를 특정해 수집하는 경우는 이 조항 밖</a:t>
            </a:r>
            <a:endParaRPr lang="en-US" sz="1800" dirty="0"/>
          </a:p>
        </p:txBody>
      </p:sp>
      <p:sp>
        <p:nvSpPr>
          <p:cNvPr id="26" name="Text 21"/>
          <p:cNvSpPr txBox="1"/>
          <p:nvPr/>
        </p:nvSpPr>
        <p:spPr>
          <a:xfrm>
            <a:off x="1257300" y="6732727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수집 규모가 아니라 표적 유무가 판단 기준</a:t>
            </a:r>
            <a:endParaRPr lang="en-US" sz="1800" dirty="0"/>
          </a:p>
        </p:txBody>
      </p:sp>
      <p:sp>
        <p:nvSpPr>
          <p:cNvPr id="27" name="Text 22"/>
          <p:cNvSpPr txBox="1"/>
          <p:nvPr/>
        </p:nvSpPr>
        <p:spPr>
          <a:xfrm>
            <a:off x="9592056" y="4858207"/>
            <a:ext cx="7439558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 kern="0" spc="-37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금지 이유</a:t>
            </a:r>
            <a:endParaRPr lang="en-US" sz="2500" dirty="0"/>
          </a:p>
        </p:txBody>
      </p:sp>
      <p:sp>
        <p:nvSpPr>
          <p:cNvPr id="28" name="Text 23"/>
          <p:cNvSpPr txBox="1"/>
          <p:nvPr/>
        </p:nvSpPr>
        <p:spPr>
          <a:xfrm>
            <a:off x="9592056" y="5772607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대량 감시의 물적 기반이 되는 단계를 차단</a:t>
            </a:r>
            <a:endParaRPr lang="en-US" sz="1800" dirty="0"/>
          </a:p>
        </p:txBody>
      </p:sp>
      <p:sp>
        <p:nvSpPr>
          <p:cNvPr id="29" name="Text 24"/>
          <p:cNvSpPr txBox="1"/>
          <p:nvPr/>
        </p:nvSpPr>
        <p:spPr>
          <a:xfrm>
            <a:off x="9592056" y="6252667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공개된 이미지라도 얼굴 특징 추출은 별개 처리</a:t>
            </a:r>
            <a:endParaRPr lang="en-US" sz="1800" dirty="0"/>
          </a:p>
        </p:txBody>
      </p:sp>
      <p:sp>
        <p:nvSpPr>
          <p:cNvPr id="30" name="Text 25"/>
          <p:cNvSpPr txBox="1"/>
          <p:nvPr/>
        </p:nvSpPr>
        <p:spPr>
          <a:xfrm>
            <a:off x="9592056" y="6732727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개인정보보호 규정의 적법 처리 근거와 별도로 이 법이 금지</a:t>
            </a:r>
            <a:endParaRPr lang="en-US" sz="1800" dirty="0"/>
          </a:p>
        </p:txBody>
      </p:sp>
      <p:sp>
        <p:nvSpPr>
          <p:cNvPr id="31" name="Text 26"/>
          <p:cNvSpPr txBox="1"/>
          <p:nvPr/>
        </p:nvSpPr>
        <p:spPr>
          <a:xfrm>
            <a:off x="1333195" y="8281265"/>
            <a:ext cx="15621610" cy="3246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데이터베이스 구축 자체를 금지, 그 뒤 어떤 용도로 쓰는지는 묻지 않는 구조</a:t>
            </a:r>
            <a:endParaRPr lang="en-US" sz="1800" dirty="0"/>
          </a:p>
        </p:txBody>
      </p:sp>
      <p:sp>
        <p:nvSpPr>
          <p:cNvPr id="32" name="Text 27"/>
          <p:cNvSpPr txBox="1"/>
          <p:nvPr/>
        </p:nvSpPr>
        <p:spPr>
          <a:xfrm>
            <a:off x="1333195" y="8661097"/>
            <a:ext cx="15621610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공개 데이터 학습과 무표적 수집의 경계는 어디인가?</a:t>
            </a:r>
            <a:endParaRPr lang="en-US" sz="1800" dirty="0"/>
          </a:p>
        </p:txBody>
      </p:sp>
      <p:sp>
        <p:nvSpPr>
          <p:cNvPr id="33" name="Text 28"/>
          <p:cNvSpPr txBox="1"/>
          <p:nvPr/>
        </p:nvSpPr>
        <p:spPr>
          <a:xfrm>
            <a:off x="1333195" y="9084464"/>
            <a:ext cx="15621610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웹 크롤링으로 학습한 얼굴 인식 모델은 이 조항에 걸리는가? 국내 개인정보보호법과 대조해 볼 것</a:t>
            </a:r>
            <a:endParaRPr lang="en-US" sz="1800" dirty="0"/>
          </a:p>
        </p:txBody>
      </p:sp>
      <p:sp>
        <p:nvSpPr>
          <p:cNvPr id="34" name="Text 29"/>
          <p:cNvSpPr txBox="1"/>
          <p:nvPr/>
        </p:nvSpPr>
        <p:spPr>
          <a:xfrm>
            <a:off x="15430500" y="9791395"/>
            <a:ext cx="19056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37/51</a:t>
            </a:r>
            <a:endParaRPr lang="en-US" sz="18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e22c746fd81622b5deae707eff18ae09.png"/>
          <p:cNvPicPr>
            <a:picLocks noChangeAspect="1"/>
          </p:cNvPicPr>
          <p:nvPr/>
        </p:nvPicPr>
        <p:blipFill>
          <a:blip r:embed="rId2"/>
          <a:srcRect l="-80" r="-80"/>
          <a:stretch/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52805" y="2704795"/>
            <a:ext cx="8048549" cy="476219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52805" y="2704795"/>
            <a:ext cx="8048549" cy="47549"/>
          </a:xfrm>
          <a:prstGeom prst="rect">
            <a:avLst/>
          </a:prstGeom>
          <a:solidFill>
            <a:srgbClr val="A82A24"/>
          </a:solidFill>
          <a:ln w="12700">
            <a:solidFill>
              <a:srgbClr val="A82A24">
                <a:alpha val="0"/>
              </a:srgbClr>
            </a:solidFill>
            <a:prstDash val="solid"/>
          </a:ln>
        </p:spPr>
      </p:sp>
      <p:pic>
        <p:nvPicPr>
          <p:cNvPr id="5" name="Image 1" descr="gen-dedup-c2dfa98337e9cb6ce99e9e949a17a885.png"/>
          <p:cNvPicPr>
            <a:picLocks noChangeAspect="1"/>
          </p:cNvPicPr>
          <p:nvPr/>
        </p:nvPicPr>
        <p:blipFill>
          <a:blip r:embed="rId3"/>
          <a:srcRect l="-2083" r="-2083"/>
          <a:stretch/>
        </p:blipFill>
        <p:spPr>
          <a:xfrm>
            <a:off x="1257300" y="3715207"/>
            <a:ext cx="7438644" cy="9144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9286646" y="2704795"/>
            <a:ext cx="8048549" cy="476219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9286646" y="2704795"/>
            <a:ext cx="8048549" cy="47549"/>
          </a:xfrm>
          <a:prstGeom prst="rect">
            <a:avLst/>
          </a:prstGeom>
          <a:solidFill>
            <a:srgbClr val="A82A24"/>
          </a:solidFill>
          <a:ln w="12700">
            <a:solidFill>
              <a:srgbClr val="A82A24">
                <a:alpha val="0"/>
              </a:srgbClr>
            </a:solidFill>
            <a:prstDash val="solid"/>
          </a:ln>
        </p:spPr>
      </p:sp>
      <p:pic>
        <p:nvPicPr>
          <p:cNvPr id="8" name="Image 2" descr="gen-dedup-c2dfa98337e9cb6ce99e9e949a17a885.png"/>
          <p:cNvPicPr>
            <a:picLocks noChangeAspect="1"/>
          </p:cNvPicPr>
          <p:nvPr/>
        </p:nvPicPr>
        <p:blipFill>
          <a:blip r:embed="rId3"/>
          <a:srcRect l="-2083" r="-2083"/>
          <a:stretch/>
        </p:blipFill>
        <p:spPr>
          <a:xfrm>
            <a:off x="9592056" y="3715207"/>
            <a:ext cx="7438644" cy="9144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952805" y="8175652"/>
            <a:ext cx="16383305" cy="1349654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952805" y="342900"/>
            <a:ext cx="3199486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15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9048902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입법 경과</a:t>
            </a:r>
            <a:endParaRPr lang="en-US" sz="1500" dirty="0"/>
          </a:p>
        </p:txBody>
      </p:sp>
      <p:sp>
        <p:nvSpPr>
          <p:cNvPr id="13" name="Text 8"/>
          <p:cNvSpPr txBox="1"/>
          <p:nvPr/>
        </p:nvSpPr>
        <p:spPr>
          <a:xfrm>
            <a:off x="10877702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규정 체계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12687300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총칙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14477695" y="304495"/>
            <a:ext cx="1772107" cy="381305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금지 관행</a:t>
            </a:r>
            <a:endParaRPr lang="en-US" sz="1500" dirty="0"/>
          </a:p>
        </p:txBody>
      </p:sp>
      <p:sp>
        <p:nvSpPr>
          <p:cNvPr id="16" name="Text 11"/>
          <p:cNvSpPr txBox="1"/>
          <p:nvPr/>
        </p:nvSpPr>
        <p:spPr>
          <a:xfrm>
            <a:off x="16306495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고위험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952805" y="1104595"/>
            <a:ext cx="16383305" cy="8860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5000" b="1" kern="0" spc="-112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(4-9) 감정인식과 민감 속성 추정</a:t>
            </a:r>
            <a:endParaRPr lang="en-US" sz="5000" dirty="0"/>
          </a:p>
        </p:txBody>
      </p:sp>
      <p:sp>
        <p:nvSpPr>
          <p:cNvPr id="18" name="Text 13"/>
          <p:cNvSpPr txBox="1"/>
          <p:nvPr/>
        </p:nvSpPr>
        <p:spPr>
          <a:xfrm>
            <a:off x="952805" y="2000707"/>
            <a:ext cx="16383305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제5조 1항 (f)호와 (g)호, 생체정보로 내면을 추론하는 유형</a:t>
            </a:r>
            <a:endParaRPr lang="en-US" sz="1800" dirty="0"/>
          </a:p>
        </p:txBody>
      </p:sp>
      <p:sp>
        <p:nvSpPr>
          <p:cNvPr id="19" name="Text 14"/>
          <p:cNvSpPr txBox="1"/>
          <p:nvPr/>
        </p:nvSpPr>
        <p:spPr>
          <a:xfrm>
            <a:off x="1257300" y="2991002"/>
            <a:ext cx="7439558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 kern="0" spc="-37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(f) 직장과 교육기관 감정인식</a:t>
            </a:r>
            <a:endParaRPr lang="en-US" sz="2500" dirty="0"/>
          </a:p>
        </p:txBody>
      </p:sp>
      <p:sp>
        <p:nvSpPr>
          <p:cNvPr id="20" name="Text 15"/>
          <p:cNvSpPr txBox="1"/>
          <p:nvPr/>
        </p:nvSpPr>
        <p:spPr>
          <a:xfrm>
            <a:off x="1257300" y="3981298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근로 현장과 교육기관에서 자연인의 감정을 추론</a:t>
            </a:r>
            <a:endParaRPr lang="en-US" sz="1800" dirty="0"/>
          </a:p>
        </p:txBody>
      </p:sp>
      <p:sp>
        <p:nvSpPr>
          <p:cNvPr id="21" name="Text 16"/>
          <p:cNvSpPr txBox="1"/>
          <p:nvPr/>
        </p:nvSpPr>
        <p:spPr>
          <a:xfrm>
            <a:off x="1257300" y="4480560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금지 이유 — 종속 관계에서는 거부할 자유가 없음</a:t>
            </a:r>
            <a:endParaRPr lang="en-US" sz="1800" dirty="0"/>
          </a:p>
        </p:txBody>
      </p:sp>
      <p:sp>
        <p:nvSpPr>
          <p:cNvPr id="22" name="Text 17"/>
          <p:cNvSpPr txBox="1"/>
          <p:nvPr/>
        </p:nvSpPr>
        <p:spPr>
          <a:xfrm>
            <a:off x="1257300" y="4979822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예외 — 의료 목적과 안전 목적은 허용</a:t>
            </a:r>
            <a:endParaRPr lang="en-US" sz="1800" dirty="0"/>
          </a:p>
        </p:txBody>
      </p:sp>
      <p:sp>
        <p:nvSpPr>
          <p:cNvPr id="23" name="Text 18"/>
          <p:cNvSpPr txBox="1"/>
          <p:nvPr/>
        </p:nvSpPr>
        <p:spPr>
          <a:xfrm>
            <a:off x="1257300" y="5479085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장소 요건이 있음, 두 장소 밖의 감정인식은 제50조 고지 의무만</a:t>
            </a:r>
            <a:endParaRPr lang="en-US" sz="1800" dirty="0"/>
          </a:p>
        </p:txBody>
      </p:sp>
      <p:sp>
        <p:nvSpPr>
          <p:cNvPr id="24" name="Text 19"/>
          <p:cNvSpPr txBox="1"/>
          <p:nvPr/>
        </p:nvSpPr>
        <p:spPr>
          <a:xfrm>
            <a:off x="9592056" y="2991002"/>
            <a:ext cx="7439558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 kern="0" spc="-37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(g) 민감 속성 추정 생체분류</a:t>
            </a:r>
            <a:endParaRPr lang="en-US" sz="2500" dirty="0"/>
          </a:p>
        </p:txBody>
      </p:sp>
      <p:sp>
        <p:nvSpPr>
          <p:cNvPr id="25" name="Text 20"/>
          <p:cNvSpPr txBox="1"/>
          <p:nvPr/>
        </p:nvSpPr>
        <p:spPr>
          <a:xfrm>
            <a:off x="9592056" y="3981298"/>
            <a:ext cx="8173822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생체정보로 인종, 정치 성향, 노조 소속, 종교, 성생활, 성적 지향을 추론</a:t>
            </a:r>
            <a:endParaRPr lang="en-US" sz="1800" dirty="0"/>
          </a:p>
        </p:txBody>
      </p:sp>
      <p:sp>
        <p:nvSpPr>
          <p:cNvPr id="26" name="Text 21"/>
          <p:cNvSpPr txBox="1"/>
          <p:nvPr/>
        </p:nvSpPr>
        <p:spPr>
          <a:xfrm>
            <a:off x="9592056" y="4480560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추론 대상이 개인정보보호 규정 제9조의 민감정보와 대응</a:t>
            </a:r>
            <a:endParaRPr lang="en-US" sz="1800" dirty="0"/>
          </a:p>
        </p:txBody>
      </p:sp>
      <p:sp>
        <p:nvSpPr>
          <p:cNvPr id="27" name="Text 22"/>
          <p:cNvSpPr txBox="1"/>
          <p:nvPr/>
        </p:nvSpPr>
        <p:spPr>
          <a:xfrm>
            <a:off x="9592056" y="4979822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예외 — 법 집행 맥락의 자료 라벨링과 필터링</a:t>
            </a:r>
            <a:endParaRPr lang="en-US" sz="1800" dirty="0"/>
          </a:p>
        </p:txBody>
      </p:sp>
      <p:sp>
        <p:nvSpPr>
          <p:cNvPr id="28" name="Text 23"/>
          <p:cNvSpPr txBox="1"/>
          <p:nvPr/>
        </p:nvSpPr>
        <p:spPr>
          <a:xfrm>
            <a:off x="1333195" y="8438542"/>
            <a:ext cx="15621610" cy="3246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유형 모두 관찰 가능한 신체 신호에서 관찰 불가능한 내면을 추정하는 기술, 과학적 타당성 자체가 쟁점</a:t>
            </a:r>
            <a:endParaRPr lang="en-US" sz="1800" dirty="0"/>
          </a:p>
        </p:txBody>
      </p:sp>
      <p:sp>
        <p:nvSpPr>
          <p:cNvPr id="29" name="Text 24"/>
          <p:cNvSpPr txBox="1"/>
          <p:nvPr/>
        </p:nvSpPr>
        <p:spPr>
          <a:xfrm>
            <a:off x="1333195" y="8896198"/>
            <a:ext cx="15621610" cy="3246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장소로 금지 여부를 가르는 방식은 타당한가? 원격 근무와 온라인 수업은 어디에 해당하는가?</a:t>
            </a:r>
            <a:endParaRPr lang="en-US" sz="1800" dirty="0"/>
          </a:p>
        </p:txBody>
      </p:sp>
      <p:sp>
        <p:nvSpPr>
          <p:cNvPr id="30" name="Text 25"/>
          <p:cNvSpPr txBox="1"/>
          <p:nvPr/>
        </p:nvSpPr>
        <p:spPr>
          <a:xfrm>
            <a:off x="15430500" y="9791395"/>
            <a:ext cx="19056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38/51</a:t>
            </a:r>
            <a:endParaRPr lang="en-US" sz="18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e22c746fd81622b5deae707eff18ae09.png"/>
          <p:cNvPicPr>
            <a:picLocks noChangeAspect="1"/>
          </p:cNvPicPr>
          <p:nvPr/>
        </p:nvPicPr>
        <p:blipFill>
          <a:blip r:embed="rId2"/>
          <a:srcRect l="-80" r="-80"/>
          <a:stretch/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52805" y="2704795"/>
            <a:ext cx="16383305" cy="1619402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52805" y="2704795"/>
            <a:ext cx="16383305" cy="47549"/>
          </a:xfrm>
          <a:prstGeom prst="rect">
            <a:avLst/>
          </a:prstGeom>
          <a:solidFill>
            <a:srgbClr val="A82A24"/>
          </a:solidFill>
          <a:ln w="12700">
            <a:solidFill>
              <a:srgbClr val="A82A24">
                <a:alpha val="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2805" y="8230514"/>
            <a:ext cx="16383305" cy="1294790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2805" y="342900"/>
            <a:ext cx="3199486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15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9048902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입법 경과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0877702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규정 체계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2687300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총칙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4477695" y="304495"/>
            <a:ext cx="1772107" cy="381305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금지 관행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16306495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고위험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952805" y="1104595"/>
            <a:ext cx="16383305" cy="8860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5000" b="1" kern="0" spc="-112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(4-10) 실시간 원격 생체인식</a:t>
            </a:r>
            <a:endParaRPr lang="en-US" sz="5000" dirty="0"/>
          </a:p>
        </p:txBody>
      </p:sp>
      <p:sp>
        <p:nvSpPr>
          <p:cNvPr id="14" name="Text 11"/>
          <p:cNvSpPr txBox="1"/>
          <p:nvPr/>
        </p:nvSpPr>
        <p:spPr>
          <a:xfrm>
            <a:off x="952805" y="2000707"/>
            <a:ext cx="16383305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제5조 1항 (h)호, 3자 협의 최대 쟁점이었던 조항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1257300" y="2971800"/>
            <a:ext cx="15773400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 kern="0" spc="-37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금지 내용</a:t>
            </a:r>
            <a:endParaRPr lang="en-US" sz="2500" dirty="0"/>
          </a:p>
        </p:txBody>
      </p:sp>
      <p:sp>
        <p:nvSpPr>
          <p:cNvPr id="16" name="Text 13"/>
          <p:cNvSpPr txBox="1"/>
          <p:nvPr/>
        </p:nvSpPr>
        <p:spPr>
          <a:xfrm>
            <a:off x="1257300" y="3524098"/>
            <a:ext cx="15773400" cy="381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공중이 접근 가능한 공간에서 법 집행 목적으로 실시간 원격 생체인식 시스템을 사용하는 행위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952805" y="4591202"/>
            <a:ext cx="16383305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성립 요건 4가지, 모두 충족해야 금지</a:t>
            </a:r>
            <a:endParaRPr lang="en-US" sz="2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28289350"/>
              </p:ext>
            </p:extLst>
          </p:nvPr>
        </p:nvGraphicFramePr>
        <p:xfrm>
          <a:off x="952805" y="5048402"/>
          <a:ext cx="16374161" cy="2362810"/>
        </p:xfrm>
        <a:graphic>
          <a:graphicData uri="http://schemas.openxmlformats.org/drawingml/2006/table">
            <a:tbl>
              <a:tblPr/>
              <a:tblGrid>
                <a:gridCol w="123809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4370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9923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7256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요건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문언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벗어나는 경우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256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실시간(real-time)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사후 대조는 이 조항 밖, 고위험으로 규율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256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원격(remote)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본인 확인용 일대일 대조는 제외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256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공중 접근 공간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사업장 내부, 비공개 시설은 제외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256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법 집행 목적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민간 사업자의 사용은 고위험으로 규율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9" name="Text 15"/>
          <p:cNvSpPr txBox="1"/>
          <p:nvPr/>
        </p:nvSpPr>
        <p:spPr>
          <a:xfrm>
            <a:off x="1329080" y="8533637"/>
            <a:ext cx="15621610" cy="3246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요건이 4개로 좁게 설계되어 실제 금지 범위는 제한적, 나머지는 고위험으로 흘러 요건 충족 후 사용 가능</a:t>
            </a:r>
            <a:endParaRPr lang="en-US" sz="1800" dirty="0"/>
          </a:p>
        </p:txBody>
      </p:sp>
      <p:sp>
        <p:nvSpPr>
          <p:cNvPr id="20" name="Text 16"/>
          <p:cNvSpPr txBox="1"/>
          <p:nvPr/>
        </p:nvSpPr>
        <p:spPr>
          <a:xfrm>
            <a:off x="1333195" y="8934602"/>
            <a:ext cx="15621610" cy="3246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금지라 부르지만 요건이 4중, 실질 금지 범위를 어떻게 측정할 수 있는가?</a:t>
            </a:r>
            <a:endParaRPr lang="en-US" sz="1800" dirty="0"/>
          </a:p>
        </p:txBody>
      </p:sp>
      <p:sp>
        <p:nvSpPr>
          <p:cNvPr id="21" name="Text 17"/>
          <p:cNvSpPr txBox="1"/>
          <p:nvPr/>
        </p:nvSpPr>
        <p:spPr>
          <a:xfrm>
            <a:off x="15430500" y="9791395"/>
            <a:ext cx="19056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39/51</a:t>
            </a:r>
            <a:endParaRPr lang="en-US" sz="18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e22c746fd81622b5deae707eff18ae09.png"/>
          <p:cNvPicPr>
            <a:picLocks noChangeAspect="1"/>
          </p:cNvPicPr>
          <p:nvPr/>
        </p:nvPicPr>
        <p:blipFill>
          <a:blip r:embed="rId2"/>
          <a:srcRect l="-80" r="-80"/>
          <a:stretch/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52805" y="2704795"/>
            <a:ext cx="5266944" cy="3810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52805" y="2704795"/>
            <a:ext cx="5266944" cy="47549"/>
          </a:xfrm>
          <a:prstGeom prst="rect">
            <a:avLst/>
          </a:prstGeom>
          <a:solidFill>
            <a:srgbClr val="036B3F"/>
          </a:solidFill>
          <a:ln w="12700">
            <a:solidFill>
              <a:srgbClr val="036B3F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6505956" y="2704795"/>
            <a:ext cx="5266944" cy="3810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505956" y="2704795"/>
            <a:ext cx="5266944" cy="47549"/>
          </a:xfrm>
          <a:prstGeom prst="rect">
            <a:avLst/>
          </a:prstGeom>
          <a:solidFill>
            <a:srgbClr val="9A7620"/>
          </a:solidFill>
          <a:ln w="12700">
            <a:solidFill>
              <a:srgbClr val="9A7620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2059107" y="2704795"/>
            <a:ext cx="5277002" cy="3810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2059107" y="2704795"/>
            <a:ext cx="5277002" cy="47549"/>
          </a:xfrm>
          <a:prstGeom prst="rect">
            <a:avLst/>
          </a:prstGeom>
          <a:solidFill>
            <a:srgbClr val="6B6B6B"/>
          </a:solidFill>
          <a:ln w="12700">
            <a:solidFill>
              <a:srgbClr val="6B6B6B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52805" y="6610198"/>
            <a:ext cx="16383305" cy="1962302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952805" y="6610198"/>
            <a:ext cx="16383305" cy="47549"/>
          </a:xfrm>
          <a:prstGeom prst="rect">
            <a:avLst/>
          </a:prstGeom>
          <a:solidFill>
            <a:srgbClr val="A82A24"/>
          </a:solidFill>
          <a:ln w="12700">
            <a:solidFill>
              <a:srgbClr val="A82A24">
                <a:alpha val="0"/>
              </a:srgbClr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52805" y="8762695"/>
            <a:ext cx="16383305" cy="761695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952805" y="342900"/>
            <a:ext cx="3199486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15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9048902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입법 경과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10877702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규정 체계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12687300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총칙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14477695" y="304495"/>
            <a:ext cx="1772107" cy="381305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금지 관행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16306495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고위험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952805" y="1104595"/>
            <a:ext cx="16383305" cy="8860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5000" b="1" kern="0" spc="-112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(4-11) 생체인식 3대 예외와 절차 요건</a:t>
            </a:r>
            <a:endParaRPr lang="en-US" sz="5000" dirty="0"/>
          </a:p>
        </p:txBody>
      </p:sp>
      <p:sp>
        <p:nvSpPr>
          <p:cNvPr id="19" name="Text 16"/>
          <p:cNvSpPr txBox="1"/>
          <p:nvPr/>
        </p:nvSpPr>
        <p:spPr>
          <a:xfrm>
            <a:off x="952805" y="2000707"/>
            <a:ext cx="16383305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제5조 1항 (h)호 (i)~(iii), 제5조 2항부터 7항의 절차</a:t>
            </a:r>
            <a:endParaRPr lang="en-US" sz="1800" dirty="0"/>
          </a:p>
        </p:txBody>
      </p:sp>
      <p:sp>
        <p:nvSpPr>
          <p:cNvPr id="20" name="Shape 17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257300" y="2971800"/>
            <a:ext cx="324612" cy="3246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1257300" y="3486607"/>
            <a:ext cx="4657954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(i) 피해자 수색</a:t>
            </a:r>
            <a:endParaRPr lang="en-US" sz="2000" dirty="0"/>
          </a:p>
        </p:txBody>
      </p:sp>
      <p:sp>
        <p:nvSpPr>
          <p:cNvPr id="23" name="Text 20"/>
          <p:cNvSpPr txBox="1"/>
          <p:nvPr/>
        </p:nvSpPr>
        <p:spPr>
          <a:xfrm>
            <a:off x="1257300" y="3962095"/>
            <a:ext cx="4657954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인신매매, 성착취 피해자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1257300" y="4442155"/>
            <a:ext cx="4657954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실종자 수색</a:t>
            </a:r>
            <a:endParaRPr lang="en-US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1257300" y="4922215"/>
            <a:ext cx="4657954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특정 대상을 찾는 목적</a:t>
            </a:r>
            <a:endParaRPr lang="en-US" sz="1800" dirty="0"/>
          </a:p>
        </p:txBody>
      </p:sp>
      <p:sp>
        <p:nvSpPr>
          <p:cNvPr id="26" name="Shape 23"/>
          <p:cNvSpPr/>
          <p:nvPr/>
        </p:nvSpPr>
        <p:spPr>
          <a:xfrm>
            <a:off x="6810451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810451" y="2971800"/>
            <a:ext cx="324612" cy="3246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6810451" y="3486607"/>
            <a:ext cx="4657954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(ii) 임박한 위협</a:t>
            </a:r>
            <a:endParaRPr lang="en-US" sz="2000" dirty="0"/>
          </a:p>
        </p:txBody>
      </p:sp>
      <p:sp>
        <p:nvSpPr>
          <p:cNvPr id="29" name="Text 26"/>
          <p:cNvSpPr txBox="1"/>
          <p:nvPr/>
        </p:nvSpPr>
        <p:spPr>
          <a:xfrm>
            <a:off x="6810451" y="3962095"/>
            <a:ext cx="4657954" cy="7342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88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생명 또는 신체 안전에 대한 구체적이고 임박한 위협</a:t>
            </a:r>
            <a:endParaRPr lang="en-US" sz="1800" dirty="0"/>
          </a:p>
        </p:txBody>
      </p:sp>
      <p:sp>
        <p:nvSpPr>
          <p:cNvPr id="30" name="Text 27"/>
          <p:cNvSpPr txBox="1"/>
          <p:nvPr/>
        </p:nvSpPr>
        <p:spPr>
          <a:xfrm>
            <a:off x="6810451" y="4807915"/>
            <a:ext cx="4657954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테러 공격 예방</a:t>
            </a:r>
            <a:endParaRPr lang="en-US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6810451" y="5288890"/>
            <a:ext cx="4657954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임박성 요건이 핵심</a:t>
            </a:r>
            <a:endParaRPr lang="en-US" sz="1800" dirty="0"/>
          </a:p>
        </p:txBody>
      </p:sp>
      <p:sp>
        <p:nvSpPr>
          <p:cNvPr id="32" name="Shape 29"/>
          <p:cNvSpPr/>
          <p:nvPr/>
        </p:nvSpPr>
        <p:spPr>
          <a:xfrm>
            <a:off x="12363602" y="2971800"/>
            <a:ext cx="323698" cy="323698"/>
          </a:xfrm>
          <a:prstGeom prst="ellipse">
            <a:avLst/>
          </a:prstGeom>
          <a:solidFill>
            <a:srgbClr val="6B6B6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12363602" y="2971800"/>
            <a:ext cx="324612" cy="3246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34" name="Text 31"/>
          <p:cNvSpPr txBox="1"/>
          <p:nvPr/>
        </p:nvSpPr>
        <p:spPr>
          <a:xfrm>
            <a:off x="12363602" y="3486607"/>
            <a:ext cx="4668012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(iii) 중대 범죄 수사</a:t>
            </a:r>
            <a:endParaRPr lang="en-US" sz="2000" dirty="0"/>
          </a:p>
        </p:txBody>
      </p:sp>
      <p:sp>
        <p:nvSpPr>
          <p:cNvPr id="35" name="Text 32"/>
          <p:cNvSpPr txBox="1"/>
          <p:nvPr/>
        </p:nvSpPr>
        <p:spPr>
          <a:xfrm>
            <a:off x="12363602" y="3962095"/>
            <a:ext cx="4668012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부속서 II 목록 범죄의 피의자 확인</a:t>
            </a:r>
            <a:endParaRPr lang="en-US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12363602" y="4442155"/>
            <a:ext cx="4668012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최소 4년 이상 자유형에 해당하는 범죄</a:t>
            </a:r>
            <a:endParaRPr lang="en-US" sz="1800" dirty="0"/>
          </a:p>
        </p:txBody>
      </p:sp>
      <p:sp>
        <p:nvSpPr>
          <p:cNvPr id="37" name="Text 34"/>
          <p:cNvSpPr txBox="1"/>
          <p:nvPr/>
        </p:nvSpPr>
        <p:spPr>
          <a:xfrm>
            <a:off x="12363602" y="4922215"/>
            <a:ext cx="4668012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목록에 없는 범죄는 예외 불가</a:t>
            </a:r>
            <a:endParaRPr lang="en-US" sz="1800" dirty="0"/>
          </a:p>
        </p:txBody>
      </p:sp>
      <p:sp>
        <p:nvSpPr>
          <p:cNvPr id="38" name="Text 35"/>
          <p:cNvSpPr txBox="1"/>
          <p:nvPr/>
        </p:nvSpPr>
        <p:spPr>
          <a:xfrm>
            <a:off x="1257300" y="6819595"/>
            <a:ext cx="15773400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 kern="0" spc="-37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예외 사용 시 절차 요건</a:t>
            </a:r>
            <a:endParaRPr lang="en-US" sz="2500" dirty="0"/>
          </a:p>
        </p:txBody>
      </p:sp>
      <p:sp>
        <p:nvSpPr>
          <p:cNvPr id="39" name="Text 36"/>
          <p:cNvSpPr txBox="1"/>
          <p:nvPr/>
        </p:nvSpPr>
        <p:spPr>
          <a:xfrm>
            <a:off x="1257300" y="7372807"/>
            <a:ext cx="15773400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사전 사법 승인 또는 독립 행정기관 승인, 긴급 시에는 24시간 내 사후 승인</a:t>
            </a:r>
            <a:endParaRPr lang="en-US" sz="1800" dirty="0"/>
          </a:p>
        </p:txBody>
      </p:sp>
      <p:sp>
        <p:nvSpPr>
          <p:cNvPr id="40" name="Text 37"/>
          <p:cNvSpPr txBox="1"/>
          <p:nvPr/>
        </p:nvSpPr>
        <p:spPr>
          <a:xfrm>
            <a:off x="1257300" y="7741892"/>
            <a:ext cx="15773400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기본권 영향평가 실시와 EU 데이터베이스 등록, 시간과 지리와 인적 범위를 한정</a:t>
            </a:r>
            <a:endParaRPr lang="en-US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1257300" y="8110978"/>
            <a:ext cx="15773400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회원국이 국내법으로 허용하지 않으면 예외 자체가 불가, 시장감시당국에 연례 보고</a:t>
            </a:r>
            <a:endParaRPr lang="en-US" sz="1800" dirty="0"/>
          </a:p>
        </p:txBody>
      </p:sp>
      <p:sp>
        <p:nvSpPr>
          <p:cNvPr id="42" name="Text 39"/>
          <p:cNvSpPr txBox="1"/>
          <p:nvPr/>
        </p:nvSpPr>
        <p:spPr>
          <a:xfrm>
            <a:off x="1333195" y="8962949"/>
            <a:ext cx="15621610" cy="3246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회원국별 국내법 허용 여부가 갈리면 단일시장 안에서 기본권 보호 수준이 달라지는가?</a:t>
            </a:r>
            <a:endParaRPr lang="en-US" sz="1800" dirty="0"/>
          </a:p>
        </p:txBody>
      </p:sp>
      <p:sp>
        <p:nvSpPr>
          <p:cNvPr id="43" name="Text 40"/>
          <p:cNvSpPr txBox="1"/>
          <p:nvPr/>
        </p:nvSpPr>
        <p:spPr>
          <a:xfrm>
            <a:off x="15430500" y="9791395"/>
            <a:ext cx="19056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40/51</a:t>
            </a:r>
            <a:endParaRPr lang="en-US" sz="18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e22c746fd81622b5deae707eff18ae09.png"/>
          <p:cNvPicPr>
            <a:picLocks noChangeAspect="1"/>
          </p:cNvPicPr>
          <p:nvPr/>
        </p:nvPicPr>
        <p:blipFill>
          <a:blip r:embed="rId2"/>
          <a:srcRect l="-80" r="-80"/>
          <a:stretch/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52805" y="2704795"/>
            <a:ext cx="16383305" cy="1619402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52805" y="2704795"/>
            <a:ext cx="16383305" cy="47549"/>
          </a:xfrm>
          <a:prstGeom prst="rect">
            <a:avLst/>
          </a:prstGeom>
          <a:solidFill>
            <a:srgbClr val="A82A24"/>
          </a:solidFill>
          <a:ln w="12700">
            <a:solidFill>
              <a:srgbClr val="A82A24">
                <a:alpha val="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2805" y="7981798"/>
            <a:ext cx="16383305" cy="1543506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2805" y="342900"/>
            <a:ext cx="3199486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15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9048902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입법 경과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0877702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규정 체계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2687300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총칙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4477695" y="304495"/>
            <a:ext cx="1772107" cy="381305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금지 관행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16306495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고위험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952805" y="1104595"/>
            <a:ext cx="16383305" cy="8860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5000" b="1" kern="0" spc="-112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(4-12) 금지 위반 제재</a:t>
            </a:r>
            <a:endParaRPr lang="en-US" sz="5000" dirty="0"/>
          </a:p>
        </p:txBody>
      </p:sp>
      <p:sp>
        <p:nvSpPr>
          <p:cNvPr id="14" name="Text 11"/>
          <p:cNvSpPr txBox="1"/>
          <p:nvPr/>
        </p:nvSpPr>
        <p:spPr>
          <a:xfrm>
            <a:off x="952805" y="2000707"/>
            <a:ext cx="16383305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제99조 3항, 이 법의 최고 수준 과징금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1257300" y="2971800"/>
            <a:ext cx="15773400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 kern="0" spc="-37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제5조 위반</a:t>
            </a:r>
            <a:endParaRPr lang="en-US" sz="2500" dirty="0"/>
          </a:p>
        </p:txBody>
      </p:sp>
      <p:sp>
        <p:nvSpPr>
          <p:cNvPr id="16" name="Text 13"/>
          <p:cNvSpPr txBox="1"/>
          <p:nvPr/>
        </p:nvSpPr>
        <p:spPr>
          <a:xfrm>
            <a:off x="1257300" y="3543300"/>
            <a:ext cx="15773400" cy="381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3,500만 유로 또는 전년도 전세계 총매출의 7퍼센트 중 높은 금액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952805" y="4591202"/>
            <a:ext cx="16383305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과징금 3단계</a:t>
            </a:r>
            <a:endParaRPr lang="en-US" sz="2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84604073"/>
              </p:ext>
            </p:extLst>
          </p:nvPr>
        </p:nvGraphicFramePr>
        <p:xfrm>
          <a:off x="952805" y="5048402"/>
          <a:ext cx="16373246" cy="2628900"/>
        </p:xfrm>
        <a:graphic>
          <a:graphicData uri="http://schemas.openxmlformats.org/drawingml/2006/table">
            <a:tbl>
              <a:tblPr/>
              <a:tblGrid>
                <a:gridCol w="1714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9051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2773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7619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257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조항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위반 유형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정액 상한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매출 비율 상한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제99조 3항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금지 관행 위반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3,500만 유로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7퍼센트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제99조 4항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제공자, 배포자, 수입자, 유통자, 피통지기관 의무 위반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1,500만 유로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3퍼센트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제99조 5항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당국에 허위 또는 불완전 정보 제공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750만 유로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1퍼센트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제101조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범용 AI 모델 제공자, 집행위원회가 직접 부과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1,500만 유로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3퍼센트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9" name="Text 15"/>
          <p:cNvSpPr txBox="1"/>
          <p:nvPr/>
        </p:nvSpPr>
        <p:spPr>
          <a:xfrm>
            <a:off x="1333195" y="8214022"/>
            <a:ext cx="15621610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중소기업과 소규모 중견기업은 두 상한 중 낮은 쪽을 적용, 제99조 6항</a:t>
            </a:r>
            <a:endParaRPr lang="en-US" sz="1800" dirty="0"/>
          </a:p>
        </p:txBody>
      </p:sp>
      <p:sp>
        <p:nvSpPr>
          <p:cNvPr id="20" name="Text 16"/>
          <p:cNvSpPr txBox="1"/>
          <p:nvPr/>
        </p:nvSpPr>
        <p:spPr>
          <a:xfrm>
            <a:off x="1333195" y="8625502"/>
            <a:ext cx="15621610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2026년 9월 현재 제99조에 따른 부과 사례는 확인되지 않음, 관할당국 지정이 진행 중인 상태</a:t>
            </a:r>
            <a:endParaRPr lang="en-US" sz="1800" dirty="0"/>
          </a:p>
        </p:txBody>
      </p:sp>
      <p:sp>
        <p:nvSpPr>
          <p:cNvPr id="21" name="Text 17"/>
          <p:cNvSpPr txBox="1"/>
          <p:nvPr/>
        </p:nvSpPr>
        <p:spPr>
          <a:xfrm>
            <a:off x="1333195" y="9038844"/>
            <a:ext cx="15621610" cy="3246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국내법 과태료 3,000만 원과 약 100배 차이, 제재 수준이 준수 행태를 바꾸는가?</a:t>
            </a:r>
            <a:endParaRPr lang="en-US" sz="1800" dirty="0"/>
          </a:p>
        </p:txBody>
      </p:sp>
      <p:sp>
        <p:nvSpPr>
          <p:cNvPr id="22" name="Text 18"/>
          <p:cNvSpPr txBox="1"/>
          <p:nvPr/>
        </p:nvSpPr>
        <p:spPr>
          <a:xfrm>
            <a:off x="15430500" y="9791395"/>
            <a:ext cx="19056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41/51</a:t>
            </a:r>
            <a:endParaRPr lang="en-US" sz="18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e22c746fd81622b5deae707eff18ae09.png"/>
          <p:cNvPicPr>
            <a:picLocks noChangeAspect="1"/>
          </p:cNvPicPr>
          <p:nvPr/>
        </p:nvPicPr>
        <p:blipFill>
          <a:blip r:embed="rId2"/>
          <a:srcRect l="-80" r="-80"/>
          <a:stretch/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52805" y="2704795"/>
            <a:ext cx="16383305" cy="87599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52805" y="2704795"/>
            <a:ext cx="16383305" cy="47549"/>
          </a:xfrm>
          <a:prstGeom prst="rect">
            <a:avLst/>
          </a:prstGeom>
          <a:solidFill>
            <a:srgbClr val="A82A24"/>
          </a:solidFill>
          <a:ln w="12700">
            <a:solidFill>
              <a:srgbClr val="A82A24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952805" y="3657600"/>
            <a:ext cx="16383305" cy="87599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2805" y="3657600"/>
            <a:ext cx="16383305" cy="47549"/>
          </a:xfrm>
          <a:prstGeom prst="rect">
            <a:avLst/>
          </a:prstGeom>
          <a:solidFill>
            <a:srgbClr val="A82A24"/>
          </a:solidFill>
          <a:ln w="12700">
            <a:solidFill>
              <a:srgbClr val="A82A24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52805" y="4610405"/>
            <a:ext cx="16383305" cy="87599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52805" y="4610405"/>
            <a:ext cx="16383305" cy="47549"/>
          </a:xfrm>
          <a:prstGeom prst="rect">
            <a:avLst/>
          </a:prstGeom>
          <a:solidFill>
            <a:srgbClr val="9A7620"/>
          </a:solidFill>
          <a:ln w="12700">
            <a:solidFill>
              <a:srgbClr val="9A7620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52805" y="5562295"/>
            <a:ext cx="16383305" cy="87599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952805" y="5562295"/>
            <a:ext cx="16383305" cy="47549"/>
          </a:xfrm>
          <a:prstGeom prst="rect">
            <a:avLst/>
          </a:prstGeom>
          <a:solidFill>
            <a:srgbClr val="6B6B6B"/>
          </a:solidFill>
          <a:ln w="12700">
            <a:solidFill>
              <a:srgbClr val="6B6B6B">
                <a:alpha val="0"/>
              </a:srgbClr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52805" y="6515100"/>
            <a:ext cx="16383305" cy="87599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952805" y="6515100"/>
            <a:ext cx="16383305" cy="47549"/>
          </a:xfrm>
          <a:prstGeom prst="rect">
            <a:avLst/>
          </a:prstGeom>
          <a:solidFill>
            <a:srgbClr val="036B3F"/>
          </a:solidFill>
          <a:ln w="12700">
            <a:solidFill>
              <a:srgbClr val="036B3F">
                <a:alpha val="0"/>
              </a:srgbClr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952805" y="8047635"/>
            <a:ext cx="16383305" cy="1476756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52805" y="342900"/>
            <a:ext cx="3199486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15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9048902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입법 경과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10877702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규정 체계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12687300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총칙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4477695" y="304495"/>
            <a:ext cx="1772107" cy="381305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금지 관행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16306495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고위험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952805" y="1104595"/>
            <a:ext cx="16383305" cy="8860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5000" b="1" kern="0" spc="-112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금지 관행 정리</a:t>
            </a:r>
            <a:endParaRPr lang="en-US" sz="5000" dirty="0"/>
          </a:p>
        </p:txBody>
      </p:sp>
      <p:sp>
        <p:nvSpPr>
          <p:cNvPr id="22" name="Text 19"/>
          <p:cNvSpPr txBox="1"/>
          <p:nvPr/>
        </p:nvSpPr>
        <p:spPr>
          <a:xfrm>
            <a:off x="952805" y="2000707"/>
            <a:ext cx="16383305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위험 4단계와 금지 관행에서 확인한 것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1295705" y="2980944"/>
            <a:ext cx="323698" cy="323698"/>
          </a:xfrm>
          <a:prstGeom prst="ellipse">
            <a:avLst/>
          </a:prstGeom>
          <a:solidFill>
            <a:srgbClr val="A82A2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1295705" y="2980944"/>
            <a:ext cx="324612" cy="3246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1867205" y="2971800"/>
            <a:ext cx="15145207" cy="381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위험이 높을수록 의무가 무거워지는 4단계 구조, 등급은 제공자가 스스로 판단</a:t>
            </a:r>
            <a:endParaRPr lang="en-US" sz="2000" dirty="0"/>
          </a:p>
        </p:txBody>
      </p:sp>
      <p:sp>
        <p:nvSpPr>
          <p:cNvPr id="26" name="Shape 23"/>
          <p:cNvSpPr/>
          <p:nvPr/>
        </p:nvSpPr>
        <p:spPr>
          <a:xfrm>
            <a:off x="1295705" y="3933749"/>
            <a:ext cx="323698" cy="323698"/>
          </a:xfrm>
          <a:prstGeom prst="ellipse">
            <a:avLst/>
          </a:prstGeom>
          <a:solidFill>
            <a:srgbClr val="A82A2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1295705" y="3933749"/>
            <a:ext cx="324612" cy="3246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1867205" y="3924605"/>
            <a:ext cx="15145207" cy="381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금지 10유형, 조작과 취약성 악용, 성적 콘텐츠 2유형, 사회 평점, 범죄 예측, 생체 관련 4유형</a:t>
            </a:r>
            <a:endParaRPr lang="en-US" sz="2000" dirty="0"/>
          </a:p>
        </p:txBody>
      </p:sp>
      <p:sp>
        <p:nvSpPr>
          <p:cNvPr id="29" name="Shape 26"/>
          <p:cNvSpPr/>
          <p:nvPr/>
        </p:nvSpPr>
        <p:spPr>
          <a:xfrm>
            <a:off x="1295705" y="4886554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1295705" y="4886554"/>
            <a:ext cx="324612" cy="3246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31" name="Text 28"/>
          <p:cNvSpPr txBox="1"/>
          <p:nvPr/>
        </p:nvSpPr>
        <p:spPr>
          <a:xfrm>
            <a:off x="1867205" y="4876495"/>
            <a:ext cx="15145207" cy="381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금지 요건이 여러 개 겹쳐 있어 실질 금지 범위는 좁음, 나머지는 고위험으로 흘러 사용 가능</a:t>
            </a:r>
            <a:endParaRPr lang="en-US" sz="2000" dirty="0"/>
          </a:p>
        </p:txBody>
      </p:sp>
      <p:sp>
        <p:nvSpPr>
          <p:cNvPr id="32" name="Shape 29"/>
          <p:cNvSpPr/>
          <p:nvPr/>
        </p:nvSpPr>
        <p:spPr>
          <a:xfrm>
            <a:off x="1295705" y="5838444"/>
            <a:ext cx="323698" cy="323698"/>
          </a:xfrm>
          <a:prstGeom prst="ellipse">
            <a:avLst/>
          </a:prstGeom>
          <a:solidFill>
            <a:srgbClr val="6B6B6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1295705" y="5838444"/>
            <a:ext cx="324612" cy="3246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500" dirty="0"/>
          </a:p>
        </p:txBody>
      </p:sp>
      <p:sp>
        <p:nvSpPr>
          <p:cNvPr id="34" name="Text 31"/>
          <p:cNvSpPr txBox="1"/>
          <p:nvPr/>
        </p:nvSpPr>
        <p:spPr>
          <a:xfrm>
            <a:off x="1867205" y="5829300"/>
            <a:ext cx="15145207" cy="381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생체인식 예외는 3가지, 사전 승인과 기본권 영향평가 등 절차 요건이 부수</a:t>
            </a:r>
            <a:endParaRPr lang="en-US" sz="2000" dirty="0"/>
          </a:p>
        </p:txBody>
      </p:sp>
      <p:sp>
        <p:nvSpPr>
          <p:cNvPr id="35" name="Shape 32"/>
          <p:cNvSpPr/>
          <p:nvPr/>
        </p:nvSpPr>
        <p:spPr>
          <a:xfrm>
            <a:off x="1295705" y="6791249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1295705" y="6791249"/>
            <a:ext cx="324612" cy="3246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1867205" y="6782105"/>
            <a:ext cx="15145207" cy="381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금지 위반이 최고 제재, 3,500만 유로 또는 매출 7퍼센트</a:t>
            </a:r>
            <a:endParaRPr lang="en-US" sz="2000" dirty="0"/>
          </a:p>
        </p:txBody>
      </p:sp>
      <p:sp>
        <p:nvSpPr>
          <p:cNvPr id="38" name="Text 35"/>
          <p:cNvSpPr txBox="1"/>
          <p:nvPr/>
        </p:nvSpPr>
        <p:spPr>
          <a:xfrm>
            <a:off x="1390802" y="8204911"/>
            <a:ext cx="15621610" cy="3246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금지가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아닌 고위험은 어떻게 판별하는가, 부속서 2경로</a:t>
            </a:r>
            <a:endParaRPr lang="en-US" sz="1800" dirty="0"/>
          </a:p>
        </p:txBody>
      </p:sp>
      <p:sp>
        <p:nvSpPr>
          <p:cNvPr id="39" name="Text 36"/>
          <p:cNvSpPr txBox="1"/>
          <p:nvPr/>
        </p:nvSpPr>
        <p:spPr>
          <a:xfrm>
            <a:off x="1391251" y="8603041"/>
            <a:ext cx="15621610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금지 10유형 중 국내법에 대응 조항이 있는 것은 몇 개인가?</a:t>
            </a:r>
            <a:endParaRPr lang="en-US" sz="1800" dirty="0"/>
          </a:p>
        </p:txBody>
      </p:sp>
      <p:sp>
        <p:nvSpPr>
          <p:cNvPr id="40" name="Text 37"/>
          <p:cNvSpPr txBox="1"/>
          <p:nvPr/>
        </p:nvSpPr>
        <p:spPr>
          <a:xfrm>
            <a:off x="1391251" y="9026408"/>
            <a:ext cx="15621610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대응 조항이 없는 유형이 국내에서 허용되는 상태라면, 그 공백을 다룬 연구가 있는가?</a:t>
            </a:r>
            <a:endParaRPr lang="en-US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15430500" y="9791395"/>
            <a:ext cx="19056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42/51</a:t>
            </a:r>
            <a:endParaRPr lang="en-US" sz="18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e22c746fd81622b5deae707eff18ae09.png"/>
          <p:cNvPicPr>
            <a:picLocks noChangeAspect="1"/>
          </p:cNvPicPr>
          <p:nvPr/>
        </p:nvPicPr>
        <p:blipFill>
          <a:blip r:embed="rId2"/>
          <a:srcRect l="-80" r="-80"/>
          <a:stretch/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52805" y="2704795"/>
            <a:ext cx="8048549" cy="47549"/>
          </a:xfrm>
          <a:prstGeom prst="rect">
            <a:avLst/>
          </a:prstGeom>
          <a:solidFill>
            <a:srgbClr val="036B3F"/>
          </a:solidFill>
          <a:ln w="12700">
            <a:solidFill>
              <a:srgbClr val="036B3F">
                <a:alpha val="0"/>
              </a:srgbClr>
            </a:solidFill>
            <a:prstDash val="solid"/>
          </a:ln>
        </p:spPr>
      </p:sp>
      <p:pic>
        <p:nvPicPr>
          <p:cNvPr id="5" name="Image 1" descr="gen-dedup-c2dfa98337e9cb6ce99e9e949a17a885.png"/>
          <p:cNvPicPr>
            <a:picLocks noChangeAspect="1"/>
          </p:cNvPicPr>
          <p:nvPr/>
        </p:nvPicPr>
        <p:blipFill>
          <a:blip r:embed="rId3"/>
          <a:srcRect l="-2083" r="-2083"/>
          <a:stretch/>
        </p:blipFill>
        <p:spPr>
          <a:xfrm>
            <a:off x="1257300" y="4209898"/>
            <a:ext cx="7438644" cy="9144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9286646" y="2704795"/>
            <a:ext cx="8048549" cy="47549"/>
          </a:xfrm>
          <a:prstGeom prst="rect">
            <a:avLst/>
          </a:prstGeom>
          <a:solidFill>
            <a:srgbClr val="9A7620"/>
          </a:solidFill>
          <a:ln w="12700">
            <a:solidFill>
              <a:srgbClr val="9A7620">
                <a:alpha val="0"/>
              </a:srgbClr>
            </a:solidFill>
            <a:prstDash val="solid"/>
          </a:ln>
        </p:spPr>
      </p:sp>
      <p:pic>
        <p:nvPicPr>
          <p:cNvPr id="8" name="Image 2" descr="gen-dedup-c2dfa98337e9cb6ce99e9e949a17a885.png"/>
          <p:cNvPicPr>
            <a:picLocks noChangeAspect="1"/>
          </p:cNvPicPr>
          <p:nvPr/>
        </p:nvPicPr>
        <p:blipFill>
          <a:blip r:embed="rId3"/>
          <a:srcRect l="-2083" r="-2083"/>
          <a:stretch/>
        </p:blipFill>
        <p:spPr>
          <a:xfrm>
            <a:off x="9592056" y="4209898"/>
            <a:ext cx="7438644" cy="9144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952805" y="7780629"/>
            <a:ext cx="16383305" cy="1744676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952805" y="342900"/>
            <a:ext cx="3199486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15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9048902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입법 경과</a:t>
            </a:r>
            <a:endParaRPr lang="en-US" sz="1500" dirty="0"/>
          </a:p>
        </p:txBody>
      </p:sp>
      <p:sp>
        <p:nvSpPr>
          <p:cNvPr id="13" name="Text 8"/>
          <p:cNvSpPr txBox="1"/>
          <p:nvPr/>
        </p:nvSpPr>
        <p:spPr>
          <a:xfrm>
            <a:off x="10877702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규정 체계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12687300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총칙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14477695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금지 관행</a:t>
            </a:r>
            <a:endParaRPr lang="en-US" sz="1500" dirty="0"/>
          </a:p>
        </p:txBody>
      </p:sp>
      <p:sp>
        <p:nvSpPr>
          <p:cNvPr id="16" name="Text 11"/>
          <p:cNvSpPr txBox="1"/>
          <p:nvPr/>
        </p:nvSpPr>
        <p:spPr>
          <a:xfrm>
            <a:off x="16306495" y="304495"/>
            <a:ext cx="1772107" cy="381305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고위험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952805" y="1104595"/>
            <a:ext cx="16383305" cy="8860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5000" b="1" kern="0" spc="-112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(5-1) 제6조 고위험 분류 2경로</a:t>
            </a:r>
            <a:endParaRPr lang="en-US" sz="5000" dirty="0"/>
          </a:p>
        </p:txBody>
      </p:sp>
      <p:sp>
        <p:nvSpPr>
          <p:cNvPr id="18" name="Text 13"/>
          <p:cNvSpPr txBox="1"/>
          <p:nvPr/>
        </p:nvSpPr>
        <p:spPr>
          <a:xfrm>
            <a:off x="952805" y="2000707"/>
            <a:ext cx="16383305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본문은 판단 기준만 두고 실제 목록은 부속서에 위임</a:t>
            </a:r>
            <a:endParaRPr lang="en-US" sz="1800" dirty="0"/>
          </a:p>
        </p:txBody>
      </p:sp>
      <p:sp>
        <p:nvSpPr>
          <p:cNvPr id="19" name="Shape 14"/>
          <p:cNvSpPr/>
          <p:nvPr/>
        </p:nvSpPr>
        <p:spPr>
          <a:xfrm>
            <a:off x="1257300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1257300" y="2971800"/>
            <a:ext cx="324612" cy="3246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21" name="Text 16"/>
          <p:cNvSpPr txBox="1"/>
          <p:nvPr/>
        </p:nvSpPr>
        <p:spPr>
          <a:xfrm>
            <a:off x="1257300" y="3486607"/>
            <a:ext cx="7439558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 kern="0" spc="-37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제6조 1항, 부속서 I 경로</a:t>
            </a:r>
            <a:endParaRPr lang="en-US" sz="2500" dirty="0"/>
          </a:p>
        </p:txBody>
      </p:sp>
      <p:sp>
        <p:nvSpPr>
          <p:cNvPr id="22" name="Text 17"/>
          <p:cNvSpPr txBox="1"/>
          <p:nvPr/>
        </p:nvSpPr>
        <p:spPr>
          <a:xfrm>
            <a:off x="1257300" y="4476902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요건 두 개를 모두 충족해야 고위험</a:t>
            </a:r>
            <a:endParaRPr lang="en-US" sz="1800" dirty="0"/>
          </a:p>
        </p:txBody>
      </p:sp>
      <p:sp>
        <p:nvSpPr>
          <p:cNvPr id="23" name="Text 18"/>
          <p:cNvSpPr txBox="1"/>
          <p:nvPr/>
        </p:nvSpPr>
        <p:spPr>
          <a:xfrm>
            <a:off x="1257300" y="4976165"/>
            <a:ext cx="839327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(a) 부속서 I 목록 법령이 적용되는 제품의 안전 부품이거나 그 자체가 제품</a:t>
            </a:r>
            <a:endParaRPr lang="en-US" sz="1800" dirty="0"/>
          </a:p>
        </p:txBody>
      </p:sp>
      <p:sp>
        <p:nvSpPr>
          <p:cNvPr id="24" name="Text 19"/>
          <p:cNvSpPr txBox="1"/>
          <p:nvPr/>
        </p:nvSpPr>
        <p:spPr>
          <a:xfrm>
            <a:off x="1257300" y="5475427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(b) 해당 법령에 따라 제3자 적합성 평가가 요구되는 제품</a:t>
            </a:r>
            <a:endParaRPr lang="en-US" sz="1800" dirty="0"/>
          </a:p>
        </p:txBody>
      </p:sp>
      <p:sp>
        <p:nvSpPr>
          <p:cNvPr id="25" name="Text 20"/>
          <p:cNvSpPr txBox="1"/>
          <p:nvPr/>
        </p:nvSpPr>
        <p:spPr>
          <a:xfrm>
            <a:off x="1257300" y="5974690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 — 의료기기, 기계류, 승강기, 차량에 내장된 AI</a:t>
            </a:r>
            <a:endParaRPr lang="en-US" sz="1800" dirty="0"/>
          </a:p>
        </p:txBody>
      </p:sp>
      <p:sp>
        <p:nvSpPr>
          <p:cNvPr id="26" name="Shape 21"/>
          <p:cNvSpPr/>
          <p:nvPr/>
        </p:nvSpPr>
        <p:spPr>
          <a:xfrm>
            <a:off x="9592056" y="2971800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9592056" y="2971800"/>
            <a:ext cx="324612" cy="3246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28" name="Text 23"/>
          <p:cNvSpPr txBox="1"/>
          <p:nvPr/>
        </p:nvSpPr>
        <p:spPr>
          <a:xfrm>
            <a:off x="9592056" y="3486607"/>
            <a:ext cx="7439558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 kern="0" spc="-37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제6조 2항, 부속서 III 경로</a:t>
            </a:r>
            <a:endParaRPr lang="en-US" sz="2500" dirty="0"/>
          </a:p>
        </p:txBody>
      </p:sp>
      <p:sp>
        <p:nvSpPr>
          <p:cNvPr id="29" name="Text 24"/>
          <p:cNvSpPr txBox="1"/>
          <p:nvPr/>
        </p:nvSpPr>
        <p:spPr>
          <a:xfrm>
            <a:off x="9592056" y="4476902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부속서 III의 8개 영역에 해당하면 고위험</a:t>
            </a:r>
            <a:endParaRPr lang="en-US" sz="1800" dirty="0"/>
          </a:p>
        </p:txBody>
      </p:sp>
      <p:sp>
        <p:nvSpPr>
          <p:cNvPr id="30" name="Text 25"/>
          <p:cNvSpPr txBox="1"/>
          <p:nvPr/>
        </p:nvSpPr>
        <p:spPr>
          <a:xfrm>
            <a:off x="9592056" y="4976165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제품에 내장되지 않은 독립 시스템이 대상</a:t>
            </a:r>
            <a:endParaRPr lang="en-US" sz="1800" dirty="0"/>
          </a:p>
        </p:txBody>
      </p:sp>
      <p:sp>
        <p:nvSpPr>
          <p:cNvPr id="31" name="Text 26"/>
          <p:cNvSpPr txBox="1"/>
          <p:nvPr/>
        </p:nvSpPr>
        <p:spPr>
          <a:xfrm>
            <a:off x="9592056" y="5475427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단, 제6조 3항의 제외 요건을 충족하면 벗어날 수 있음</a:t>
            </a:r>
            <a:endParaRPr lang="en-US" sz="1800" dirty="0"/>
          </a:p>
        </p:txBody>
      </p:sp>
      <p:sp>
        <p:nvSpPr>
          <p:cNvPr id="32" name="Text 27"/>
          <p:cNvSpPr txBox="1"/>
          <p:nvPr/>
        </p:nvSpPr>
        <p:spPr>
          <a:xfrm>
            <a:off x="9592056" y="5974690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 — 채용 심사, 신용 평가, 입학 사정</a:t>
            </a:r>
            <a:endParaRPr lang="en-US" sz="1800" dirty="0"/>
          </a:p>
        </p:txBody>
      </p:sp>
      <p:sp>
        <p:nvSpPr>
          <p:cNvPr id="33" name="Text 28"/>
          <p:cNvSpPr txBox="1"/>
          <p:nvPr/>
        </p:nvSpPr>
        <p:spPr>
          <a:xfrm>
            <a:off x="1333195" y="7856159"/>
            <a:ext cx="15621610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경로의 적용일이 다름, 부속서 III은 2027.12.2, 부속서 I은 2028.8.2</a:t>
            </a:r>
            <a:endParaRPr lang="en-US" sz="1800" dirty="0"/>
          </a:p>
        </p:txBody>
      </p:sp>
      <p:sp>
        <p:nvSpPr>
          <p:cNvPr id="34" name="Text 29"/>
          <p:cNvSpPr txBox="1"/>
          <p:nvPr/>
        </p:nvSpPr>
        <p:spPr>
          <a:xfrm>
            <a:off x="1333195" y="8267639"/>
            <a:ext cx="15621610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경로 1은 기존 제품안전 절차에 편입, 경로 2는 이 법이 독자 절차를 신설</a:t>
            </a:r>
            <a:endParaRPr lang="en-US" sz="1800" dirty="0"/>
          </a:p>
        </p:txBody>
      </p:sp>
      <p:sp>
        <p:nvSpPr>
          <p:cNvPr id="35" name="Text 30"/>
          <p:cNvSpPr txBox="1"/>
          <p:nvPr/>
        </p:nvSpPr>
        <p:spPr>
          <a:xfrm>
            <a:off x="1333195" y="8694365"/>
            <a:ext cx="15621610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고위험인데 적용일이 8개월 차이, 무엇이 이 차이를 정당화하는가?</a:t>
            </a:r>
            <a:endParaRPr lang="en-US" sz="1800" dirty="0"/>
          </a:p>
        </p:txBody>
      </p:sp>
      <p:sp>
        <p:nvSpPr>
          <p:cNvPr id="36" name="Text 31"/>
          <p:cNvSpPr txBox="1"/>
          <p:nvPr/>
        </p:nvSpPr>
        <p:spPr>
          <a:xfrm>
            <a:off x="1333195" y="9116818"/>
            <a:ext cx="15621610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시스템이 두 경로에 모두 걸릴 수 있는가? 그때 어느 절차를 따르는가?</a:t>
            </a:r>
            <a:endParaRPr lang="en-US" sz="1800" dirty="0"/>
          </a:p>
        </p:txBody>
      </p:sp>
      <p:sp>
        <p:nvSpPr>
          <p:cNvPr id="37" name="Text 32"/>
          <p:cNvSpPr txBox="1"/>
          <p:nvPr/>
        </p:nvSpPr>
        <p:spPr>
          <a:xfrm>
            <a:off x="15430500" y="9791395"/>
            <a:ext cx="19056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43/51</a:t>
            </a:r>
            <a:endParaRPr lang="en-US" sz="18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e22c746fd81622b5deae707eff18ae09.png"/>
          <p:cNvPicPr>
            <a:picLocks noChangeAspect="1"/>
          </p:cNvPicPr>
          <p:nvPr/>
        </p:nvPicPr>
        <p:blipFill>
          <a:blip r:embed="rId2"/>
          <a:srcRect l="-80" r="-80"/>
          <a:stretch/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52805" y="6096305"/>
            <a:ext cx="8048549" cy="2000707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52805" y="6096305"/>
            <a:ext cx="8048549" cy="47549"/>
          </a:xfrm>
          <a:prstGeom prst="rect">
            <a:avLst/>
          </a:prstGeom>
          <a:solidFill>
            <a:srgbClr val="036B3F"/>
          </a:solidFill>
          <a:ln w="12700">
            <a:solidFill>
              <a:srgbClr val="036B3F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9286646" y="6096305"/>
            <a:ext cx="8048549" cy="2000707"/>
          </a:xfrm>
          <a:prstGeom prst="rect">
            <a:avLst/>
          </a:prstGeom>
          <a:solidFill>
            <a:srgbClr val="E8F1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2805" y="8305495"/>
            <a:ext cx="16383305" cy="1218895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2805" y="342900"/>
            <a:ext cx="3199486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15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9048902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입법 경과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0877702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규정 체계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2687300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총칙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4477695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금지 관행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16306495" y="304495"/>
            <a:ext cx="1772107" cy="381305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고위험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952805" y="1104595"/>
            <a:ext cx="16383305" cy="8860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5000" b="1" kern="0" spc="-112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(5-2) 부속서 I, 제품 안전 법제</a:t>
            </a:r>
            <a:endParaRPr lang="en-US" sz="5000" dirty="0"/>
          </a:p>
        </p:txBody>
      </p:sp>
      <p:sp>
        <p:nvSpPr>
          <p:cNvPr id="14" name="Text 11"/>
          <p:cNvSpPr txBox="1"/>
          <p:nvPr/>
        </p:nvSpPr>
        <p:spPr>
          <a:xfrm>
            <a:off x="952805" y="2000707"/>
            <a:ext cx="16383305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EU 제품안전 법령을 그대로 인용, 중복 규제를 피하는 설계</a:t>
            </a:r>
            <a:endParaRPr lang="en-US" sz="18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52805" y="2704795"/>
          <a:ext cx="16383305" cy="3296412"/>
        </p:xfrm>
        <a:graphic>
          <a:graphicData uri="http://schemas.openxmlformats.org/drawingml/2006/table">
            <a:tbl>
              <a:tblPr/>
              <a:tblGrid>
                <a:gridCol w="19046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533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51524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940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분야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내장 AI의 예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940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섹션 A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기계류, 승강기, 무선설비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산업용 로봇의 충돌 회피, 협동 로봇의 속도 제어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940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섹션 A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의료기기, 체외진단 의료기기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영상 판독 보조, 부정맥 검출, 혈당 예측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940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섹션 A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완구 안전, 개인보호장비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대화형 완구의 음성 응답, 착용형 위험 감지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940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섹션 A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압력용기, 가스연소기기, 케이블카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이상 감지와 자동 정지 판단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940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섹션 B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항공, 자동차, 철도, 선박, 농기계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자율주행 인지 판단, 열차 자동 운전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6" name="Text 12"/>
          <p:cNvSpPr txBox="1"/>
          <p:nvPr/>
        </p:nvSpPr>
        <p:spPr>
          <a:xfrm>
            <a:off x="1257300" y="6344107"/>
            <a:ext cx="7439558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섹션 A와 섹션 B의 차이</a:t>
            </a:r>
            <a:endParaRPr lang="en-US" sz="2000" dirty="0"/>
          </a:p>
        </p:txBody>
      </p:sp>
      <p:sp>
        <p:nvSpPr>
          <p:cNvPr id="17" name="Text 13"/>
          <p:cNvSpPr txBox="1"/>
          <p:nvPr/>
        </p:nvSpPr>
        <p:spPr>
          <a:xfrm>
            <a:off x="1257300" y="6819595"/>
            <a:ext cx="7439558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섹션 A는 이 법의 요건이 직접 적용</a:t>
            </a:r>
            <a:endParaRPr lang="en-US" sz="1800" dirty="0"/>
          </a:p>
        </p:txBody>
      </p:sp>
      <p:sp>
        <p:nvSpPr>
          <p:cNvPr id="18" name="Text 14"/>
          <p:cNvSpPr txBox="1"/>
          <p:nvPr/>
        </p:nvSpPr>
        <p:spPr>
          <a:xfrm>
            <a:off x="1257300" y="7250278"/>
            <a:ext cx="7439558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섹션 B는 해당 분야 법령의 자체 절차에 이 법의 요건을 반영</a:t>
            </a:r>
            <a:endParaRPr lang="en-US" sz="1800" dirty="0"/>
          </a:p>
        </p:txBody>
      </p:sp>
      <p:sp>
        <p:nvSpPr>
          <p:cNvPr id="19" name="Text 15"/>
          <p:cNvSpPr txBox="1"/>
          <p:nvPr/>
        </p:nvSpPr>
        <p:spPr>
          <a:xfrm>
            <a:off x="9592056" y="6344107"/>
            <a:ext cx="7439558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실무상 의미</a:t>
            </a:r>
            <a:endParaRPr lang="en-US" sz="2000" dirty="0"/>
          </a:p>
        </p:txBody>
      </p:sp>
      <p:sp>
        <p:nvSpPr>
          <p:cNvPr id="20" name="Text 16"/>
          <p:cNvSpPr txBox="1"/>
          <p:nvPr/>
        </p:nvSpPr>
        <p:spPr>
          <a:xfrm>
            <a:off x="9592056" y="6819595"/>
            <a:ext cx="7439558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 CE 표시 절차를 거치던 제품이라면 AI 요건이 추가되는 형태</a:t>
            </a:r>
            <a:endParaRPr lang="en-US" sz="1800" dirty="0"/>
          </a:p>
        </p:txBody>
      </p:sp>
      <p:sp>
        <p:nvSpPr>
          <p:cNvPr id="21" name="Text 17"/>
          <p:cNvSpPr txBox="1"/>
          <p:nvPr/>
        </p:nvSpPr>
        <p:spPr>
          <a:xfrm>
            <a:off x="9592056" y="7250278"/>
            <a:ext cx="7439558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별도 적합성 평가를 새로 받는 것이 아님</a:t>
            </a:r>
            <a:endParaRPr lang="en-US" sz="1800" dirty="0"/>
          </a:p>
        </p:txBody>
      </p:sp>
      <p:sp>
        <p:nvSpPr>
          <p:cNvPr id="22" name="Text 18"/>
          <p:cNvSpPr txBox="1"/>
          <p:nvPr/>
        </p:nvSpPr>
        <p:spPr>
          <a:xfrm>
            <a:off x="1333195" y="8534095"/>
            <a:ext cx="15621610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제품안전 체계에 AI 요건을 얹는 방식의 한계는 무엇인가?</a:t>
            </a:r>
            <a:endParaRPr lang="en-US" sz="1800" dirty="0"/>
          </a:p>
        </p:txBody>
      </p:sp>
      <p:sp>
        <p:nvSpPr>
          <p:cNvPr id="23" name="Text 19"/>
          <p:cNvSpPr txBox="1"/>
          <p:nvPr/>
        </p:nvSpPr>
        <p:spPr>
          <a:xfrm>
            <a:off x="1333195" y="8976665"/>
            <a:ext cx="15621610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 안전은 물리적 위해를 다뤄 왔음, 차별과 설명 불가능성 같은 해악을 같은 틀로 다룰 수 있는가?</a:t>
            </a:r>
            <a:endParaRPr lang="en-US" sz="1800" dirty="0"/>
          </a:p>
        </p:txBody>
      </p:sp>
      <p:sp>
        <p:nvSpPr>
          <p:cNvPr id="24" name="Text 20"/>
          <p:cNvSpPr txBox="1"/>
          <p:nvPr/>
        </p:nvSpPr>
        <p:spPr>
          <a:xfrm>
            <a:off x="15430500" y="9791395"/>
            <a:ext cx="19056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44/51</a:t>
            </a:r>
            <a:endParaRPr lang="en-US" sz="18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e22c746fd81622b5deae707eff18ae09.png"/>
          <p:cNvPicPr>
            <a:picLocks noChangeAspect="1"/>
          </p:cNvPicPr>
          <p:nvPr/>
        </p:nvPicPr>
        <p:blipFill>
          <a:blip r:embed="rId2"/>
          <a:srcRect l="-80" r="-80"/>
          <a:stretch/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52805" y="7798918"/>
            <a:ext cx="16383305" cy="1726388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952805" y="342900"/>
            <a:ext cx="3199486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15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9048902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입법 경과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0877702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규정 체계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2687300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총칙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4477695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금지 관행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6306495" y="304495"/>
            <a:ext cx="1772107" cy="381305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고위험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952805" y="1104595"/>
            <a:ext cx="16383305" cy="8860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5000" b="1" kern="0" spc="-112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(5-3) 부속서 III 8개 영역</a:t>
            </a:r>
            <a:endParaRPr lang="en-US" sz="5000" dirty="0"/>
          </a:p>
        </p:txBody>
      </p:sp>
      <p:sp>
        <p:nvSpPr>
          <p:cNvPr id="12" name="Text 9"/>
          <p:cNvSpPr txBox="1"/>
          <p:nvPr/>
        </p:nvSpPr>
        <p:spPr>
          <a:xfrm>
            <a:off x="952805" y="2000707"/>
            <a:ext cx="16383305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제품에 내장되지 않은 독립 시스템의 고위험 목록, 2027.12.2 적용</a:t>
            </a:r>
            <a:endParaRPr lang="en-US" sz="18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52805" y="2704795"/>
          <a:ext cx="16374160" cy="4077306"/>
        </p:xfrm>
        <a:graphic>
          <a:graphicData uri="http://schemas.openxmlformats.org/drawingml/2006/table">
            <a:tbl>
              <a:tblPr/>
              <a:tblGrid>
                <a:gridCol w="104790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1520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61105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303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번호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66751" marB="66751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영역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66751" marB="66751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포함되는 용도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66751" marB="66751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303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66751" marB="66751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생체인식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66751" marB="66751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원격 생체인식, 민감 속성 기준 생체분류, 감정인식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66751" marB="66751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303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66751" marB="66751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핵심 기반시설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66751" marB="66751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전력, 수도, 가스, 열, 도로 교통, 디지털 기반시설의 안전 부품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66751" marB="66751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303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66751" marB="66751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교육과 직업훈련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66751" marB="66751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입학 사정, 학습 성과 평가, 교육 수준 배정, 시험 부정행위 감시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66751" marB="66751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303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66751" marB="66751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고용과 근로자 관리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66751" marB="66751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채용 공고 표적화, 지원자 선별, 평가, 승진과 해고, 업무 배정, 감시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66751" marB="66751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303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66751" marB="66751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필수 서비스 접근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66751" marB="66751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공공급여 수급 판정, 신용 평가, 생명보험과 건강보험 가격, 긴급 신고 분류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66751" marB="66751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303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66751" marB="66751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법 집행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66751" marB="66751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피해 위험 평가, 거짓말 탐지, 증거 신뢰성 평가, 재범 위험 평가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66751" marB="66751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303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66751" marB="66751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이민과 국경 관리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66751" marB="66751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거짓말 탐지, 입국 위험 평가, 비자와 난민 신청 심사 보조, 신원 확인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66751" marB="66751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5303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66751" marB="66751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사법과 민주적 절차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66751" marB="66751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사법부 판단 보조, 선거와 국민투표 결과에 영향을 주는 시스템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66751" marB="66751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14" name="Text 10"/>
          <p:cNvSpPr txBox="1"/>
          <p:nvPr/>
        </p:nvSpPr>
        <p:spPr>
          <a:xfrm>
            <a:off x="1333195" y="8109549"/>
            <a:ext cx="15621610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8개 영역의 공통점 — 개인의 생활 기회를 결정하거나 기본권에 직접 영향</a:t>
            </a:r>
            <a:endParaRPr lang="en-US" sz="1800" dirty="0"/>
          </a:p>
        </p:txBody>
      </p:sp>
      <p:sp>
        <p:nvSpPr>
          <p:cNvPr id="15" name="Text 11"/>
          <p:cNvSpPr txBox="1"/>
          <p:nvPr/>
        </p:nvSpPr>
        <p:spPr>
          <a:xfrm>
            <a:off x="1333195" y="8521029"/>
            <a:ext cx="15621610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제7조에 따라 집행위원회가 위임입법으로 이 목록을 추가하거나 수정할 수 있음</a:t>
            </a:r>
            <a:endParaRPr lang="en-US" sz="1800" dirty="0"/>
          </a:p>
        </p:txBody>
      </p:sp>
      <p:sp>
        <p:nvSpPr>
          <p:cNvPr id="13" name="Text 12"/>
          <p:cNvSpPr txBox="1"/>
          <p:nvPr/>
        </p:nvSpPr>
        <p:spPr>
          <a:xfrm>
            <a:off x="1333195" y="8935051"/>
            <a:ext cx="15621610" cy="3044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8개 영역 중 국내 인공지능기본법의 고영향 영역과 </a:t>
            </a: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겹치는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것은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? </a:t>
            </a:r>
            <a:r>
              <a:rPr lang="en-US" altLang="ko-KR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겹치지</a:t>
            </a:r>
            <a:r>
              <a:rPr lang="en-US" altLang="ko-KR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않는</a:t>
            </a:r>
            <a:r>
              <a:rPr lang="en-US" altLang="ko-KR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영역이</a:t>
            </a:r>
            <a:r>
              <a:rPr lang="en-US" altLang="ko-KR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있다면</a:t>
            </a:r>
            <a:r>
              <a:rPr lang="en-US" altLang="ko-KR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그것이</a:t>
            </a:r>
            <a:r>
              <a:rPr lang="en-US" altLang="ko-KR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각국의</a:t>
            </a:r>
            <a:r>
              <a:rPr lang="en-US" altLang="ko-KR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정책</a:t>
            </a:r>
            <a:r>
              <a:rPr lang="en-US" altLang="ko-KR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우선순위를</a:t>
            </a:r>
            <a:r>
              <a:rPr lang="en-US" altLang="ko-KR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드러내는가</a:t>
            </a:r>
            <a:r>
              <a:rPr lang="en-US" altLang="ko-KR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?</a:t>
            </a:r>
            <a:endParaRPr lang="en-US" sz="1800" dirty="0"/>
          </a:p>
        </p:txBody>
      </p:sp>
      <p:sp>
        <p:nvSpPr>
          <p:cNvPr id="17" name="Text 13"/>
          <p:cNvSpPr txBox="1"/>
          <p:nvPr/>
        </p:nvSpPr>
        <p:spPr>
          <a:xfrm>
            <a:off x="1333195" y="9300362"/>
            <a:ext cx="15621610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endParaRPr lang="en-US" sz="1800" dirty="0"/>
          </a:p>
        </p:txBody>
      </p:sp>
      <p:sp>
        <p:nvSpPr>
          <p:cNvPr id="18" name="Text 14"/>
          <p:cNvSpPr txBox="1"/>
          <p:nvPr/>
        </p:nvSpPr>
        <p:spPr>
          <a:xfrm>
            <a:off x="15430500" y="9791395"/>
            <a:ext cx="19056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45/51</a:t>
            </a:r>
            <a:endParaRPr lang="en-US" sz="18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e22c746fd81622b5deae707eff18ae09.png"/>
          <p:cNvPicPr>
            <a:picLocks noChangeAspect="1"/>
          </p:cNvPicPr>
          <p:nvPr/>
        </p:nvPicPr>
        <p:blipFill>
          <a:blip r:embed="rId2"/>
          <a:srcRect l="-80" r="-80"/>
          <a:stretch/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52805" y="2704795"/>
            <a:ext cx="8048549" cy="476219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52805" y="2704795"/>
            <a:ext cx="8048549" cy="47549"/>
          </a:xfrm>
          <a:prstGeom prst="rect">
            <a:avLst/>
          </a:prstGeom>
          <a:solidFill>
            <a:srgbClr val="036B3F"/>
          </a:solidFill>
          <a:ln w="12700">
            <a:solidFill>
              <a:srgbClr val="036B3F">
                <a:alpha val="0"/>
              </a:srgbClr>
            </a:solidFill>
            <a:prstDash val="solid"/>
          </a:ln>
        </p:spPr>
      </p:sp>
      <p:pic>
        <p:nvPicPr>
          <p:cNvPr id="5" name="Image 1" descr="gen-dedup-c2dfa98337e9cb6ce99e9e949a17a885.png"/>
          <p:cNvPicPr>
            <a:picLocks noChangeAspect="1"/>
          </p:cNvPicPr>
          <p:nvPr/>
        </p:nvPicPr>
        <p:blipFill>
          <a:blip r:embed="rId3"/>
          <a:srcRect l="-2083" r="-2083"/>
          <a:stretch/>
        </p:blipFill>
        <p:spPr>
          <a:xfrm>
            <a:off x="1257300" y="3715207"/>
            <a:ext cx="7438644" cy="9144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9286646" y="2704795"/>
            <a:ext cx="8048549" cy="476219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9286646" y="2704795"/>
            <a:ext cx="8048549" cy="47549"/>
          </a:xfrm>
          <a:prstGeom prst="rect">
            <a:avLst/>
          </a:prstGeom>
          <a:solidFill>
            <a:srgbClr val="9A7620"/>
          </a:solidFill>
          <a:ln w="12700">
            <a:solidFill>
              <a:srgbClr val="9A7620">
                <a:alpha val="0"/>
              </a:srgbClr>
            </a:solidFill>
            <a:prstDash val="solid"/>
          </a:ln>
        </p:spPr>
      </p:sp>
      <p:pic>
        <p:nvPicPr>
          <p:cNvPr id="8" name="Image 2" descr="gen-dedup-c2dfa98337e9cb6ce99e9e949a17a885.png"/>
          <p:cNvPicPr>
            <a:picLocks noChangeAspect="1"/>
          </p:cNvPicPr>
          <p:nvPr/>
        </p:nvPicPr>
        <p:blipFill>
          <a:blip r:embed="rId3"/>
          <a:srcRect l="-2083" r="-2083"/>
          <a:stretch/>
        </p:blipFill>
        <p:spPr>
          <a:xfrm>
            <a:off x="9592056" y="3715207"/>
            <a:ext cx="7438644" cy="9144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952805" y="8286294"/>
            <a:ext cx="16383305" cy="1239012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952805" y="342900"/>
            <a:ext cx="3199486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15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9048902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입법 경과</a:t>
            </a:r>
            <a:endParaRPr lang="en-US" sz="1500" dirty="0"/>
          </a:p>
        </p:txBody>
      </p:sp>
      <p:sp>
        <p:nvSpPr>
          <p:cNvPr id="13" name="Text 8"/>
          <p:cNvSpPr txBox="1"/>
          <p:nvPr/>
        </p:nvSpPr>
        <p:spPr>
          <a:xfrm>
            <a:off x="10877702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규정 체계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12687300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총칙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14477695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금지 관행</a:t>
            </a:r>
            <a:endParaRPr lang="en-US" sz="1500" dirty="0"/>
          </a:p>
        </p:txBody>
      </p:sp>
      <p:sp>
        <p:nvSpPr>
          <p:cNvPr id="16" name="Text 11"/>
          <p:cNvSpPr txBox="1"/>
          <p:nvPr/>
        </p:nvSpPr>
        <p:spPr>
          <a:xfrm>
            <a:off x="16306495" y="304495"/>
            <a:ext cx="1772107" cy="381305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고위험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952805" y="1104595"/>
            <a:ext cx="16383305" cy="8860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5000" b="1" kern="0" spc="-112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(5-4) 국내 기업과 가장 관련 깊은 두 영역</a:t>
            </a:r>
            <a:endParaRPr lang="en-US" sz="5000" dirty="0"/>
          </a:p>
        </p:txBody>
      </p:sp>
      <p:sp>
        <p:nvSpPr>
          <p:cNvPr id="18" name="Text 13"/>
          <p:cNvSpPr txBox="1"/>
          <p:nvPr/>
        </p:nvSpPr>
        <p:spPr>
          <a:xfrm>
            <a:off x="952805" y="2000707"/>
            <a:ext cx="16383305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부속서 III 제4호 고용과 제5호 필수 서비스, 역외 적용 가능성이 높은 용도</a:t>
            </a:r>
            <a:endParaRPr lang="en-US" sz="1800" dirty="0"/>
          </a:p>
        </p:txBody>
      </p:sp>
      <p:sp>
        <p:nvSpPr>
          <p:cNvPr id="19" name="Text 14"/>
          <p:cNvSpPr txBox="1"/>
          <p:nvPr/>
        </p:nvSpPr>
        <p:spPr>
          <a:xfrm>
            <a:off x="1257300" y="2991002"/>
            <a:ext cx="7439558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 kern="0" spc="-37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제4호 고용과 근로자 관리</a:t>
            </a:r>
            <a:endParaRPr lang="en-US" sz="2500" dirty="0"/>
          </a:p>
        </p:txBody>
      </p:sp>
      <p:sp>
        <p:nvSpPr>
          <p:cNvPr id="20" name="Text 15"/>
          <p:cNvSpPr txBox="1"/>
          <p:nvPr/>
        </p:nvSpPr>
        <p:spPr>
          <a:xfrm>
            <a:off x="1257300" y="3981298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채용 공고를 특정 집단에 표적 노출하는 시스템</a:t>
            </a:r>
            <a:endParaRPr lang="en-US" sz="1800" dirty="0"/>
          </a:p>
        </p:txBody>
      </p:sp>
      <p:sp>
        <p:nvSpPr>
          <p:cNvPr id="21" name="Text 16"/>
          <p:cNvSpPr txBox="1"/>
          <p:nvPr/>
        </p:nvSpPr>
        <p:spPr>
          <a:xfrm>
            <a:off x="1257300" y="4461358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지원서 자동 선별과 순위 부여</a:t>
            </a:r>
            <a:endParaRPr lang="en-US" sz="1800" dirty="0"/>
          </a:p>
        </p:txBody>
      </p:sp>
      <p:sp>
        <p:nvSpPr>
          <p:cNvPr id="22" name="Text 17"/>
          <p:cNvSpPr txBox="1"/>
          <p:nvPr/>
        </p:nvSpPr>
        <p:spPr>
          <a:xfrm>
            <a:off x="1257300" y="4941418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면접 중 평가와 역량 판정</a:t>
            </a:r>
            <a:endParaRPr lang="en-US" sz="1800" dirty="0"/>
          </a:p>
        </p:txBody>
      </p:sp>
      <p:sp>
        <p:nvSpPr>
          <p:cNvPr id="23" name="Text 18"/>
          <p:cNvSpPr txBox="1"/>
          <p:nvPr/>
        </p:nvSpPr>
        <p:spPr>
          <a:xfrm>
            <a:off x="1257300" y="5421478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승진, 해고, 계약 종료 결정에 영향</a:t>
            </a:r>
            <a:endParaRPr lang="en-US" sz="1800" dirty="0"/>
          </a:p>
        </p:txBody>
      </p:sp>
      <p:sp>
        <p:nvSpPr>
          <p:cNvPr id="24" name="Text 19"/>
          <p:cNvSpPr txBox="1"/>
          <p:nvPr/>
        </p:nvSpPr>
        <p:spPr>
          <a:xfrm>
            <a:off x="1257300" y="5901538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배정과 성과 감시</a:t>
            </a:r>
            <a:endParaRPr lang="en-US" sz="1800" dirty="0"/>
          </a:p>
        </p:txBody>
      </p:sp>
      <p:sp>
        <p:nvSpPr>
          <p:cNvPr id="25" name="Text 20"/>
          <p:cNvSpPr txBox="1"/>
          <p:nvPr/>
        </p:nvSpPr>
        <p:spPr>
          <a:xfrm>
            <a:off x="1257300" y="6381598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근로 관계 전 과정이 대상, 채용 단계만이 아님</a:t>
            </a:r>
            <a:endParaRPr lang="en-US" sz="1800" dirty="0"/>
          </a:p>
        </p:txBody>
      </p:sp>
      <p:sp>
        <p:nvSpPr>
          <p:cNvPr id="26" name="Text 21"/>
          <p:cNvSpPr txBox="1"/>
          <p:nvPr/>
        </p:nvSpPr>
        <p:spPr>
          <a:xfrm>
            <a:off x="9592056" y="2991002"/>
            <a:ext cx="7439558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 kern="0" spc="-37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제5호 필수 서비스 접근</a:t>
            </a:r>
            <a:endParaRPr lang="en-US" sz="2500" dirty="0"/>
          </a:p>
        </p:txBody>
      </p:sp>
      <p:sp>
        <p:nvSpPr>
          <p:cNvPr id="27" name="Text 22"/>
          <p:cNvSpPr txBox="1"/>
          <p:nvPr/>
        </p:nvSpPr>
        <p:spPr>
          <a:xfrm>
            <a:off x="9592056" y="3981298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공공급여와 서비스 수급 자격 판정</a:t>
            </a:r>
            <a:endParaRPr lang="en-US" sz="1800" dirty="0"/>
          </a:p>
        </p:txBody>
      </p:sp>
      <p:sp>
        <p:nvSpPr>
          <p:cNvPr id="28" name="Text 23"/>
          <p:cNvSpPr txBox="1"/>
          <p:nvPr/>
        </p:nvSpPr>
        <p:spPr>
          <a:xfrm>
            <a:off x="9592056" y="4461358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자연인의 신용도 평가와 신용 점수 산정</a:t>
            </a:r>
            <a:endParaRPr lang="en-US" sz="1800" dirty="0"/>
          </a:p>
        </p:txBody>
      </p:sp>
      <p:sp>
        <p:nvSpPr>
          <p:cNvPr id="29" name="Text 24"/>
          <p:cNvSpPr txBox="1"/>
          <p:nvPr/>
        </p:nvSpPr>
        <p:spPr>
          <a:xfrm>
            <a:off x="9592056" y="4941418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생명보험과 건강보험의 위험 평가와 가격 산정</a:t>
            </a:r>
            <a:endParaRPr lang="en-US" sz="1800" dirty="0"/>
          </a:p>
        </p:txBody>
      </p:sp>
      <p:sp>
        <p:nvSpPr>
          <p:cNvPr id="30" name="Text 25"/>
          <p:cNvSpPr txBox="1"/>
          <p:nvPr/>
        </p:nvSpPr>
        <p:spPr>
          <a:xfrm>
            <a:off x="9592056" y="5421478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긴급 신고 분류와 응급 서비스 우선순위 배정</a:t>
            </a:r>
            <a:endParaRPr lang="en-US" sz="1800" dirty="0"/>
          </a:p>
        </p:txBody>
      </p:sp>
      <p:sp>
        <p:nvSpPr>
          <p:cNvPr id="31" name="Text 26"/>
          <p:cNvSpPr txBox="1"/>
          <p:nvPr/>
        </p:nvSpPr>
        <p:spPr>
          <a:xfrm>
            <a:off x="9592056" y="5901538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금융 사기 탐지는 제외, 시스템 보호 목적이므로</a:t>
            </a:r>
            <a:endParaRPr lang="en-US" sz="1800" dirty="0"/>
          </a:p>
        </p:txBody>
      </p:sp>
      <p:sp>
        <p:nvSpPr>
          <p:cNvPr id="32" name="Text 27"/>
          <p:cNvSpPr txBox="1"/>
          <p:nvPr/>
        </p:nvSpPr>
        <p:spPr>
          <a:xfrm>
            <a:off x="1347709" y="8593057"/>
            <a:ext cx="15621610" cy="3246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국내 기업이 EU 지원자나 이용자를 대상으로 이 용도를 쓰면 역외 적용, 제2조 1항 (c)호</a:t>
            </a:r>
            <a:endParaRPr lang="en-US" sz="1800" dirty="0"/>
          </a:p>
        </p:txBody>
      </p:sp>
      <p:sp>
        <p:nvSpPr>
          <p:cNvPr id="33" name="Text 28"/>
          <p:cNvSpPr txBox="1"/>
          <p:nvPr/>
        </p:nvSpPr>
        <p:spPr>
          <a:xfrm>
            <a:off x="1333195" y="8968768"/>
            <a:ext cx="15621610" cy="3246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신용 평가는 고위험이나 사기 탐지는 제외, 두 용도를 가르는 기준이 조문에서 명확한가?</a:t>
            </a:r>
            <a:endParaRPr lang="en-US" sz="1800" dirty="0"/>
          </a:p>
        </p:txBody>
      </p:sp>
      <p:sp>
        <p:nvSpPr>
          <p:cNvPr id="34" name="Text 29"/>
          <p:cNvSpPr txBox="1"/>
          <p:nvPr/>
        </p:nvSpPr>
        <p:spPr>
          <a:xfrm>
            <a:off x="15430500" y="9791395"/>
            <a:ext cx="19056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46/51</a:t>
            </a:r>
            <a:endParaRPr lang="en-US" sz="18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e22c746fd81622b5deae707eff18ae09.png"/>
          <p:cNvPicPr>
            <a:picLocks noChangeAspect="1"/>
          </p:cNvPicPr>
          <p:nvPr/>
        </p:nvPicPr>
        <p:blipFill>
          <a:blip r:embed="rId2"/>
          <a:srcRect l="-80" r="-80"/>
          <a:stretch/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52805" y="2704795"/>
            <a:ext cx="16383305" cy="133319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52805" y="2704795"/>
            <a:ext cx="16383305" cy="47549"/>
          </a:xfrm>
          <a:prstGeom prst="rect">
            <a:avLst/>
          </a:prstGeom>
          <a:solidFill>
            <a:srgbClr val="9A7620"/>
          </a:solidFill>
          <a:ln w="12700">
            <a:solidFill>
              <a:srgbClr val="9A7620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952805" y="7200900"/>
            <a:ext cx="8048549" cy="1390802"/>
          </a:xfrm>
          <a:prstGeom prst="rect">
            <a:avLst/>
          </a:prstGeom>
          <a:solidFill>
            <a:srgbClr val="FBECEB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2805" y="7200900"/>
            <a:ext cx="8048549" cy="47549"/>
          </a:xfrm>
          <a:prstGeom prst="rect">
            <a:avLst/>
          </a:prstGeom>
          <a:solidFill>
            <a:srgbClr val="A82A24"/>
          </a:solidFill>
          <a:ln w="12700">
            <a:solidFill>
              <a:srgbClr val="A82A24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286646" y="7200900"/>
            <a:ext cx="8048549" cy="1390802"/>
          </a:xfrm>
          <a:prstGeom prst="rect">
            <a:avLst/>
          </a:prstGeom>
          <a:solidFill>
            <a:srgbClr val="E8F1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52805" y="8744407"/>
            <a:ext cx="16383305" cy="780898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52805" y="342900"/>
            <a:ext cx="3199486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15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9048902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입법 경과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0877702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규정 체계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12687300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총칙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14477695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금지 관행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16306495" y="304495"/>
            <a:ext cx="1772107" cy="381305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고위험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952805" y="1104595"/>
            <a:ext cx="16383305" cy="8860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5000" b="1" kern="0" spc="-112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(5-5) 제6조 3항 제외 요건</a:t>
            </a:r>
            <a:endParaRPr lang="en-US" sz="5000" dirty="0"/>
          </a:p>
        </p:txBody>
      </p:sp>
      <p:sp>
        <p:nvSpPr>
          <p:cNvPr id="16" name="Text 13"/>
          <p:cNvSpPr txBox="1"/>
          <p:nvPr/>
        </p:nvSpPr>
        <p:spPr>
          <a:xfrm>
            <a:off x="952805" y="2000707"/>
            <a:ext cx="16383305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부속서 III 목록에 있어도 고위험을 벗어날 수 있는 통로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1257300" y="2952598"/>
            <a:ext cx="15773400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 kern="0" spc="-37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전제 — 기본권, 건강, 안전에 중대한 해악 위험을 초래하지 않을 것</a:t>
            </a:r>
            <a:endParaRPr lang="en-US" sz="2500" dirty="0"/>
          </a:p>
        </p:txBody>
      </p:sp>
      <p:sp>
        <p:nvSpPr>
          <p:cNvPr id="18" name="Text 15"/>
          <p:cNvSpPr txBox="1"/>
          <p:nvPr/>
        </p:nvSpPr>
        <p:spPr>
          <a:xfrm>
            <a:off x="1257300" y="3486607"/>
            <a:ext cx="1577340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전제 위에서 아래 4가지 중 하나에 해당하면 고위험 분류에서 제외 가능</a:t>
            </a:r>
            <a:endParaRPr lang="en-US" sz="18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52805" y="4229100"/>
          <a:ext cx="16373246" cy="2876700"/>
        </p:xfrm>
        <a:graphic>
          <a:graphicData uri="http://schemas.openxmlformats.org/drawingml/2006/table">
            <a:tbl>
              <a:tblPr/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00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2974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753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25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호</a:t>
                      </a:r>
                      <a:endParaRPr lang="en-US" sz="1425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25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요건</a:t>
                      </a:r>
                      <a:endParaRPr lang="en-US" sz="1425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25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예시</a:t>
                      </a:r>
                      <a:endParaRPr lang="en-US" sz="1425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38405" marB="38405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53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25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(a)</a:t>
                      </a:r>
                      <a:endParaRPr lang="en-US" sz="1425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25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좁은 절차적 작업만 수행</a:t>
                      </a:r>
                      <a:endParaRPr lang="en-US" sz="1425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25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서류를 항목별로 분류하거나 중복 문서를 탐지</a:t>
                      </a:r>
                      <a:endParaRPr lang="en-US" sz="1425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53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25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(b)</a:t>
                      </a:r>
                      <a:endParaRPr lang="en-US" sz="1425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25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이전 인간 활동의 결과를 개선</a:t>
                      </a:r>
                      <a:endParaRPr lang="en-US" sz="1425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25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사람이 작성한 평가서의 문장을 다듬음</a:t>
                      </a:r>
                      <a:endParaRPr lang="en-US" sz="1425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53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25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(c)</a:t>
                      </a:r>
                      <a:endParaRPr lang="en-US" sz="1425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25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의사결정 패턴을 탐지하되 인간 평가를 대체하지 않음</a:t>
                      </a:r>
                      <a:endParaRPr lang="en-US" sz="1425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25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평가자 간 편차를 표시, 적절한 인간 검토가 전제</a:t>
                      </a:r>
                      <a:endParaRPr lang="en-US" sz="1425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53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25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(d)</a:t>
                      </a:r>
                      <a:endParaRPr lang="en-US" sz="1425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25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부속서 III 용도의 사전 준비 작업만 수행</a:t>
                      </a:r>
                      <a:endParaRPr lang="en-US" sz="1425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25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평가에 쓸 자료를 정리하거나 요약</a:t>
                      </a:r>
                      <a:endParaRPr lang="en-US" sz="1425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38405" marB="38405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0" name="Text 16"/>
          <p:cNvSpPr txBox="1"/>
          <p:nvPr/>
        </p:nvSpPr>
        <p:spPr>
          <a:xfrm>
            <a:off x="1257300" y="7429500"/>
            <a:ext cx="7439558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절대 예외 없는 경우</a:t>
            </a:r>
            <a:endParaRPr lang="en-US" sz="2000" dirty="0"/>
          </a:p>
        </p:txBody>
      </p:sp>
      <p:sp>
        <p:nvSpPr>
          <p:cNvPr id="21" name="Text 17"/>
          <p:cNvSpPr txBox="1"/>
          <p:nvPr/>
        </p:nvSpPr>
        <p:spPr>
          <a:xfrm>
            <a:off x="1257300" y="7905902"/>
            <a:ext cx="7439558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자연인의 프로파일링을 수행하는 시스템은 언제나 고위험, 제외 불가</a:t>
            </a:r>
            <a:endParaRPr lang="en-US" sz="1800" dirty="0"/>
          </a:p>
        </p:txBody>
      </p:sp>
      <p:sp>
        <p:nvSpPr>
          <p:cNvPr id="22" name="Text 18"/>
          <p:cNvSpPr txBox="1"/>
          <p:nvPr/>
        </p:nvSpPr>
        <p:spPr>
          <a:xfrm>
            <a:off x="9592056" y="7429500"/>
            <a:ext cx="7439558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제외 시 부수 의무</a:t>
            </a:r>
            <a:endParaRPr lang="en-US" sz="2000" dirty="0"/>
          </a:p>
        </p:txBody>
      </p:sp>
      <p:sp>
        <p:nvSpPr>
          <p:cNvPr id="23" name="Text 19"/>
          <p:cNvSpPr txBox="1"/>
          <p:nvPr/>
        </p:nvSpPr>
        <p:spPr>
          <a:xfrm>
            <a:off x="9592056" y="7905902"/>
            <a:ext cx="7899502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 근거를 문서로 남기고 EU 데이터베이스에 등록, 당국 요청 시 제출</a:t>
            </a:r>
            <a:endParaRPr lang="en-US" sz="1800" dirty="0"/>
          </a:p>
        </p:txBody>
      </p:sp>
      <p:sp>
        <p:nvSpPr>
          <p:cNvPr id="24" name="Text 20"/>
          <p:cNvSpPr txBox="1"/>
          <p:nvPr/>
        </p:nvSpPr>
        <p:spPr>
          <a:xfrm>
            <a:off x="1333195" y="8953805"/>
            <a:ext cx="15621610" cy="3246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조항이 규제 회피 통로라는 비판이 있음, 제외 신고 자료를 모으면 검증 가능한가?</a:t>
            </a:r>
            <a:endParaRPr lang="en-US" sz="1800" dirty="0"/>
          </a:p>
        </p:txBody>
      </p:sp>
      <p:sp>
        <p:nvSpPr>
          <p:cNvPr id="25" name="Text 21"/>
          <p:cNvSpPr txBox="1"/>
          <p:nvPr/>
        </p:nvSpPr>
        <p:spPr>
          <a:xfrm>
            <a:off x="15430500" y="9791395"/>
            <a:ext cx="19056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47/51</a:t>
            </a:r>
            <a:endParaRPr lang="en-US" sz="18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e22c746fd81622b5deae707eff18ae09.png"/>
          <p:cNvPicPr>
            <a:picLocks noChangeAspect="1"/>
          </p:cNvPicPr>
          <p:nvPr/>
        </p:nvPicPr>
        <p:blipFill>
          <a:blip r:embed="rId2"/>
          <a:srcRect l="-80" r="-80"/>
          <a:stretch/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52805" y="2704795"/>
            <a:ext cx="8048549" cy="419069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52805" y="2704795"/>
            <a:ext cx="8048549" cy="47549"/>
          </a:xfrm>
          <a:prstGeom prst="rect">
            <a:avLst/>
          </a:prstGeom>
          <a:solidFill>
            <a:srgbClr val="036B3F"/>
          </a:solidFill>
          <a:ln w="12700">
            <a:solidFill>
              <a:srgbClr val="036B3F">
                <a:alpha val="0"/>
              </a:srgbClr>
            </a:solidFill>
            <a:prstDash val="solid"/>
          </a:ln>
        </p:spPr>
      </p:sp>
      <p:pic>
        <p:nvPicPr>
          <p:cNvPr id="5" name="Image 1" descr="gen-dedup-c2dfa98337e9cb6ce99e9e949a17a885.png"/>
          <p:cNvPicPr>
            <a:picLocks noChangeAspect="1"/>
          </p:cNvPicPr>
          <p:nvPr/>
        </p:nvPicPr>
        <p:blipFill>
          <a:blip r:embed="rId3"/>
          <a:srcRect l="-2083" r="-2083"/>
          <a:stretch/>
        </p:blipFill>
        <p:spPr>
          <a:xfrm>
            <a:off x="1257300" y="3715207"/>
            <a:ext cx="7438644" cy="9144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9286646" y="2704795"/>
            <a:ext cx="8048549" cy="419069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9286646" y="2704795"/>
            <a:ext cx="8048549" cy="47549"/>
          </a:xfrm>
          <a:prstGeom prst="rect">
            <a:avLst/>
          </a:prstGeom>
          <a:solidFill>
            <a:srgbClr val="9A7620"/>
          </a:solidFill>
          <a:ln w="12700">
            <a:solidFill>
              <a:srgbClr val="9A7620">
                <a:alpha val="0"/>
              </a:srgbClr>
            </a:solidFill>
            <a:prstDash val="solid"/>
          </a:ln>
        </p:spPr>
      </p:sp>
      <p:pic>
        <p:nvPicPr>
          <p:cNvPr id="8" name="Image 2" descr="gen-dedup-c2dfa98337e9cb6ce99e9e949a17a885.png"/>
          <p:cNvPicPr>
            <a:picLocks noChangeAspect="1"/>
          </p:cNvPicPr>
          <p:nvPr/>
        </p:nvPicPr>
        <p:blipFill>
          <a:blip r:embed="rId3"/>
          <a:srcRect l="-2083" r="-2083"/>
          <a:stretch/>
        </p:blipFill>
        <p:spPr>
          <a:xfrm>
            <a:off x="9592056" y="3715207"/>
            <a:ext cx="7438644" cy="9144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952805" y="7534657"/>
            <a:ext cx="16383305" cy="199064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952805" y="342900"/>
            <a:ext cx="3199486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15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9048902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입법 경과</a:t>
            </a:r>
            <a:endParaRPr lang="en-US" sz="1500" dirty="0"/>
          </a:p>
        </p:txBody>
      </p:sp>
      <p:sp>
        <p:nvSpPr>
          <p:cNvPr id="13" name="Text 8"/>
          <p:cNvSpPr txBox="1"/>
          <p:nvPr/>
        </p:nvSpPr>
        <p:spPr>
          <a:xfrm>
            <a:off x="10877702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규정 체계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12687300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총칙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14477695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금지 관행</a:t>
            </a:r>
            <a:endParaRPr lang="en-US" sz="1500" dirty="0"/>
          </a:p>
        </p:txBody>
      </p:sp>
      <p:sp>
        <p:nvSpPr>
          <p:cNvPr id="16" name="Text 11"/>
          <p:cNvSpPr txBox="1"/>
          <p:nvPr/>
        </p:nvSpPr>
        <p:spPr>
          <a:xfrm>
            <a:off x="16306495" y="304495"/>
            <a:ext cx="1772107" cy="381305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고위험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952805" y="1104595"/>
            <a:ext cx="16383305" cy="8860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5000" b="1" kern="0" spc="-112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(5-6) 제7조 목록 개정 권한</a:t>
            </a:r>
            <a:endParaRPr lang="en-US" sz="5000" dirty="0"/>
          </a:p>
        </p:txBody>
      </p:sp>
      <p:sp>
        <p:nvSpPr>
          <p:cNvPr id="18" name="Text 13"/>
          <p:cNvSpPr txBox="1"/>
          <p:nvPr/>
        </p:nvSpPr>
        <p:spPr>
          <a:xfrm>
            <a:off x="952805" y="2000707"/>
            <a:ext cx="16383305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집행위원회가 위임입법으로 부속서 III을 추가하거나 수정</a:t>
            </a:r>
            <a:endParaRPr lang="en-US" sz="1800" dirty="0"/>
          </a:p>
        </p:txBody>
      </p:sp>
      <p:sp>
        <p:nvSpPr>
          <p:cNvPr id="19" name="Text 14"/>
          <p:cNvSpPr txBox="1"/>
          <p:nvPr/>
        </p:nvSpPr>
        <p:spPr>
          <a:xfrm>
            <a:off x="1257300" y="2991002"/>
            <a:ext cx="7439558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 kern="0" spc="-37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 요건 2가지</a:t>
            </a:r>
            <a:endParaRPr lang="en-US" sz="2500" dirty="0"/>
          </a:p>
        </p:txBody>
      </p:sp>
      <p:sp>
        <p:nvSpPr>
          <p:cNvPr id="20" name="Text 15"/>
          <p:cNvSpPr txBox="1"/>
          <p:nvPr/>
        </p:nvSpPr>
        <p:spPr>
          <a:xfrm>
            <a:off x="1257300" y="3981298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8개 영역 중 하나에 속하는 용도일 것</a:t>
            </a:r>
            <a:endParaRPr lang="en-US" sz="1800" dirty="0"/>
          </a:p>
        </p:txBody>
      </p:sp>
      <p:sp>
        <p:nvSpPr>
          <p:cNvPr id="21" name="Text 16"/>
          <p:cNvSpPr txBox="1"/>
          <p:nvPr/>
        </p:nvSpPr>
        <p:spPr>
          <a:xfrm>
            <a:off x="1257300" y="4480560"/>
            <a:ext cx="7439558" cy="7342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88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건강, 안전, 기본권에 미치는 해악 위험이 기존 목록 항목과 동등하거나 그 이상일 것</a:t>
            </a:r>
            <a:endParaRPr lang="en-US" sz="1800" dirty="0"/>
          </a:p>
        </p:txBody>
      </p:sp>
      <p:sp>
        <p:nvSpPr>
          <p:cNvPr id="22" name="Text 17"/>
          <p:cNvSpPr txBox="1"/>
          <p:nvPr/>
        </p:nvSpPr>
        <p:spPr>
          <a:xfrm>
            <a:off x="1257300" y="5345582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영역을 창설하는 것은 불가, 영역 내 용도 추가만 가능</a:t>
            </a:r>
            <a:endParaRPr lang="en-US" sz="1800" dirty="0"/>
          </a:p>
        </p:txBody>
      </p:sp>
      <p:sp>
        <p:nvSpPr>
          <p:cNvPr id="23" name="Text 18"/>
          <p:cNvSpPr txBox="1"/>
          <p:nvPr/>
        </p:nvSpPr>
        <p:spPr>
          <a:xfrm>
            <a:off x="9592056" y="2991002"/>
            <a:ext cx="7439558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 kern="0" spc="-37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 시 고려 사항</a:t>
            </a:r>
            <a:endParaRPr lang="en-US" sz="2500" dirty="0"/>
          </a:p>
        </p:txBody>
      </p:sp>
      <p:sp>
        <p:nvSpPr>
          <p:cNvPr id="24" name="Text 19"/>
          <p:cNvSpPr txBox="1"/>
          <p:nvPr/>
        </p:nvSpPr>
        <p:spPr>
          <a:xfrm>
            <a:off x="9592056" y="3981298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의도된 목적과 사용 범위, 처리 데이터의 성질</a:t>
            </a:r>
            <a:endParaRPr lang="en-US" sz="1800" dirty="0"/>
          </a:p>
        </p:txBody>
      </p:sp>
      <p:sp>
        <p:nvSpPr>
          <p:cNvPr id="25" name="Text 20"/>
          <p:cNvSpPr txBox="1"/>
          <p:nvPr/>
        </p:nvSpPr>
        <p:spPr>
          <a:xfrm>
            <a:off x="9592056" y="4461358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해악의 강도와 영향받는 사람의 수</a:t>
            </a:r>
            <a:endParaRPr lang="en-US" sz="1800" dirty="0"/>
          </a:p>
        </p:txBody>
      </p:sp>
      <p:sp>
        <p:nvSpPr>
          <p:cNvPr id="26" name="Text 21"/>
          <p:cNvSpPr txBox="1"/>
          <p:nvPr/>
        </p:nvSpPr>
        <p:spPr>
          <a:xfrm>
            <a:off x="9592056" y="4941418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결과를 되돌릴 수 있는지 여부</a:t>
            </a:r>
            <a:endParaRPr lang="en-US" sz="1800" dirty="0"/>
          </a:p>
        </p:txBody>
      </p:sp>
      <p:sp>
        <p:nvSpPr>
          <p:cNvPr id="27" name="Text 22"/>
          <p:cNvSpPr txBox="1"/>
          <p:nvPr/>
        </p:nvSpPr>
        <p:spPr>
          <a:xfrm>
            <a:off x="9592056" y="5421478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다른 법령으로 해악이 이미 다루어지는지</a:t>
            </a:r>
            <a:endParaRPr lang="en-US" sz="1800" dirty="0"/>
          </a:p>
        </p:txBody>
      </p:sp>
      <p:sp>
        <p:nvSpPr>
          <p:cNvPr id="28" name="Text 23"/>
          <p:cNvSpPr txBox="1"/>
          <p:nvPr/>
        </p:nvSpPr>
        <p:spPr>
          <a:xfrm>
            <a:off x="1333195" y="7726284"/>
            <a:ext cx="15621610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제7조는 삭제 권한도 부여, 위험이 낮아진 용도는 목록에서 뺄 수 있음</a:t>
            </a:r>
            <a:endParaRPr lang="en-US" sz="1800" dirty="0"/>
          </a:p>
        </p:txBody>
      </p:sp>
      <p:sp>
        <p:nvSpPr>
          <p:cNvPr id="29" name="Text 24"/>
          <p:cNvSpPr txBox="1"/>
          <p:nvPr/>
        </p:nvSpPr>
        <p:spPr>
          <a:xfrm>
            <a:off x="1333195" y="8167940"/>
            <a:ext cx="15621610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위임입법은 의회와 이사회의 반대권 유보 아래 진행, 이의가 없으면 발효</a:t>
            </a:r>
            <a:endParaRPr lang="en-US" sz="1800" dirty="0"/>
          </a:p>
        </p:txBody>
      </p:sp>
      <p:sp>
        <p:nvSpPr>
          <p:cNvPr id="30" name="Text 25"/>
          <p:cNvSpPr txBox="1"/>
          <p:nvPr/>
        </p:nvSpPr>
        <p:spPr>
          <a:xfrm>
            <a:off x="1333195" y="8610509"/>
            <a:ext cx="15621610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되돌릴 수 없는 해악을 고려 요소로 둔 점이 제2강에서 다룬 사전예방 원칙과 연결</a:t>
            </a:r>
            <a:endParaRPr lang="en-US" sz="1800" dirty="0"/>
          </a:p>
        </p:txBody>
      </p:sp>
      <p:sp>
        <p:nvSpPr>
          <p:cNvPr id="31" name="Text 26"/>
          <p:cNvSpPr txBox="1"/>
          <p:nvPr/>
        </p:nvSpPr>
        <p:spPr>
          <a:xfrm>
            <a:off x="1333195" y="9021686"/>
            <a:ext cx="15621610" cy="3246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규율 범위를 행정부가 바꿀 수 있는 구조, 민주적 정당성과 대응 속도 중 무엇을 택한 것인가?</a:t>
            </a:r>
            <a:endParaRPr lang="en-US" sz="1800" dirty="0"/>
          </a:p>
        </p:txBody>
      </p:sp>
      <p:sp>
        <p:nvSpPr>
          <p:cNvPr id="32" name="Text 27"/>
          <p:cNvSpPr txBox="1"/>
          <p:nvPr/>
        </p:nvSpPr>
        <p:spPr>
          <a:xfrm>
            <a:off x="15430500" y="9791395"/>
            <a:ext cx="19056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48/51</a:t>
            </a:r>
            <a:endParaRPr lang="en-US" sz="18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e22c746fd81622b5deae707eff18ae09.png"/>
          <p:cNvPicPr>
            <a:picLocks noChangeAspect="1"/>
          </p:cNvPicPr>
          <p:nvPr/>
        </p:nvPicPr>
        <p:blipFill>
          <a:blip r:embed="rId2"/>
          <a:srcRect l="-80" r="-80"/>
          <a:stretch/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52805" y="7447788"/>
            <a:ext cx="16383305" cy="2077517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952805" y="342900"/>
            <a:ext cx="3199486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15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9048902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입법 경과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0877702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규정 체계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2687300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총칙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4477695" y="304495"/>
            <a:ext cx="1772107" cy="381305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85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· 금지 관행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6306495" y="304495"/>
            <a:ext cx="1772107" cy="381305"/>
          </a:xfrm>
          <a:prstGeom prst="rect">
            <a:avLst/>
          </a:prstGeom>
          <a:solidFill>
            <a:srgbClr val="036B3F"/>
          </a:solidFill>
          <a:ln w="12700">
            <a:solidFill>
              <a:srgbClr val="024A2C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· 고위험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952805" y="1104595"/>
            <a:ext cx="16383305" cy="8860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5000" b="1" kern="0" spc="-112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(5-7) 고위험과 고영향, 개념 대조</a:t>
            </a:r>
            <a:endParaRPr lang="en-US" sz="5000" dirty="0"/>
          </a:p>
        </p:txBody>
      </p:sp>
      <p:sp>
        <p:nvSpPr>
          <p:cNvPr id="12" name="Text 9"/>
          <p:cNvSpPr txBox="1"/>
          <p:nvPr/>
        </p:nvSpPr>
        <p:spPr>
          <a:xfrm>
            <a:off x="952805" y="2000707"/>
            <a:ext cx="16383305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국내 인공지능기본법 제2조 4호 고영향 인공지능과 비교</a:t>
            </a:r>
            <a:endParaRPr lang="en-US" sz="18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52805" y="2704795"/>
          <a:ext cx="16372332" cy="3838653"/>
        </p:xfrm>
        <a:graphic>
          <a:graphicData uri="http://schemas.openxmlformats.org/drawingml/2006/table">
            <a:tbl>
              <a:tblPr/>
              <a:tblGrid>
                <a:gridCol w="238109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336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33369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32384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4837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축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EU 고위험(high-risk)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국내 고영향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쟁점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37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 개념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위험, 확률과 심각성의 조합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영향, 별도 정의 없음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분해 가능성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24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37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판별 방식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부속서 목록 2경로, 제외 요건 있음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법률에 영역 열거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유연성과 예측 가능성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37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사전 확인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적합성 평가 의무, CE 표시와 등록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사전 검토 권고(제33조)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의무 대 권고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37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영향평가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기본권 영향평가 의무(제27조)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노력 의무(제35조)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강제력의 유무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37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목록 개정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위임입법으로 집행위원회가 변경(제7조)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법률 개정 또는 대통령령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대응 속도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837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위반 제재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1,500만 유로 또는 매출 3퍼센트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과태료 3,000만 원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A1A1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억지력</a:t>
                      </a:r>
                      <a:endParaRPr lang="en-US" sz="1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52705" marR="152705" marT="114300" marB="114300" anchor="ctr">
                    <a:lnL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4" name="Text 10"/>
          <p:cNvSpPr txBox="1"/>
          <p:nvPr/>
        </p:nvSpPr>
        <p:spPr>
          <a:xfrm>
            <a:off x="1333195" y="7732417"/>
            <a:ext cx="1562161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국내법은 위험이 아니라 영향 개념을 택해 규제 수위를 낮추고 산업 진흥을 병행</a:t>
            </a:r>
            <a:endParaRPr lang="en-US" sz="1800" dirty="0"/>
          </a:p>
        </p:txBody>
      </p:sp>
      <p:sp>
        <p:nvSpPr>
          <p:cNvPr id="15" name="Text 11"/>
          <p:cNvSpPr txBox="1"/>
          <p:nvPr/>
        </p:nvSpPr>
        <p:spPr>
          <a:xfrm>
            <a:off x="1333195" y="8132010"/>
            <a:ext cx="1562161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영향평가와 자율적 책임 강화에 무게, 사전 통제 수단은 상대적으로 약함</a:t>
            </a:r>
            <a:endParaRPr lang="en-US" sz="1800" dirty="0"/>
          </a:p>
        </p:txBody>
      </p:sp>
      <p:sp>
        <p:nvSpPr>
          <p:cNvPr id="16" name="Text 12"/>
          <p:cNvSpPr txBox="1"/>
          <p:nvPr/>
        </p:nvSpPr>
        <p:spPr>
          <a:xfrm>
            <a:off x="1333195" y="8532517"/>
            <a:ext cx="1562161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기본권 침해에 대한 예방적 대응과 사후 구제가 미흡하다는 학계 지적, 백수원(2025)</a:t>
            </a:r>
            <a:endParaRPr lang="en-US" sz="1800" dirty="0"/>
          </a:p>
        </p:txBody>
      </p:sp>
      <p:sp>
        <p:nvSpPr>
          <p:cNvPr id="18" name="Text 14"/>
          <p:cNvSpPr txBox="1"/>
          <p:nvPr/>
        </p:nvSpPr>
        <p:spPr>
          <a:xfrm>
            <a:off x="1333195" y="8945941"/>
            <a:ext cx="1562161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영향 개념의 모호성을 헌법과 기본권 관점에서 심화하는 방향, 어느 축을 고를 것인가?</a:t>
            </a:r>
            <a:endParaRPr lang="en-US" sz="1800" dirty="0"/>
          </a:p>
        </p:txBody>
      </p:sp>
      <p:sp>
        <p:nvSpPr>
          <p:cNvPr id="19" name="Text 15"/>
          <p:cNvSpPr txBox="1"/>
          <p:nvPr/>
        </p:nvSpPr>
        <p:spPr>
          <a:xfrm>
            <a:off x="15430500" y="9791395"/>
            <a:ext cx="19056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49/51</a:t>
            </a:r>
            <a:endParaRPr lang="en-US" sz="18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e22c746fd81622b5deae707eff18ae09.png"/>
          <p:cNvPicPr>
            <a:picLocks noChangeAspect="1"/>
          </p:cNvPicPr>
          <p:nvPr/>
        </p:nvPicPr>
        <p:blipFill>
          <a:blip r:embed="rId2"/>
          <a:srcRect l="-80" r="-80"/>
          <a:stretch/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52805" y="2704795"/>
            <a:ext cx="16383305" cy="857707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52805" y="2704795"/>
            <a:ext cx="16383305" cy="47549"/>
          </a:xfrm>
          <a:prstGeom prst="rect">
            <a:avLst/>
          </a:prstGeom>
          <a:solidFill>
            <a:srgbClr val="036B3F"/>
          </a:solidFill>
          <a:ln w="12700">
            <a:solidFill>
              <a:srgbClr val="036B3F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952805" y="3638398"/>
            <a:ext cx="16383305" cy="857707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2805" y="3638398"/>
            <a:ext cx="16383305" cy="47549"/>
          </a:xfrm>
          <a:prstGeom prst="rect">
            <a:avLst/>
          </a:prstGeom>
          <a:solidFill>
            <a:srgbClr val="9A7620"/>
          </a:solidFill>
          <a:ln w="12700">
            <a:solidFill>
              <a:srgbClr val="9A7620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52805" y="4572000"/>
            <a:ext cx="16383305" cy="857707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52805" y="4572000"/>
            <a:ext cx="16383305" cy="47549"/>
          </a:xfrm>
          <a:prstGeom prst="rect">
            <a:avLst/>
          </a:prstGeom>
          <a:solidFill>
            <a:srgbClr val="6B6B6B"/>
          </a:solidFill>
          <a:ln w="12700">
            <a:solidFill>
              <a:srgbClr val="6B6B6B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52805" y="5505602"/>
            <a:ext cx="16383305" cy="857707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952805" y="5505602"/>
            <a:ext cx="16383305" cy="47549"/>
          </a:xfrm>
          <a:prstGeom prst="rect">
            <a:avLst/>
          </a:prstGeom>
          <a:solidFill>
            <a:srgbClr val="A82A24"/>
          </a:solidFill>
          <a:ln w="12700">
            <a:solidFill>
              <a:srgbClr val="A82A24">
                <a:alpha val="0"/>
              </a:srgbClr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52805" y="6439205"/>
            <a:ext cx="16383305" cy="857707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952805" y="6439205"/>
            <a:ext cx="16383305" cy="47549"/>
          </a:xfrm>
          <a:prstGeom prst="rect">
            <a:avLst/>
          </a:prstGeom>
          <a:solidFill>
            <a:srgbClr val="036B3F"/>
          </a:solidFill>
          <a:ln w="12700">
            <a:solidFill>
              <a:srgbClr val="036B3F">
                <a:alpha val="0"/>
              </a:srgbClr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952805" y="7895844"/>
            <a:ext cx="16383305" cy="1629460"/>
          </a:xfrm>
          <a:prstGeom prst="rect">
            <a:avLst/>
          </a:prstGeom>
          <a:solidFill>
            <a:srgbClr val="FCE8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52805" y="342900"/>
            <a:ext cx="3199486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15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952805" y="1104595"/>
            <a:ext cx="16383305" cy="8860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5000" b="1" kern="0" spc="-112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3강 정리</a:t>
            </a:r>
            <a:endParaRPr lang="en-US" sz="5000" dirty="0"/>
          </a:p>
        </p:txBody>
      </p:sp>
      <p:sp>
        <p:nvSpPr>
          <p:cNvPr id="17" name="Shape 14"/>
          <p:cNvSpPr/>
          <p:nvPr/>
        </p:nvSpPr>
        <p:spPr>
          <a:xfrm>
            <a:off x="1295705" y="2971800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1295705" y="2971800"/>
            <a:ext cx="324612" cy="3246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867205" y="2857500"/>
            <a:ext cx="3810305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입법 경과</a:t>
            </a:r>
            <a:endParaRPr lang="en-US" sz="2000" dirty="0"/>
          </a:p>
        </p:txBody>
      </p:sp>
      <p:sp>
        <p:nvSpPr>
          <p:cNvPr id="20" name="Text 17"/>
          <p:cNvSpPr txBox="1"/>
          <p:nvPr/>
        </p:nvSpPr>
        <p:spPr>
          <a:xfrm>
            <a:off x="5905195" y="2876702"/>
            <a:ext cx="11106302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3년 4개월 걸려 발효, 옴니버스 개정으로 고위험은 2027.12.2와 2028.8.2로 연기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1295705" y="3905402"/>
            <a:ext cx="323698" cy="323698"/>
          </a:xfrm>
          <a:prstGeom prst="ellipse">
            <a:avLst/>
          </a:prstGeom>
          <a:solidFill>
            <a:srgbClr val="9A76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295705" y="3905402"/>
            <a:ext cx="324612" cy="3246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1867205" y="3791102"/>
            <a:ext cx="3810305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규정 체계</a:t>
            </a:r>
            <a:endParaRPr lang="en-US" sz="2000" dirty="0"/>
          </a:p>
        </p:txBody>
      </p:sp>
      <p:sp>
        <p:nvSpPr>
          <p:cNvPr id="24" name="Text 21"/>
          <p:cNvSpPr txBox="1"/>
          <p:nvPr/>
        </p:nvSpPr>
        <p:spPr>
          <a:xfrm>
            <a:off x="5905195" y="3810305"/>
            <a:ext cx="11106302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13개 장 113개 조문, 위험 등급 순 배치, 고위험 제3장이 44개 조문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1295705" y="4839005"/>
            <a:ext cx="323698" cy="323698"/>
          </a:xfrm>
          <a:prstGeom prst="ellipse">
            <a:avLst/>
          </a:prstGeom>
          <a:solidFill>
            <a:srgbClr val="6B6B6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1295705" y="4839005"/>
            <a:ext cx="324612" cy="3246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1867205" y="4724705"/>
            <a:ext cx="3810305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총칙</a:t>
            </a:r>
            <a:endParaRPr lang="en-US" sz="2000" dirty="0"/>
          </a:p>
        </p:txBody>
      </p:sp>
      <p:sp>
        <p:nvSpPr>
          <p:cNvPr id="28" name="Text 25"/>
          <p:cNvSpPr txBox="1"/>
          <p:nvPr/>
        </p:nvSpPr>
        <p:spPr>
          <a:xfrm>
            <a:off x="5905195" y="4743907"/>
            <a:ext cx="11106302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추론이 AI 시스템 판단의 핵심, 산출물이 EU에 쓰이면 역외에도 적용</a:t>
            </a:r>
            <a:endParaRPr lang="en-US" sz="1800" dirty="0"/>
          </a:p>
        </p:txBody>
      </p:sp>
      <p:sp>
        <p:nvSpPr>
          <p:cNvPr id="29" name="Shape 26"/>
          <p:cNvSpPr/>
          <p:nvPr/>
        </p:nvSpPr>
        <p:spPr>
          <a:xfrm>
            <a:off x="1295705" y="5772607"/>
            <a:ext cx="323698" cy="323698"/>
          </a:xfrm>
          <a:prstGeom prst="ellipse">
            <a:avLst/>
          </a:prstGeom>
          <a:solidFill>
            <a:srgbClr val="A82A2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1295705" y="5772607"/>
            <a:ext cx="324612" cy="3246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500" dirty="0"/>
          </a:p>
        </p:txBody>
      </p:sp>
      <p:sp>
        <p:nvSpPr>
          <p:cNvPr id="31" name="Text 28"/>
          <p:cNvSpPr txBox="1"/>
          <p:nvPr/>
        </p:nvSpPr>
        <p:spPr>
          <a:xfrm>
            <a:off x="1867205" y="5658307"/>
            <a:ext cx="3810305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금지 관행</a:t>
            </a:r>
            <a:endParaRPr lang="en-US" sz="2000" dirty="0"/>
          </a:p>
        </p:txBody>
      </p:sp>
      <p:sp>
        <p:nvSpPr>
          <p:cNvPr id="32" name="Text 29"/>
          <p:cNvSpPr txBox="1"/>
          <p:nvPr/>
        </p:nvSpPr>
        <p:spPr>
          <a:xfrm>
            <a:off x="5905195" y="5676595"/>
            <a:ext cx="11106302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10유형, 요건이 겹쳐 실질 범위는 좁음, 위반 시 매출 7퍼센트</a:t>
            </a:r>
            <a:endParaRPr lang="en-US" sz="1800" dirty="0"/>
          </a:p>
        </p:txBody>
      </p:sp>
      <p:sp>
        <p:nvSpPr>
          <p:cNvPr id="33" name="Shape 30"/>
          <p:cNvSpPr/>
          <p:nvPr/>
        </p:nvSpPr>
        <p:spPr>
          <a:xfrm>
            <a:off x="1295705" y="6705295"/>
            <a:ext cx="323698" cy="323698"/>
          </a:xfrm>
          <a:prstGeom prst="ellipse">
            <a:avLst/>
          </a:prstGeom>
          <a:solidFill>
            <a:srgbClr val="03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1295705" y="6705295"/>
            <a:ext cx="324612" cy="3246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500" dirty="0"/>
          </a:p>
        </p:txBody>
      </p:sp>
      <p:sp>
        <p:nvSpPr>
          <p:cNvPr id="35" name="Text 32"/>
          <p:cNvSpPr txBox="1"/>
          <p:nvPr/>
        </p:nvSpPr>
        <p:spPr>
          <a:xfrm>
            <a:off x="1867205" y="6590995"/>
            <a:ext cx="3810305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고위험</a:t>
            </a:r>
            <a:endParaRPr lang="en-US" sz="2000" dirty="0"/>
          </a:p>
        </p:txBody>
      </p:sp>
      <p:sp>
        <p:nvSpPr>
          <p:cNvPr id="36" name="Text 33"/>
          <p:cNvSpPr txBox="1"/>
          <p:nvPr/>
        </p:nvSpPr>
        <p:spPr>
          <a:xfrm>
            <a:off x="5905195" y="6610198"/>
            <a:ext cx="11106302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부속서 I 제품 안전과 부속서 III 8개 영역, 제6조 3항 제외 요건</a:t>
            </a:r>
            <a:endParaRPr lang="en-US" sz="1800" dirty="0"/>
          </a:p>
        </p:txBody>
      </p:sp>
      <p:sp>
        <p:nvSpPr>
          <p:cNvPr id="37" name="Text 34"/>
          <p:cNvSpPr txBox="1"/>
          <p:nvPr/>
        </p:nvSpPr>
        <p:spPr>
          <a:xfrm>
            <a:off x="1333195" y="8122106"/>
            <a:ext cx="15621610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고위험으로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판별된 시스템이 실제로 무엇을 </a:t>
            </a: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해야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800" dirty="0" err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하는가</a:t>
            </a: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?</a:t>
            </a:r>
            <a:endParaRPr lang="en-US" sz="1800" dirty="0"/>
          </a:p>
        </p:txBody>
      </p:sp>
      <p:sp>
        <p:nvSpPr>
          <p:cNvPr id="38" name="Text 35"/>
          <p:cNvSpPr txBox="1"/>
          <p:nvPr/>
        </p:nvSpPr>
        <p:spPr>
          <a:xfrm>
            <a:off x="1333195" y="8533586"/>
            <a:ext cx="15621610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7대 요건(제8~15조), 주체별 의무, 적합성 평가, 투명성, 범용 AI, 거버넌스와 제재</a:t>
            </a:r>
            <a:endParaRPr lang="en-US" sz="1800" dirty="0"/>
          </a:p>
        </p:txBody>
      </p:sp>
      <p:sp>
        <p:nvSpPr>
          <p:cNvPr id="39" name="Text 36"/>
          <p:cNvSpPr txBox="1"/>
          <p:nvPr/>
        </p:nvSpPr>
        <p:spPr>
          <a:xfrm>
            <a:off x="1333195" y="8892872"/>
            <a:ext cx="15621610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조문 비교, 시행 효과 측정, 개념 분석 중 어느 방법을 쓸지가 12주차 연구방법론과 이어짐</a:t>
            </a:r>
            <a:endParaRPr lang="en-US" sz="1800" dirty="0"/>
          </a:p>
        </p:txBody>
      </p:sp>
      <p:sp>
        <p:nvSpPr>
          <p:cNvPr id="40" name="Text 37"/>
          <p:cNvSpPr txBox="1"/>
          <p:nvPr/>
        </p:nvSpPr>
        <p:spPr>
          <a:xfrm>
            <a:off x="15430500" y="9791395"/>
            <a:ext cx="19056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50/51</a:t>
            </a:r>
            <a:endParaRPr lang="en-US" sz="18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e22c746fd81622b5deae707eff18ae09.png"/>
          <p:cNvPicPr>
            <a:picLocks noChangeAspect="1"/>
          </p:cNvPicPr>
          <p:nvPr/>
        </p:nvPicPr>
        <p:blipFill>
          <a:blip r:embed="rId2"/>
          <a:srcRect l="-80" r="-80"/>
          <a:stretch/>
        </p:blipFill>
        <p:spPr>
          <a:xfrm>
            <a:off x="0" y="0"/>
            <a:ext cx="18288000" cy="9509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52805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52805" y="2704795"/>
            <a:ext cx="8048549" cy="47549"/>
          </a:xfrm>
          <a:prstGeom prst="rect">
            <a:avLst/>
          </a:prstGeom>
          <a:solidFill>
            <a:srgbClr val="036B3F"/>
          </a:solidFill>
          <a:ln w="12700">
            <a:solidFill>
              <a:srgbClr val="036B3F">
                <a:alpha val="0"/>
              </a:srgbClr>
            </a:solidFill>
            <a:prstDash val="solid"/>
          </a:ln>
        </p:spPr>
      </p:sp>
      <p:pic>
        <p:nvPicPr>
          <p:cNvPr id="5" name="Image 1" descr="gen-dedup-c2dfa98337e9cb6ce99e9e949a17a885.png"/>
          <p:cNvPicPr>
            <a:picLocks noChangeAspect="1"/>
          </p:cNvPicPr>
          <p:nvPr/>
        </p:nvPicPr>
        <p:blipFill>
          <a:blip r:embed="rId3"/>
          <a:srcRect l="-2083" r="-2083"/>
          <a:stretch/>
        </p:blipFill>
        <p:spPr>
          <a:xfrm>
            <a:off x="1257300" y="3715207"/>
            <a:ext cx="7438644" cy="9144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9286646" y="2704795"/>
            <a:ext cx="8048549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3C7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9286646" y="2704795"/>
            <a:ext cx="8048549" cy="47549"/>
          </a:xfrm>
          <a:prstGeom prst="rect">
            <a:avLst/>
          </a:prstGeom>
          <a:solidFill>
            <a:srgbClr val="9A7620"/>
          </a:solidFill>
          <a:ln w="12700">
            <a:solidFill>
              <a:srgbClr val="9A7620">
                <a:alpha val="0"/>
              </a:srgbClr>
            </a:solidFill>
            <a:prstDash val="solid"/>
          </a:ln>
        </p:spPr>
      </p:sp>
      <p:pic>
        <p:nvPicPr>
          <p:cNvPr id="8" name="Image 2" descr="gen-dedup-c2dfa98337e9cb6ce99e9e949a17a885.png"/>
          <p:cNvPicPr>
            <a:picLocks noChangeAspect="1"/>
          </p:cNvPicPr>
          <p:nvPr/>
        </p:nvPicPr>
        <p:blipFill>
          <a:blip r:embed="rId3"/>
          <a:srcRect l="-2083" r="-2083"/>
          <a:stretch/>
        </p:blipFill>
        <p:spPr>
          <a:xfrm>
            <a:off x="9592056" y="3715207"/>
            <a:ext cx="7438644" cy="9144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952805" y="342900"/>
            <a:ext cx="3199486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kern="0" spc="15" dirty="0">
                <a:solidFill>
                  <a:srgbClr val="036B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건국대학교 공학대학원 · AI전공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952805" y="1104595"/>
            <a:ext cx="16383305" cy="8860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5000" b="1" kern="0" spc="-112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HTML 참고자료 안내</a:t>
            </a:r>
            <a:endParaRPr lang="en-US" sz="5000" dirty="0"/>
          </a:p>
        </p:txBody>
      </p:sp>
      <p:sp>
        <p:nvSpPr>
          <p:cNvPr id="13" name="Text 8"/>
          <p:cNvSpPr txBox="1"/>
          <p:nvPr/>
        </p:nvSpPr>
        <p:spPr>
          <a:xfrm>
            <a:off x="952805" y="2000707"/>
            <a:ext cx="16383305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작성용 참고자료</a:t>
            </a:r>
            <a:endParaRPr lang="en-US" sz="1800" dirty="0"/>
          </a:p>
        </p:txBody>
      </p:sp>
      <p:sp>
        <p:nvSpPr>
          <p:cNvPr id="14" name="Text 9"/>
          <p:cNvSpPr txBox="1"/>
          <p:nvPr/>
        </p:nvSpPr>
        <p:spPr>
          <a:xfrm>
            <a:off x="1257300" y="2991002"/>
            <a:ext cx="7439558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 kern="0" spc="-37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수록 내용</a:t>
            </a:r>
            <a:endParaRPr lang="en-US" sz="2500" dirty="0"/>
          </a:p>
        </p:txBody>
      </p:sp>
      <p:sp>
        <p:nvSpPr>
          <p:cNvPr id="15" name="Text 10"/>
          <p:cNvSpPr txBox="1"/>
          <p:nvPr/>
        </p:nvSpPr>
        <p:spPr>
          <a:xfrm>
            <a:off x="1257300" y="3981298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시행 일정 전체 연표, 옴니버스 개정 전후 대조</a:t>
            </a:r>
            <a:endParaRPr lang="en-US" sz="1800" dirty="0"/>
          </a:p>
        </p:txBody>
      </p:sp>
      <p:sp>
        <p:nvSpPr>
          <p:cNvPr id="16" name="Text 11"/>
          <p:cNvSpPr txBox="1"/>
          <p:nvPr/>
        </p:nvSpPr>
        <p:spPr>
          <a:xfrm>
            <a:off x="1257300" y="4480560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13개 장 조문 구조 확정표, 초안과 최종본 번호 대조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1257300" y="4979822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금지 10유형 조문별 상세와 예외</a:t>
            </a:r>
            <a:endParaRPr lang="en-US" sz="1800" dirty="0"/>
          </a:p>
        </p:txBody>
      </p:sp>
      <p:sp>
        <p:nvSpPr>
          <p:cNvPr id="18" name="Text 13"/>
          <p:cNvSpPr txBox="1"/>
          <p:nvPr/>
        </p:nvSpPr>
        <p:spPr>
          <a:xfrm>
            <a:off x="1257300" y="5479085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부속서 III 8개 영역 세부 용도 목록</a:t>
            </a:r>
            <a:endParaRPr lang="en-US" sz="1800" dirty="0"/>
          </a:p>
        </p:txBody>
      </p:sp>
      <p:sp>
        <p:nvSpPr>
          <p:cNvPr id="19" name="Text 14"/>
          <p:cNvSpPr txBox="1"/>
          <p:nvPr/>
        </p:nvSpPr>
        <p:spPr>
          <a:xfrm>
            <a:off x="1257300" y="5978347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한국 인공지능기본법 조항 매핑표</a:t>
            </a:r>
            <a:endParaRPr lang="en-US" sz="1800" dirty="0"/>
          </a:p>
        </p:txBody>
      </p:sp>
      <p:sp>
        <p:nvSpPr>
          <p:cNvPr id="20" name="Text 15"/>
          <p:cNvSpPr txBox="1"/>
          <p:nvPr/>
        </p:nvSpPr>
        <p:spPr>
          <a:xfrm>
            <a:off x="9592056" y="2991002"/>
            <a:ext cx="7439558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00" b="1" kern="0" spc="-37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선행연구 정리</a:t>
            </a:r>
            <a:endParaRPr lang="en-US" sz="2500" dirty="0"/>
          </a:p>
        </p:txBody>
      </p:sp>
      <p:sp>
        <p:nvSpPr>
          <p:cNvPr id="21" name="Text 16"/>
          <p:cNvSpPr txBox="1"/>
          <p:nvPr/>
        </p:nvSpPr>
        <p:spPr>
          <a:xfrm>
            <a:off x="9592056" y="3981298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14편, 각각 6항목으로 정리</a:t>
            </a:r>
            <a:endParaRPr lang="en-US" sz="1800" dirty="0"/>
          </a:p>
        </p:txBody>
      </p:sp>
      <p:sp>
        <p:nvSpPr>
          <p:cNvPr id="22" name="Text 17"/>
          <p:cNvSpPr txBox="1"/>
          <p:nvPr/>
        </p:nvSpPr>
        <p:spPr>
          <a:xfrm>
            <a:off x="9592056" y="4480560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연구배경, 연구이론, 연구방법론, 데이터, 연구결과, 특장점</a:t>
            </a:r>
            <a:endParaRPr lang="en-US" sz="1800" dirty="0"/>
          </a:p>
        </p:txBody>
      </p:sp>
      <p:sp>
        <p:nvSpPr>
          <p:cNvPr id="23" name="Text 18"/>
          <p:cNvSpPr txBox="1"/>
          <p:nvPr/>
        </p:nvSpPr>
        <p:spPr>
          <a:xfrm>
            <a:off x="9592056" y="4979822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방법론 축이 다양, 비교법과 실증분석과 기술감사</a:t>
            </a:r>
            <a:endParaRPr lang="en-US" sz="1800" dirty="0"/>
          </a:p>
        </p:txBody>
      </p:sp>
      <p:sp>
        <p:nvSpPr>
          <p:cNvPr id="24" name="Text 19"/>
          <p:cNvSpPr txBox="1"/>
          <p:nvPr/>
        </p:nvSpPr>
        <p:spPr>
          <a:xfrm>
            <a:off x="9592056" y="5479085"/>
            <a:ext cx="7439558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서지사항과 원문 링크 포함, 저자와 연도로 인용 가능</a:t>
            </a:r>
            <a:endParaRPr lang="en-US" sz="1800" dirty="0"/>
          </a:p>
        </p:txBody>
      </p:sp>
      <p:sp>
        <p:nvSpPr>
          <p:cNvPr id="28" name="Text 23"/>
          <p:cNvSpPr txBox="1"/>
          <p:nvPr/>
        </p:nvSpPr>
        <p:spPr>
          <a:xfrm>
            <a:off x="15430500" y="9791395"/>
            <a:ext cx="19056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C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51/51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725</TotalTime>
  <Words>8803</Words>
  <Application>Microsoft Office PowerPoint</Application>
  <PresentationFormat>사용자 지정</PresentationFormat>
  <Paragraphs>1629</Paragraphs>
  <Slides>51</Slides>
  <Notes>30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51</vt:i4>
      </vt:variant>
    </vt:vector>
  </HeadingPairs>
  <TitlesOfParts>
    <vt:vector size="56" baseType="lpstr">
      <vt:lpstr>맑은 고딕</vt:lpstr>
      <vt:lpstr>맑은 고딕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Generated by Gen-Spark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Multi-page HTML Content</dc:title>
  <dc:subject>PptxGenJS Presentation</dc:subject>
  <dc:creator>Visual Extract to PPTX Converter</dc:creator>
  <cp:lastModifiedBy>양희정</cp:lastModifiedBy>
  <cp:revision>21</cp:revision>
  <dcterms:created xsi:type="dcterms:W3CDTF">2026-09-15T22:44:58Z</dcterms:created>
  <dcterms:modified xsi:type="dcterms:W3CDTF">2026-09-17T04:12:12Z</dcterms:modified>
</cp:coreProperties>
</file>