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47194" autoAdjust="0"/>
  </p:normalViewPr>
  <p:slideViewPr>
    <p:cSldViewPr snapToGrid="0" snapToObjects="1">
      <p:cViewPr varScale="1">
        <p:scale>
          <a:sx n="26" d="100"/>
          <a:sy n="26" d="100"/>
        </p:scale>
        <p:origin x="233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155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pic>
        <p:nvPicPr>
          <p:cNvPr id="4" name="Image 1" descr="gen-dedup-391025eff3e51f655d85d5522f7b65c0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761695" y="7429500"/>
            <a:ext cx="1714500" cy="3840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4859000" y="7810805"/>
            <a:ext cx="2667305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6" name="Text 1"/>
          <p:cNvSpPr txBox="1"/>
          <p:nvPr/>
        </p:nvSpPr>
        <p:spPr>
          <a:xfrm>
            <a:off x="761695" y="533095"/>
            <a:ext cx="8572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kern="0" spc="75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KONKUK UNIVERSITY</a:t>
            </a:r>
            <a:endParaRPr lang="en-US" sz="2250" dirty="0"/>
          </a:p>
        </p:txBody>
      </p:sp>
      <p:sp>
        <p:nvSpPr>
          <p:cNvPr id="7" name="Text 2"/>
          <p:cNvSpPr txBox="1"/>
          <p:nvPr/>
        </p:nvSpPr>
        <p:spPr>
          <a:xfrm>
            <a:off x="761695" y="990295"/>
            <a:ext cx="8572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650" dirty="0"/>
          </a:p>
        </p:txBody>
      </p:sp>
      <p:sp>
        <p:nvSpPr>
          <p:cNvPr id="8" name="Shape 3"/>
          <p:cNvSpPr/>
          <p:nvPr/>
        </p:nvSpPr>
        <p:spPr>
          <a:xfrm>
            <a:off x="761695" y="2667305"/>
            <a:ext cx="1466698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61695" y="2667305"/>
            <a:ext cx="1467612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WEEK · 01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3238805"/>
            <a:ext cx="16764610" cy="1324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900" b="1" kern="0" spc="-22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거버넌스</a:t>
            </a:r>
            <a:endParaRPr lang="en-US" sz="99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4730191"/>
            <a:ext cx="1676461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kern="0" spc="-75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기반의 연구방법론</a:t>
            </a:r>
            <a:endParaRPr lang="en-US" sz="42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5476342"/>
            <a:ext cx="167646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i="1" dirty="0">
                <a:solidFill>
                  <a:srgbClr val="8A8A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Governance-Based Research Methodology</a:t>
            </a:r>
            <a:endParaRPr lang="en-US" sz="2700" dirty="0"/>
          </a:p>
        </p:txBody>
      </p:sp>
      <p:sp>
        <p:nvSpPr>
          <p:cNvPr id="13" name="Text 8"/>
          <p:cNvSpPr txBox="1"/>
          <p:nvPr/>
        </p:nvSpPr>
        <p:spPr>
          <a:xfrm>
            <a:off x="761695" y="7810805"/>
            <a:ext cx="114300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제1강 · 강의 소개 및 AI 거버넌스 개론</a:t>
            </a:r>
            <a:endParaRPr lang="en-US" sz="195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8196682"/>
            <a:ext cx="11430000" cy="1070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2026학년도 2학기 · 90분 · 담당교수 </a:t>
            </a:r>
            <a:r>
              <a:rPr lang="en-US" sz="165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양희정</a:t>
            </a:r>
            <a:endParaRPr lang="en-US" sz="1650" dirty="0"/>
          </a:p>
          <a:p>
            <a:pPr marL="0" indent="0" algn="l">
              <a:lnSpc>
                <a:spcPts val="2640"/>
              </a:lnSpc>
              <a:buNone/>
            </a:pPr>
            <a:r>
              <a:rPr lang="en-US" sz="15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https://github.com/YangGuiBee/AIG2</a:t>
            </a:r>
            <a:endParaRPr lang="en-US" sz="1650" dirty="0"/>
          </a:p>
          <a:p>
            <a:pPr marL="0" indent="0" algn="l">
              <a:lnSpc>
                <a:spcPts val="2640"/>
              </a:lnSpc>
              <a:buNone/>
            </a:pPr>
            <a:r>
              <a:rPr lang="en-US" sz="15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https://yangguibee.github.io/</a:t>
            </a:r>
            <a:endParaRPr lang="en-US" sz="1650" dirty="0"/>
          </a:p>
        </p:txBody>
      </p:sp>
      <p:sp>
        <p:nvSpPr>
          <p:cNvPr id="15" name="Text 10"/>
          <p:cNvSpPr txBox="1"/>
          <p:nvPr/>
        </p:nvSpPr>
        <p:spPr>
          <a:xfrm>
            <a:off x="15049195" y="8001000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COURSE · 2026-2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5049195" y="8268005"/>
            <a:ext cx="2286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09.03</a:t>
            </a:r>
            <a:endParaRPr lang="en-US" sz="3300" dirty="0"/>
          </a:p>
        </p:txBody>
      </p:sp>
      <p:sp>
        <p:nvSpPr>
          <p:cNvPr id="17" name="Text 12"/>
          <p:cNvSpPr txBox="1"/>
          <p:nvPr/>
        </p:nvSpPr>
        <p:spPr>
          <a:xfrm>
            <a:off x="15049195" y="8762695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Week 1 · Orientation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5049195" y="9182405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guibee@konkuk.ac.kr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3429000"/>
            <a:ext cx="7810805" cy="5715000"/>
          </a:xfrm>
          <a:prstGeom prst="roundRect">
            <a:avLst>
              <a:gd name="adj" fmla="val 336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  <a:effectLst>
            <a:outerShdw blurRad="63500" dist="254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761695" y="3429000"/>
            <a:ext cx="7810805" cy="38405"/>
          </a:xfrm>
          <a:prstGeom prst="roundRect">
            <a:avLst>
              <a:gd name="adj" fmla="val 50000"/>
            </a:avLst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6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8" name="Shape 3"/>
          <p:cNvSpPr/>
          <p:nvPr/>
        </p:nvSpPr>
        <p:spPr>
          <a:xfrm>
            <a:off x="761695" y="1143000"/>
            <a:ext cx="2352751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61695" y="1143000"/>
            <a:ext cx="23527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ORIENTATION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담당 교수 및 강의 안내</a:t>
            </a:r>
            <a:endParaRPr lang="en-US" sz="54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Instructor &amp; Course Information</a:t>
            </a:r>
            <a:endParaRPr lang="en-US" sz="21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3733495"/>
            <a:ext cx="7049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INSTRUCTOR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4000500"/>
            <a:ext cx="70491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양 희 정</a:t>
            </a:r>
            <a:endParaRPr lang="en-US" sz="45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4629607"/>
            <a:ext cx="7049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8A8A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Yang, Heejung</a:t>
            </a:r>
            <a:endParaRPr lang="en-US" sz="1800" dirty="0"/>
          </a:p>
        </p:txBody>
      </p:sp>
      <p:pic>
        <p:nvPicPr>
          <p:cNvPr id="15" name="Image 2" descr="gen-dedup-08e7ad798eedbf64ad9fc6738abbdb5e.png"/>
          <p:cNvPicPr>
            <a:picLocks noChangeAspect="1"/>
          </p:cNvPicPr>
          <p:nvPr/>
        </p:nvPicPr>
        <p:blipFill>
          <a:blip r:embed="rId5"/>
          <a:srcRect t="-384" b="-384"/>
          <a:stretch/>
        </p:blipFill>
        <p:spPr>
          <a:xfrm>
            <a:off x="1143000" y="5171846"/>
            <a:ext cx="952805" cy="192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43000" y="5332781"/>
            <a:ext cx="7049110" cy="849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3"/>
              </a:lnSpc>
              <a:buNone/>
            </a:pP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</a:t>
            </a:r>
            <a:r>
              <a:rPr lang="en-US" sz="16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AI전공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겸임교수</a:t>
            </a:r>
            <a:endParaRPr lang="en-US" sz="1650" dirty="0"/>
          </a:p>
          <a:p>
            <a:pPr marL="0" indent="0" algn="l">
              <a:lnSpc>
                <a:spcPts val="3053"/>
              </a:lnSpc>
              <a:buNone/>
            </a:pP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거버넌스 · AI 관련 법제 · 국제표준 연구</a:t>
            </a:r>
            <a:endParaRPr lang="en-US" sz="1650" dirty="0"/>
          </a:p>
        </p:txBody>
      </p:sp>
      <p:sp>
        <p:nvSpPr>
          <p:cNvPr id="17" name="Text 11"/>
          <p:cNvSpPr txBox="1"/>
          <p:nvPr/>
        </p:nvSpPr>
        <p:spPr>
          <a:xfrm>
            <a:off x="1143000" y="6480353"/>
            <a:ext cx="70491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Email</a:t>
            </a:r>
            <a:r>
              <a:rPr lang="en-US" sz="1350" dirty="0">
                <a:solidFill>
                  <a:srgbClr val="5555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guibee@konkuk.ac.kr, heejung.yang@bok.or.kr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6853428"/>
            <a:ext cx="70491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Repo</a:t>
            </a:r>
            <a:r>
              <a:rPr lang="en-US" sz="1350" dirty="0">
                <a:solidFill>
                  <a:srgbClr val="5555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https://yangguibee.github.io/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143000" y="7597750"/>
            <a:ext cx="70491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Contact</a:t>
            </a:r>
            <a:r>
              <a:rPr lang="en-US" sz="1350" dirty="0">
                <a:solidFill>
                  <a:srgbClr val="5555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https://open.kakao.com/o/gktIULLi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2190902" y="7320686"/>
            <a:ext cx="35058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555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https://github.com/YangGuiBee/AIG2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9144000" y="3733495"/>
            <a:ext cx="8382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COURSE AT A GLANCE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9144000" y="3981298"/>
            <a:ext cx="8382305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거버넌스</a:t>
            </a:r>
            <a:endParaRPr lang="en-US" sz="3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기반의 연구방법론</a:t>
            </a:r>
            <a:endParaRPr lang="en-US" sz="3300" dirty="0"/>
          </a:p>
        </p:txBody>
      </p:sp>
      <p:pic>
        <p:nvPicPr>
          <p:cNvPr id="23" name="Image 3" descr="gen-dedup-08e7ad798eedbf64ad9fc6738abbdb5e.png"/>
          <p:cNvPicPr>
            <a:picLocks noChangeAspect="1"/>
          </p:cNvPicPr>
          <p:nvPr/>
        </p:nvPicPr>
        <p:blipFill>
          <a:blip r:embed="rId5"/>
          <a:srcRect t="-384" b="-384"/>
          <a:stretch/>
        </p:blipFill>
        <p:spPr>
          <a:xfrm>
            <a:off x="9144000" y="5154473"/>
            <a:ext cx="952805" cy="1920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144000" y="5383073"/>
            <a:ext cx="2095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개설 학기</a:t>
            </a:r>
            <a:endParaRPr lang="en-US" sz="1650" dirty="0"/>
          </a:p>
        </p:txBody>
      </p:sp>
      <p:sp>
        <p:nvSpPr>
          <p:cNvPr id="25" name="Text 18"/>
          <p:cNvSpPr txBox="1"/>
          <p:nvPr/>
        </p:nvSpPr>
        <p:spPr>
          <a:xfrm>
            <a:off x="11334902" y="5383073"/>
            <a:ext cx="61914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2026학년도 2학기</a:t>
            </a:r>
            <a:endParaRPr lang="en-US" sz="1650" dirty="0"/>
          </a:p>
        </p:txBody>
      </p:sp>
      <p:sp>
        <p:nvSpPr>
          <p:cNvPr id="26" name="Text 19"/>
          <p:cNvSpPr txBox="1"/>
          <p:nvPr/>
        </p:nvSpPr>
        <p:spPr>
          <a:xfrm>
            <a:off x="9144000" y="5850331"/>
            <a:ext cx="2095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주차 / 총시수</a:t>
            </a:r>
            <a:endParaRPr lang="en-US" sz="1650" dirty="0"/>
          </a:p>
        </p:txBody>
      </p:sp>
      <p:sp>
        <p:nvSpPr>
          <p:cNvPr id="27" name="Text 20"/>
          <p:cNvSpPr txBox="1"/>
          <p:nvPr/>
        </p:nvSpPr>
        <p:spPr>
          <a:xfrm>
            <a:off x="11334902" y="5850331"/>
            <a:ext cx="61914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 · 주 1회(목) · 회당 </a:t>
            </a:r>
            <a:r>
              <a:rPr lang="en-US" sz="16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90분</a:t>
            </a:r>
            <a:endParaRPr lang="en-US" sz="1650" dirty="0"/>
          </a:p>
        </p:txBody>
      </p:sp>
      <p:sp>
        <p:nvSpPr>
          <p:cNvPr id="28" name="Text 21"/>
          <p:cNvSpPr txBox="1"/>
          <p:nvPr/>
        </p:nvSpPr>
        <p:spPr>
          <a:xfrm>
            <a:off x="9144000" y="6316675"/>
            <a:ext cx="2095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</a:t>
            </a:r>
            <a:endParaRPr lang="en-US" sz="1650" dirty="0"/>
          </a:p>
        </p:txBody>
      </p:sp>
      <p:sp>
        <p:nvSpPr>
          <p:cNvPr id="29" name="Text 22"/>
          <p:cNvSpPr txBox="1"/>
          <p:nvPr/>
        </p:nvSpPr>
        <p:spPr>
          <a:xfrm>
            <a:off x="11334902" y="6316675"/>
            <a:ext cx="61914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2026.09.03 ~ 2026.12.17</a:t>
            </a:r>
            <a:endParaRPr lang="en-US" sz="1650" dirty="0"/>
          </a:p>
        </p:txBody>
      </p:sp>
      <p:sp>
        <p:nvSpPr>
          <p:cNvPr id="30" name="Text 23"/>
          <p:cNvSpPr txBox="1"/>
          <p:nvPr/>
        </p:nvSpPr>
        <p:spPr>
          <a:xfrm>
            <a:off x="9144000" y="6783934"/>
            <a:ext cx="2095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</a:t>
            </a:r>
            <a:endParaRPr lang="en-US" sz="1650" dirty="0"/>
          </a:p>
        </p:txBody>
      </p:sp>
      <p:sp>
        <p:nvSpPr>
          <p:cNvPr id="31" name="Text 24"/>
          <p:cNvSpPr txBox="1"/>
          <p:nvPr/>
        </p:nvSpPr>
        <p:spPr>
          <a:xfrm>
            <a:off x="11334902" y="6783934"/>
            <a:ext cx="61914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공학대학원 AI전공 석사과정</a:t>
            </a:r>
            <a:endParaRPr lang="en-US" sz="1650" dirty="0"/>
          </a:p>
        </p:txBody>
      </p:sp>
      <p:sp>
        <p:nvSpPr>
          <p:cNvPr id="32" name="Text 25"/>
          <p:cNvSpPr txBox="1"/>
          <p:nvPr/>
        </p:nvSpPr>
        <p:spPr>
          <a:xfrm>
            <a:off x="9144000" y="7250278"/>
            <a:ext cx="2095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선수 지식</a:t>
            </a:r>
            <a:endParaRPr lang="en-US" sz="1650" dirty="0"/>
          </a:p>
        </p:txBody>
      </p:sp>
      <p:sp>
        <p:nvSpPr>
          <p:cNvPr id="33" name="Text 26"/>
          <p:cNvSpPr txBox="1"/>
          <p:nvPr/>
        </p:nvSpPr>
        <p:spPr>
          <a:xfrm>
            <a:off x="11334902" y="7250278"/>
            <a:ext cx="61914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없음 (법·표준 초심자 환영)</a:t>
            </a:r>
            <a:endParaRPr lang="en-US" sz="1650" dirty="0"/>
          </a:p>
        </p:txBody>
      </p:sp>
      <p:sp>
        <p:nvSpPr>
          <p:cNvPr id="34" name="Text 27"/>
          <p:cNvSpPr txBox="1"/>
          <p:nvPr/>
        </p:nvSpPr>
        <p:spPr>
          <a:xfrm>
            <a:off x="9144000" y="7716622"/>
            <a:ext cx="2095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언어</a:t>
            </a:r>
            <a:endParaRPr lang="en-US" sz="1650" dirty="0"/>
          </a:p>
        </p:txBody>
      </p:sp>
      <p:sp>
        <p:nvSpPr>
          <p:cNvPr id="35" name="Text 28"/>
          <p:cNvSpPr txBox="1"/>
          <p:nvPr/>
        </p:nvSpPr>
        <p:spPr>
          <a:xfrm>
            <a:off x="11334902" y="7716622"/>
            <a:ext cx="61914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강의 · 원문은 EN/KO 병기</a:t>
            </a:r>
            <a:endParaRPr lang="en-US" sz="1650" dirty="0"/>
          </a:p>
        </p:txBody>
      </p:sp>
      <p:sp>
        <p:nvSpPr>
          <p:cNvPr id="36" name="Text 29"/>
          <p:cNvSpPr txBox="1"/>
          <p:nvPr/>
        </p:nvSpPr>
        <p:spPr>
          <a:xfrm>
            <a:off x="9144000" y="8183880"/>
            <a:ext cx="2095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교재</a:t>
            </a:r>
            <a:endParaRPr lang="en-US" sz="1650" dirty="0"/>
          </a:p>
        </p:txBody>
      </p:sp>
      <p:sp>
        <p:nvSpPr>
          <p:cNvPr id="37" name="Text 30"/>
          <p:cNvSpPr txBox="1"/>
          <p:nvPr/>
        </p:nvSpPr>
        <p:spPr>
          <a:xfrm>
            <a:off x="11334902" y="8183880"/>
            <a:ext cx="61914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 교재 없음 · 매주 자료 GitHub 배포</a:t>
            </a:r>
            <a:endParaRPr lang="en-US" sz="1650" dirty="0"/>
          </a:p>
        </p:txBody>
      </p:sp>
      <p:sp>
        <p:nvSpPr>
          <p:cNvPr id="38" name="Shape 31"/>
          <p:cNvSpPr/>
          <p:nvPr/>
        </p:nvSpPr>
        <p:spPr>
          <a:xfrm>
            <a:off x="9144000" y="8736178"/>
            <a:ext cx="8382305" cy="1276502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39" name="Shape 32"/>
          <p:cNvSpPr/>
          <p:nvPr/>
        </p:nvSpPr>
        <p:spPr>
          <a:xfrm>
            <a:off x="9144000" y="8736178"/>
            <a:ext cx="47549" cy="1276502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9420149" y="8908085"/>
            <a:ext cx="7877556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강의의 약속</a:t>
            </a:r>
            <a:endParaRPr lang="en-US" sz="1650" dirty="0"/>
          </a:p>
        </p:txBody>
      </p:sp>
      <p:sp>
        <p:nvSpPr>
          <p:cNvPr id="41" name="Text 34"/>
          <p:cNvSpPr txBox="1"/>
          <p:nvPr/>
        </p:nvSpPr>
        <p:spPr>
          <a:xfrm>
            <a:off x="9420149" y="9260129"/>
            <a:ext cx="7877556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 조문을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암기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강의가 아니라, 법·표준의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구조와 논리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이해해 실무·연구에서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스스로 판단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스스로 쓸 수 있게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하는 </a:t>
            </a:r>
            <a:r>
              <a:rPr lang="en-US" sz="1425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것이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25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425" dirty="0"/>
          </a:p>
        </p:txBody>
      </p:sp>
      <p:sp>
        <p:nvSpPr>
          <p:cNvPr id="42" name="Shape 35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43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4190695"/>
            <a:ext cx="8382305" cy="2190902"/>
          </a:xfrm>
          <a:prstGeom prst="roundRect">
            <a:avLst>
              <a:gd name="adj" fmla="val 876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  <a:effectLst>
            <a:outerShdw blurRad="63500" dist="254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761695" y="4190695"/>
            <a:ext cx="8382305" cy="38405"/>
          </a:xfrm>
          <a:prstGeom prst="roundRect">
            <a:avLst>
              <a:gd name="adj" fmla="val 50000"/>
            </a:avLst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334195" y="4190695"/>
            <a:ext cx="8382305" cy="2190902"/>
          </a:xfrm>
          <a:prstGeom prst="roundRect">
            <a:avLst>
              <a:gd name="adj" fmla="val 876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  <a:effectLst>
            <a:outerShdw blurRad="63500" dist="254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9334195" y="4190695"/>
            <a:ext cx="8382305" cy="38405"/>
          </a:xfrm>
          <a:prstGeom prst="roundRect">
            <a:avLst>
              <a:gd name="adj" fmla="val 50000"/>
            </a:avLst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61695" y="6572707"/>
            <a:ext cx="8382305" cy="2190902"/>
          </a:xfrm>
          <a:prstGeom prst="roundRect">
            <a:avLst>
              <a:gd name="adj" fmla="val 876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  <a:effectLst>
            <a:outerShdw blurRad="63500" dist="254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61695" y="6572707"/>
            <a:ext cx="8382305" cy="38405"/>
          </a:xfrm>
          <a:prstGeom prst="roundRect">
            <a:avLst>
              <a:gd name="adj" fmla="val 50000"/>
            </a:avLst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334195" y="6572707"/>
            <a:ext cx="8382305" cy="2190902"/>
          </a:xfrm>
          <a:prstGeom prst="roundRect">
            <a:avLst>
              <a:gd name="adj" fmla="val 876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  <a:effectLst>
            <a:outerShdw blurRad="63500" dist="254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334195" y="6572707"/>
            <a:ext cx="8382305" cy="38405"/>
          </a:xfrm>
          <a:prstGeom prst="roundRect">
            <a:avLst>
              <a:gd name="adj" fmla="val 50000"/>
            </a:avLst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1695" y="8953805"/>
            <a:ext cx="16954805" cy="952805"/>
          </a:xfrm>
          <a:prstGeom prst="rect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761695" y="1143000"/>
            <a:ext cx="2352751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61695" y="1143000"/>
            <a:ext cx="23527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ORIENTATION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목표</a:t>
            </a:r>
            <a:endParaRPr lang="en-US" sz="5400" dirty="0"/>
          </a:p>
        </p:txBody>
      </p:sp>
      <p:sp>
        <p:nvSpPr>
          <p:cNvPr id="18" name="Text 13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Learning Objectives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761695" y="3381451"/>
            <a:ext cx="167646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강의를 이수한 학생은 다음 </a:t>
            </a:r>
            <a:r>
              <a:rPr lang="en-US" sz="24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다섯 가지 역량</a:t>
            </a:r>
            <a:r>
              <a:rPr lang="en-US" sz="24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을 갖추게 됩니다.</a:t>
            </a:r>
            <a:endParaRPr lang="en-US" sz="2400" dirty="0"/>
          </a:p>
        </p:txBody>
      </p:sp>
      <p:sp>
        <p:nvSpPr>
          <p:cNvPr id="20" name="Shape 15"/>
          <p:cNvSpPr/>
          <p:nvPr/>
        </p:nvSpPr>
        <p:spPr>
          <a:xfrm>
            <a:off x="1143000" y="4457700"/>
            <a:ext cx="457200" cy="457200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143000" y="4457700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</a:t>
            </a:r>
            <a:endParaRPr lang="en-US" sz="1650" dirty="0"/>
          </a:p>
        </p:txBody>
      </p:sp>
      <p:sp>
        <p:nvSpPr>
          <p:cNvPr id="22" name="Text 17"/>
          <p:cNvSpPr txBox="1"/>
          <p:nvPr/>
        </p:nvSpPr>
        <p:spPr>
          <a:xfrm>
            <a:off x="1790395" y="4476902"/>
            <a:ext cx="371886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개념 이해 · Conceptual</a:t>
            </a:r>
            <a:endParaRPr lang="en-US" sz="2250" dirty="0"/>
          </a:p>
        </p:txBody>
      </p:sp>
      <p:sp>
        <p:nvSpPr>
          <p:cNvPr id="23" name="Text 18"/>
          <p:cNvSpPr txBox="1"/>
          <p:nvPr/>
        </p:nvSpPr>
        <p:spPr>
          <a:xfrm>
            <a:off x="1143000" y="5067605"/>
            <a:ext cx="8375904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거버넌스가 무엇인지, 왜 필요한지, </a:t>
            </a:r>
            <a:r>
              <a:rPr lang="en-US" sz="15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윤리·법·기술 세 축</a:t>
            </a: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어떻게 맞물리는지 설명</a:t>
            </a:r>
            <a:endParaRPr lang="en-US" sz="1575" dirty="0"/>
          </a:p>
        </p:txBody>
      </p:sp>
      <p:sp>
        <p:nvSpPr>
          <p:cNvPr id="24" name="Shape 19"/>
          <p:cNvSpPr/>
          <p:nvPr/>
        </p:nvSpPr>
        <p:spPr>
          <a:xfrm>
            <a:off x="9715500" y="4457700"/>
            <a:ext cx="457200" cy="457200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715500" y="4457700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</a:t>
            </a:r>
            <a:endParaRPr lang="en-US" sz="1650" dirty="0"/>
          </a:p>
        </p:txBody>
      </p:sp>
      <p:sp>
        <p:nvSpPr>
          <p:cNvPr id="26" name="Text 21"/>
          <p:cNvSpPr txBox="1"/>
          <p:nvPr/>
        </p:nvSpPr>
        <p:spPr>
          <a:xfrm>
            <a:off x="10362895" y="4476902"/>
            <a:ext cx="2675534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법제 해독 · Legal</a:t>
            </a:r>
            <a:endParaRPr lang="en-US" sz="2250" dirty="0"/>
          </a:p>
        </p:txBody>
      </p:sp>
      <p:sp>
        <p:nvSpPr>
          <p:cNvPr id="27" name="Text 22"/>
          <p:cNvSpPr txBox="1"/>
          <p:nvPr/>
        </p:nvSpPr>
        <p:spPr>
          <a:xfrm>
            <a:off x="9715500" y="5067605"/>
            <a:ext cx="8448142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AI Act</a:t>
            </a: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</a:t>
            </a:r>
            <a:r>
              <a:rPr lang="en-US" sz="15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AI 기본법</a:t>
            </a: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구조·조문을 비교하고, 자신의 서비스에의 적용 판단</a:t>
            </a:r>
            <a:endParaRPr lang="en-US" sz="1575" dirty="0"/>
          </a:p>
        </p:txBody>
      </p:sp>
      <p:sp>
        <p:nvSpPr>
          <p:cNvPr id="28" name="Shape 23"/>
          <p:cNvSpPr/>
          <p:nvPr/>
        </p:nvSpPr>
        <p:spPr>
          <a:xfrm>
            <a:off x="1143000" y="6838798"/>
            <a:ext cx="457200" cy="457200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143000" y="6838798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</a:t>
            </a:r>
            <a:endParaRPr lang="en-US" sz="1650" dirty="0"/>
          </a:p>
        </p:txBody>
      </p:sp>
      <p:sp>
        <p:nvSpPr>
          <p:cNvPr id="30" name="Text 25"/>
          <p:cNvSpPr txBox="1"/>
          <p:nvPr/>
        </p:nvSpPr>
        <p:spPr>
          <a:xfrm>
            <a:off x="1790395" y="6858000"/>
            <a:ext cx="3488436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표준 활용 · Standards</a:t>
            </a:r>
            <a:endParaRPr lang="en-US" sz="2250" dirty="0"/>
          </a:p>
        </p:txBody>
      </p:sp>
      <p:sp>
        <p:nvSpPr>
          <p:cNvPr id="31" name="Text 26"/>
          <p:cNvSpPr txBox="1"/>
          <p:nvPr/>
        </p:nvSpPr>
        <p:spPr>
          <a:xfrm>
            <a:off x="1143000" y="7448702"/>
            <a:ext cx="8567928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42001</a:t>
            </a: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AI 국제표준의 목차와 요구사항을 이해하고, 조직에의 도입방안 제안</a:t>
            </a:r>
            <a:endParaRPr lang="en-US" sz="1575" dirty="0"/>
          </a:p>
        </p:txBody>
      </p:sp>
      <p:sp>
        <p:nvSpPr>
          <p:cNvPr id="32" name="Shape 27"/>
          <p:cNvSpPr/>
          <p:nvPr/>
        </p:nvSpPr>
        <p:spPr>
          <a:xfrm>
            <a:off x="9715500" y="6838798"/>
            <a:ext cx="457200" cy="457200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715500" y="6838798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</a:t>
            </a:r>
            <a:endParaRPr lang="en-US" sz="1650" dirty="0"/>
          </a:p>
        </p:txBody>
      </p:sp>
      <p:sp>
        <p:nvSpPr>
          <p:cNvPr id="34" name="Text 29"/>
          <p:cNvSpPr txBox="1"/>
          <p:nvPr/>
        </p:nvSpPr>
        <p:spPr>
          <a:xfrm>
            <a:off x="10362895" y="6858000"/>
            <a:ext cx="2551176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사례 분석 · Case</a:t>
            </a:r>
            <a:endParaRPr lang="en-US" sz="2250" dirty="0"/>
          </a:p>
        </p:txBody>
      </p:sp>
      <p:sp>
        <p:nvSpPr>
          <p:cNvPr id="35" name="Text 30"/>
          <p:cNvSpPr txBox="1"/>
          <p:nvPr/>
        </p:nvSpPr>
        <p:spPr>
          <a:xfrm>
            <a:off x="9715500" y="7448702"/>
            <a:ext cx="76206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AI 사건·판례·기업 대응 사례를 </a:t>
            </a:r>
            <a:r>
              <a:rPr lang="en-US" sz="15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법·표준의 언어</a:t>
            </a: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분석하고, 개선안 도출</a:t>
            </a:r>
            <a:endParaRPr lang="en-US" sz="1575" dirty="0"/>
          </a:p>
        </p:txBody>
      </p:sp>
      <p:sp>
        <p:nvSpPr>
          <p:cNvPr id="36" name="Shape 31"/>
          <p:cNvSpPr/>
          <p:nvPr/>
        </p:nvSpPr>
        <p:spPr>
          <a:xfrm>
            <a:off x="1143000" y="9124798"/>
            <a:ext cx="418795" cy="418795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1143000" y="9124798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24A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</a:t>
            </a:r>
            <a:endParaRPr lang="en-US" sz="1650" dirty="0"/>
          </a:p>
        </p:txBody>
      </p:sp>
      <p:sp>
        <p:nvSpPr>
          <p:cNvPr id="38" name="Text 33"/>
          <p:cNvSpPr txBox="1"/>
          <p:nvPr/>
        </p:nvSpPr>
        <p:spPr>
          <a:xfrm>
            <a:off x="1790395" y="9144000"/>
            <a:ext cx="3153766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CC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연구 수행 · Research</a:t>
            </a:r>
            <a:endParaRPr lang="en-US" sz="2100" dirty="0"/>
          </a:p>
        </p:txBody>
      </p:sp>
      <p:sp>
        <p:nvSpPr>
          <p:cNvPr id="39" name="Text 34"/>
          <p:cNvSpPr txBox="1"/>
          <p:nvPr/>
        </p:nvSpPr>
        <p:spPr>
          <a:xfrm>
            <a:off x="4781398" y="9194292"/>
            <a:ext cx="1024859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선행연구를 비판적으로 읽고, 연구문제를 세우고, </a:t>
            </a: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거버넌스 주제의 소논문</a:t>
            </a:r>
            <a:r>
              <a:rPr lang="en-US" sz="15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스스로 완성 </a:t>
            </a:r>
            <a:r>
              <a:rPr lang="en-US" sz="1575" dirty="0">
                <a:solidFill>
                  <a:srgbClr val="FFCC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12–16주차</a:t>
            </a:r>
            <a:endParaRPr lang="en-US" sz="1575" dirty="0"/>
          </a:p>
        </p:txBody>
      </p:sp>
      <p:sp>
        <p:nvSpPr>
          <p:cNvPr id="40" name="Shape 35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43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668305" y="3524098"/>
            <a:ext cx="7048195" cy="5715000"/>
          </a:xfrm>
          <a:prstGeom prst="roundRect">
            <a:avLst>
              <a:gd name="adj" fmla="val 336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  <a:effectLst>
            <a:outerShdw blurRad="63500" dist="254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10668305" y="3524098"/>
            <a:ext cx="7048195" cy="38405"/>
          </a:xfrm>
          <a:prstGeom prst="roundRect">
            <a:avLst>
              <a:gd name="adj" fmla="val 50000"/>
            </a:avLst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6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8" name="Shape 3"/>
          <p:cNvSpPr/>
          <p:nvPr/>
        </p:nvSpPr>
        <p:spPr>
          <a:xfrm>
            <a:off x="761695" y="1143000"/>
            <a:ext cx="2352751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61695" y="1143000"/>
            <a:ext cx="23527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ORIENTATION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평가 체계 및 진행 방식</a:t>
            </a:r>
            <a:endParaRPr lang="en-US" sz="54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Assessment &amp; Format</a:t>
            </a:r>
            <a:endParaRPr lang="en-US" sz="21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3524098"/>
            <a:ext cx="9525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GRADING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3847795"/>
          <a:ext cx="9515246" cy="2905962"/>
        </p:xfrm>
        <a:graphic>
          <a:graphicData uri="http://schemas.openxmlformats.org/drawingml/2006/table">
            <a:tbl>
              <a:tblPr/>
              <a:tblGrid>
                <a:gridCol w="533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4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4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3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#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평가 항목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주차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3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출석 및 수업 참여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30%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매주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3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Case Study 1 발표 (AI 법규제)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15%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 7주차 · 10.15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3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중간고사 (개념 · 법제)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20%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 8주차 · 10.22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3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Case Study 2 발표 (AI 거버넌스 사례·적용 계획)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15%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 15주차 · 12.10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3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기말 종합 평가 보고서 (소논문)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20%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 16주차 · 12.17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8"/>
          <p:cNvSpPr/>
          <p:nvPr/>
        </p:nvSpPr>
        <p:spPr>
          <a:xfrm>
            <a:off x="761695" y="7000646"/>
            <a:ext cx="9525305" cy="933602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15" name="Shape 9"/>
          <p:cNvSpPr/>
          <p:nvPr/>
        </p:nvSpPr>
        <p:spPr>
          <a:xfrm>
            <a:off x="761695" y="7000646"/>
            <a:ext cx="47549" cy="933602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000354" y="7153351"/>
            <a:ext cx="9096451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평가의 축은 "누적"입니다</a:t>
            </a:r>
            <a:endParaRPr lang="en-US" sz="1575" dirty="0"/>
          </a:p>
        </p:txBody>
      </p:sp>
      <p:sp>
        <p:nvSpPr>
          <p:cNvPr id="17" name="Text 11"/>
          <p:cNvSpPr txBox="1"/>
          <p:nvPr/>
        </p:nvSpPr>
        <p:spPr>
          <a:xfrm>
            <a:off x="1000354" y="7496251"/>
            <a:ext cx="9782251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Case Study 1(7주) → Case Study 2(15주) →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소논문(16주)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앞의 두 발표가 최종 소논문의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되도록 설계</a:t>
            </a:r>
            <a:endParaRPr lang="en-US" sz="1425" dirty="0"/>
          </a:p>
        </p:txBody>
      </p:sp>
      <p:sp>
        <p:nvSpPr>
          <p:cNvPr id="18" name="Text 12"/>
          <p:cNvSpPr txBox="1"/>
          <p:nvPr/>
        </p:nvSpPr>
        <p:spPr>
          <a:xfrm>
            <a:off x="11048695" y="3810305"/>
            <a:ext cx="63825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POLICIES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11048695" y="4058107"/>
            <a:ext cx="63825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진행 원칙</a:t>
            </a:r>
            <a:endParaRPr lang="en-US" sz="2700" dirty="0"/>
          </a:p>
        </p:txBody>
      </p:sp>
      <p:sp>
        <p:nvSpPr>
          <p:cNvPr id="20" name="Text 14"/>
          <p:cNvSpPr txBox="1"/>
          <p:nvPr/>
        </p:nvSpPr>
        <p:spPr>
          <a:xfrm>
            <a:off x="11048695" y="4791456"/>
            <a:ext cx="45720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1950" dirty="0"/>
          </a:p>
        </p:txBody>
      </p:sp>
      <p:sp>
        <p:nvSpPr>
          <p:cNvPr id="21" name="Text 15"/>
          <p:cNvSpPr txBox="1"/>
          <p:nvPr/>
        </p:nvSpPr>
        <p:spPr>
          <a:xfrm>
            <a:off x="11658600" y="4791456"/>
            <a:ext cx="556321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자료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지정 도서 없이 매주 GitHub 저장소에 업로드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1048695" y="5421478"/>
            <a:ext cx="45720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1950" dirty="0"/>
          </a:p>
        </p:txBody>
      </p:sp>
      <p:sp>
        <p:nvSpPr>
          <p:cNvPr id="23" name="Text 17"/>
          <p:cNvSpPr txBox="1"/>
          <p:nvPr/>
        </p:nvSpPr>
        <p:spPr>
          <a:xfrm>
            <a:off x="11658600" y="5421478"/>
            <a:ext cx="4944161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Case Study 발표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개인별 진행하며, 1인당 3분 이내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11048695" y="6052414"/>
            <a:ext cx="45720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1950" dirty="0"/>
          </a:p>
        </p:txBody>
      </p:sp>
      <p:sp>
        <p:nvSpPr>
          <p:cNvPr id="25" name="Text 19"/>
          <p:cNvSpPr txBox="1"/>
          <p:nvPr/>
        </p:nvSpPr>
        <p:spPr>
          <a:xfrm>
            <a:off x="11658600" y="6052414"/>
            <a:ext cx="55248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보고서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Case Study 1, 2 내용을 바탕으로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소논문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작성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1048695" y="6682435"/>
            <a:ext cx="45720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1950" dirty="0"/>
          </a:p>
        </p:txBody>
      </p:sp>
      <p:sp>
        <p:nvSpPr>
          <p:cNvPr id="27" name="Text 21"/>
          <p:cNvSpPr txBox="1"/>
          <p:nvPr/>
        </p:nvSpPr>
        <p:spPr>
          <a:xfrm>
            <a:off x="11658600" y="6682435"/>
            <a:ext cx="679765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활용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허용하되, 사용한 프롬프트·모델·출력물을 부록에 명시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11048695" y="7389266"/>
            <a:ext cx="6381598" cy="838505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29" name="Shape 23"/>
          <p:cNvSpPr/>
          <p:nvPr/>
        </p:nvSpPr>
        <p:spPr>
          <a:xfrm>
            <a:off x="11048695" y="7389266"/>
            <a:ext cx="38405" cy="838505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11277295" y="7541971"/>
            <a:ext cx="596280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휴강 안내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제4주차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9월 24일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추석 연휴로 휴강하고, 해당 주 내용(EU AI Act 고위험·생성형 규제)은 3주차에 통합 진행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43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4286707"/>
            <a:ext cx="5524805" cy="50484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4286707"/>
            <a:ext cx="5524805" cy="576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381598" y="4286707"/>
            <a:ext cx="5524805" cy="50484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381598" y="4286707"/>
            <a:ext cx="5524805" cy="576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2001500" y="4286707"/>
            <a:ext cx="5524805" cy="5048402"/>
          </a:xfrm>
          <a:prstGeom prst="rect">
            <a:avLst/>
          </a:prstGeom>
          <a:solidFill>
            <a:srgbClr val="E6F1EA"/>
          </a:solidFill>
          <a:ln w="12700">
            <a:solidFill>
              <a:srgbClr val="036B3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2001500" y="4286707"/>
            <a:ext cx="5524805" cy="57607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pic>
        <p:nvPicPr>
          <p:cNvPr id="10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761695" y="1143000"/>
            <a:ext cx="2352751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61695" y="1143000"/>
            <a:ext cx="23527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ORIENTATION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16주 강의계획 · 전체 지도</a:t>
            </a:r>
            <a:endParaRPr lang="en-US" sz="54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Course Roadmap</a:t>
            </a:r>
            <a:endParaRPr lang="en-US" sz="2100" dirty="0"/>
          </a:p>
        </p:txBody>
      </p:sp>
      <p:sp>
        <p:nvSpPr>
          <p:cNvPr id="16" name="Text 11"/>
          <p:cNvSpPr txBox="1"/>
          <p:nvPr/>
        </p:nvSpPr>
        <p:spPr>
          <a:xfrm>
            <a:off x="761695" y="3429000"/>
            <a:ext cx="16764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16주는 크게 </a:t>
            </a:r>
            <a:r>
              <a:rPr lang="en-US" sz="21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 국면</a:t>
            </a:r>
            <a:r>
              <a:rPr lang="en-US" sz="21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으로 구성하여 </a:t>
            </a:r>
            <a:r>
              <a:rPr lang="en-US" sz="21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법을 읽고 → 표준으로 실행하고 → 연구로 완성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4572000"/>
            <a:ext cx="476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1 · WEEK 1–8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4819802"/>
            <a:ext cx="4763110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개념과 법의</a:t>
            </a:r>
            <a:endParaRPr lang="en-US" sz="3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토대 세우기</a:t>
            </a:r>
            <a:endParaRPr lang="en-US" sz="3150" dirty="0"/>
          </a:p>
        </p:txBody>
      </p:sp>
      <p:pic>
        <p:nvPicPr>
          <p:cNvPr id="19" name="Image 2" descr="gen-dedup-08173c94900e9aa2377887198bd5085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1143000" y="5889650"/>
            <a:ext cx="761695" cy="192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98398" y="6035040"/>
            <a:ext cx="4807712" cy="1916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ts val="2914"/>
              </a:lnSpc>
              <a:buSzPct val="100000"/>
              <a:buChar char="•"/>
            </a:pP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​AI 거버넌스 개론</a:t>
            </a:r>
            <a:endParaRPr lang="en-US" sz="1575" dirty="0"/>
          </a:p>
          <a:p>
            <a:pPr marL="254000" indent="-254000" algn="l">
              <a:lnSpc>
                <a:spcPts val="2914"/>
              </a:lnSpc>
              <a:buSzPct val="100000"/>
              <a:buChar char="•"/>
            </a:pP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​AI 법규제의 기초 이론</a:t>
            </a:r>
            <a:endParaRPr lang="en-US" sz="1575" dirty="0"/>
          </a:p>
          <a:p>
            <a:pPr marL="254000" indent="-254000" algn="l">
              <a:lnSpc>
                <a:spcPts val="2914"/>
              </a:lnSpc>
              <a:buSzPct val="100000"/>
              <a:buChar char="•"/>
            </a:pP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​EU AI Act (구조 · 고위험 · 생성형)</a:t>
            </a:r>
            <a:endParaRPr lang="en-US" sz="1575" dirty="0"/>
          </a:p>
          <a:p>
            <a:pPr marL="254000" indent="-254000" algn="l">
              <a:lnSpc>
                <a:spcPts val="2914"/>
              </a:lnSpc>
              <a:buSzPct val="100000"/>
              <a:buChar char="•"/>
            </a:pP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​국내 인공지능기본법 · 시행령</a:t>
            </a:r>
            <a:endParaRPr lang="en-US" sz="1575" dirty="0"/>
          </a:p>
          <a:p>
            <a:pPr marL="254000" indent="-254000" algn="l">
              <a:lnSpc>
                <a:spcPts val="2914"/>
              </a:lnSpc>
              <a:buSzPct val="100000"/>
              <a:buChar char="•"/>
            </a:pP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​국내 AI 관련 법 (IP · 개인정보 등)</a:t>
            </a:r>
            <a:endParaRPr lang="en-US" sz="1575" dirty="0"/>
          </a:p>
        </p:txBody>
      </p:sp>
      <p:sp>
        <p:nvSpPr>
          <p:cNvPr id="21" name="Text 15"/>
          <p:cNvSpPr txBox="1"/>
          <p:nvPr/>
        </p:nvSpPr>
        <p:spPr>
          <a:xfrm>
            <a:off x="1143000" y="8114386"/>
            <a:ext cx="4763110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Case Study 1 발표 · 7주차</a:t>
            </a:r>
            <a:endParaRPr lang="en-US" sz="1350" dirty="0"/>
          </a:p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중간고사 · 8주차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6762902" y="4572000"/>
            <a:ext cx="476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2 · WEEK 9–11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762902" y="4819802"/>
            <a:ext cx="4763110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실행 도구와</a:t>
            </a:r>
            <a:endParaRPr lang="en-US" sz="3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국제표준</a:t>
            </a:r>
            <a:endParaRPr lang="en-US" sz="3150" dirty="0"/>
          </a:p>
        </p:txBody>
      </p:sp>
      <p:pic>
        <p:nvPicPr>
          <p:cNvPr id="24" name="Image 3" descr="gen-dedup-08173c94900e9aa2377887198bd5085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6762902" y="5889650"/>
            <a:ext cx="761695" cy="1920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718300" y="6035040"/>
            <a:ext cx="4807712" cy="2287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ts val="2914"/>
              </a:lnSpc>
              <a:buSzPct val="100000"/>
              <a:buChar char="•"/>
            </a:pP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​AI 가이드라인</a:t>
            </a:r>
            <a:endParaRPr lang="en-US" sz="1575" dirty="0"/>
          </a:p>
          <a:p>
            <a:pPr marL="254000" indent="-254000" algn="l">
              <a:lnSpc>
                <a:spcPts val="2914"/>
              </a:lnSpc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기본법의 실제 적용 방안</a:t>
            </a:r>
            <a:endParaRPr lang="en-US" sz="1575" dirty="0"/>
          </a:p>
          <a:p>
            <a:pPr marL="254000" indent="-254000" algn="l">
              <a:lnSpc>
                <a:spcPts val="2914"/>
              </a:lnSpc>
              <a:buSzPct val="100000"/>
              <a:buChar char="•"/>
            </a:pP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​AI 거버넌스 기술</a:t>
            </a:r>
            <a:endParaRPr lang="en-US" sz="1575" dirty="0"/>
          </a:p>
          <a:p>
            <a:pPr marL="254000" indent="-254000" algn="l">
              <a:lnSpc>
                <a:spcPts val="2914"/>
              </a:lnSpc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 관련 기술 구조</a:t>
            </a:r>
            <a:endParaRPr lang="en-US" sz="1575" dirty="0"/>
          </a:p>
          <a:p>
            <a:pPr marL="254000" indent="-254000" algn="l">
              <a:lnSpc>
                <a:spcPts val="2914"/>
              </a:lnSpc>
              <a:buSzPct val="100000"/>
              <a:buChar char="•"/>
            </a:pP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​AI 거버넌스 국제표준</a:t>
            </a:r>
            <a:endParaRPr lang="en-US" sz="1575" dirty="0"/>
          </a:p>
          <a:p>
            <a:pPr marL="254000" indent="-254000" algn="l">
              <a:lnSpc>
                <a:spcPts val="2914"/>
              </a:lnSpc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JTC 1 · SC 42</a:t>
            </a:r>
            <a:endParaRPr lang="en-US" sz="1575" dirty="0"/>
          </a:p>
        </p:txBody>
      </p:sp>
      <p:sp>
        <p:nvSpPr>
          <p:cNvPr id="26" name="Text 19"/>
          <p:cNvSpPr txBox="1"/>
          <p:nvPr/>
        </p:nvSpPr>
        <p:spPr>
          <a:xfrm>
            <a:off x="6762902" y="8510321"/>
            <a:ext cx="4763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"무엇을"에서 "어떻게"로 이동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12382805" y="4572000"/>
            <a:ext cx="476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25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3 · WEEK 12–16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382805" y="4819802"/>
            <a:ext cx="4763110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연구방법론과</a:t>
            </a:r>
            <a:endParaRPr lang="en-US" sz="3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소논문</a:t>
            </a:r>
            <a:endParaRPr lang="en-US" sz="3150" dirty="0"/>
          </a:p>
        </p:txBody>
      </p:sp>
      <p:pic>
        <p:nvPicPr>
          <p:cNvPr id="29" name="Image 4" descr="gen-dedup-08173c94900e9aa2377887198bd5085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12382805" y="5889650"/>
            <a:ext cx="761695" cy="1920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2338202" y="6035040"/>
            <a:ext cx="4807712" cy="154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ts val="2914"/>
              </a:lnSpc>
              <a:buSzPct val="100000"/>
              <a:buChar char="•"/>
            </a:pP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​AI (거버넌스) 연구방법론</a:t>
            </a:r>
            <a:endParaRPr lang="en-US" sz="1575" dirty="0"/>
          </a:p>
          <a:p>
            <a:pPr marL="254000" indent="-254000" algn="l">
              <a:lnSpc>
                <a:spcPts val="2914"/>
              </a:lnSpc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 대한 · AI를 활용한 연구</a:t>
            </a:r>
            <a:endParaRPr lang="en-US" sz="1575" dirty="0"/>
          </a:p>
          <a:p>
            <a:pPr marL="254000" indent="-254000" algn="l">
              <a:lnSpc>
                <a:spcPts val="2914"/>
              </a:lnSpc>
              <a:buSzPct val="100000"/>
              <a:buChar char="•"/>
            </a:pP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​AI 거버넌스 선행연구</a:t>
            </a:r>
            <a:endParaRPr lang="en-US" sz="1575" dirty="0"/>
          </a:p>
          <a:p>
            <a:pPr marL="254000" indent="-254000" algn="l">
              <a:lnSpc>
                <a:spcPts val="2914"/>
              </a:lnSpc>
              <a:buSzPct val="100000"/>
              <a:buChar char="•"/>
            </a:pP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​AI 거버넌스 실무사례</a:t>
            </a:r>
            <a:endParaRPr lang="en-US" sz="1575" dirty="0"/>
          </a:p>
        </p:txBody>
      </p:sp>
      <p:sp>
        <p:nvSpPr>
          <p:cNvPr id="31" name="Text 23"/>
          <p:cNvSpPr txBox="1"/>
          <p:nvPr/>
        </p:nvSpPr>
        <p:spPr>
          <a:xfrm>
            <a:off x="12382805" y="7744054"/>
            <a:ext cx="4763110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9A2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Case Study 2 발표 · 15주차</a:t>
            </a:r>
            <a:endParaRPr lang="en-US" sz="1350" dirty="0"/>
          </a:p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9A2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소논문 제출 · 16주차</a:t>
            </a:r>
            <a:endParaRPr lang="en-US" sz="1350" dirty="0"/>
          </a:p>
        </p:txBody>
      </p:sp>
      <p:sp>
        <p:nvSpPr>
          <p:cNvPr id="32" name="Shape 24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43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8762695"/>
            <a:ext cx="16763695" cy="952805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5" name="Shape 1"/>
          <p:cNvSpPr/>
          <p:nvPr/>
        </p:nvSpPr>
        <p:spPr>
          <a:xfrm>
            <a:off x="761695" y="8762695"/>
            <a:ext cx="47549" cy="9528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6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809951"/>
            <a:ext cx="761695" cy="2834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8" name="Shape 3"/>
          <p:cNvSpPr/>
          <p:nvPr/>
        </p:nvSpPr>
        <p:spPr>
          <a:xfrm>
            <a:off x="761695" y="1143000"/>
            <a:ext cx="2352751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61695" y="1143000"/>
            <a:ext cx="23527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ORIENTATION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1619402"/>
            <a:ext cx="16764610" cy="876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주차별 계획 (1) · 전반부 1–8주차</a:t>
            </a:r>
            <a:endParaRPr lang="en-US" sz="48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2572207"/>
            <a:ext cx="16764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Weekly Schedule · First Half</a:t>
            </a:r>
            <a:endParaRPr lang="en-US" sz="1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3238805"/>
          <a:ext cx="16754552" cy="4745532"/>
        </p:xfrm>
        <a:graphic>
          <a:graphicData uri="http://schemas.openxmlformats.org/drawingml/2006/table">
            <a:tbl>
              <a:tblPr/>
              <a:tblGrid>
                <a:gridCol w="666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201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4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2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주차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강의 내용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과제·참고자료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2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09.03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강의 소개 및 AI 거버넌스 개론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거버넌스의 필요성과 범위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2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09.10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법규제의 기초 이론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법규제의 이론적 배경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2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09.17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EU AI Act (1)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EU 인공지능법의 전체 구조와 핵심 원칙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2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8342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09.24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8342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(휴강)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EU AI Act (2)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8342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추석 연휴 휴강</a:t>
                      </a:r>
                      <a:r>
                        <a:rPr lang="en-US" sz="1500" dirty="0">
                          <a:solidFill>
                            <a:srgbClr val="B8342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고위험 AI 시스템 및 생성형 AI 모델의 규제 → 3주차 통합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2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10.01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국내 인공지능기본법 · 시행령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한국 인공지능기본법의 체계와 원칙, AI 신뢰성 확보 방안과 영향평가 제도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EU AI Act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2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10.08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국내 AI 관련 법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지식재산기본법, 개인정보보호법, 지능정보화기본법 등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기본법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2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10.15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Case Study (1)</a:t>
                      </a: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AI 법규제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발표 및 토론 · 개인별 3분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2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10.22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중간고사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시험 · 서술형 (조문 발췌본 지참 가능)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47902" y="8934602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전반부의 핵심 질문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1047902" y="9305849"/>
            <a:ext cx="163833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"세계 최초로 완성된 </a:t>
            </a:r>
            <a:r>
              <a:rPr lang="en-US" sz="16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AI Act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와, 세계 최초로 시행된 </a:t>
            </a:r>
            <a:r>
              <a:rPr lang="en-US" sz="16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AI 기본법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두 법은 같은 위험을 다르게 다룬다. 어떻게 다른가?"</a:t>
            </a:r>
            <a:endParaRPr lang="en-US" sz="1650" dirty="0"/>
          </a:p>
        </p:txBody>
      </p:sp>
      <p:sp>
        <p:nvSpPr>
          <p:cNvPr id="15" name="Shape 9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43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8762695"/>
            <a:ext cx="16763695" cy="952805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5" name="Shape 1"/>
          <p:cNvSpPr/>
          <p:nvPr/>
        </p:nvSpPr>
        <p:spPr>
          <a:xfrm>
            <a:off x="761695" y="8762695"/>
            <a:ext cx="47549" cy="9528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6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809951"/>
            <a:ext cx="761695" cy="2834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8" name="Shape 3"/>
          <p:cNvSpPr/>
          <p:nvPr/>
        </p:nvSpPr>
        <p:spPr>
          <a:xfrm>
            <a:off x="761695" y="1143000"/>
            <a:ext cx="2352751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61695" y="1143000"/>
            <a:ext cx="23527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ORIENTATION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1619402"/>
            <a:ext cx="16764610" cy="876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주차별 계획 (2) · 후반부 9–16주차</a:t>
            </a:r>
            <a:endParaRPr lang="en-US" sz="48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2572207"/>
            <a:ext cx="16764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Weekly Schedule · Second Half</a:t>
            </a:r>
            <a:endParaRPr lang="en-US" sz="1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3238805"/>
          <a:ext cx="16754552" cy="4334256"/>
        </p:xfrm>
        <a:graphic>
          <a:graphicData uri="http://schemas.openxmlformats.org/drawingml/2006/table">
            <a:tbl>
              <a:tblPr/>
              <a:tblGrid>
                <a:gridCol w="666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201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4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15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주차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강의 내용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과제·참고자료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10.29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가이드라인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기본법의 실제 적용 방안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가이드라인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11.05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거버넌스 기술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거버넌스 관련 기술 구조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11.12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거버넌스 국제표준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시스템 관련 주요 ISO/IEC JTC 1/SC 42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11.19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(거버넌스) 연구방법론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AI에 대한 연구 · AI를 활용한 연구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13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11.26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거버넌스 선행연구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거버넌스를 주제로 한 연구 분석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1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12.03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거버넌스 실무사례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각 분야별 AI 거버넌스의 적용 사례 분석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1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12.10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Case Study (2)</a:t>
                      </a: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사례 분석 · 적용 계획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발표 및 토론 · 개인별 3분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1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16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12.17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기말고사</a:t>
                      </a: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종합 평가 보고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보고서(</a:t>
                      </a: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소논문</a:t>
                      </a: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) 제출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47902" y="8934602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후반부의 핵심 질문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1047902" y="9305849"/>
            <a:ext cx="163833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"법이 '무엇을' 요구하고 표준이 '어떻게'에 답한다면 — </a:t>
            </a:r>
            <a:r>
              <a:rPr lang="en-US" sz="16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연구는 '왜 그런가'와 '무엇이 더 필요한가'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답한다. 그 답을 내 소논문으로 쓴다."</a:t>
            </a:r>
            <a:endParaRPr lang="en-US" sz="1650" dirty="0"/>
          </a:p>
        </p:txBody>
      </p:sp>
      <p:sp>
        <p:nvSpPr>
          <p:cNvPr id="15" name="Shape 9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43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858000" y="3619195"/>
            <a:ext cx="10668305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pic>
        <p:nvPicPr>
          <p:cNvPr id="5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7" name="Shape 2"/>
          <p:cNvSpPr/>
          <p:nvPr/>
        </p:nvSpPr>
        <p:spPr>
          <a:xfrm>
            <a:off x="761695" y="1143000"/>
            <a:ext cx="2352751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761695" y="1143000"/>
            <a:ext cx="23527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ORIENTATION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구성 (1) · AI 법</a:t>
            </a:r>
            <a:endParaRPr lang="en-US" sz="54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Course Structure · The Law Axis · Week 1–8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3619195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· LAW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3943807"/>
            <a:ext cx="5715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법</a:t>
            </a:r>
            <a:endParaRPr lang="en-US" sz="4200" dirty="0"/>
          </a:p>
        </p:txBody>
      </p:sp>
      <p:pic>
        <p:nvPicPr>
          <p:cNvPr id="13" name="Image 2" descr="gen-dedup-08173c94900e9aa2377887198bd5085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761695" y="4705502"/>
            <a:ext cx="761695" cy="192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61695" y="4901184"/>
            <a:ext cx="5715000" cy="767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5"/>
              </a:lnSpc>
              <a:buNone/>
            </a:pP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법의 축은 </a:t>
            </a:r>
            <a:r>
              <a:rPr lang="en-US" sz="16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 가지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구성</a:t>
            </a:r>
            <a:endParaRPr lang="en-US" sz="1650" dirty="0"/>
          </a:p>
          <a:p>
            <a:pPr marL="0" indent="0" algn="l">
              <a:lnSpc>
                <a:spcPts val="2805"/>
              </a:lnSpc>
              <a:buNone/>
            </a:pPr>
            <a:r>
              <a:rPr lang="en-US" sz="16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→ 해외법 → 국내법 → 종합 사례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층위로 쌓임</a:t>
            </a:r>
            <a:endParaRPr lang="en-US" sz="1650" dirty="0"/>
          </a:p>
        </p:txBody>
      </p:sp>
      <p:sp>
        <p:nvSpPr>
          <p:cNvPr id="15" name="Shape 9"/>
          <p:cNvSpPr/>
          <p:nvPr/>
        </p:nvSpPr>
        <p:spPr>
          <a:xfrm>
            <a:off x="761695" y="5894222"/>
            <a:ext cx="5715000" cy="866851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16" name="Shape 10"/>
          <p:cNvSpPr/>
          <p:nvPr/>
        </p:nvSpPr>
        <p:spPr>
          <a:xfrm>
            <a:off x="761695" y="5894222"/>
            <a:ext cx="38405" cy="866851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990295" y="5894222"/>
            <a:ext cx="5486400" cy="8668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52400" rIns="190500" bIns="15240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전반부 8주 =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이 단계를 마치면 Case Study 1과 중간고사로 점검.</a:t>
            </a:r>
            <a:endParaRPr lang="en-US" sz="1425" dirty="0"/>
          </a:p>
        </p:txBody>
      </p:sp>
      <p:sp>
        <p:nvSpPr>
          <p:cNvPr id="18" name="Shape 12"/>
          <p:cNvSpPr/>
          <p:nvPr/>
        </p:nvSpPr>
        <p:spPr>
          <a:xfrm>
            <a:off x="7239305" y="3905402"/>
            <a:ext cx="381305" cy="381305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7239305" y="3905402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①②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7753198" y="3905402"/>
            <a:ext cx="2411273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거버넌스 개론</a:t>
            </a:r>
            <a:endParaRPr lang="en-US" sz="2100" dirty="0"/>
          </a:p>
        </p:txBody>
      </p:sp>
      <p:sp>
        <p:nvSpPr>
          <p:cNvPr id="21" name="Text 15"/>
          <p:cNvSpPr txBox="1"/>
          <p:nvPr/>
        </p:nvSpPr>
        <p:spPr>
          <a:xfrm>
            <a:off x="7753198" y="4327855"/>
            <a:ext cx="3486607" cy="587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1–2주차 · 09.03, 09.10</a:t>
            </a:r>
            <a:endParaRPr lang="en-US" sz="135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· 필요성 · 법규제 기초 이론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239305" y="5238598"/>
            <a:ext cx="381305" cy="381305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239305" y="5238598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③④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7753198" y="5238598"/>
            <a:ext cx="1541678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EU AI Act</a:t>
            </a:r>
            <a:endParaRPr lang="en-US" sz="2100" dirty="0"/>
          </a:p>
        </p:txBody>
      </p:sp>
      <p:sp>
        <p:nvSpPr>
          <p:cNvPr id="25" name="Text 19"/>
          <p:cNvSpPr txBox="1"/>
          <p:nvPr/>
        </p:nvSpPr>
        <p:spPr>
          <a:xfrm>
            <a:off x="7753198" y="5661050"/>
            <a:ext cx="3486607" cy="587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3–4주차 · 09.17 </a:t>
            </a:r>
            <a:r>
              <a:rPr lang="en-US" sz="1350" dirty="0">
                <a:solidFill>
                  <a:srgbClr val="B834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(09.24 휴강)</a:t>
            </a:r>
            <a:endParaRPr lang="en-US" sz="135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세계 최초 포괄 규제 · 고위험 · 생성형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7239305" y="6572707"/>
            <a:ext cx="381305" cy="381305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239305" y="6572707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⑤⑥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7753198" y="6572707"/>
            <a:ext cx="178033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국내 AI 법제</a:t>
            </a:r>
            <a:endParaRPr lang="en-US" sz="2100" dirty="0"/>
          </a:p>
        </p:txBody>
      </p:sp>
      <p:sp>
        <p:nvSpPr>
          <p:cNvPr id="29" name="Text 23"/>
          <p:cNvSpPr txBox="1"/>
          <p:nvPr/>
        </p:nvSpPr>
        <p:spPr>
          <a:xfrm>
            <a:off x="7753198" y="6995160"/>
            <a:ext cx="3486607" cy="587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5–6주차 · 10.01, 10.08</a:t>
            </a:r>
            <a:endParaRPr lang="en-US" sz="135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기본법 · 시행령 · 관련 법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7239305" y="7905902"/>
            <a:ext cx="381305" cy="381305"/>
          </a:xfrm>
          <a:prstGeom prst="ellipse">
            <a:avLst/>
          </a:prstGeom>
          <a:solidFill>
            <a:srgbClr val="C9A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239305" y="7905902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⑦⑧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7753198" y="7905902"/>
            <a:ext cx="308335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Case Study 1 &amp; 시험</a:t>
            </a:r>
            <a:endParaRPr lang="en-US" sz="2100" dirty="0"/>
          </a:p>
        </p:txBody>
      </p:sp>
      <p:sp>
        <p:nvSpPr>
          <p:cNvPr id="33" name="Text 27"/>
          <p:cNvSpPr txBox="1"/>
          <p:nvPr/>
        </p:nvSpPr>
        <p:spPr>
          <a:xfrm>
            <a:off x="7753198" y="8328355"/>
            <a:ext cx="3486607" cy="587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7–8주차 · 10.15, 10.22</a:t>
            </a:r>
            <a:endParaRPr lang="en-US" sz="135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및 중간고사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11811305" y="3905402"/>
            <a:ext cx="5334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국내 AI 법제 · 다루는 법률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11811305" y="4123030"/>
            <a:ext cx="5334610" cy="1839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79"/>
              </a:lnSpc>
              <a:buNone/>
            </a:pPr>
            <a:r>
              <a:rPr lang="en-US" sz="142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인공지능 발전과 신뢰 기반 조성 등에 관한 기본법</a:t>
            </a:r>
            <a:endParaRPr lang="en-US" sz="1425" dirty="0"/>
          </a:p>
          <a:p>
            <a:pPr marL="0" indent="0" algn="l">
              <a:lnSpc>
                <a:spcPts val="2779"/>
              </a:lnSpc>
              <a:buNone/>
            </a:pPr>
            <a:r>
              <a:rPr lang="en-US" sz="142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동법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시행령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하위 고시</a:t>
            </a:r>
            <a:endParaRPr lang="en-US" sz="1425" dirty="0"/>
          </a:p>
          <a:p>
            <a:pPr marL="0" indent="0" algn="l">
              <a:lnSpc>
                <a:spcPts val="2779"/>
              </a:lnSpc>
              <a:buNone/>
            </a:pPr>
            <a:r>
              <a:rPr lang="en-US" sz="142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지식재산기본법 · 저작권법</a:t>
            </a:r>
            <a:endParaRPr lang="en-US" sz="1425" dirty="0"/>
          </a:p>
          <a:p>
            <a:pPr marL="0" indent="0" algn="l">
              <a:lnSpc>
                <a:spcPts val="2779"/>
              </a:lnSpc>
              <a:buNone/>
            </a:pPr>
            <a:r>
              <a:rPr lang="en-US" sz="142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개인정보보호법 (PIPA)</a:t>
            </a:r>
            <a:endParaRPr lang="en-US" sz="1425" dirty="0"/>
          </a:p>
          <a:p>
            <a:pPr marL="0" indent="0" algn="l">
              <a:lnSpc>
                <a:spcPts val="2779"/>
              </a:lnSpc>
              <a:buNone/>
            </a:pPr>
            <a:r>
              <a:rPr lang="en-US" sz="142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지능정보화 기본법</a:t>
            </a:r>
            <a:endParaRPr lang="en-US" sz="1425" dirty="0"/>
          </a:p>
        </p:txBody>
      </p:sp>
      <p:sp>
        <p:nvSpPr>
          <p:cNvPr id="36" name="Shape 30"/>
          <p:cNvSpPr/>
          <p:nvPr/>
        </p:nvSpPr>
        <p:spPr>
          <a:xfrm>
            <a:off x="11811305" y="6203290"/>
            <a:ext cx="5333695" cy="838505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37" name="Shape 31"/>
          <p:cNvSpPr/>
          <p:nvPr/>
        </p:nvSpPr>
        <p:spPr>
          <a:xfrm>
            <a:off x="11811305" y="6203290"/>
            <a:ext cx="47549" cy="8385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12049049" y="6355080"/>
            <a:ext cx="4905756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AI 기본법은 법률 본문(43조) +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시행령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+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과기정통부 가이드라인 5종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결합돼 실제 규범을 완성. 가이드라인은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9주차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별도로 구성.</a:t>
            </a:r>
            <a:endParaRPr lang="en-US" sz="1350" dirty="0"/>
          </a:p>
        </p:txBody>
      </p:sp>
      <p:sp>
        <p:nvSpPr>
          <p:cNvPr id="39" name="Shape 33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43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667805" y="3333902"/>
            <a:ext cx="5143500" cy="600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2191695" y="3333902"/>
            <a:ext cx="5333695" cy="6001207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6" name="Shape 2"/>
          <p:cNvSpPr/>
          <p:nvPr/>
        </p:nvSpPr>
        <p:spPr>
          <a:xfrm>
            <a:off x="12191695" y="3333902"/>
            <a:ext cx="47549" cy="60012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7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809951"/>
            <a:ext cx="761695" cy="2834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9" name="Shape 4"/>
          <p:cNvSpPr/>
          <p:nvPr/>
        </p:nvSpPr>
        <p:spPr>
          <a:xfrm>
            <a:off x="761695" y="1143000"/>
            <a:ext cx="2352751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61695" y="1143000"/>
            <a:ext cx="23527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ORIENTATION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1619402"/>
            <a:ext cx="16764610" cy="876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구성 (2) · 실행 · 표준 · 연구</a:t>
            </a:r>
            <a:endParaRPr lang="en-US" sz="48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2572207"/>
            <a:ext cx="16764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Course Structure · Implementation · Standards · Research · Week 9–16</a:t>
            </a:r>
            <a:endParaRPr lang="en-US" sz="1950" dirty="0"/>
          </a:p>
        </p:txBody>
      </p:sp>
      <p:sp>
        <p:nvSpPr>
          <p:cNvPr id="13" name="Text 8"/>
          <p:cNvSpPr txBox="1"/>
          <p:nvPr/>
        </p:nvSpPr>
        <p:spPr>
          <a:xfrm>
            <a:off x="761695" y="3333902"/>
            <a:ext cx="5524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· IMPLEMENT &amp; RESEARCH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3657600"/>
            <a:ext cx="5524805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실행 · 표준</a:t>
            </a:r>
            <a:endParaRPr lang="en-US" sz="3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· 연구</a:t>
            </a:r>
            <a:endParaRPr lang="en-US" sz="3300" dirty="0"/>
          </a:p>
        </p:txBody>
      </p:sp>
      <p:pic>
        <p:nvPicPr>
          <p:cNvPr id="15" name="Image 2" descr="gen-dedup-08173c94900e9aa2377887198bd5085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761695" y="4788713"/>
            <a:ext cx="761695" cy="192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61695" y="5017313"/>
            <a:ext cx="5524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8"/>
              </a:lnSpc>
              <a:buNone/>
            </a:pP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후반부 8주는 </a:t>
            </a:r>
            <a:r>
              <a:rPr lang="en-US" sz="15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 가지 + 종합</a:t>
            </a: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가이드라인·기술·표준으로 </a:t>
            </a:r>
            <a:r>
              <a:rPr lang="en-US" sz="15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</a:t>
            </a: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배우고, 연구방법론·선행연구·실무사례로 </a:t>
            </a:r>
            <a:r>
              <a:rPr lang="en-US" sz="15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</a:t>
            </a: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완성</a:t>
            </a:r>
            <a:endParaRPr lang="en-US" sz="1575" dirty="0"/>
          </a:p>
        </p:txBody>
      </p:sp>
      <p:sp>
        <p:nvSpPr>
          <p:cNvPr id="17" name="Shape 11"/>
          <p:cNvSpPr/>
          <p:nvPr/>
        </p:nvSpPr>
        <p:spPr>
          <a:xfrm>
            <a:off x="761695" y="5926226"/>
            <a:ext cx="5524805" cy="590702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18" name="Shape 12"/>
          <p:cNvSpPr/>
          <p:nvPr/>
        </p:nvSpPr>
        <p:spPr>
          <a:xfrm>
            <a:off x="761695" y="5926226"/>
            <a:ext cx="38405" cy="590702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990295" y="5926226"/>
            <a:ext cx="5296205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152400" rIns="190500" bIns="15240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과목명의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"연구방법론"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실현되는 구간 — 최종 산출물은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소논문</a:t>
            </a:r>
            <a:endParaRPr lang="en-US" sz="1425" dirty="0"/>
          </a:p>
        </p:txBody>
      </p:sp>
      <p:sp>
        <p:nvSpPr>
          <p:cNvPr id="20" name="Shape 14"/>
          <p:cNvSpPr/>
          <p:nvPr/>
        </p:nvSpPr>
        <p:spPr>
          <a:xfrm>
            <a:off x="7010705" y="3600907"/>
            <a:ext cx="342900" cy="342900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010705" y="3600907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①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7467905" y="3600907"/>
            <a:ext cx="17446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가이드라인</a:t>
            </a:r>
            <a:endParaRPr lang="en-US" sz="1875" dirty="0"/>
          </a:p>
        </p:txBody>
      </p:sp>
      <p:sp>
        <p:nvSpPr>
          <p:cNvPr id="23" name="Text 17"/>
          <p:cNvSpPr txBox="1"/>
          <p:nvPr/>
        </p:nvSpPr>
        <p:spPr>
          <a:xfrm>
            <a:off x="7467905" y="3981298"/>
            <a:ext cx="40197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9주차 · 10.29 · 기본법의 실제 적용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010705" y="4401007"/>
            <a:ext cx="342900" cy="342900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010705" y="4401007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②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467905" y="4401007"/>
            <a:ext cx="21534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거버넌스 기술</a:t>
            </a:r>
            <a:endParaRPr lang="en-US" sz="1875" dirty="0"/>
          </a:p>
        </p:txBody>
      </p:sp>
      <p:sp>
        <p:nvSpPr>
          <p:cNvPr id="27" name="Text 21"/>
          <p:cNvSpPr txBox="1"/>
          <p:nvPr/>
        </p:nvSpPr>
        <p:spPr>
          <a:xfrm>
            <a:off x="7467905" y="4781398"/>
            <a:ext cx="40197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10주차 · 11.05 · 기술 구조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7010705" y="5201107"/>
            <a:ext cx="342900" cy="342900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010705" y="5201107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③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7467905" y="5201107"/>
            <a:ext cx="149047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국제표준</a:t>
            </a:r>
            <a:endParaRPr lang="en-US" sz="1875" dirty="0"/>
          </a:p>
        </p:txBody>
      </p:sp>
      <p:sp>
        <p:nvSpPr>
          <p:cNvPr id="31" name="Text 25"/>
          <p:cNvSpPr txBox="1"/>
          <p:nvPr/>
        </p:nvSpPr>
        <p:spPr>
          <a:xfrm>
            <a:off x="7467905" y="5581498"/>
            <a:ext cx="40197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11주차 · 11.12 · ISO/IEC SC 42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7010705" y="6001207"/>
            <a:ext cx="342900" cy="342900"/>
          </a:xfrm>
          <a:prstGeom prst="ellipse">
            <a:avLst/>
          </a:prstGeom>
          <a:solidFill>
            <a:srgbClr val="C9A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010705" y="6001207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④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7467905" y="6001207"/>
            <a:ext cx="127375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연구방법론</a:t>
            </a:r>
            <a:endParaRPr lang="en-US" sz="1875" dirty="0"/>
          </a:p>
        </p:txBody>
      </p:sp>
      <p:sp>
        <p:nvSpPr>
          <p:cNvPr id="35" name="Text 29"/>
          <p:cNvSpPr txBox="1"/>
          <p:nvPr/>
        </p:nvSpPr>
        <p:spPr>
          <a:xfrm>
            <a:off x="7467905" y="6381598"/>
            <a:ext cx="40197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A2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12주차 · 11.19 · 전환점 ★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7010705" y="6801307"/>
            <a:ext cx="342900" cy="342900"/>
          </a:xfrm>
          <a:prstGeom prst="ellipse">
            <a:avLst/>
          </a:prstGeom>
          <a:solidFill>
            <a:srgbClr val="C9A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010705" y="6801307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⑤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7467905" y="6801307"/>
            <a:ext cx="168158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선행연구 분석</a:t>
            </a:r>
            <a:endParaRPr lang="en-US" sz="1875" dirty="0"/>
          </a:p>
        </p:txBody>
      </p:sp>
      <p:sp>
        <p:nvSpPr>
          <p:cNvPr id="39" name="Text 33"/>
          <p:cNvSpPr txBox="1"/>
          <p:nvPr/>
        </p:nvSpPr>
        <p:spPr>
          <a:xfrm>
            <a:off x="7467905" y="7181698"/>
            <a:ext cx="40197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13주차 · 11.26 · 문헌 리뷰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7010705" y="7601407"/>
            <a:ext cx="342900" cy="342900"/>
          </a:xfrm>
          <a:prstGeom prst="ellipse">
            <a:avLst/>
          </a:prstGeom>
          <a:solidFill>
            <a:srgbClr val="C9A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7010705" y="7601407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⑥</a:t>
            </a:r>
            <a:endParaRPr lang="en-US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7467905" y="7601407"/>
            <a:ext cx="168158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실무사례 분석</a:t>
            </a:r>
            <a:endParaRPr lang="en-US" sz="1875" dirty="0"/>
          </a:p>
        </p:txBody>
      </p:sp>
      <p:sp>
        <p:nvSpPr>
          <p:cNvPr id="43" name="Text 37"/>
          <p:cNvSpPr txBox="1"/>
          <p:nvPr/>
        </p:nvSpPr>
        <p:spPr>
          <a:xfrm>
            <a:off x="7467905" y="7981798"/>
            <a:ext cx="40197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14주차 · 12.03 · 분야별 적용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7010705" y="8401507"/>
            <a:ext cx="342900" cy="342900"/>
          </a:xfrm>
          <a:prstGeom prst="ellipse">
            <a:avLst/>
          </a:prstGeom>
          <a:solidFill>
            <a:srgbClr val="024A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7010705" y="8401507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⑦⑧</a:t>
            </a:r>
            <a:endParaRPr lang="en-US" sz="1125" dirty="0"/>
          </a:p>
        </p:txBody>
      </p:sp>
      <p:sp>
        <p:nvSpPr>
          <p:cNvPr id="46" name="Text 40"/>
          <p:cNvSpPr txBox="1"/>
          <p:nvPr/>
        </p:nvSpPr>
        <p:spPr>
          <a:xfrm>
            <a:off x="7467905" y="8401507"/>
            <a:ext cx="211043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Case 2 &amp; 소논문</a:t>
            </a:r>
            <a:endParaRPr lang="en-US" sz="1875" dirty="0"/>
          </a:p>
        </p:txBody>
      </p:sp>
      <p:sp>
        <p:nvSpPr>
          <p:cNvPr id="47" name="Text 41"/>
          <p:cNvSpPr txBox="1"/>
          <p:nvPr/>
        </p:nvSpPr>
        <p:spPr>
          <a:xfrm>
            <a:off x="7467905" y="8781898"/>
            <a:ext cx="40197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15–16주차 · 12.10, 12.17</a:t>
            </a:r>
            <a:endParaRPr lang="en-US" sz="1200" dirty="0"/>
          </a:p>
        </p:txBody>
      </p:sp>
      <p:sp>
        <p:nvSpPr>
          <p:cNvPr id="48" name="Text 42"/>
          <p:cNvSpPr txBox="1"/>
          <p:nvPr/>
        </p:nvSpPr>
        <p:spPr>
          <a:xfrm>
            <a:off x="12477902" y="3600907"/>
            <a:ext cx="476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11주차 상세 · ISO/IEC 5단계</a:t>
            </a:r>
            <a:endParaRPr lang="en-US" sz="1050" dirty="0"/>
          </a:p>
        </p:txBody>
      </p:sp>
      <p:sp>
        <p:nvSpPr>
          <p:cNvPr id="49" name="Text 43"/>
          <p:cNvSpPr txBox="1"/>
          <p:nvPr/>
        </p:nvSpPr>
        <p:spPr>
          <a:xfrm>
            <a:off x="12477902" y="3847795"/>
            <a:ext cx="476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준비 → 방향 → 시스템 → 실행 → 검증</a:t>
            </a:r>
            <a:endParaRPr lang="en-US" sz="1725" dirty="0"/>
          </a:p>
        </p:txBody>
      </p:sp>
      <p:pic>
        <p:nvPicPr>
          <p:cNvPr id="50" name="Image 3" descr="gen-dedup-08173c94900e9aa2377887198bd5085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12477902" y="4315054"/>
            <a:ext cx="761695" cy="19202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12477902" y="4441241"/>
            <a:ext cx="476311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31"/>
              </a:lnSpc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준비 단계</a:t>
            </a:r>
            <a:endParaRPr lang="en-US" sz="1275" dirty="0"/>
          </a:p>
          <a:p>
            <a:pPr marL="0" indent="0" algn="l">
              <a:lnSpc>
                <a:spcPts val="2231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22989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(개념·용어) 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23053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(ML 프레임워크)</a:t>
            </a:r>
            <a:endParaRPr lang="en-US" sz="1275" dirty="0"/>
          </a:p>
        </p:txBody>
      </p:sp>
      <p:sp>
        <p:nvSpPr>
          <p:cNvPr id="52" name="Text 45"/>
          <p:cNvSpPr txBox="1"/>
          <p:nvPr/>
        </p:nvSpPr>
        <p:spPr>
          <a:xfrm>
            <a:off x="12477902" y="5131613"/>
            <a:ext cx="476311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31"/>
              </a:lnSpc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방향 설정</a:t>
            </a:r>
            <a:endParaRPr lang="en-US" sz="1275" dirty="0"/>
          </a:p>
          <a:p>
            <a:pPr marL="0" indent="0" algn="l">
              <a:lnSpc>
                <a:spcPts val="2231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38507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(AI 거버넌스)</a:t>
            </a:r>
            <a:endParaRPr lang="en-US" sz="1275" dirty="0"/>
          </a:p>
        </p:txBody>
      </p:sp>
      <p:sp>
        <p:nvSpPr>
          <p:cNvPr id="53" name="Text 46"/>
          <p:cNvSpPr txBox="1"/>
          <p:nvPr/>
        </p:nvSpPr>
        <p:spPr>
          <a:xfrm>
            <a:off x="12477902" y="5822899"/>
            <a:ext cx="476311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31"/>
              </a:lnSpc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시스템 구축</a:t>
            </a:r>
            <a:endParaRPr lang="en-US" sz="1275" dirty="0"/>
          </a:p>
          <a:p>
            <a:pPr marL="0" indent="0" algn="l">
              <a:lnSpc>
                <a:spcPts val="2231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42001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(경영시스템) 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25059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(품질 모델)</a:t>
            </a:r>
            <a:endParaRPr lang="en-US" sz="1275" dirty="0"/>
          </a:p>
        </p:txBody>
      </p:sp>
      <p:sp>
        <p:nvSpPr>
          <p:cNvPr id="54" name="Text 47"/>
          <p:cNvSpPr txBox="1"/>
          <p:nvPr/>
        </p:nvSpPr>
        <p:spPr>
          <a:xfrm>
            <a:off x="12477902" y="6513271"/>
            <a:ext cx="4763110" cy="902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31"/>
              </a:lnSpc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실행 및 관리</a:t>
            </a:r>
            <a:endParaRPr lang="en-US" sz="1275" dirty="0"/>
          </a:p>
          <a:p>
            <a:pPr marL="0" indent="0" algn="l">
              <a:lnSpc>
                <a:spcPts val="2231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5259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(데이터 품질) 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23894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(리스크) 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27090/27091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(정보 보호)</a:t>
            </a:r>
            <a:endParaRPr lang="en-US" sz="1275" dirty="0"/>
          </a:p>
        </p:txBody>
      </p:sp>
      <p:sp>
        <p:nvSpPr>
          <p:cNvPr id="55" name="Text 48"/>
          <p:cNvSpPr txBox="1"/>
          <p:nvPr/>
        </p:nvSpPr>
        <p:spPr>
          <a:xfrm>
            <a:off x="12477902" y="7487107"/>
            <a:ext cx="476311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31"/>
              </a:lnSpc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검증 및 개선</a:t>
            </a:r>
            <a:endParaRPr lang="en-US" sz="1275" dirty="0"/>
          </a:p>
          <a:p>
            <a:pPr marL="0" indent="0" algn="l">
              <a:lnSpc>
                <a:spcPts val="2231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24029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(분석적 평가) 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24028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(신뢰성 편향)</a:t>
            </a:r>
            <a:endParaRPr lang="en-US" sz="1275" dirty="0"/>
          </a:p>
        </p:txBody>
      </p:sp>
      <p:sp>
        <p:nvSpPr>
          <p:cNvPr id="56" name="Shape 49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57" name="Text 50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43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4476902"/>
            <a:ext cx="11048695" cy="4667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4476902"/>
            <a:ext cx="11048695" cy="576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2001500" y="4476902"/>
            <a:ext cx="5524805" cy="4667098"/>
          </a:xfrm>
          <a:prstGeom prst="rect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9" name="Shape 4"/>
          <p:cNvSpPr/>
          <p:nvPr/>
        </p:nvSpPr>
        <p:spPr>
          <a:xfrm>
            <a:off x="761695" y="1143000"/>
            <a:ext cx="1876349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61695" y="1143000"/>
            <a:ext cx="1877263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CONCEPT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거버넌스 · 이 단어는 어디에서 왔는가?</a:t>
            </a:r>
            <a:endParaRPr lang="en-US" sz="54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Governance · The Origin of the Word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4762195"/>
            <a:ext cx="10287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ETYMOLOGY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4990795"/>
            <a:ext cx="1086307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Governance ← gubernare (라틴어) ← κυβερνάω (그리스어)</a:t>
            </a:r>
            <a:endParaRPr lang="en-US" sz="2700" dirty="0"/>
          </a:p>
        </p:txBody>
      </p:sp>
      <p:pic>
        <p:nvPicPr>
          <p:cNvPr id="15" name="Image 2" descr="gen-dedup-08173c94900e9aa2377887198bd5085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1143000" y="5686654"/>
            <a:ext cx="761695" cy="192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43000" y="5915254"/>
            <a:ext cx="10287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8"/>
              </a:lnSpc>
              <a:buNone/>
            </a:pP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원어는 그리스어 </a:t>
            </a:r>
            <a:r>
              <a:rPr lang="en-US" sz="15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kybernáō</a:t>
            </a: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"</a:t>
            </a:r>
            <a:r>
              <a:rPr lang="en-US" sz="15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배의 키를 잡다</a:t>
            </a: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". 이 단어에서 "cybernetics(사이버네틱스)"도 파생 즉 </a:t>
            </a:r>
            <a:r>
              <a:rPr lang="en-US" sz="15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 = 방향을 잡는 행위</a:t>
            </a: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이지, 규제(regulation)나 통치(government)와 같은 말이 아님</a:t>
            </a:r>
            <a:endParaRPr lang="en-US" sz="1575" dirty="0"/>
          </a:p>
        </p:txBody>
      </p:sp>
      <p:sp>
        <p:nvSpPr>
          <p:cNvPr id="17" name="Shape 11"/>
          <p:cNvSpPr/>
          <p:nvPr/>
        </p:nvSpPr>
        <p:spPr>
          <a:xfrm>
            <a:off x="1143000" y="6842455"/>
            <a:ext cx="3305556" cy="1162202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18" name="Shape 12"/>
          <p:cNvSpPr/>
          <p:nvPr/>
        </p:nvSpPr>
        <p:spPr>
          <a:xfrm>
            <a:off x="1143000" y="6842455"/>
            <a:ext cx="38405" cy="1162202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1371600" y="7014362"/>
            <a:ext cx="28867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Government</a:t>
            </a:r>
            <a:endParaRPr lang="en-US" sz="1650" dirty="0"/>
          </a:p>
        </p:txBody>
      </p:sp>
      <p:sp>
        <p:nvSpPr>
          <p:cNvPr id="20" name="Text 14"/>
          <p:cNvSpPr txBox="1"/>
          <p:nvPr/>
        </p:nvSpPr>
        <p:spPr>
          <a:xfrm>
            <a:off x="1371600" y="7347204"/>
            <a:ext cx="330007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통치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정부·국가가 위에서 아래로 지시.</a:t>
            </a:r>
            <a:endParaRPr lang="en-US" sz="1275" dirty="0"/>
          </a:p>
        </p:txBody>
      </p:sp>
      <p:sp>
        <p:nvSpPr>
          <p:cNvPr id="21" name="Shape 15"/>
          <p:cNvSpPr/>
          <p:nvPr/>
        </p:nvSpPr>
        <p:spPr>
          <a:xfrm>
            <a:off x="4635094" y="6842455"/>
            <a:ext cx="3305556" cy="1162202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22" name="Shape 16"/>
          <p:cNvSpPr/>
          <p:nvPr/>
        </p:nvSpPr>
        <p:spPr>
          <a:xfrm>
            <a:off x="4635094" y="6842455"/>
            <a:ext cx="38405" cy="1162202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4863694" y="7014362"/>
            <a:ext cx="28867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Regulation</a:t>
            </a:r>
            <a:endParaRPr lang="en-US" sz="1650" dirty="0"/>
          </a:p>
        </p:txBody>
      </p:sp>
      <p:sp>
        <p:nvSpPr>
          <p:cNvPr id="24" name="Text 18"/>
          <p:cNvSpPr txBox="1"/>
          <p:nvPr/>
        </p:nvSpPr>
        <p:spPr>
          <a:xfrm>
            <a:off x="4863694" y="7347204"/>
            <a:ext cx="28867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특정 행위에 대한 강제 규칙.</a:t>
            </a:r>
            <a:endParaRPr lang="en-US" sz="1275" dirty="0"/>
          </a:p>
        </p:txBody>
      </p:sp>
      <p:sp>
        <p:nvSpPr>
          <p:cNvPr id="25" name="Shape 19"/>
          <p:cNvSpPr/>
          <p:nvPr/>
        </p:nvSpPr>
        <p:spPr>
          <a:xfrm>
            <a:off x="8128102" y="6842455"/>
            <a:ext cx="3305556" cy="1162202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26" name="Shape 20"/>
          <p:cNvSpPr/>
          <p:nvPr/>
        </p:nvSpPr>
        <p:spPr>
          <a:xfrm>
            <a:off x="8128102" y="6842455"/>
            <a:ext cx="38405" cy="1162202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8356702" y="7014362"/>
            <a:ext cx="28867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9A2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Governance</a:t>
            </a:r>
            <a:endParaRPr lang="en-US" sz="1650" dirty="0"/>
          </a:p>
        </p:txBody>
      </p:sp>
      <p:sp>
        <p:nvSpPr>
          <p:cNvPr id="28" name="Text 22"/>
          <p:cNvSpPr txBox="1"/>
          <p:nvPr/>
        </p:nvSpPr>
        <p:spPr>
          <a:xfrm>
            <a:off x="8356702" y="7347204"/>
            <a:ext cx="288676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협치·방향설정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여러 주체가 함께 방향을 잡음.</a:t>
            </a:r>
            <a:endParaRPr lang="en-US" sz="1275" dirty="0"/>
          </a:p>
        </p:txBody>
      </p:sp>
      <p:sp>
        <p:nvSpPr>
          <p:cNvPr id="29" name="Shape 23"/>
          <p:cNvSpPr/>
          <p:nvPr/>
        </p:nvSpPr>
        <p:spPr>
          <a:xfrm>
            <a:off x="1143000" y="8214055"/>
            <a:ext cx="10287000" cy="523951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30" name="Shape 24"/>
          <p:cNvSpPr/>
          <p:nvPr/>
        </p:nvSpPr>
        <p:spPr>
          <a:xfrm>
            <a:off x="1143000" y="8214055"/>
            <a:ext cx="47549" cy="523951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1380744" y="8347558"/>
            <a:ext cx="11485778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통찰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거버넌스는 "누가 지배하느냐"가 아니라 "누가 함께 방향을 잡느냐"의 문제.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이해관계자(multi-stakeholder)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전제.</a:t>
            </a:r>
            <a:endParaRPr lang="en-US" sz="1350" dirty="0"/>
          </a:p>
        </p:txBody>
      </p:sp>
      <p:sp>
        <p:nvSpPr>
          <p:cNvPr id="32" name="Text 26"/>
          <p:cNvSpPr txBox="1"/>
          <p:nvPr/>
        </p:nvSpPr>
        <p:spPr>
          <a:xfrm>
            <a:off x="12382805" y="4762195"/>
            <a:ext cx="4763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WAVES OF GOVERNANCE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12382805" y="4990795"/>
            <a:ext cx="476311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거버넌스 개념의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3단계 확장</a:t>
            </a:r>
            <a:endParaRPr lang="en-US" sz="2400" dirty="0"/>
          </a:p>
        </p:txBody>
      </p:sp>
      <p:pic>
        <p:nvPicPr>
          <p:cNvPr id="34" name="Image 3" descr="gen-dedup-e1c269e30e576df964e2a3ec780fd27a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2382805" y="5901538"/>
            <a:ext cx="571500" cy="1920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2382805" y="6130138"/>
            <a:ext cx="4763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CC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1990s · Corporate Governance</a:t>
            </a:r>
            <a:endParaRPr lang="en-US" sz="1650" dirty="0"/>
          </a:p>
        </p:txBody>
      </p:sp>
      <p:sp>
        <p:nvSpPr>
          <p:cNvPr id="36" name="Text 29"/>
          <p:cNvSpPr txBox="1"/>
          <p:nvPr/>
        </p:nvSpPr>
        <p:spPr>
          <a:xfrm>
            <a:off x="12382805" y="6486754"/>
            <a:ext cx="47631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23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지배구조. Enron·WorldCom 회계 스캔들 → 이사회·주주·감사의 견제 균형.</a:t>
            </a:r>
            <a:endParaRPr lang="en-US" sz="1425" dirty="0"/>
          </a:p>
        </p:txBody>
      </p:sp>
      <p:sp>
        <p:nvSpPr>
          <p:cNvPr id="37" name="Text 30"/>
          <p:cNvSpPr txBox="1"/>
          <p:nvPr/>
        </p:nvSpPr>
        <p:spPr>
          <a:xfrm>
            <a:off x="12382805" y="7273138"/>
            <a:ext cx="4763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CC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2000s · IT Governance</a:t>
            </a:r>
            <a:endParaRPr lang="en-US" sz="1650" dirty="0"/>
          </a:p>
        </p:txBody>
      </p:sp>
      <p:sp>
        <p:nvSpPr>
          <p:cNvPr id="38" name="Text 31"/>
          <p:cNvSpPr txBox="1"/>
          <p:nvPr/>
        </p:nvSpPr>
        <p:spPr>
          <a:xfrm>
            <a:off x="12382805" y="7629754"/>
            <a:ext cx="47631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23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기업의 IT 투자·리스크를 이사회 아젠다로. ITGI·ISACA가 </a:t>
            </a: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COBIT</a:t>
            </a:r>
            <a:r>
              <a:rPr lang="en-US" sz="14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발간.</a:t>
            </a:r>
            <a:endParaRPr lang="en-US" sz="1425" dirty="0"/>
          </a:p>
        </p:txBody>
      </p:sp>
      <p:sp>
        <p:nvSpPr>
          <p:cNvPr id="39" name="Text 32"/>
          <p:cNvSpPr txBox="1"/>
          <p:nvPr/>
        </p:nvSpPr>
        <p:spPr>
          <a:xfrm>
            <a:off x="12382805" y="8416138"/>
            <a:ext cx="4763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CC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2020s · AI Governance</a:t>
            </a:r>
            <a:endParaRPr lang="en-US" sz="1650" dirty="0"/>
          </a:p>
        </p:txBody>
      </p:sp>
      <p:sp>
        <p:nvSpPr>
          <p:cNvPr id="40" name="Text 33"/>
          <p:cNvSpPr txBox="1"/>
          <p:nvPr/>
        </p:nvSpPr>
        <p:spPr>
          <a:xfrm>
            <a:off x="12382805" y="8772754"/>
            <a:ext cx="5750662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 거버넌스의 </a:t>
            </a: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</a:t>
            </a:r>
            <a:r>
              <a:rPr lang="en-US" sz="14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AI 고유 위험(블랙박스·편향·자율성) 추가</a:t>
            </a:r>
            <a:endParaRPr lang="en-US" sz="1425" dirty="0"/>
          </a:p>
        </p:txBody>
      </p:sp>
      <p:sp>
        <p:nvSpPr>
          <p:cNvPr id="41" name="Shape 34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43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3524098"/>
            <a:ext cx="16763695" cy="1238098"/>
          </a:xfrm>
          <a:prstGeom prst="rect">
            <a:avLst/>
          </a:prstGeom>
          <a:solidFill>
            <a:srgbClr val="FFFFFF"/>
          </a:solidFill>
          <a:ln w="76200">
            <a:solidFill>
              <a:srgbClr val="036B3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0668305" y="5048402"/>
            <a:ext cx="6858000" cy="4286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0668305" y="5048402"/>
            <a:ext cx="47549" cy="4286707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pic>
        <p:nvPicPr>
          <p:cNvPr id="7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9" name="Shape 4"/>
          <p:cNvSpPr/>
          <p:nvPr/>
        </p:nvSpPr>
        <p:spPr>
          <a:xfrm>
            <a:off x="761695" y="1143000"/>
            <a:ext cx="1876349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61695" y="1143000"/>
            <a:ext cx="1877263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CONCEPT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IT 거버넌스 · AI 거버넌스의 직계 조상</a:t>
            </a:r>
            <a:endParaRPr lang="en-US" sz="54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IT Governance · The Direct Ancestor of AI Governance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1238098" y="3762756"/>
            <a:ext cx="15811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DEFINITION · ISO/IEC 38500 (2015)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1238098" y="4009644"/>
            <a:ext cx="15811805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28"/>
              </a:lnSpc>
              <a:buNone/>
            </a:pPr>
            <a:r>
              <a:rPr lang="en-US" sz="1950" i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"IT 거버넌스는 조직의 </a:t>
            </a:r>
            <a:r>
              <a:rPr lang="en-US" sz="1950" b="1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현재 및 미래의 IT 사용을 지시(direct)하고 통제(control)하는 시스템</a:t>
            </a:r>
            <a:r>
              <a:rPr lang="en-US" sz="1950" i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이며, 이는 조직의 목표와 이해관계자의 기대에 부합해야 한다."</a:t>
            </a:r>
            <a:endParaRPr lang="en-US" sz="195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5048402"/>
            <a:ext cx="9525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FOCUS AREAS · IT GOVERNANCE INSTITUTE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761695" y="5296205"/>
            <a:ext cx="95253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IT 거버넌스가 다루는 5개 영역</a:t>
            </a:r>
            <a:endParaRPr lang="en-US" sz="2400" dirty="0"/>
          </a:p>
        </p:txBody>
      </p:sp>
      <p:pic>
        <p:nvPicPr>
          <p:cNvPr id="17" name="Image 2" descr="gen-dedup-08173c94900e9aa2377887198bd5085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761695" y="5924398"/>
            <a:ext cx="761695" cy="192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61695" y="6133795"/>
            <a:ext cx="4197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195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6095390"/>
            <a:ext cx="42483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전략적 정렬 (Strategic Alignment)</a:t>
            </a: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 전략과 사업 전략의 일치. "왜 이 IT를 도입하는가?"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761695" y="6896405"/>
            <a:ext cx="4197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1950" dirty="0"/>
          </a:p>
        </p:txBody>
      </p:sp>
      <p:sp>
        <p:nvSpPr>
          <p:cNvPr id="21" name="Text 15"/>
          <p:cNvSpPr txBox="1"/>
          <p:nvPr/>
        </p:nvSpPr>
        <p:spPr>
          <a:xfrm>
            <a:off x="1371600" y="6858000"/>
            <a:ext cx="31629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전달 (Value Delivery)</a:t>
            </a: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 투자로 실제 사업 가치를 창출하는가?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61695" y="7658100"/>
            <a:ext cx="4197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1950" dirty="0"/>
          </a:p>
        </p:txBody>
      </p:sp>
      <p:sp>
        <p:nvSpPr>
          <p:cNvPr id="23" name="Text 17"/>
          <p:cNvSpPr txBox="1"/>
          <p:nvPr/>
        </p:nvSpPr>
        <p:spPr>
          <a:xfrm>
            <a:off x="1371600" y="7619695"/>
            <a:ext cx="4506163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관리 (Risk Management)</a:t>
            </a: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 관련 위험 - 보안·개인정보·시스템 장애 - 식별과 완화.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61695" y="8419795"/>
            <a:ext cx="4197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1950" dirty="0"/>
          </a:p>
        </p:txBody>
      </p:sp>
      <p:sp>
        <p:nvSpPr>
          <p:cNvPr id="25" name="Text 19"/>
          <p:cNvSpPr txBox="1"/>
          <p:nvPr/>
        </p:nvSpPr>
        <p:spPr>
          <a:xfrm>
            <a:off x="1371600" y="8381390"/>
            <a:ext cx="31153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 관리 (Resource Management)</a:t>
            </a: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인력·데이터·인프라·예산의 최적 배분.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61695" y="9182405"/>
            <a:ext cx="4197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endParaRPr lang="en-US" sz="1950" dirty="0"/>
          </a:p>
        </p:txBody>
      </p:sp>
      <p:sp>
        <p:nvSpPr>
          <p:cNvPr id="27" name="Text 21"/>
          <p:cNvSpPr txBox="1"/>
          <p:nvPr/>
        </p:nvSpPr>
        <p:spPr>
          <a:xfrm>
            <a:off x="1371600" y="9144000"/>
            <a:ext cx="35058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측정 (Performance Measurement)</a:t>
            </a: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KPI·감사·경영 검토로 지속 개선.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11048695" y="5333695"/>
            <a:ext cx="6096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FRAMEWORKS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11048695" y="5562295"/>
            <a:ext cx="6096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IT 거버넌스의 대표 프레임워크</a:t>
            </a:r>
            <a:endParaRPr lang="en-US" sz="2100" dirty="0"/>
          </a:p>
        </p:txBody>
      </p:sp>
      <p:pic>
        <p:nvPicPr>
          <p:cNvPr id="30" name="Image 3" descr="gen-dedup-e1c269e30e576df964e2a3ec780fd27a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1048695" y="6115507"/>
            <a:ext cx="571500" cy="19202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1048695" y="6305702"/>
            <a:ext cx="28346" cy="599846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11229746" y="6305702"/>
            <a:ext cx="5915254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51"/>
              </a:lnSpc>
              <a:buNone/>
            </a:pPr>
            <a:r>
              <a:rPr lang="en-US" sz="142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COBIT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(Control Objectives for Information and Related Technologies) ·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ISACA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1996년 초판, 현재 COBIT 2019. IT 거버넌스의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사실상 표준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425" dirty="0"/>
          </a:p>
        </p:txBody>
      </p:sp>
      <p:sp>
        <p:nvSpPr>
          <p:cNvPr id="33" name="Shape 26"/>
          <p:cNvSpPr/>
          <p:nvPr/>
        </p:nvSpPr>
        <p:spPr>
          <a:xfrm>
            <a:off x="11048695" y="7036308"/>
            <a:ext cx="28346" cy="599846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11229746" y="7036308"/>
            <a:ext cx="5915254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51"/>
              </a:lnSpc>
              <a:buNone/>
            </a:pPr>
            <a:r>
              <a:rPr lang="en-US" sz="142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38500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(2008/2015) — IT 거버넌스 국제표준. 이사회 수준의 6원칙 제시.</a:t>
            </a:r>
            <a:endParaRPr lang="en-US" sz="1425" dirty="0"/>
          </a:p>
        </p:txBody>
      </p:sp>
      <p:sp>
        <p:nvSpPr>
          <p:cNvPr id="35" name="Shape 28"/>
          <p:cNvSpPr/>
          <p:nvPr/>
        </p:nvSpPr>
        <p:spPr>
          <a:xfrm>
            <a:off x="11048695" y="7765999"/>
            <a:ext cx="28346" cy="599846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11229746" y="7765999"/>
            <a:ext cx="5915254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51"/>
              </a:lnSpc>
              <a:buNone/>
            </a:pPr>
            <a:r>
              <a:rPr lang="en-US" sz="142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ITIL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(Information Technology Infrastructure Library) — IT 서비스 관리 실무 프레임워크. AXELOS(前 英 정부).</a:t>
            </a:r>
            <a:endParaRPr lang="en-US" sz="1425" dirty="0"/>
          </a:p>
        </p:txBody>
      </p:sp>
      <p:sp>
        <p:nvSpPr>
          <p:cNvPr id="37" name="Shape 30"/>
          <p:cNvSpPr/>
          <p:nvPr/>
        </p:nvSpPr>
        <p:spPr>
          <a:xfrm>
            <a:off x="11048695" y="8496605"/>
            <a:ext cx="28346" cy="599846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11229746" y="8496605"/>
            <a:ext cx="5915254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51"/>
              </a:lnSpc>
              <a:buNone/>
            </a:pPr>
            <a:r>
              <a:rPr lang="en-US" sz="1425" b="1" dirty="0">
                <a:solidFill>
                  <a:srgbClr val="C9A2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38507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(2022) —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사용의 거버넌스 함의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38500의 AI 확장.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거버넌스로 넘어가는 다리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425" dirty="0"/>
          </a:p>
        </p:txBody>
      </p:sp>
      <p:sp>
        <p:nvSpPr>
          <p:cNvPr id="39" name="Shape 32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43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8762695"/>
            <a:ext cx="16763695" cy="952805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5" name="Shape 1"/>
          <p:cNvSpPr/>
          <p:nvPr/>
        </p:nvSpPr>
        <p:spPr>
          <a:xfrm>
            <a:off x="761695" y="8762695"/>
            <a:ext cx="47549" cy="9528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6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809951"/>
            <a:ext cx="761695" cy="2834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8" name="Shape 3"/>
          <p:cNvSpPr/>
          <p:nvPr/>
        </p:nvSpPr>
        <p:spPr>
          <a:xfrm>
            <a:off x="761695" y="1143000"/>
            <a:ext cx="1876349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61695" y="1143000"/>
            <a:ext cx="1877263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CONCEPT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1619402"/>
            <a:ext cx="16764610" cy="876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IT 거버넌스 → AI 거버넌스 · 무엇이 다른가?</a:t>
            </a:r>
            <a:endParaRPr lang="en-US" sz="48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2572207"/>
            <a:ext cx="16764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From IT Governance to AI Governance · What's Genuinely New</a:t>
            </a:r>
            <a:endParaRPr lang="en-US" sz="195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3238805"/>
            <a:ext cx="16764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거버넌스는 IT 거버넌스의 </a:t>
            </a: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계승 + 확장</a:t>
            </a:r>
            <a:r>
              <a:rPr lang="en-US" sz="195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 무엇을 물려받고, 무엇을 새롭게 다루는가.</a:t>
            </a:r>
            <a:endParaRPr lang="en-US" sz="1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3905402"/>
          <a:ext cx="16754551" cy="4163265"/>
        </p:xfrm>
        <a:graphic>
          <a:graphicData uri="http://schemas.openxmlformats.org/drawingml/2006/table">
            <a:tbl>
              <a:tblPr/>
              <a:tblGrid>
                <a:gridCol w="2095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3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25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비교 축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IT 거버넌스 (2000년대~)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거버넌스 (2020년대~)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대상 기술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결정론적(deterministic) IT 시스템 — 코드가 곧 동작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확률적(stochastic)</a:t>
                      </a: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AI 시스템 — 학습 데이터가 동작을 결정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위험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보안 침해 · 시스템 장애 · 개인정보 유출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 </a:t>
                      </a: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편향 · 차별 · 블랙박스 · 지속 학습 · 자율성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결정의 성격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사람이 설계한 규칙에 따른 실행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모델이 </a:t>
                      </a: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자체 학습한 규칙</a:t>
                      </a: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으로 실행 (설계자도 완전 예측 불가)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설명 가능성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코드 리뷰로 원리 규명 가능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본질적으로 어려움</a:t>
                      </a: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— XAI 별도 연구 분야로 존재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변경 관리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배포 시점 = 확정 시점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배포 후에도 </a:t>
                      </a: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지속 학습·업데이트</a:t>
                      </a: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로 동작 변화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이해관계자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주로 조직 내부 (임직원·주주)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 </a:t>
                      </a: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일반 시민 · 학습 데이터 원권리자 · 사회 전반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2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대표 표준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ISO/IEC 38500 · COBIT · ISO 27001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ISO/IEC 38507 (다리) · </a:t>
                      </a: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ISO/IEC 42001</a:t>
                      </a: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23894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2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규제 프레임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개별 도메인 규제 (금융·의료·통신 각각)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수평적 AI 법제</a:t>
                      </a: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(EU AI Act · 한국 AI 기본법)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Text 8"/>
          <p:cNvSpPr txBox="1"/>
          <p:nvPr/>
        </p:nvSpPr>
        <p:spPr>
          <a:xfrm>
            <a:off x="1047902" y="8934602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이번 강의의 시각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1047902" y="9305849"/>
            <a:ext cx="16383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거버넌스를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독립된 새 학문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아니라, IT 거버넌스의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계승이자 확장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그래서 기존 조직의 IT 거버넌스 자산이 있으면 AI 거버넌스 도입 비용이 크게 낮아짐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43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3619195"/>
            <a:ext cx="16763695" cy="2095805"/>
          </a:xfrm>
          <a:prstGeom prst="rect">
            <a:avLst/>
          </a:prstGeom>
          <a:solidFill>
            <a:srgbClr val="FFFFFF"/>
          </a:solidFill>
          <a:ln w="76200">
            <a:solidFill>
              <a:srgbClr val="036B3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6096305"/>
            <a:ext cx="5524805" cy="3238805"/>
          </a:xfrm>
          <a:prstGeom prst="roundRect">
            <a:avLst>
              <a:gd name="adj" fmla="val 593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  <a:effectLst>
            <a:outerShdw blurRad="63500" dist="254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761695" y="6096305"/>
            <a:ext cx="5524805" cy="38405"/>
          </a:xfrm>
          <a:prstGeom prst="roundRect">
            <a:avLst>
              <a:gd name="adj" fmla="val 50000"/>
            </a:avLst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381598" y="6096305"/>
            <a:ext cx="5524805" cy="3238805"/>
          </a:xfrm>
          <a:prstGeom prst="roundRect">
            <a:avLst>
              <a:gd name="adj" fmla="val 593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  <a:effectLst>
            <a:outerShdw blurRad="63500" dist="254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381598" y="6096305"/>
            <a:ext cx="5524805" cy="38405"/>
          </a:xfrm>
          <a:prstGeom prst="roundRect">
            <a:avLst>
              <a:gd name="adj" fmla="val 50000"/>
            </a:avLst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2001500" y="6096305"/>
            <a:ext cx="5524805" cy="3238805"/>
          </a:xfrm>
          <a:prstGeom prst="roundRect">
            <a:avLst>
              <a:gd name="adj" fmla="val 593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  <a:effectLst>
            <a:outerShdw blurRad="63500" dist="254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2001500" y="6096305"/>
            <a:ext cx="5524805" cy="38405"/>
          </a:xfrm>
          <a:prstGeom prst="roundRect">
            <a:avLst>
              <a:gd name="adj" fmla="val 50000"/>
            </a:avLst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11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13" name="Shape 8"/>
          <p:cNvSpPr/>
          <p:nvPr/>
        </p:nvSpPr>
        <p:spPr>
          <a:xfrm>
            <a:off x="761695" y="1143000"/>
            <a:ext cx="1876349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61695" y="1143000"/>
            <a:ext cx="1877263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CONCEPT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거버넌스란 무엇인가?</a:t>
            </a:r>
            <a:endParaRPr lang="en-US" sz="5400" dirty="0"/>
          </a:p>
        </p:txBody>
      </p:sp>
      <p:sp>
        <p:nvSpPr>
          <p:cNvPr id="16" name="Text 11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What is AI Governance?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1238098" y="3868826"/>
            <a:ext cx="15811805" cy="1560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90"/>
              </a:lnSpc>
              <a:buNone/>
            </a:pPr>
            <a:r>
              <a:rPr lang="en-US" sz="28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“AI 거버넌스”는 </a:t>
            </a:r>
            <a:r>
              <a:rPr lang="en-US" sz="2850" b="1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시스템의 개발·배포·운영 전 주기에 걸쳐,</a:t>
            </a:r>
            <a:endParaRPr lang="en-US" sz="2850" dirty="0"/>
          </a:p>
          <a:p>
            <a:pPr marL="0" indent="0" algn="l">
              <a:lnSpc>
                <a:spcPts val="3990"/>
              </a:lnSpc>
              <a:buNone/>
            </a:pPr>
            <a:r>
              <a:rPr lang="en-US" sz="28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기술이 인간의 권리와 사회적 가치를 침해하지 않도록</a:t>
            </a:r>
            <a:endParaRPr lang="en-US" sz="2850" dirty="0"/>
          </a:p>
          <a:p>
            <a:pPr marL="0" indent="0" algn="l">
              <a:lnSpc>
                <a:spcPts val="3990"/>
              </a:lnSpc>
              <a:buNone/>
            </a:pPr>
            <a:r>
              <a:rPr lang="en-US" sz="2850" b="1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방향을 설정하고 · 규범을 만들고 · 결과를 감독하는</a:t>
            </a:r>
            <a:r>
              <a:rPr lang="en-US" sz="28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조직·제도·기술의 총체</a:t>
            </a:r>
            <a:endParaRPr lang="en-US" sz="285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6381598"/>
            <a:ext cx="4763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OECD · 2019/2024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" y="6629400"/>
            <a:ext cx="4763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국제 정부간 표준</a:t>
            </a:r>
            <a:endParaRPr lang="en-US" sz="225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7700162"/>
            <a:ext cx="476311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(1) 포용적 성장,</a:t>
            </a:r>
            <a:endParaRPr lang="en-US" sz="1425" dirty="0"/>
          </a:p>
          <a:p>
            <a:pPr marL="0" indent="0" algn="l">
              <a:lnSpc>
                <a:spcPts val="2138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(2) 인간 중심 가치와 공정성,</a:t>
            </a:r>
            <a:endParaRPr lang="en-US" sz="1425" dirty="0"/>
          </a:p>
          <a:p>
            <a:pPr marL="0" indent="0" algn="l">
              <a:lnSpc>
                <a:spcPts val="2138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(3) 투명성과 설명가능성,</a:t>
            </a:r>
            <a:endParaRPr lang="en-US" sz="1425" dirty="0"/>
          </a:p>
          <a:p>
            <a:pPr marL="0" indent="0" algn="l">
              <a:lnSpc>
                <a:spcPts val="2138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(4) 견고성·보안·안전,</a:t>
            </a:r>
            <a:endParaRPr lang="en-US" sz="1425" dirty="0"/>
          </a:p>
          <a:p>
            <a:pPr marL="0" indent="0" algn="l">
              <a:lnSpc>
                <a:spcPts val="2138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(5) 책임성.</a:t>
            </a:r>
            <a:endParaRPr lang="en-US" sz="1425" dirty="0"/>
          </a:p>
        </p:txBody>
      </p:sp>
      <p:sp>
        <p:nvSpPr>
          <p:cNvPr id="21" name="Text 16"/>
          <p:cNvSpPr txBox="1"/>
          <p:nvPr/>
        </p:nvSpPr>
        <p:spPr>
          <a:xfrm>
            <a:off x="1143000" y="7101230"/>
            <a:ext cx="315193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OECD AI 원칙 (2019, 2024 개정)</a:t>
            </a:r>
            <a:endParaRPr lang="en-US" sz="1425" dirty="0"/>
          </a:p>
        </p:txBody>
      </p:sp>
      <p:sp>
        <p:nvSpPr>
          <p:cNvPr id="22" name="Text 17"/>
          <p:cNvSpPr txBox="1"/>
          <p:nvPr/>
        </p:nvSpPr>
        <p:spPr>
          <a:xfrm>
            <a:off x="1166316" y="7178496"/>
            <a:ext cx="47155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40여 개국이 채택한 최초 정부간 AI 표준.</a:t>
            </a:r>
            <a:endParaRPr lang="en-US" sz="1425" dirty="0"/>
          </a:p>
        </p:txBody>
      </p:sp>
      <p:sp>
        <p:nvSpPr>
          <p:cNvPr id="23" name="Text 18"/>
          <p:cNvSpPr txBox="1"/>
          <p:nvPr/>
        </p:nvSpPr>
        <p:spPr>
          <a:xfrm>
            <a:off x="4294937" y="7340241"/>
            <a:ext cx="81564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원칙</a:t>
            </a:r>
            <a:endParaRPr lang="en-US" sz="1425" dirty="0"/>
          </a:p>
        </p:txBody>
      </p:sp>
      <p:sp>
        <p:nvSpPr>
          <p:cNvPr id="25" name="Text 20"/>
          <p:cNvSpPr txBox="1"/>
          <p:nvPr/>
        </p:nvSpPr>
        <p:spPr>
          <a:xfrm>
            <a:off x="6762902" y="6381598"/>
            <a:ext cx="4763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EU · 2019/2024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6762902" y="6629400"/>
            <a:ext cx="4763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규제 · Regulation</a:t>
            </a:r>
            <a:endParaRPr lang="en-US" sz="2250" dirty="0"/>
          </a:p>
        </p:txBody>
      </p:sp>
      <p:sp>
        <p:nvSpPr>
          <p:cNvPr id="27" name="Text 22"/>
          <p:cNvSpPr txBox="1"/>
          <p:nvPr/>
        </p:nvSpPr>
        <p:spPr>
          <a:xfrm>
            <a:off x="6762902" y="7091172"/>
            <a:ext cx="47631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신뢰할 수 있는 AI 윤리 가이드라인 (HLEG, 2019)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AI Act (2024/1689)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법제화. 위험 기반 4단계 규제 접근. 인권 침해 위험이 큰 AI일수록 엄격한 요건.</a:t>
            </a:r>
            <a:endParaRPr lang="en-US" sz="1425" dirty="0"/>
          </a:p>
        </p:txBody>
      </p:sp>
      <p:sp>
        <p:nvSpPr>
          <p:cNvPr id="28" name="Text 23"/>
          <p:cNvSpPr txBox="1"/>
          <p:nvPr/>
        </p:nvSpPr>
        <p:spPr>
          <a:xfrm>
            <a:off x="12382805" y="6381598"/>
            <a:ext cx="4763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ISO/IEC · 2022/2023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12382805" y="6629400"/>
            <a:ext cx="4763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경영시스템 · Standards</a:t>
            </a:r>
            <a:endParaRPr lang="en-US" sz="2250" dirty="0"/>
          </a:p>
        </p:txBody>
      </p:sp>
      <p:sp>
        <p:nvSpPr>
          <p:cNvPr id="30" name="Text 25"/>
          <p:cNvSpPr txBox="1"/>
          <p:nvPr/>
        </p:nvSpPr>
        <p:spPr>
          <a:xfrm>
            <a:off x="12382805" y="7091172"/>
            <a:ext cx="47631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38507 (2022)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이사회 수준의 AI 거버넌스 지침,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42001 (2023)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AI 경영시스템(AIMS) 국제표준. AI판 ISO 27001.</a:t>
            </a:r>
            <a:endParaRPr lang="en-US" sz="1425" dirty="0"/>
          </a:p>
        </p:txBody>
      </p:sp>
      <p:sp>
        <p:nvSpPr>
          <p:cNvPr id="31" name="Shape 26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43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715500" y="3524098"/>
            <a:ext cx="7810805" cy="581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9715500" y="3524098"/>
            <a:ext cx="47549" cy="5810098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pic>
        <p:nvPicPr>
          <p:cNvPr id="6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8" name="Shape 3"/>
          <p:cNvSpPr/>
          <p:nvPr/>
        </p:nvSpPr>
        <p:spPr>
          <a:xfrm>
            <a:off x="761695" y="1143000"/>
            <a:ext cx="1876349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61695" y="1143000"/>
            <a:ext cx="1877263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CONCEPT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왜 지금, AI 거버넌스인가?</a:t>
            </a:r>
            <a:endParaRPr lang="en-US" sz="54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Why AI Governance, Why Now?</a:t>
            </a:r>
            <a:endParaRPr lang="en-US" sz="21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3524098"/>
            <a:ext cx="8572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DRIVING FORCES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524305" y="3847795"/>
            <a:ext cx="78108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기술 파급력의 임계 돌파</a:t>
            </a:r>
            <a:endParaRPr lang="en-US" sz="2250" dirty="0"/>
          </a:p>
        </p:txBody>
      </p:sp>
      <p:sp>
        <p:nvSpPr>
          <p:cNvPr id="14" name="Text 9"/>
          <p:cNvSpPr txBox="1"/>
          <p:nvPr/>
        </p:nvSpPr>
        <p:spPr>
          <a:xfrm>
            <a:off x="1524305" y="4238244"/>
            <a:ext cx="78108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ChatGPT (2022.11) 이후 생성형 AI가 대중화. 특정 산업 도구에서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범용 인프라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변화 → 규제 대상이 폭발적으로 확장.</a:t>
            </a:r>
            <a:endParaRPr lang="en-US" sz="1425" dirty="0"/>
          </a:p>
        </p:txBody>
      </p:sp>
      <p:sp>
        <p:nvSpPr>
          <p:cNvPr id="15" name="Text 10"/>
          <p:cNvSpPr txBox="1"/>
          <p:nvPr/>
        </p:nvSpPr>
        <p:spPr>
          <a:xfrm>
            <a:off x="1524305" y="5028286"/>
            <a:ext cx="78108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가시화된 위해 사례</a:t>
            </a:r>
            <a:endParaRPr lang="en-US" sz="2250" dirty="0"/>
          </a:p>
        </p:txBody>
      </p:sp>
      <p:sp>
        <p:nvSpPr>
          <p:cNvPr id="16" name="Text 11"/>
          <p:cNvSpPr txBox="1"/>
          <p:nvPr/>
        </p:nvSpPr>
        <p:spPr>
          <a:xfrm>
            <a:off x="1524305" y="5418734"/>
            <a:ext cx="78108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Cambridge Analytica (2018) · COMPAS 재범예측 편향 (2016) · 딥페이크 성범죄 · 자동채용의 성차별 · 챗봇의 명예훼손 등 실제 피해가 축적.</a:t>
            </a:r>
            <a:endParaRPr lang="en-US" sz="1425" dirty="0"/>
          </a:p>
        </p:txBody>
      </p:sp>
      <p:sp>
        <p:nvSpPr>
          <p:cNvPr id="17" name="Text 12"/>
          <p:cNvSpPr txBox="1"/>
          <p:nvPr/>
        </p:nvSpPr>
        <p:spPr>
          <a:xfrm>
            <a:off x="1524305" y="6207862"/>
            <a:ext cx="78108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기존 법으로 포섭 불가</a:t>
            </a:r>
            <a:endParaRPr lang="en-US" sz="2250" dirty="0"/>
          </a:p>
        </p:txBody>
      </p:sp>
      <p:sp>
        <p:nvSpPr>
          <p:cNvPr id="18" name="Text 13"/>
          <p:cNvSpPr txBox="1"/>
          <p:nvPr/>
        </p:nvSpPr>
        <p:spPr>
          <a:xfrm>
            <a:off x="1524305" y="6598310"/>
            <a:ext cx="78108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블랙박스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확률적 판단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학습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이라는 AI 고유 속성이 개인정보·저작권·제조물책임 등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법의 전제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뒤흔든다.</a:t>
            </a:r>
            <a:endParaRPr lang="en-US" sz="1425" dirty="0"/>
          </a:p>
        </p:txBody>
      </p:sp>
      <p:sp>
        <p:nvSpPr>
          <p:cNvPr id="19" name="Text 14"/>
          <p:cNvSpPr txBox="1"/>
          <p:nvPr/>
        </p:nvSpPr>
        <p:spPr>
          <a:xfrm>
            <a:off x="1524305" y="7388352"/>
            <a:ext cx="78108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국가 간 규범 경쟁</a:t>
            </a:r>
            <a:endParaRPr lang="en-US" sz="2250" dirty="0"/>
          </a:p>
        </p:txBody>
      </p:sp>
      <p:sp>
        <p:nvSpPr>
          <p:cNvPr id="20" name="Text 15"/>
          <p:cNvSpPr txBox="1"/>
          <p:nvPr/>
        </p:nvSpPr>
        <p:spPr>
          <a:xfrm>
            <a:off x="1524305" y="7778801"/>
            <a:ext cx="78108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"누가 표준을 만드느냐가 시장을 갖는다" — EU · 미국 · 중국 · 한국이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 주권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두고 각축. 우리 기업의 해외 진출과 직결.</a:t>
            </a:r>
            <a:endParaRPr lang="en-US" sz="1425" dirty="0"/>
          </a:p>
        </p:txBody>
      </p:sp>
      <p:sp>
        <p:nvSpPr>
          <p:cNvPr id="21" name="Shape 16"/>
          <p:cNvSpPr/>
          <p:nvPr/>
        </p:nvSpPr>
        <p:spPr>
          <a:xfrm>
            <a:off x="761695" y="3847795"/>
            <a:ext cx="457200" cy="457200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61695" y="3847795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</a:t>
            </a:r>
            <a:endParaRPr lang="en-US" sz="1650" dirty="0"/>
          </a:p>
        </p:txBody>
      </p:sp>
      <p:sp>
        <p:nvSpPr>
          <p:cNvPr id="23" name="Shape 18"/>
          <p:cNvSpPr/>
          <p:nvPr/>
        </p:nvSpPr>
        <p:spPr>
          <a:xfrm>
            <a:off x="761695" y="5028286"/>
            <a:ext cx="457200" cy="457200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61695" y="5028286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</a:t>
            </a:r>
            <a:endParaRPr lang="en-US" sz="1650" dirty="0"/>
          </a:p>
        </p:txBody>
      </p:sp>
      <p:sp>
        <p:nvSpPr>
          <p:cNvPr id="25" name="Shape 20"/>
          <p:cNvSpPr/>
          <p:nvPr/>
        </p:nvSpPr>
        <p:spPr>
          <a:xfrm>
            <a:off x="761695" y="6207862"/>
            <a:ext cx="457200" cy="457200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61695" y="6207862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</a:t>
            </a:r>
            <a:endParaRPr lang="en-US" sz="1650" dirty="0"/>
          </a:p>
        </p:txBody>
      </p:sp>
      <p:sp>
        <p:nvSpPr>
          <p:cNvPr id="27" name="Shape 22"/>
          <p:cNvSpPr/>
          <p:nvPr/>
        </p:nvSpPr>
        <p:spPr>
          <a:xfrm>
            <a:off x="761695" y="7388352"/>
            <a:ext cx="457200" cy="457200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61695" y="7388352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</a:t>
            </a:r>
            <a:endParaRPr lang="en-US" sz="1650" dirty="0"/>
          </a:p>
        </p:txBody>
      </p:sp>
      <p:sp>
        <p:nvSpPr>
          <p:cNvPr id="29" name="Text 24"/>
          <p:cNvSpPr txBox="1"/>
          <p:nvPr/>
        </p:nvSpPr>
        <p:spPr>
          <a:xfrm>
            <a:off x="10096805" y="3810305"/>
            <a:ext cx="71442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SIGNAL · 최근 5년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10096805" y="4058107"/>
            <a:ext cx="7144207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규범이 만들어지는 속도</a:t>
            </a:r>
            <a:endParaRPr lang="en-US" sz="2400" dirty="0"/>
          </a:p>
        </p:txBody>
      </p:sp>
      <p:pic>
        <p:nvPicPr>
          <p:cNvPr id="31" name="Image 2" descr="gen-dedup-08173c94900e9aa2377887198bd5085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10096805" y="4686300"/>
            <a:ext cx="761695" cy="1920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0096805" y="4895698"/>
            <a:ext cx="762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2019.05</a:t>
            </a:r>
            <a:endParaRPr lang="en-US" sz="1425" dirty="0"/>
          </a:p>
        </p:txBody>
      </p:sp>
      <p:sp>
        <p:nvSpPr>
          <p:cNvPr id="33" name="Text 27"/>
          <p:cNvSpPr txBox="1"/>
          <p:nvPr/>
        </p:nvSpPr>
        <p:spPr>
          <a:xfrm>
            <a:off x="11048695" y="4895698"/>
            <a:ext cx="2585009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OECD AI 원칙 채택 (42개국)</a:t>
            </a:r>
            <a:endParaRPr lang="en-US" sz="1425" dirty="0"/>
          </a:p>
        </p:txBody>
      </p:sp>
      <p:sp>
        <p:nvSpPr>
          <p:cNvPr id="34" name="Text 28"/>
          <p:cNvSpPr txBox="1"/>
          <p:nvPr/>
        </p:nvSpPr>
        <p:spPr>
          <a:xfrm>
            <a:off x="10096805" y="5257800"/>
            <a:ext cx="762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2021.04</a:t>
            </a:r>
            <a:endParaRPr lang="en-US" sz="1425" dirty="0"/>
          </a:p>
        </p:txBody>
      </p:sp>
      <p:sp>
        <p:nvSpPr>
          <p:cNvPr id="35" name="Text 29"/>
          <p:cNvSpPr txBox="1"/>
          <p:nvPr/>
        </p:nvSpPr>
        <p:spPr>
          <a:xfrm>
            <a:off x="11048695" y="5257800"/>
            <a:ext cx="2551176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집행위, AI Act 초안 제안</a:t>
            </a:r>
            <a:endParaRPr lang="en-US" sz="1425" dirty="0"/>
          </a:p>
        </p:txBody>
      </p:sp>
      <p:sp>
        <p:nvSpPr>
          <p:cNvPr id="36" name="Text 30"/>
          <p:cNvSpPr txBox="1"/>
          <p:nvPr/>
        </p:nvSpPr>
        <p:spPr>
          <a:xfrm>
            <a:off x="10096805" y="5619902"/>
            <a:ext cx="762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2022.11</a:t>
            </a:r>
            <a:endParaRPr lang="en-US" sz="1425" dirty="0"/>
          </a:p>
        </p:txBody>
      </p:sp>
      <p:sp>
        <p:nvSpPr>
          <p:cNvPr id="37" name="Text 31"/>
          <p:cNvSpPr txBox="1"/>
          <p:nvPr/>
        </p:nvSpPr>
        <p:spPr>
          <a:xfrm>
            <a:off x="11048695" y="5619902"/>
            <a:ext cx="3125419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ChatGPT 공개 → 생성형 AI 대중화</a:t>
            </a:r>
            <a:endParaRPr lang="en-US" sz="1425" dirty="0"/>
          </a:p>
        </p:txBody>
      </p:sp>
      <p:sp>
        <p:nvSpPr>
          <p:cNvPr id="38" name="Text 32"/>
          <p:cNvSpPr txBox="1"/>
          <p:nvPr/>
        </p:nvSpPr>
        <p:spPr>
          <a:xfrm>
            <a:off x="10096805" y="5982005"/>
            <a:ext cx="762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2023.12</a:t>
            </a:r>
            <a:endParaRPr lang="en-US" sz="1425" dirty="0"/>
          </a:p>
        </p:txBody>
      </p:sp>
      <p:sp>
        <p:nvSpPr>
          <p:cNvPr id="39" name="Text 33"/>
          <p:cNvSpPr txBox="1"/>
          <p:nvPr/>
        </p:nvSpPr>
        <p:spPr>
          <a:xfrm>
            <a:off x="11048695" y="5982005"/>
            <a:ext cx="188183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42001 발행</a:t>
            </a:r>
            <a:endParaRPr lang="en-US" sz="1425" dirty="0"/>
          </a:p>
        </p:txBody>
      </p:sp>
      <p:sp>
        <p:nvSpPr>
          <p:cNvPr id="40" name="Text 34"/>
          <p:cNvSpPr txBox="1"/>
          <p:nvPr/>
        </p:nvSpPr>
        <p:spPr>
          <a:xfrm>
            <a:off x="10096805" y="6344107"/>
            <a:ext cx="762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2024.08</a:t>
            </a:r>
            <a:endParaRPr lang="en-US" sz="1425" dirty="0"/>
          </a:p>
        </p:txBody>
      </p:sp>
      <p:sp>
        <p:nvSpPr>
          <p:cNvPr id="41" name="Text 35"/>
          <p:cNvSpPr txBox="1"/>
          <p:nvPr/>
        </p:nvSpPr>
        <p:spPr>
          <a:xfrm>
            <a:off x="11048695" y="6344107"/>
            <a:ext cx="1383487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AI Act 발효</a:t>
            </a:r>
            <a:endParaRPr lang="en-US" sz="1425" dirty="0"/>
          </a:p>
        </p:txBody>
      </p:sp>
      <p:sp>
        <p:nvSpPr>
          <p:cNvPr id="42" name="Text 36"/>
          <p:cNvSpPr txBox="1"/>
          <p:nvPr/>
        </p:nvSpPr>
        <p:spPr>
          <a:xfrm>
            <a:off x="10096805" y="6705295"/>
            <a:ext cx="762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2025.01</a:t>
            </a:r>
            <a:endParaRPr lang="en-US" sz="1425" dirty="0"/>
          </a:p>
        </p:txBody>
      </p:sp>
      <p:sp>
        <p:nvSpPr>
          <p:cNvPr id="43" name="Text 37"/>
          <p:cNvSpPr txBox="1"/>
          <p:nvPr/>
        </p:nvSpPr>
        <p:spPr>
          <a:xfrm>
            <a:off x="11048695" y="6705295"/>
            <a:ext cx="323057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AI 기본법 제정 (법률 20676호)</a:t>
            </a:r>
            <a:endParaRPr lang="en-US" sz="1425" dirty="0"/>
          </a:p>
        </p:txBody>
      </p:sp>
      <p:sp>
        <p:nvSpPr>
          <p:cNvPr id="44" name="Shape 38"/>
          <p:cNvSpPr/>
          <p:nvPr/>
        </p:nvSpPr>
        <p:spPr>
          <a:xfrm>
            <a:off x="10001707" y="7125005"/>
            <a:ext cx="7334402" cy="476402"/>
          </a:xfrm>
          <a:prstGeom prst="rect">
            <a:avLst/>
          </a:prstGeom>
          <a:solidFill>
            <a:srgbClr val="E6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10096805" y="7181698"/>
            <a:ext cx="1095451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2026.01.22</a:t>
            </a:r>
            <a:endParaRPr lang="en-US" sz="1425" dirty="0"/>
          </a:p>
        </p:txBody>
      </p:sp>
      <p:sp>
        <p:nvSpPr>
          <p:cNvPr id="46" name="Text 40"/>
          <p:cNvSpPr txBox="1"/>
          <p:nvPr/>
        </p:nvSpPr>
        <p:spPr>
          <a:xfrm>
            <a:off x="11373307" y="7181698"/>
            <a:ext cx="3991356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AI 기본법 시행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세계 최초 전면 시행</a:t>
            </a:r>
            <a:endParaRPr lang="en-US" sz="1425" dirty="0"/>
          </a:p>
        </p:txBody>
      </p:sp>
      <p:sp>
        <p:nvSpPr>
          <p:cNvPr id="47" name="Shape 41"/>
          <p:cNvSpPr/>
          <p:nvPr/>
        </p:nvSpPr>
        <p:spPr>
          <a:xfrm>
            <a:off x="10096805" y="7772400"/>
            <a:ext cx="7144207" cy="514807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48" name="Shape 42"/>
          <p:cNvSpPr/>
          <p:nvPr/>
        </p:nvSpPr>
        <p:spPr>
          <a:xfrm>
            <a:off x="10096805" y="7772400"/>
            <a:ext cx="47549" cy="5148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10315346" y="7905902"/>
            <a:ext cx="786658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 규제는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5년 안에 세계 표준이 만들어진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드문 사례. 이 강의는 그 형성 과정 한복판에 서 있다."</a:t>
            </a:r>
            <a:endParaRPr lang="en-US" sz="1275" dirty="0"/>
          </a:p>
        </p:txBody>
      </p:sp>
      <p:sp>
        <p:nvSpPr>
          <p:cNvPr id="50" name="Shape 44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43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4476902"/>
            <a:ext cx="5524805" cy="4667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4476902"/>
            <a:ext cx="5524805" cy="576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381598" y="4476902"/>
            <a:ext cx="5524805" cy="4667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381598" y="4476902"/>
            <a:ext cx="5524805" cy="576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2001500" y="4476902"/>
            <a:ext cx="5524805" cy="4667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2001500" y="4476902"/>
            <a:ext cx="5524805" cy="576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10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761695" y="1143000"/>
            <a:ext cx="1876349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61695" y="1143000"/>
            <a:ext cx="1877263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CONCEPT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거버넌스의 3대 축</a:t>
            </a:r>
            <a:endParaRPr lang="en-US" sz="54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Three Pillars · Ethics · Law · Technology</a:t>
            </a:r>
            <a:endParaRPr lang="en-US" sz="2100" dirty="0"/>
          </a:p>
        </p:txBody>
      </p:sp>
      <p:sp>
        <p:nvSpPr>
          <p:cNvPr id="16" name="Text 11"/>
          <p:cNvSpPr txBox="1"/>
          <p:nvPr/>
        </p:nvSpPr>
        <p:spPr>
          <a:xfrm>
            <a:off x="761695" y="3524098"/>
            <a:ext cx="1676461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거버넌스는 </a:t>
            </a:r>
            <a:r>
              <a:rPr lang="en-US" sz="22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윤리 · 법 · 기술</a:t>
            </a:r>
            <a:r>
              <a:rPr lang="en-US" sz="225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세 축이 맞물려야 작동하며, 어느 하나만으로는 부족</a:t>
            </a:r>
            <a:endParaRPr lang="en-US" sz="225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4762195"/>
            <a:ext cx="4763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PILLAR 1 · ETHICS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4990795"/>
            <a:ext cx="47631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윤리 · 원칙</a:t>
            </a:r>
            <a:endParaRPr lang="en-US" sz="33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" y="5490058"/>
            <a:ext cx="476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"방향을 제시한다"</a:t>
            </a:r>
            <a:endParaRPr lang="en-US" sz="1500" dirty="0"/>
          </a:p>
        </p:txBody>
      </p:sp>
      <p:pic>
        <p:nvPicPr>
          <p:cNvPr id="20" name="Image 2" descr="gen-dedup-08173c94900e9aa2377887198bd5085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1143000" y="5975604"/>
            <a:ext cx="761695" cy="192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43000" y="6204204"/>
            <a:ext cx="47631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비강제적 · 국제 공통 어휘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104595" y="6569964"/>
            <a:ext cx="4800600" cy="13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ts val="2565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​OECD AI 원칙 (2019/2024)</a:t>
            </a:r>
            <a:endParaRPr lang="en-US" sz="1425" dirty="0"/>
          </a:p>
          <a:p>
            <a:pPr marL="228600" indent="-228600" algn="l">
              <a:lnSpc>
                <a:spcPts val="2565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​UNESCO AI 윤리 권고 (2021)</a:t>
            </a:r>
            <a:endParaRPr lang="en-US" sz="1425" dirty="0"/>
          </a:p>
          <a:p>
            <a:pPr marL="228600" indent="-228600" algn="l">
              <a:lnSpc>
                <a:spcPts val="2565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​EU 신뢰가능 AI 가이드라인 (2019)</a:t>
            </a:r>
            <a:endParaRPr lang="en-US" sz="1425" dirty="0"/>
          </a:p>
          <a:p>
            <a:pPr marL="228600" indent="-228600" algn="l">
              <a:lnSpc>
                <a:spcPts val="2565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​G7 히로시마 프로세스 (2023)</a:t>
            </a:r>
            <a:endParaRPr lang="en-US" sz="1425" dirty="0"/>
          </a:p>
        </p:txBody>
      </p:sp>
      <p:sp>
        <p:nvSpPr>
          <p:cNvPr id="23" name="Text 17"/>
          <p:cNvSpPr txBox="1"/>
          <p:nvPr/>
        </p:nvSpPr>
        <p:spPr>
          <a:xfrm>
            <a:off x="1143000" y="8107985"/>
            <a:ext cx="4763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</a:t>
            </a:r>
            <a:r>
              <a:rPr lang="en-US" sz="13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강제력 없음. 자율 준수에 의존.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6762902" y="4762195"/>
            <a:ext cx="4763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PILLAR 2 · LAW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6762902" y="4990795"/>
            <a:ext cx="47631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법 · 규제</a:t>
            </a:r>
            <a:endParaRPr lang="en-US" sz="3300" dirty="0"/>
          </a:p>
        </p:txBody>
      </p:sp>
      <p:sp>
        <p:nvSpPr>
          <p:cNvPr id="26" name="Text 20"/>
          <p:cNvSpPr txBox="1"/>
          <p:nvPr/>
        </p:nvSpPr>
        <p:spPr>
          <a:xfrm>
            <a:off x="6762902" y="5490058"/>
            <a:ext cx="476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"강제한다"</a:t>
            </a:r>
            <a:endParaRPr lang="en-US" sz="1500" dirty="0"/>
          </a:p>
        </p:txBody>
      </p:sp>
      <p:pic>
        <p:nvPicPr>
          <p:cNvPr id="27" name="Image 3" descr="gen-dedup-08173c94900e9aa2377887198bd5085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6762902" y="5975604"/>
            <a:ext cx="761695" cy="1920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762902" y="6204204"/>
            <a:ext cx="47631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강제력 있음 · 관할권 내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6724498" y="6569964"/>
            <a:ext cx="4800600" cy="13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ts val="2565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​EU AI Act (2024/1689)</a:t>
            </a:r>
            <a:endParaRPr lang="en-US" sz="1425" dirty="0"/>
          </a:p>
          <a:p>
            <a:pPr marL="228600" indent="-228600" algn="l">
              <a:lnSpc>
                <a:spcPts val="2565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​한국 AI 기본법 (2026 시행)</a:t>
            </a:r>
            <a:endParaRPr lang="en-US" sz="1425" dirty="0"/>
          </a:p>
          <a:p>
            <a:pPr marL="228600" indent="-228600" algn="l">
              <a:lnSpc>
                <a:spcPts val="2565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​미국 EO 14110 · 주(州)법(콜로라도)</a:t>
            </a:r>
            <a:endParaRPr lang="en-US" sz="1425" dirty="0"/>
          </a:p>
          <a:p>
            <a:pPr marL="228600" indent="-228600" algn="l">
              <a:lnSpc>
                <a:spcPts val="2565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​중국 생성형 AI 서비스 관리 규정</a:t>
            </a:r>
            <a:endParaRPr lang="en-US" sz="1425" dirty="0"/>
          </a:p>
        </p:txBody>
      </p:sp>
      <p:sp>
        <p:nvSpPr>
          <p:cNvPr id="30" name="Text 23"/>
          <p:cNvSpPr txBox="1"/>
          <p:nvPr/>
        </p:nvSpPr>
        <p:spPr>
          <a:xfrm>
            <a:off x="6762902" y="8107985"/>
            <a:ext cx="4763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</a:t>
            </a:r>
            <a:r>
              <a:rPr lang="en-US" sz="13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국경 한정. 개정에 시간 소요.</a:t>
            </a:r>
            <a:endParaRPr lang="en-US" sz="1350" dirty="0"/>
          </a:p>
        </p:txBody>
      </p:sp>
      <p:sp>
        <p:nvSpPr>
          <p:cNvPr id="31" name="Text 24"/>
          <p:cNvSpPr txBox="1"/>
          <p:nvPr/>
        </p:nvSpPr>
        <p:spPr>
          <a:xfrm>
            <a:off x="12382805" y="4762195"/>
            <a:ext cx="4763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PILLAR 3 · TECHNOLOGY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12382805" y="4990795"/>
            <a:ext cx="47631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기술 · 표준</a:t>
            </a:r>
            <a:endParaRPr lang="en-US" sz="3300" dirty="0"/>
          </a:p>
        </p:txBody>
      </p:sp>
      <p:sp>
        <p:nvSpPr>
          <p:cNvPr id="33" name="Text 26"/>
          <p:cNvSpPr txBox="1"/>
          <p:nvPr/>
        </p:nvSpPr>
        <p:spPr>
          <a:xfrm>
            <a:off x="12382805" y="5490058"/>
            <a:ext cx="476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"이행 방법을 제공한다"</a:t>
            </a:r>
            <a:endParaRPr lang="en-US" sz="1500" dirty="0"/>
          </a:p>
        </p:txBody>
      </p:sp>
      <p:pic>
        <p:nvPicPr>
          <p:cNvPr id="34" name="Image 4" descr="gen-dedup-08173c94900e9aa2377887198bd5085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12382805" y="5975604"/>
            <a:ext cx="761695" cy="1920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2382805" y="6204204"/>
            <a:ext cx="47631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가능 · 조직 단위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12344400" y="6569964"/>
            <a:ext cx="4800600" cy="13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ts val="2565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​ISO/IEC 42001 (경영시스템)</a:t>
            </a:r>
            <a:endParaRPr lang="en-US" sz="1425" dirty="0"/>
          </a:p>
          <a:p>
            <a:pPr marL="228600" indent="-228600" algn="l">
              <a:lnSpc>
                <a:spcPts val="2565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​ISO/IEC 23894 (리스크 관리)</a:t>
            </a:r>
            <a:endParaRPr lang="en-US" sz="1425" dirty="0"/>
          </a:p>
          <a:p>
            <a:pPr marL="228600" indent="-228600" algn="l">
              <a:lnSpc>
                <a:spcPts val="2565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​NIST AI RMF (2023)</a:t>
            </a:r>
            <a:endParaRPr lang="en-US" sz="1425" dirty="0"/>
          </a:p>
          <a:p>
            <a:pPr marL="228600" indent="-228600" algn="l">
              <a:lnSpc>
                <a:spcPts val="2565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​MLOps · Model Card · Audit</a:t>
            </a:r>
            <a:endParaRPr lang="en-US" sz="1425" dirty="0"/>
          </a:p>
        </p:txBody>
      </p:sp>
      <p:sp>
        <p:nvSpPr>
          <p:cNvPr id="37" name="Text 29"/>
          <p:cNvSpPr txBox="1"/>
          <p:nvPr/>
        </p:nvSpPr>
        <p:spPr>
          <a:xfrm>
            <a:off x="12382805" y="8107985"/>
            <a:ext cx="4763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</a:t>
            </a:r>
            <a:r>
              <a:rPr lang="en-US" sz="13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조직 채택 여부에 의존.</a:t>
            </a:r>
            <a:endParaRPr lang="en-US" sz="1350" dirty="0"/>
          </a:p>
        </p:txBody>
      </p:sp>
      <p:sp>
        <p:nvSpPr>
          <p:cNvPr id="38" name="Shape 30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43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8762695"/>
            <a:ext cx="16763695" cy="952805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5" name="Shape 1"/>
          <p:cNvSpPr/>
          <p:nvPr/>
        </p:nvSpPr>
        <p:spPr>
          <a:xfrm>
            <a:off x="761695" y="8762695"/>
            <a:ext cx="47549" cy="9528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6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8" name="Shape 3"/>
          <p:cNvSpPr/>
          <p:nvPr/>
        </p:nvSpPr>
        <p:spPr>
          <a:xfrm>
            <a:off x="761695" y="1143000"/>
            <a:ext cx="1876349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61695" y="1143000"/>
            <a:ext cx="1877263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CONCEPT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글로벌 AI 규제 지형도</a:t>
            </a:r>
            <a:endParaRPr lang="en-US" sz="54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The Global AI Regulation Landscape</a:t>
            </a:r>
            <a:endParaRPr lang="en-US" sz="21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3524098"/>
            <a:ext cx="16764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세계 각국은 </a:t>
            </a:r>
            <a:r>
              <a:rPr lang="en-US" sz="21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"위험 통제 vs 산업 진흥"</a:t>
            </a:r>
            <a:r>
              <a:rPr lang="en-US" sz="21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이라는 두 축 사이에서 자국의 위치를 정의.</a:t>
            </a:r>
            <a:endParaRPr lang="en-US" sz="2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4381805"/>
          <a:ext cx="16753636" cy="5168906"/>
        </p:xfrm>
        <a:graphic>
          <a:graphicData uri="http://schemas.openxmlformats.org/drawingml/2006/table">
            <a:tbl>
              <a:tblPr/>
              <a:tblGrid>
                <a:gridCol w="1333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10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1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국가/지역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규제 성격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대표 규범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특징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🇪🇺 EU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수평적 · 포괄 규제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Act (Reg. 2024/1689)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세계 최초 포괄 법제. 위험 기반 4단계 분류. 역외 적용. 최대 과징금 3,500만 유로 또는 매출 7%.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🇰🇷 한국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기본법 · 진흥+신뢰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기본법 (2025 제정 · 2026.1.22 시행)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세계 최초 </a:t>
                      </a: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전면 시행</a:t>
                      </a: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. 고영향 AI·생성형 AI 중심. 진흥 조항이 큰 비중. 형사처벌 최소화.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🇺🇸 미국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분야별 · 주(州)법 확산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EO 14110 (2023) · 콜로라도 AI법 (2024) · NIST AI RMF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연방 포괄법 부재. 대통령 명령 + 부처 지침 + 주(州) 개별 입법. 자율 프레임워크에 의존.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🇨🇳 중국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사전 승인 · 서비스별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생성형 AI 서비스 관리 잠행규정 (2023.8)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알고리즘 사전 신고 · 콘텐츠 검열 · "사회주의 핵심가치" 준수 요구. 국가 안전 관점 강함.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1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🇯🇵 일본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소프트로 · 지침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사업자 지침 (경제산업성 2024)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법률 대신 지침. 진흥 중심. 히로시마 AI 프로세스 주도.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1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🇬🇧 영국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원칙 기반 · 부문별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Pro-Innovation Regulatory Approach (2023 백서)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새 법 대신 기존 규제기관이 5원칙(안전·투명·공정·책임·이의)을 각 분야에 적용.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946860" y="9505188"/>
            <a:ext cx="16383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강한 통제(EU · 중국) ↔ 자율/진흥(미국 · 일본 · 영국)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포괄법(EU · 한국) ↔ 분야별 대응(미국 · 영국 · 일본)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한국은 두 축 모두에서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가운데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위치.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2" name="Text 11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43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3619195"/>
            <a:ext cx="5333695" cy="5715000"/>
          </a:xfrm>
          <a:prstGeom prst="rect">
            <a:avLst/>
          </a:prstGeom>
          <a:solidFill>
            <a:srgbClr val="003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7" name="Shape 2"/>
          <p:cNvSpPr/>
          <p:nvPr/>
        </p:nvSpPr>
        <p:spPr>
          <a:xfrm>
            <a:off x="761695" y="1143000"/>
            <a:ext cx="1933956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761695" y="1143000"/>
            <a:ext cx="1933956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EU AI ACT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EU AI Act · 개요와 위상</a:t>
            </a:r>
            <a:endParaRPr lang="en-US" sz="54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Regulation (EU) 2024/1689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4000500"/>
            <a:ext cx="5334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spc="900" dirty="0">
                <a:solidFill>
                  <a:srgbClr val="FFCC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★ ★ ★</a:t>
            </a:r>
            <a:endParaRPr lang="en-US" sz="21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4343400"/>
            <a:ext cx="5334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spc="1800" dirty="0">
                <a:solidFill>
                  <a:srgbClr val="FFCC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★ ★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761695" y="4686300"/>
            <a:ext cx="5334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spc="2700" dirty="0">
                <a:solidFill>
                  <a:srgbClr val="FFCC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★ ★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5029200"/>
            <a:ext cx="5334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spc="1800" dirty="0">
                <a:solidFill>
                  <a:srgbClr val="FFCC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★ ★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5372100"/>
            <a:ext cx="5334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spc="900" dirty="0">
                <a:solidFill>
                  <a:srgbClr val="FFCC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★ ★ ★</a:t>
            </a:r>
            <a:endParaRPr lang="en-US" sz="21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6286500"/>
            <a:ext cx="457200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250" b="1" dirty="0">
                <a:solidFill>
                  <a:srgbClr val="FFCC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EU AI Act</a:t>
            </a:r>
            <a:endParaRPr lang="en-US" sz="525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7086600"/>
            <a:ext cx="457200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Regulation of the European Parliament and of the Council Laying Down Harmonised Rules on Artificial Intelligence</a:t>
            </a:r>
            <a:endParaRPr lang="en-US" sz="1650" dirty="0"/>
          </a:p>
        </p:txBody>
      </p:sp>
      <p:pic>
        <p:nvPicPr>
          <p:cNvPr id="18" name="Image 2" descr="gen-dedup-869b38778c74fb3e6da4211284bb5ca2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1143000" y="8220456"/>
            <a:ext cx="761695" cy="192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43000" y="8386877"/>
            <a:ext cx="4572000" cy="919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Reg. (EU) 2024/1689</a:t>
            </a:r>
            <a:endParaRPr lang="en-US" sz="1350" dirty="0"/>
          </a:p>
          <a:p>
            <a:pPr marL="0" indent="0" algn="l">
              <a:lnSpc>
                <a:spcPts val="229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June 2024 · OJ 12 July 2024</a:t>
            </a:r>
            <a:endParaRPr lang="en-US" sz="1350" dirty="0"/>
          </a:p>
          <a:p>
            <a:pPr marL="0" indent="0" algn="l">
              <a:lnSpc>
                <a:spcPts val="229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European Commission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6667805" y="3715207"/>
            <a:ext cx="10858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FACTS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6667805" y="4038905"/>
            <a:ext cx="1143000" cy="810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4800" dirty="0"/>
          </a:p>
        </p:txBody>
      </p:sp>
      <p:sp>
        <p:nvSpPr>
          <p:cNvPr id="22" name="Text 16"/>
          <p:cNvSpPr txBox="1"/>
          <p:nvPr/>
        </p:nvSpPr>
        <p:spPr>
          <a:xfrm>
            <a:off x="8096098" y="4038905"/>
            <a:ext cx="9048902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세계 최초의 포괄적 AI 규제법</a:t>
            </a:r>
            <a:endParaRPr lang="en-US" sz="2400" dirty="0"/>
          </a:p>
        </p:txBody>
      </p:sp>
      <p:sp>
        <p:nvSpPr>
          <p:cNvPr id="23" name="Text 17"/>
          <p:cNvSpPr txBox="1"/>
          <p:nvPr/>
        </p:nvSpPr>
        <p:spPr>
          <a:xfrm>
            <a:off x="8096098" y="4552798"/>
            <a:ext cx="1079815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"AI"라는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자체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대상으로 삼는 최초의 수평적 규제. 이전까지 AI는 개별 산업법(의료·자동차)의 부속물이었다.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667805" y="5095951"/>
            <a:ext cx="1143000" cy="810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4800" dirty="0"/>
          </a:p>
        </p:txBody>
      </p:sp>
      <p:sp>
        <p:nvSpPr>
          <p:cNvPr id="25" name="Text 19"/>
          <p:cNvSpPr txBox="1"/>
          <p:nvPr/>
        </p:nvSpPr>
        <p:spPr>
          <a:xfrm>
            <a:off x="8096098" y="5095951"/>
            <a:ext cx="6305702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위험 기반 접근 (Risk-based)</a:t>
            </a:r>
            <a:endParaRPr lang="en-US" sz="2400" dirty="0"/>
          </a:p>
        </p:txBody>
      </p:sp>
      <p:sp>
        <p:nvSpPr>
          <p:cNvPr id="26" name="Text 20"/>
          <p:cNvSpPr txBox="1"/>
          <p:nvPr/>
        </p:nvSpPr>
        <p:spPr>
          <a:xfrm>
            <a:off x="8096098" y="5609844"/>
            <a:ext cx="746059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시스템을 4단계 위험 등급으로 분류. 등급이 높을수록 요구사항이 무거워진다.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6667805" y="6152998"/>
            <a:ext cx="1143000" cy="810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4800" dirty="0"/>
          </a:p>
        </p:txBody>
      </p:sp>
      <p:sp>
        <p:nvSpPr>
          <p:cNvPr id="28" name="Text 22"/>
          <p:cNvSpPr txBox="1"/>
          <p:nvPr/>
        </p:nvSpPr>
        <p:spPr>
          <a:xfrm>
            <a:off x="8096098" y="6152998"/>
            <a:ext cx="90297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역외 적용 (Extraterritorial)</a:t>
            </a:r>
            <a:endParaRPr lang="en-US" sz="2400" dirty="0"/>
          </a:p>
        </p:txBody>
      </p:sp>
      <p:sp>
        <p:nvSpPr>
          <p:cNvPr id="29" name="Text 23"/>
          <p:cNvSpPr txBox="1"/>
          <p:nvPr/>
        </p:nvSpPr>
        <p:spPr>
          <a:xfrm>
            <a:off x="8096098" y="6667805"/>
            <a:ext cx="1056955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밖에서 개발됐어도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시장에 출시되거나 EU에서 사용되는 AI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모두 규제 대상. GDPR과 동일한 브뤼셀 효과.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6667805" y="7210044"/>
            <a:ext cx="1143000" cy="810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4800" dirty="0"/>
          </a:p>
        </p:txBody>
      </p:sp>
      <p:sp>
        <p:nvSpPr>
          <p:cNvPr id="31" name="Text 25"/>
          <p:cNvSpPr txBox="1"/>
          <p:nvPr/>
        </p:nvSpPr>
        <p:spPr>
          <a:xfrm>
            <a:off x="8096098" y="7210044"/>
            <a:ext cx="61722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최고 과징금 3,500만 유로 또는 매출 7%</a:t>
            </a:r>
            <a:endParaRPr lang="en-US" sz="2400" dirty="0"/>
          </a:p>
        </p:txBody>
      </p:sp>
      <p:sp>
        <p:nvSpPr>
          <p:cNvPr id="32" name="Text 26"/>
          <p:cNvSpPr txBox="1"/>
          <p:nvPr/>
        </p:nvSpPr>
        <p:spPr>
          <a:xfrm>
            <a:off x="8096098" y="7724851"/>
            <a:ext cx="6858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금지 AI 조항 위반 시. GDPR 최대(2,000만 유로 또는 4%)보다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무거운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제재.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43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3619195"/>
            <a:ext cx="7239305" cy="1143000"/>
          </a:xfrm>
          <a:prstGeom prst="rect">
            <a:avLst/>
          </a:prstGeom>
          <a:solidFill>
            <a:srgbClr val="B834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714500" y="4858207"/>
            <a:ext cx="6096305" cy="1524305"/>
          </a:xfrm>
          <a:prstGeom prst="rect">
            <a:avLst/>
          </a:prstGeom>
          <a:solidFill>
            <a:srgbClr val="C47B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286000" y="6476695"/>
            <a:ext cx="4953305" cy="1238098"/>
          </a:xfrm>
          <a:prstGeom prst="rect">
            <a:avLst/>
          </a:prstGeom>
          <a:solidFill>
            <a:srgbClr val="C9A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857500" y="7810805"/>
            <a:ext cx="3810305" cy="1047902"/>
          </a:xfrm>
          <a:prstGeom prst="rect">
            <a:avLst/>
          </a:prstGeom>
          <a:solidFill>
            <a:srgbClr val="5A8F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144000" y="3619195"/>
            <a:ext cx="8382305" cy="5619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144000" y="3619195"/>
            <a:ext cx="47549" cy="5619902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10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761695" y="1143000"/>
            <a:ext cx="1933956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61695" y="1143000"/>
            <a:ext cx="1933956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EU AI ACT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위험 기반 4단계 분류</a:t>
            </a:r>
            <a:endParaRPr lang="en-US" sz="54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Risk-based Classification · Four Tiers</a:t>
            </a:r>
            <a:endParaRPr lang="en-US" sz="21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3810305"/>
            <a:ext cx="7239305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① 금지 · Unacceptable Risk</a:t>
            </a:r>
            <a:endParaRPr lang="en-US" sz="255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4352544"/>
            <a:ext cx="7239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기본가치를 침해 → </a:t>
            </a: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자체 금지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714500" y="5048402"/>
            <a:ext cx="60963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② 고위험 · High Risk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1714500" y="5554066"/>
            <a:ext cx="6096305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38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건강·안전·기본권 위해 → 사전 </a:t>
            </a: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적합성 평가</a:t>
            </a:r>
            <a:endParaRPr lang="en-US" sz="1425" dirty="0"/>
          </a:p>
          <a:p>
            <a:pPr marL="0" indent="0" algn="ctr">
              <a:lnSpc>
                <a:spcPts val="2138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 · 데이터 거버넌스 · 로그 · 인간 감독 등 7대 요구</a:t>
            </a:r>
            <a:endParaRPr lang="en-US" sz="1425" dirty="0"/>
          </a:p>
        </p:txBody>
      </p:sp>
      <p:sp>
        <p:nvSpPr>
          <p:cNvPr id="20" name="Text 15"/>
          <p:cNvSpPr txBox="1"/>
          <p:nvPr/>
        </p:nvSpPr>
        <p:spPr>
          <a:xfrm>
            <a:off x="2286000" y="6667805"/>
            <a:ext cx="4953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③ 제한적 위험 · Limited Risk</a:t>
            </a:r>
            <a:endParaRPr lang="en-US" sz="2250" dirty="0"/>
          </a:p>
        </p:txBody>
      </p:sp>
      <p:sp>
        <p:nvSpPr>
          <p:cNvPr id="21" name="Text 16"/>
          <p:cNvSpPr txBox="1"/>
          <p:nvPr/>
        </p:nvSpPr>
        <p:spPr>
          <a:xfrm>
            <a:off x="2286000" y="7162495"/>
            <a:ext cx="4953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챗봇·딥페이크·감정인식 → </a:t>
            </a: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투명성·표시 의무</a:t>
            </a:r>
            <a:endParaRPr lang="en-US" sz="1425" dirty="0"/>
          </a:p>
        </p:txBody>
      </p:sp>
      <p:sp>
        <p:nvSpPr>
          <p:cNvPr id="22" name="Text 17"/>
          <p:cNvSpPr txBox="1"/>
          <p:nvPr/>
        </p:nvSpPr>
        <p:spPr>
          <a:xfrm>
            <a:off x="2857500" y="7981798"/>
            <a:ext cx="3810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④ 최소 위험 · Minimal</a:t>
            </a:r>
            <a:endParaRPr lang="en-US" sz="2100" dirty="0"/>
          </a:p>
        </p:txBody>
      </p:sp>
      <p:sp>
        <p:nvSpPr>
          <p:cNvPr id="23" name="Text 18"/>
          <p:cNvSpPr txBox="1"/>
          <p:nvPr/>
        </p:nvSpPr>
        <p:spPr>
          <a:xfrm>
            <a:off x="2857500" y="8438998"/>
            <a:ext cx="3810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스팸필터 등 → </a:t>
            </a: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 준수</a:t>
            </a: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권장</a:t>
            </a:r>
            <a:endParaRPr lang="en-US" sz="1350" dirty="0"/>
          </a:p>
        </p:txBody>
      </p:sp>
      <p:sp>
        <p:nvSpPr>
          <p:cNvPr id="25" name="Text 20"/>
          <p:cNvSpPr txBox="1"/>
          <p:nvPr/>
        </p:nvSpPr>
        <p:spPr>
          <a:xfrm>
            <a:off x="9525305" y="3905402"/>
            <a:ext cx="7620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EXAMPLES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9525305" y="4134002"/>
            <a:ext cx="7620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각 등급에 어떤 AI가 들어가는가</a:t>
            </a:r>
            <a:endParaRPr lang="en-US" sz="2100" dirty="0"/>
          </a:p>
        </p:txBody>
      </p:sp>
      <p:pic>
        <p:nvPicPr>
          <p:cNvPr id="27" name="Image 2" descr="gen-dedup-08173c94900e9aa2377887198bd5085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9525305" y="4686300"/>
            <a:ext cx="761695" cy="1920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525305" y="4876495"/>
            <a:ext cx="7620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342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① 금지 AI (Art. 5)</a:t>
            </a:r>
            <a:endParaRPr lang="en-US" sz="1650" dirty="0"/>
          </a:p>
        </p:txBody>
      </p:sp>
      <p:sp>
        <p:nvSpPr>
          <p:cNvPr id="29" name="Text 23"/>
          <p:cNvSpPr txBox="1"/>
          <p:nvPr/>
        </p:nvSpPr>
        <p:spPr>
          <a:xfrm>
            <a:off x="9525305" y="5210251"/>
            <a:ext cx="76206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정부의 사회신용 평점 · 잠재의식 조작 · 공공장소 실시간 원격 생체인식 (일부 예외) · 감정인식(직장·학교) · 예측치안 (범죄 예측)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9525305" y="5894222"/>
            <a:ext cx="7620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47B1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② 고위험 AI (Annex III)</a:t>
            </a:r>
            <a:endParaRPr lang="en-US" sz="1650" dirty="0"/>
          </a:p>
        </p:txBody>
      </p:sp>
      <p:sp>
        <p:nvSpPr>
          <p:cNvPr id="31" name="Text 25"/>
          <p:cNvSpPr txBox="1"/>
          <p:nvPr/>
        </p:nvSpPr>
        <p:spPr>
          <a:xfrm>
            <a:off x="9525305" y="6227064"/>
            <a:ext cx="76206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생체인식 · 중요 인프라(전력·교통) · 교육 평가 · 채용/HR · 신용평가 · 사법·이민 · 법 집행 보조 · 의료기기 SW</a:t>
            </a:r>
            <a:endParaRPr lang="en-US" sz="1350" dirty="0"/>
          </a:p>
        </p:txBody>
      </p:sp>
      <p:sp>
        <p:nvSpPr>
          <p:cNvPr id="32" name="Text 26"/>
          <p:cNvSpPr txBox="1"/>
          <p:nvPr/>
        </p:nvSpPr>
        <p:spPr>
          <a:xfrm>
            <a:off x="9525305" y="6911035"/>
            <a:ext cx="7620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9A2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③ 제한적 위험 (Art. 50)</a:t>
            </a:r>
            <a:endParaRPr lang="en-US" sz="1650" dirty="0"/>
          </a:p>
        </p:txBody>
      </p:sp>
      <p:sp>
        <p:nvSpPr>
          <p:cNvPr id="33" name="Text 27"/>
          <p:cNvSpPr txBox="1"/>
          <p:nvPr/>
        </p:nvSpPr>
        <p:spPr>
          <a:xfrm>
            <a:off x="9525305" y="7244791"/>
            <a:ext cx="8605418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챗봇 (AI와 대화 중임을 고지) · 생성형 콘텐츠 (AI 생성 표시) · 감정인식 · 딥페이크 (합성물 표시)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9525305" y="7662672"/>
            <a:ext cx="7620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5A8F4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④ 최소 위험</a:t>
            </a:r>
            <a:endParaRPr lang="en-US" sz="1650" dirty="0"/>
          </a:p>
        </p:txBody>
      </p:sp>
      <p:sp>
        <p:nvSpPr>
          <p:cNvPr id="35" name="Text 29"/>
          <p:cNvSpPr txBox="1"/>
          <p:nvPr/>
        </p:nvSpPr>
        <p:spPr>
          <a:xfrm>
            <a:off x="9525305" y="7995514"/>
            <a:ext cx="7620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스팸필터 · AI 게임 · 재고관리 알고리즘 등 대부분의 상용 AI. 별도 요구 없음.</a:t>
            </a:r>
            <a:endParaRPr lang="en-US" sz="1350" dirty="0"/>
          </a:p>
        </p:txBody>
      </p:sp>
      <p:sp>
        <p:nvSpPr>
          <p:cNvPr id="36" name="Shape 30"/>
          <p:cNvSpPr/>
          <p:nvPr/>
        </p:nvSpPr>
        <p:spPr>
          <a:xfrm>
            <a:off x="9525305" y="8471002"/>
            <a:ext cx="7619695" cy="714146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37" name="Shape 31"/>
          <p:cNvSpPr/>
          <p:nvPr/>
        </p:nvSpPr>
        <p:spPr>
          <a:xfrm>
            <a:off x="9525305" y="8471002"/>
            <a:ext cx="38405" cy="714146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9715500" y="8585302"/>
            <a:ext cx="72777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층 · GPAI (범용 AI 모델)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ChatGPT·Claude·Gemini 등은 별도 트랙. 시스템적 위험(SR) GPAI는 추가 의무.</a:t>
            </a:r>
            <a:endParaRPr lang="en-US" sz="1275" dirty="0"/>
          </a:p>
        </p:txBody>
      </p:sp>
      <p:sp>
        <p:nvSpPr>
          <p:cNvPr id="39" name="Shape 33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43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pic>
        <p:nvPicPr>
          <p:cNvPr id="6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8" name="Shape 3"/>
          <p:cNvSpPr/>
          <p:nvPr/>
        </p:nvSpPr>
        <p:spPr>
          <a:xfrm>
            <a:off x="761695" y="1143000"/>
            <a:ext cx="1933956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61695" y="1143000"/>
            <a:ext cx="1933956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EU AI ACT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EU AI Act · 13개 장 구조</a:t>
            </a:r>
            <a:endParaRPr lang="en-US" sz="54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Structure of the Regulation · 13 Chapters</a:t>
            </a:r>
            <a:endParaRPr lang="en-US" sz="2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3524098"/>
          <a:ext cx="8563356" cy="4977867"/>
        </p:xfrm>
        <a:graphic>
          <a:graphicData uri="http://schemas.openxmlformats.org/drawingml/2006/table">
            <a:tbl>
              <a:tblPr/>
              <a:tblGrid>
                <a:gridCol w="1047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5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14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장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제목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4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제1장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총칙 · 목적, 범위, 정의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4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제2장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활용 관련 금지행위 (Art. 5)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4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제3장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고위험 AI 시스템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 분류, 요구사항, 제공자·배포자·수입자·유통자 의무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 관련 당국의 인증 기관 지정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4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제4장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특정 AI 시스템의 제공자 및 배포자에 대한 </a:t>
                      </a: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투명성 의무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14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제5장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범용 AI 모델 (GPAI)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 분류 규칙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 범용 AI 모델 제공업자의 의무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 시스템적 위험을 가진 범용 AI 모델 제공업자의 의무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14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제6장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혁신 지원 방안 (Regulatory Sandbox 등)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305" y="3524098"/>
          <a:ext cx="7991856" cy="4839237"/>
        </p:xfrm>
        <a:graphic>
          <a:graphicData uri="http://schemas.openxmlformats.org/drawingml/2006/table">
            <a:tbl>
              <a:tblPr/>
              <a:tblGrid>
                <a:gridCol w="1047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3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65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장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제목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5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제7장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거버넌스 · EU AI Office · AI 이사회 · 자문 포럼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5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제8장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고위험 AI 시스템을 위한 EU 데이터베이스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5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제9장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사후 모니터링 · 정보공유 · 시장 감독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 배포 사후 모니터링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 심각한 사고에 대한 정보 공유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 시행 · 국내 조치 · 벌칙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5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제10장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행동 강령 및 지침 (Codes of Practice)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5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제11장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권한 위임 및 위원회 절차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65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제12장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벌칙 (Penalties · 최대 매출 7%)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65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제13장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최종 조항 (경과 · 발효 · 부칙)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Shape 8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/ 43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pic>
        <p:nvPicPr>
          <p:cNvPr id="4" name="Image 1" descr="gen-dedup-03c9d7357d3c296bcae2a99e1bf3a829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761695" y="4000500"/>
            <a:ext cx="16763695" cy="57607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714500" y="3905402"/>
            <a:ext cx="247802" cy="247802"/>
          </a:xfrm>
          <a:prstGeom prst="ellipse">
            <a:avLst/>
          </a:prstGeom>
          <a:solidFill>
            <a:srgbClr val="036B3F"/>
          </a:solidFill>
          <a:ln w="50800">
            <a:solidFill>
              <a:srgbClr val="FAF8F4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5715000" y="3905402"/>
            <a:ext cx="247802" cy="247802"/>
          </a:xfrm>
          <a:prstGeom prst="ellipse">
            <a:avLst/>
          </a:prstGeom>
          <a:solidFill>
            <a:srgbClr val="036B3F"/>
          </a:solidFill>
          <a:ln w="50800">
            <a:solidFill>
              <a:srgbClr val="FAF8F4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9715500" y="3905402"/>
            <a:ext cx="247802" cy="247802"/>
          </a:xfrm>
          <a:prstGeom prst="ellipse">
            <a:avLst/>
          </a:prstGeom>
          <a:solidFill>
            <a:srgbClr val="036B3F"/>
          </a:solidFill>
          <a:ln w="50800">
            <a:solidFill>
              <a:srgbClr val="FAF8F4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15430500" y="3905402"/>
            <a:ext cx="247802" cy="247802"/>
          </a:xfrm>
          <a:prstGeom prst="ellipse">
            <a:avLst/>
          </a:prstGeom>
          <a:solidFill>
            <a:srgbClr val="C9A24A"/>
          </a:solidFill>
          <a:ln w="50800">
            <a:solidFill>
              <a:srgbClr val="FAF8F4"/>
            </a:solidFill>
            <a:prstDash val="solid"/>
          </a:ln>
        </p:spPr>
      </p:sp>
      <p:pic>
        <p:nvPicPr>
          <p:cNvPr id="9" name="Image 2" descr="gen-dedup-fa0cbed79e4ba9f00851ca4a50b9d912.png"/>
          <p:cNvPicPr>
            <a:picLocks noChangeAspect="1"/>
          </p:cNvPicPr>
          <p:nvPr/>
        </p:nvPicPr>
        <p:blipFill>
          <a:blip r:embed="rId5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11" name="Shape 5"/>
          <p:cNvSpPr/>
          <p:nvPr/>
        </p:nvSpPr>
        <p:spPr>
          <a:xfrm>
            <a:off x="761695" y="1143000"/>
            <a:ext cx="1933956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761695" y="1143000"/>
            <a:ext cx="1933956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EU AI ACT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입법 여정과 단계별 시행 일정</a:t>
            </a:r>
            <a:endParaRPr lang="en-US" sz="5400" dirty="0"/>
          </a:p>
        </p:txBody>
      </p:sp>
      <p:sp>
        <p:nvSpPr>
          <p:cNvPr id="14" name="Text 8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Legislative Journey &amp; Phased Application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761695" y="3524098"/>
            <a:ext cx="16764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1️⃣ 입법 여정 · 2021 → 2024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1143000" y="4286707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2021.04.21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143000" y="4533595"/>
            <a:ext cx="3620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1단계 · 발의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4924044"/>
            <a:ext cx="3620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집행위, 세계 최초 포괄적 AI 규제법안 제안. 3년의 입법 여정 시작.</a:t>
            </a:r>
            <a:endParaRPr lang="en-US" sz="1275" dirty="0"/>
          </a:p>
        </p:txBody>
      </p:sp>
      <p:sp>
        <p:nvSpPr>
          <p:cNvPr id="19" name="Text 13"/>
          <p:cNvSpPr txBox="1"/>
          <p:nvPr/>
        </p:nvSpPr>
        <p:spPr>
          <a:xfrm>
            <a:off x="5143500" y="4286707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2023.12.09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143500" y="4533595"/>
            <a:ext cx="3620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2단계 · 잠정 합의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5143500" y="4924044"/>
            <a:ext cx="3620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3자 협상(Trilogue) 마라톤 끝에 이사회·의회·집행위 잠정 합의 도달.</a:t>
            </a:r>
            <a:endParaRPr lang="en-US" sz="1275" dirty="0"/>
          </a:p>
        </p:txBody>
      </p:sp>
      <p:sp>
        <p:nvSpPr>
          <p:cNvPr id="22" name="Text 16"/>
          <p:cNvSpPr txBox="1"/>
          <p:nvPr/>
        </p:nvSpPr>
        <p:spPr>
          <a:xfrm>
            <a:off x="9144000" y="4286707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2024.03.13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9144000" y="4533595"/>
            <a:ext cx="3620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3단계 · 의회 통과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144000" y="4924044"/>
            <a:ext cx="3620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유럽의회 본회의 통과 (찬성 523 · 반대 46 · 기권 49).</a:t>
            </a:r>
            <a:endParaRPr lang="en-US" sz="1275" dirty="0"/>
          </a:p>
        </p:txBody>
      </p:sp>
      <p:sp>
        <p:nvSpPr>
          <p:cNvPr id="25" name="Text 19"/>
          <p:cNvSpPr txBox="1"/>
          <p:nvPr/>
        </p:nvSpPr>
        <p:spPr>
          <a:xfrm>
            <a:off x="13716000" y="4286707"/>
            <a:ext cx="3810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2024.08.01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13716000" y="4533595"/>
            <a:ext cx="3810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4단계 · 발효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13716000" y="4924044"/>
            <a:ext cx="38103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OJ 게재(2024.7.12) 20일 후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발효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이 시점부터 시계가 돌기 시작.</a:t>
            </a:r>
            <a:endParaRPr lang="en-US" sz="1275" dirty="0"/>
          </a:p>
        </p:txBody>
      </p:sp>
      <p:sp>
        <p:nvSpPr>
          <p:cNvPr id="28" name="Text 22"/>
          <p:cNvSpPr txBox="1"/>
          <p:nvPr/>
        </p:nvSpPr>
        <p:spPr>
          <a:xfrm>
            <a:off x="761695" y="6096305"/>
            <a:ext cx="16764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2️⃣ 단계적 적용 · 2025 → 2031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6458407"/>
          <a:ext cx="16754551" cy="3248861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29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적용 시점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대상 조항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주요 내용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1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2025.02.02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제1장(총칙) · 제2장(금지)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금지 AI 시스템 8종 즉시 사용 중단. AI 리터러시 의무 개시.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1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2025.08.02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GPAI · 거버넌스 · 벌칙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범용 AI 모델(ChatGPT 등) 의무 개시. EU AI Office 본격 가동.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1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2026.08.02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본체 적용</a:t>
                      </a: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투명성 등 대부분 조항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제50조 투명성 의무 등 일반 조항 적용 개시.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1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2027.12.02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Annex III 고위험 AI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채용·신용평가 등 독립형 고위험 AI 의무 개시. </a:t>
                      </a: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Omnibus로 연기됨</a:t>
                      </a: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.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1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2028.08.02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Annex I 고위험 AI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제품에 내장된 고위험 AI(의료기기 SW 등) 완전 준수.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1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2030 · 2031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공공기관 GPAI · 최종 평가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기존 도입 시스템 준수 마감(2030) · AI Act 전반 평가(2031).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" name="Shape 23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/ 43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3238805"/>
            <a:ext cx="7810805" cy="6096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pic>
        <p:nvPicPr>
          <p:cNvPr id="5" name="Image 1" descr="gen-dedup-be7449d51fd6bedb488566b6840f4f19.png"/>
          <p:cNvPicPr>
            <a:picLocks noChangeAspect="1"/>
          </p:cNvPicPr>
          <p:nvPr/>
        </p:nvPicPr>
        <p:blipFill>
          <a:blip r:embed="rId4"/>
          <a:srcRect t="-398" b="-398"/>
          <a:stretch/>
        </p:blipFill>
        <p:spPr>
          <a:xfrm>
            <a:off x="761695" y="3238805"/>
            <a:ext cx="7810805" cy="57607"/>
          </a:xfrm>
          <a:prstGeom prst="rect">
            <a:avLst/>
          </a:prstGeom>
        </p:spPr>
      </p:pic>
      <p:pic>
        <p:nvPicPr>
          <p:cNvPr id="6" name="Image 2" descr="gen-dedup-fa0cbed79e4ba9f00851ca4a50b9d912.png"/>
          <p:cNvPicPr>
            <a:picLocks noChangeAspect="1"/>
          </p:cNvPicPr>
          <p:nvPr/>
        </p:nvPicPr>
        <p:blipFill>
          <a:blip r:embed="rId5"/>
          <a:srcRect l="-385" r="-385"/>
          <a:stretch/>
        </p:blipFill>
        <p:spPr>
          <a:xfrm>
            <a:off x="761695" y="2809951"/>
            <a:ext cx="761695" cy="28346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8" name="Shape 2"/>
          <p:cNvSpPr/>
          <p:nvPr/>
        </p:nvSpPr>
        <p:spPr>
          <a:xfrm>
            <a:off x="761695" y="1143000"/>
            <a:ext cx="2266798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761695" y="1143000"/>
            <a:ext cx="2267712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KOR AI 기본법</a:t>
            </a:r>
            <a:endParaRPr lang="en-US" sz="1500" dirty="0"/>
          </a:p>
        </p:txBody>
      </p:sp>
      <p:sp>
        <p:nvSpPr>
          <p:cNvPr id="10" name="Text 4"/>
          <p:cNvSpPr txBox="1"/>
          <p:nvPr/>
        </p:nvSpPr>
        <p:spPr>
          <a:xfrm>
            <a:off x="761695" y="1619402"/>
            <a:ext cx="16764610" cy="876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인공지능 발전과 신뢰 기반 조성 등에 관한 기본법</a:t>
            </a:r>
            <a:endParaRPr lang="en-US" sz="4800" dirty="0"/>
          </a:p>
        </p:txBody>
      </p:sp>
      <p:sp>
        <p:nvSpPr>
          <p:cNvPr id="11" name="Text 5"/>
          <p:cNvSpPr txBox="1"/>
          <p:nvPr/>
        </p:nvSpPr>
        <p:spPr>
          <a:xfrm>
            <a:off x="761695" y="2572207"/>
            <a:ext cx="16764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Framework Act on the Development of AI and Establishment of Trust · Context</a:t>
            </a:r>
            <a:endParaRPr lang="en-US" sz="1950" dirty="0"/>
          </a:p>
        </p:txBody>
      </p:sp>
      <p:sp>
        <p:nvSpPr>
          <p:cNvPr id="12" name="Text 6"/>
          <p:cNvSpPr txBox="1"/>
          <p:nvPr/>
        </p:nvSpPr>
        <p:spPr>
          <a:xfrm>
            <a:off x="1143000" y="3524098"/>
            <a:ext cx="7049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약칭 · 인공지능기본법 / AI 기본법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3791102"/>
            <a:ext cx="7049110" cy="1381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1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인공지능 발전과</a:t>
            </a:r>
            <a:endParaRPr lang="en-US" sz="3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1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신뢰 기반 조성 등에</a:t>
            </a:r>
            <a:endParaRPr lang="en-US" sz="3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1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관한 기본법</a:t>
            </a:r>
            <a:endParaRPr lang="en-US" sz="3150" dirty="0"/>
          </a:p>
        </p:txBody>
      </p:sp>
      <p:pic>
        <p:nvPicPr>
          <p:cNvPr id="14" name="Image 3" descr="gen-dedup-08173c94900e9aa2377887198bd5085e.png"/>
          <p:cNvPicPr>
            <a:picLocks noChangeAspect="1"/>
          </p:cNvPicPr>
          <p:nvPr/>
        </p:nvPicPr>
        <p:blipFill>
          <a:blip r:embed="rId6"/>
          <a:srcRect t="-420" b="-420"/>
          <a:stretch/>
        </p:blipFill>
        <p:spPr>
          <a:xfrm>
            <a:off x="1143000" y="5399532"/>
            <a:ext cx="761695" cy="19202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143000" y="5647334"/>
            <a:ext cx="14292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제정</a:t>
            </a:r>
            <a:endParaRPr lang="en-US" sz="1500" dirty="0"/>
          </a:p>
        </p:txBody>
      </p:sp>
      <p:sp>
        <p:nvSpPr>
          <p:cNvPr id="16" name="Text 9"/>
          <p:cNvSpPr txBox="1"/>
          <p:nvPr/>
        </p:nvSpPr>
        <p:spPr>
          <a:xfrm>
            <a:off x="2572207" y="5647334"/>
            <a:ext cx="56199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1월 21일 · 법률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제20676호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143000" y="6076188"/>
            <a:ext cx="14292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시행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2572207" y="6076188"/>
            <a:ext cx="56199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1월 22일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(법률 제21311호)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1143000" y="6504127"/>
            <a:ext cx="14292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소관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2572207" y="6504127"/>
            <a:ext cx="56199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과학기술정보통신부 인공지능정책관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1143000" y="6932981"/>
            <a:ext cx="14292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2572207" y="6932981"/>
            <a:ext cx="56199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6장 · 43조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+ 부칙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143000" y="7361834"/>
            <a:ext cx="14292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위상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2572207" y="7361834"/>
            <a:ext cx="56199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세계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2번째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제정 · 세계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최초 전면 시행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1143000" y="7866583"/>
            <a:ext cx="7048195" cy="1181405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26" name="Shape 19"/>
          <p:cNvSpPr/>
          <p:nvPr/>
        </p:nvSpPr>
        <p:spPr>
          <a:xfrm>
            <a:off x="1143000" y="7866583"/>
            <a:ext cx="47549" cy="11814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1380744" y="8019288"/>
            <a:ext cx="6620256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EU와의 차별점</a:t>
            </a:r>
            <a:endParaRPr lang="en-US" sz="1650" dirty="0"/>
          </a:p>
        </p:txBody>
      </p:sp>
      <p:sp>
        <p:nvSpPr>
          <p:cNvPr id="28" name="Text 21"/>
          <p:cNvSpPr txBox="1"/>
          <p:nvPr/>
        </p:nvSpPr>
        <p:spPr>
          <a:xfrm>
            <a:off x="1380744" y="8352130"/>
            <a:ext cx="6620256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EU가 "규제법(Regulation)"이라면 한국은 "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기본법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 — 진흥·신뢰·규제를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법 안에 모두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담는 한국식 입법 전통.</a:t>
            </a:r>
            <a:endParaRPr lang="en-US" sz="1425" dirty="0"/>
          </a:p>
        </p:txBody>
      </p:sp>
      <p:sp>
        <p:nvSpPr>
          <p:cNvPr id="29" name="Text 22"/>
          <p:cNvSpPr txBox="1"/>
          <p:nvPr/>
        </p:nvSpPr>
        <p:spPr>
          <a:xfrm>
            <a:off x="8953805" y="323880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§1 목적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8953805" y="3562502"/>
            <a:ext cx="8572500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58"/>
              </a:lnSpc>
              <a:buNone/>
            </a:pPr>
            <a:r>
              <a:rPr lang="en-US" sz="1650" i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"이 법은 인공지능의 </a:t>
            </a:r>
            <a:r>
              <a:rPr lang="en-US" sz="1650" b="1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건전한 발전</a:t>
            </a:r>
            <a:r>
              <a:rPr lang="en-US" sz="1650" i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과 </a:t>
            </a:r>
            <a:r>
              <a:rPr lang="en-US" sz="1650" b="1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신뢰 기반 조성</a:t>
            </a:r>
            <a:r>
              <a:rPr lang="en-US" sz="1650" i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에 필요한 기본적인 사항을 규정함으로써 국민의 </a:t>
            </a:r>
            <a:r>
              <a:rPr lang="en-US" sz="1650" b="1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권익과 존엄성</a:t>
            </a:r>
            <a:r>
              <a:rPr lang="en-US" sz="1650" i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을 보호하고 국민의 삶의 질 향상과 </a:t>
            </a:r>
            <a:r>
              <a:rPr lang="en-US" sz="1650" b="1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국가경쟁력</a:t>
            </a:r>
            <a:r>
              <a:rPr lang="en-US" sz="1650" i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을 확보하는 데 이바지함을 목적으로 한다."</a:t>
            </a:r>
            <a:endParaRPr lang="en-US" sz="1650" dirty="0"/>
          </a:p>
        </p:txBody>
      </p:sp>
      <p:sp>
        <p:nvSpPr>
          <p:cNvPr id="31" name="Text 24"/>
          <p:cNvSpPr txBox="1"/>
          <p:nvPr/>
        </p:nvSpPr>
        <p:spPr>
          <a:xfrm>
            <a:off x="8953805" y="4841748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왜 이 시점에 만들어졌나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8953805" y="5165446"/>
            <a:ext cx="916686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외압 ·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EU AI Act 2024 발효로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표준 경쟁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시작. 한국 AI 산업의 EU 진출 방어선 필요.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8953805" y="5603443"/>
            <a:ext cx="85725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내수 ·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챗봇 이루다·딥페이크·자동채용 편향 등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위해 사례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축적. 기존 개인정보보호법·저작권법으로 포섭 한계.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8953805" y="6365138"/>
            <a:ext cx="8572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 ·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"G3 AI 강국" 국가 목표에 필요한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제도적 인프라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8953805" y="6803136"/>
            <a:ext cx="8572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국제 ·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OECD AI 원칙 · UN AI 결의를 국내법으로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내부화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500" dirty="0"/>
          </a:p>
        </p:txBody>
      </p:sp>
      <p:sp>
        <p:nvSpPr>
          <p:cNvPr id="36" name="Shape 29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/ 43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3619195"/>
            <a:ext cx="5524805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3619195"/>
            <a:ext cx="57607" cy="2667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381598" y="3619195"/>
            <a:ext cx="5524805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381598" y="3619195"/>
            <a:ext cx="57607" cy="2667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2001500" y="3619195"/>
            <a:ext cx="5524805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2001500" y="3619195"/>
            <a:ext cx="57607" cy="2667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61695" y="6476695"/>
            <a:ext cx="5524805" cy="2667305"/>
          </a:xfrm>
          <a:prstGeom prst="rect">
            <a:avLst/>
          </a:prstGeom>
          <a:solidFill>
            <a:srgbClr val="E6F1EA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61695" y="6476695"/>
            <a:ext cx="57607" cy="2667305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381598" y="6476695"/>
            <a:ext cx="5524805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81598" y="6476695"/>
            <a:ext cx="57607" cy="2667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2001500" y="6476695"/>
            <a:ext cx="5524805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2001500" y="6476695"/>
            <a:ext cx="57607" cy="2667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16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761695" y="1143000"/>
            <a:ext cx="2266798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61695" y="1143000"/>
            <a:ext cx="2267712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KOR AI 기본법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한국 AI 기본법 · 6장 43조 구조</a:t>
            </a:r>
            <a:endParaRPr lang="en-US" sz="5400" dirty="0"/>
          </a:p>
        </p:txBody>
      </p:sp>
      <p:sp>
        <p:nvSpPr>
          <p:cNvPr id="21" name="Text 16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Six Chapters · Forty-three Articles</a:t>
            </a:r>
            <a:endParaRPr lang="en-US" sz="2100" dirty="0"/>
          </a:p>
        </p:txBody>
      </p:sp>
      <p:sp>
        <p:nvSpPr>
          <p:cNvPr id="22" name="Text 17"/>
          <p:cNvSpPr txBox="1"/>
          <p:nvPr/>
        </p:nvSpPr>
        <p:spPr>
          <a:xfrm>
            <a:off x="1143000" y="3905402"/>
            <a:ext cx="4763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CHAPTER 1 · §1–5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1143000" y="4134002"/>
            <a:ext cx="4763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총칙</a:t>
            </a:r>
            <a:endParaRPr lang="en-US" sz="2250" dirty="0"/>
          </a:p>
        </p:txBody>
      </p:sp>
      <p:sp>
        <p:nvSpPr>
          <p:cNvPr id="24" name="Text 19"/>
          <p:cNvSpPr txBox="1"/>
          <p:nvPr/>
        </p:nvSpPr>
        <p:spPr>
          <a:xfrm>
            <a:off x="1143000" y="4667098"/>
            <a:ext cx="47631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· 정의 · 다른 법률과의 관계 ·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국가와 지자체의 책무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사업자·이용자·연구자의 책무.</a:t>
            </a:r>
            <a:endParaRPr lang="en-US" sz="1425" dirty="0"/>
          </a:p>
        </p:txBody>
      </p:sp>
      <p:sp>
        <p:nvSpPr>
          <p:cNvPr id="25" name="Text 20"/>
          <p:cNvSpPr txBox="1"/>
          <p:nvPr/>
        </p:nvSpPr>
        <p:spPr>
          <a:xfrm>
            <a:off x="1143000" y="5360213"/>
            <a:ext cx="4763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키워드: 인공지능 · 인공지능시스템 · 고영향 인공지능 · 생성형 인공지능</a:t>
            </a:r>
            <a:endParaRPr lang="en-US" sz="1275" dirty="0"/>
          </a:p>
        </p:txBody>
      </p:sp>
      <p:sp>
        <p:nvSpPr>
          <p:cNvPr id="26" name="Text 21"/>
          <p:cNvSpPr txBox="1"/>
          <p:nvPr/>
        </p:nvSpPr>
        <p:spPr>
          <a:xfrm>
            <a:off x="6762902" y="3905402"/>
            <a:ext cx="4763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CHAPTER 2 · §6–12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6762902" y="4134002"/>
            <a:ext cx="4763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인공지능 정책의 추진체계</a:t>
            </a:r>
            <a:endParaRPr lang="en-US" sz="2250" dirty="0"/>
          </a:p>
        </p:txBody>
      </p:sp>
      <p:sp>
        <p:nvSpPr>
          <p:cNvPr id="28" name="Text 23"/>
          <p:cNvSpPr txBox="1"/>
          <p:nvPr/>
        </p:nvSpPr>
        <p:spPr>
          <a:xfrm>
            <a:off x="6762902" y="4667098"/>
            <a:ext cx="47631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 인공지능 기본계획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(3년 주기) ·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국가인공지능위원회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실무위원회 · 정책센터 · 안전연구소.</a:t>
            </a:r>
            <a:endParaRPr lang="en-US" sz="1425" dirty="0"/>
          </a:p>
        </p:txBody>
      </p:sp>
      <p:sp>
        <p:nvSpPr>
          <p:cNvPr id="29" name="Text 24"/>
          <p:cNvSpPr txBox="1"/>
          <p:nvPr/>
        </p:nvSpPr>
        <p:spPr>
          <a:xfrm>
            <a:off x="6762902" y="5360213"/>
            <a:ext cx="4763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"누가 · 어떻게" 정책을 만들 것인가의 뼈대.</a:t>
            </a:r>
            <a:endParaRPr lang="en-US" sz="1275" dirty="0"/>
          </a:p>
        </p:txBody>
      </p:sp>
      <p:sp>
        <p:nvSpPr>
          <p:cNvPr id="30" name="Text 25"/>
          <p:cNvSpPr txBox="1"/>
          <p:nvPr/>
        </p:nvSpPr>
        <p:spPr>
          <a:xfrm>
            <a:off x="12382805" y="3905402"/>
            <a:ext cx="4763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CHAPTER 3 · §13–26</a:t>
            </a:r>
            <a:endParaRPr lang="en-US" sz="1050" dirty="0"/>
          </a:p>
        </p:txBody>
      </p:sp>
      <p:sp>
        <p:nvSpPr>
          <p:cNvPr id="31" name="Text 26"/>
          <p:cNvSpPr txBox="1"/>
          <p:nvPr/>
        </p:nvSpPr>
        <p:spPr>
          <a:xfrm>
            <a:off x="12382805" y="4134002"/>
            <a:ext cx="4763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인공지능 기술개발 및 산업 육성</a:t>
            </a:r>
            <a:endParaRPr lang="en-US" sz="2250" dirty="0"/>
          </a:p>
        </p:txBody>
      </p:sp>
      <p:sp>
        <p:nvSpPr>
          <p:cNvPr id="32" name="Text 27"/>
          <p:cNvSpPr txBox="1"/>
          <p:nvPr/>
        </p:nvSpPr>
        <p:spPr>
          <a:xfrm>
            <a:off x="12382805" y="4667098"/>
            <a:ext cx="47631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학습용 데이터 시책 · 표준화 · 표준계약서 · 창업 지원 · 인력 양성 · 인공지능 집적단지 · 연구기관 설립.</a:t>
            </a:r>
            <a:endParaRPr lang="en-US" sz="1425" dirty="0"/>
          </a:p>
        </p:txBody>
      </p:sp>
      <p:sp>
        <p:nvSpPr>
          <p:cNvPr id="33" name="Text 28"/>
          <p:cNvSpPr txBox="1"/>
          <p:nvPr/>
        </p:nvSpPr>
        <p:spPr>
          <a:xfrm>
            <a:off x="12382805" y="5360213"/>
            <a:ext cx="4763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진흥 조항 — 14개 조. 가장 두꺼운 장.</a:t>
            </a:r>
            <a:endParaRPr lang="en-US" sz="1275" dirty="0"/>
          </a:p>
        </p:txBody>
      </p:sp>
      <p:sp>
        <p:nvSpPr>
          <p:cNvPr id="34" name="Text 29"/>
          <p:cNvSpPr txBox="1"/>
          <p:nvPr/>
        </p:nvSpPr>
        <p:spPr>
          <a:xfrm>
            <a:off x="1143000" y="6762902"/>
            <a:ext cx="4763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CHAPTER 4 · §27–36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1143000" y="6991502"/>
            <a:ext cx="4763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인공지능 윤리·신뢰성 확보</a:t>
            </a:r>
            <a:endParaRPr lang="en-US" sz="2250" dirty="0"/>
          </a:p>
        </p:txBody>
      </p:sp>
      <p:sp>
        <p:nvSpPr>
          <p:cNvPr id="36" name="Text 31"/>
          <p:cNvSpPr txBox="1"/>
          <p:nvPr/>
        </p:nvSpPr>
        <p:spPr>
          <a:xfrm>
            <a:off x="1143000" y="7524598"/>
            <a:ext cx="47631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윤리원칙 ·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투명성(§31)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안전성(§32)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고영향 AI 확인(§33)·사업자 책무(§34)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영향평가(§35) · 국내대리인 지정(§36).</a:t>
            </a:r>
            <a:endParaRPr lang="en-US" sz="1425" dirty="0"/>
          </a:p>
        </p:txBody>
      </p:sp>
      <p:sp>
        <p:nvSpPr>
          <p:cNvPr id="37" name="Text 32"/>
          <p:cNvSpPr txBox="1"/>
          <p:nvPr/>
        </p:nvSpPr>
        <p:spPr>
          <a:xfrm>
            <a:off x="1143000" y="8507578"/>
            <a:ext cx="4763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C9A2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실무자가 가장 먼저 읽어야 할 장.</a:t>
            </a:r>
            <a:endParaRPr lang="en-US" sz="1275" dirty="0"/>
          </a:p>
        </p:txBody>
      </p:sp>
      <p:sp>
        <p:nvSpPr>
          <p:cNvPr id="38" name="Text 33"/>
          <p:cNvSpPr txBox="1"/>
          <p:nvPr/>
        </p:nvSpPr>
        <p:spPr>
          <a:xfrm>
            <a:off x="6762902" y="6762902"/>
            <a:ext cx="4763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CHAPTER 5 · §37–41</a:t>
            </a:r>
            <a:endParaRPr lang="en-US" sz="1050" dirty="0"/>
          </a:p>
        </p:txBody>
      </p:sp>
      <p:sp>
        <p:nvSpPr>
          <p:cNvPr id="39" name="Text 34"/>
          <p:cNvSpPr txBox="1"/>
          <p:nvPr/>
        </p:nvSpPr>
        <p:spPr>
          <a:xfrm>
            <a:off x="6762902" y="6991502"/>
            <a:ext cx="4763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보칙</a:t>
            </a:r>
            <a:endParaRPr lang="en-US" sz="2250" dirty="0"/>
          </a:p>
        </p:txBody>
      </p:sp>
      <p:sp>
        <p:nvSpPr>
          <p:cNvPr id="40" name="Text 35"/>
          <p:cNvSpPr txBox="1"/>
          <p:nvPr/>
        </p:nvSpPr>
        <p:spPr>
          <a:xfrm>
            <a:off x="6762902" y="7524598"/>
            <a:ext cx="47631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재원 확충 · 실태조사·통계 · 권한 위임·위탁 ·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사실조사(§40)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공무원 의제.</a:t>
            </a:r>
            <a:endParaRPr lang="en-US" sz="1425" dirty="0"/>
          </a:p>
        </p:txBody>
      </p:sp>
      <p:sp>
        <p:nvSpPr>
          <p:cNvPr id="41" name="Text 36"/>
          <p:cNvSpPr txBox="1"/>
          <p:nvPr/>
        </p:nvSpPr>
        <p:spPr>
          <a:xfrm>
            <a:off x="6762902" y="8217713"/>
            <a:ext cx="4763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집행 절차 · 행정법상 세부.</a:t>
            </a:r>
            <a:endParaRPr lang="en-US" sz="1275" dirty="0"/>
          </a:p>
        </p:txBody>
      </p:sp>
      <p:sp>
        <p:nvSpPr>
          <p:cNvPr id="42" name="Text 37"/>
          <p:cNvSpPr txBox="1"/>
          <p:nvPr/>
        </p:nvSpPr>
        <p:spPr>
          <a:xfrm>
            <a:off x="12382805" y="6762902"/>
            <a:ext cx="4763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CHAPTER 6 · §42–43</a:t>
            </a:r>
            <a:endParaRPr lang="en-US" sz="1050" dirty="0"/>
          </a:p>
        </p:txBody>
      </p:sp>
      <p:sp>
        <p:nvSpPr>
          <p:cNvPr id="43" name="Text 38"/>
          <p:cNvSpPr txBox="1"/>
          <p:nvPr/>
        </p:nvSpPr>
        <p:spPr>
          <a:xfrm>
            <a:off x="12382805" y="6991502"/>
            <a:ext cx="4763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벌칙</a:t>
            </a:r>
            <a:endParaRPr lang="en-US" sz="2250" dirty="0"/>
          </a:p>
        </p:txBody>
      </p:sp>
      <p:sp>
        <p:nvSpPr>
          <p:cNvPr id="44" name="Text 39"/>
          <p:cNvSpPr txBox="1"/>
          <p:nvPr/>
        </p:nvSpPr>
        <p:spPr>
          <a:xfrm>
            <a:off x="12382805" y="7524598"/>
            <a:ext cx="47631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벌칙 · 과태료.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형사처벌 조항은 최소화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됐고 대부분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과태료(최대 3천만 원)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설계.</a:t>
            </a:r>
            <a:endParaRPr lang="en-US" sz="1425" dirty="0"/>
          </a:p>
        </p:txBody>
      </p:sp>
      <p:sp>
        <p:nvSpPr>
          <p:cNvPr id="45" name="Text 40"/>
          <p:cNvSpPr txBox="1"/>
          <p:nvPr/>
        </p:nvSpPr>
        <p:spPr>
          <a:xfrm>
            <a:off x="12382805" y="8218627"/>
            <a:ext cx="4763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대비 가벼운 제재 · 진흥형 설계의 반영.</a:t>
            </a:r>
            <a:endParaRPr lang="en-US" sz="1275" dirty="0"/>
          </a:p>
        </p:txBody>
      </p:sp>
      <p:sp>
        <p:nvSpPr>
          <p:cNvPr id="46" name="Shape 41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/ 43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8953805"/>
            <a:ext cx="16763695" cy="952805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5" name="Shape 1"/>
          <p:cNvSpPr/>
          <p:nvPr/>
        </p:nvSpPr>
        <p:spPr>
          <a:xfrm>
            <a:off x="761695" y="8953805"/>
            <a:ext cx="47549" cy="9528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6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8" name="Shape 3"/>
          <p:cNvSpPr/>
          <p:nvPr/>
        </p:nvSpPr>
        <p:spPr>
          <a:xfrm>
            <a:off x="761695" y="1143000"/>
            <a:ext cx="2266798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61695" y="1143000"/>
            <a:ext cx="2267712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KOR AI 기본법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한국 AI 기본법의 핵심 조항</a:t>
            </a:r>
            <a:endParaRPr lang="en-US" sz="54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Key Provisions · 실무자가 반드시 알아야 할 8개 조항</a:t>
            </a:r>
            <a:endParaRPr lang="en-US" sz="21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3524098"/>
            <a:ext cx="8382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DEFINITIONS &amp; SCOPE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761695" y="3829507"/>
            <a:ext cx="38405" cy="942746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90295" y="3829507"/>
            <a:ext cx="81537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§2 · 정의</a:t>
            </a:r>
            <a:endParaRPr lang="en-US" sz="1950" dirty="0"/>
          </a:p>
        </p:txBody>
      </p:sp>
      <p:sp>
        <p:nvSpPr>
          <p:cNvPr id="15" name="Text 10"/>
          <p:cNvSpPr txBox="1"/>
          <p:nvPr/>
        </p:nvSpPr>
        <p:spPr>
          <a:xfrm>
            <a:off x="990295" y="4238244"/>
            <a:ext cx="81537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고영향 AI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생명·신체 안전, 기본권에 중대한 영향.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텍스트·이미지·음성 등을 생성.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시스템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OECD 정의를 원용.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761695" y="4979822"/>
            <a:ext cx="38405" cy="676656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90295" y="4979822"/>
            <a:ext cx="81537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§4 · 국외 행위에 대한 적용</a:t>
            </a:r>
            <a:endParaRPr lang="en-US" sz="1950" dirty="0"/>
          </a:p>
        </p:txBody>
      </p:sp>
      <p:sp>
        <p:nvSpPr>
          <p:cNvPr id="18" name="Text 13"/>
          <p:cNvSpPr txBox="1"/>
          <p:nvPr/>
        </p:nvSpPr>
        <p:spPr>
          <a:xfrm>
            <a:off x="990295" y="5389474"/>
            <a:ext cx="955182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국외에서 이루어진 행위라도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시장·이용자에 영향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미치면 이 법 적용. EU AI Act와 동일한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역외 적용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구조.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761695" y="5864962"/>
            <a:ext cx="38405" cy="942746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90295" y="5864962"/>
            <a:ext cx="81537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§14 · 학습용 데이터 시책</a:t>
            </a:r>
            <a:endParaRPr lang="en-US" sz="1950" dirty="0"/>
          </a:p>
        </p:txBody>
      </p:sp>
      <p:sp>
        <p:nvSpPr>
          <p:cNvPr id="21" name="Text 16"/>
          <p:cNvSpPr txBox="1"/>
          <p:nvPr/>
        </p:nvSpPr>
        <p:spPr>
          <a:xfrm>
            <a:off x="990295" y="6273698"/>
            <a:ext cx="81537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정부는 AI 학습용 데이터의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생산·수집·품질관리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위한 시책 수립. 공공데이터 개방·표준화·데이터 거래 기반 마련.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761695" y="7015277"/>
            <a:ext cx="38405" cy="676656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90295" y="7015277"/>
            <a:ext cx="81537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9A2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§27 · 인공지능 윤리원칙</a:t>
            </a:r>
            <a:endParaRPr lang="en-US" sz="1950" dirty="0"/>
          </a:p>
        </p:txBody>
      </p:sp>
      <p:sp>
        <p:nvSpPr>
          <p:cNvPr id="24" name="Text 19"/>
          <p:cNvSpPr txBox="1"/>
          <p:nvPr/>
        </p:nvSpPr>
        <p:spPr>
          <a:xfrm>
            <a:off x="990295" y="7424928"/>
            <a:ext cx="870874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정부가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윤리원칙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제정·공표. 사업자·이용자·연구자 준수 노력 의무. OECD 5원칙을 국내법으로 내부화.</a:t>
            </a:r>
            <a:endParaRPr lang="en-US" sz="1350" dirty="0"/>
          </a:p>
        </p:txBody>
      </p:sp>
      <p:sp>
        <p:nvSpPr>
          <p:cNvPr id="25" name="Text 20"/>
          <p:cNvSpPr txBox="1"/>
          <p:nvPr/>
        </p:nvSpPr>
        <p:spPr>
          <a:xfrm>
            <a:off x="9525305" y="3524098"/>
            <a:ext cx="8001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TRUST · CH. 4 CORE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525305" y="3829507"/>
            <a:ext cx="38405" cy="676656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753905" y="3829507"/>
            <a:ext cx="77724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9A2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§31 · 투명성 확보 조치</a:t>
            </a:r>
            <a:endParaRPr lang="en-US" sz="1950" dirty="0"/>
          </a:p>
        </p:txBody>
      </p:sp>
      <p:sp>
        <p:nvSpPr>
          <p:cNvPr id="28" name="Text 23"/>
          <p:cNvSpPr txBox="1"/>
          <p:nvPr/>
        </p:nvSpPr>
        <p:spPr>
          <a:xfrm>
            <a:off x="9753905" y="4238244"/>
            <a:ext cx="77724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결과물이 AI 생성물임을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표시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워터마크·라벨링 등. C2PA 등 국제표준과 정합.</a:t>
            </a:r>
            <a:endParaRPr lang="en-US" sz="1350" dirty="0"/>
          </a:p>
        </p:txBody>
      </p:sp>
      <p:sp>
        <p:nvSpPr>
          <p:cNvPr id="29" name="Shape 24"/>
          <p:cNvSpPr/>
          <p:nvPr/>
        </p:nvSpPr>
        <p:spPr>
          <a:xfrm>
            <a:off x="9525305" y="4713732"/>
            <a:ext cx="38405" cy="676656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9753905" y="4713732"/>
            <a:ext cx="77724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9A2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§32 · 안전성 확보 조치</a:t>
            </a:r>
            <a:endParaRPr lang="en-US" sz="1950" dirty="0"/>
          </a:p>
        </p:txBody>
      </p:sp>
      <p:sp>
        <p:nvSpPr>
          <p:cNvPr id="31" name="Text 26"/>
          <p:cNvSpPr txBox="1"/>
          <p:nvPr/>
        </p:nvSpPr>
        <p:spPr>
          <a:xfrm>
            <a:off x="9753905" y="5123383"/>
            <a:ext cx="77724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규모 이상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AI/GPAI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사업자는 위험 식별·평가·완화 체계 구축. 안전연구소와 협력.</a:t>
            </a:r>
            <a:endParaRPr lang="en-US" sz="1350" dirty="0"/>
          </a:p>
        </p:txBody>
      </p:sp>
      <p:sp>
        <p:nvSpPr>
          <p:cNvPr id="32" name="Shape 27"/>
          <p:cNvSpPr/>
          <p:nvPr/>
        </p:nvSpPr>
        <p:spPr>
          <a:xfrm>
            <a:off x="9525305" y="5598871"/>
            <a:ext cx="38405" cy="676656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9753905" y="5598871"/>
            <a:ext cx="77724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9A2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§33-34 · 고영향 AI 사업자 책무</a:t>
            </a:r>
            <a:endParaRPr lang="en-US" sz="1950" dirty="0"/>
          </a:p>
        </p:txBody>
      </p:sp>
      <p:sp>
        <p:nvSpPr>
          <p:cNvPr id="34" name="Text 29"/>
          <p:cNvSpPr txBox="1"/>
          <p:nvPr/>
        </p:nvSpPr>
        <p:spPr>
          <a:xfrm>
            <a:off x="9753905" y="6008522"/>
            <a:ext cx="94494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위험관리 · 인간 감독 · 안전관리 · 이용자 보호 · 문서화 · AI 영향평가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6대 의무. EU 고위험 AI 요구와 대응.</a:t>
            </a:r>
            <a:endParaRPr lang="en-US" sz="1350" dirty="0"/>
          </a:p>
        </p:txBody>
      </p:sp>
      <p:sp>
        <p:nvSpPr>
          <p:cNvPr id="35" name="Shape 30"/>
          <p:cNvSpPr/>
          <p:nvPr/>
        </p:nvSpPr>
        <p:spPr>
          <a:xfrm>
            <a:off x="9525305" y="6484010"/>
            <a:ext cx="38405" cy="942746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9753905" y="6484010"/>
            <a:ext cx="77724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9A2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§36 · 국외 사업자 국내대리인</a:t>
            </a:r>
            <a:endParaRPr lang="en-US" sz="1950" dirty="0"/>
          </a:p>
        </p:txBody>
      </p:sp>
      <p:sp>
        <p:nvSpPr>
          <p:cNvPr id="37" name="Text 32"/>
          <p:cNvSpPr txBox="1"/>
          <p:nvPr/>
        </p:nvSpPr>
        <p:spPr>
          <a:xfrm>
            <a:off x="9753905" y="6893662"/>
            <a:ext cx="77724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매출액·이용자 수 등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시행령 기준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해당 시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국내대리인 지정 의무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시정명령 불이행으로 과태료를 받은 사업자도 대상.</a:t>
            </a:r>
            <a:endParaRPr lang="en-US" sz="1350" dirty="0"/>
          </a:p>
        </p:txBody>
      </p:sp>
      <p:sp>
        <p:nvSpPr>
          <p:cNvPr id="38" name="Text 33"/>
          <p:cNvSpPr txBox="1"/>
          <p:nvPr/>
        </p:nvSpPr>
        <p:spPr>
          <a:xfrm>
            <a:off x="1047902" y="9124798"/>
            <a:ext cx="16383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실무자를 위한 3-STEP 진단</a:t>
            </a:r>
            <a:endParaRPr lang="en-US" sz="1650" dirty="0"/>
          </a:p>
        </p:txBody>
      </p:sp>
      <p:sp>
        <p:nvSpPr>
          <p:cNvPr id="39" name="Text 34"/>
          <p:cNvSpPr txBox="1"/>
          <p:nvPr/>
        </p:nvSpPr>
        <p:spPr>
          <a:xfrm>
            <a:off x="1047902" y="9458554"/>
            <a:ext cx="170691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§2 정의로 "우리 AI가 고영향/생성형에 해당?" 판단 →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§31-32 투명성·안전성 기본 의무 이행 →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고영향이면 §33-34 6대 책무 전면 이행 → 국외 사업자면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§36 국내대리인 지정</a:t>
            </a:r>
            <a:endParaRPr lang="en-US" sz="1500" dirty="0"/>
          </a:p>
        </p:txBody>
      </p:sp>
      <p:sp>
        <p:nvSpPr>
          <p:cNvPr id="40" name="Shape 35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 / 43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pic>
        <p:nvPicPr>
          <p:cNvPr id="4" name="Image 1" descr="gen-dedup-16bbc13066bdfc2feb8df06a145bfe29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4190695"/>
            <a:ext cx="16002000" cy="3840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61695" y="7334402"/>
            <a:ext cx="16763695" cy="2000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761695" y="7334402"/>
            <a:ext cx="16763695" cy="384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1714500" y="4076395"/>
            <a:ext cx="267005" cy="2670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36B3F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4953305" y="4076395"/>
            <a:ext cx="267005" cy="2670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36B3F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8572500" y="4076395"/>
            <a:ext cx="267005" cy="2670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36B3F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5430500" y="4076395"/>
            <a:ext cx="267005" cy="2670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36B3F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2001500" y="4000500"/>
            <a:ext cx="418795" cy="418795"/>
          </a:xfrm>
          <a:prstGeom prst="ellipse">
            <a:avLst/>
          </a:prstGeom>
          <a:solidFill>
            <a:srgbClr val="C9A24A"/>
          </a:solidFill>
          <a:ln w="50800">
            <a:solidFill>
              <a:srgbClr val="FAF8F4"/>
            </a:solidFill>
            <a:prstDash val="solid"/>
          </a:ln>
        </p:spPr>
      </p:sp>
      <p:pic>
        <p:nvPicPr>
          <p:cNvPr id="12" name="Image 2" descr="gen-dedup-fa0cbed79e4ba9f00851ca4a50b9d912.png"/>
          <p:cNvPicPr>
            <a:picLocks noChangeAspect="1"/>
          </p:cNvPicPr>
          <p:nvPr/>
        </p:nvPicPr>
        <p:blipFill>
          <a:blip r:embed="rId5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pic>
        <p:nvPicPr>
          <p:cNvPr id="13" name="Image 3" descr="gen-dedup-f9c44e1e36683b15ef9f1676671fb249.png"/>
          <p:cNvPicPr>
            <a:picLocks noChangeAspect="1"/>
          </p:cNvPicPr>
          <p:nvPr/>
        </p:nvPicPr>
        <p:blipFill>
          <a:blip r:embed="rId6"/>
          <a:srcRect l="-420" r="-420"/>
          <a:stretch/>
        </p:blipFill>
        <p:spPr>
          <a:xfrm>
            <a:off x="16659454" y="5715000"/>
            <a:ext cx="19202" cy="76169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15" name="Shape 8"/>
          <p:cNvSpPr/>
          <p:nvPr/>
        </p:nvSpPr>
        <p:spPr>
          <a:xfrm>
            <a:off x="761695" y="1143000"/>
            <a:ext cx="2266798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761695" y="1143000"/>
            <a:ext cx="2267712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KOR AI 기본법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시행 로드맵</a:t>
            </a:r>
            <a:endParaRPr lang="en-US" sz="5400" dirty="0"/>
          </a:p>
        </p:txBody>
      </p:sp>
      <p:sp>
        <p:nvSpPr>
          <p:cNvPr id="18" name="Text 11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Implementation Roadmap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952805" y="3238805"/>
            <a:ext cx="2095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2025.01.21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952805" y="3467405"/>
            <a:ext cx="20958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법 </a:t>
            </a:r>
            <a:r>
              <a:rPr lang="en-US" sz="1650" b="1" dirty="0" err="1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제정·공포</a:t>
            </a:r>
            <a:endParaRPr lang="en-US" sz="1650" dirty="0"/>
          </a:p>
        </p:txBody>
      </p:sp>
      <p:sp>
        <p:nvSpPr>
          <p:cNvPr id="21" name="Text 14"/>
          <p:cNvSpPr txBox="1"/>
          <p:nvPr/>
        </p:nvSpPr>
        <p:spPr>
          <a:xfrm>
            <a:off x="3810305" y="4667098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2025.09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3810305" y="4895698"/>
            <a:ext cx="266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시행령 초안 공개</a:t>
            </a:r>
            <a:endParaRPr lang="en-US" sz="1650" dirty="0"/>
          </a:p>
        </p:txBody>
      </p:sp>
      <p:sp>
        <p:nvSpPr>
          <p:cNvPr id="23" name="Text 16"/>
          <p:cNvSpPr txBox="1"/>
          <p:nvPr/>
        </p:nvSpPr>
        <p:spPr>
          <a:xfrm>
            <a:off x="3810305" y="5174590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진흥·최소규제 원칙</a:t>
            </a:r>
            <a:endParaRPr lang="en-US" sz="1125" dirty="0"/>
          </a:p>
        </p:txBody>
      </p:sp>
      <p:sp>
        <p:nvSpPr>
          <p:cNvPr id="24" name="Text 17"/>
          <p:cNvSpPr txBox="1"/>
          <p:nvPr/>
        </p:nvSpPr>
        <p:spPr>
          <a:xfrm>
            <a:off x="7429500" y="3238805"/>
            <a:ext cx="2477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2025.11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7429500" y="3467405"/>
            <a:ext cx="2477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시행령 입법예고</a:t>
            </a:r>
            <a:endParaRPr lang="en-US" sz="1650" dirty="0"/>
          </a:p>
        </p:txBody>
      </p:sp>
      <p:sp>
        <p:nvSpPr>
          <p:cNvPr id="26" name="Text 19"/>
          <p:cNvSpPr txBox="1"/>
          <p:nvPr/>
        </p:nvSpPr>
        <p:spPr>
          <a:xfrm>
            <a:off x="7429500" y="3746297"/>
            <a:ext cx="2477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과기정통부</a:t>
            </a:r>
            <a:endParaRPr lang="en-US" sz="1125" dirty="0"/>
          </a:p>
        </p:txBody>
      </p:sp>
      <p:sp>
        <p:nvSpPr>
          <p:cNvPr id="27" name="Text 20"/>
          <p:cNvSpPr txBox="1"/>
          <p:nvPr/>
        </p:nvSpPr>
        <p:spPr>
          <a:xfrm>
            <a:off x="10763402" y="4667098"/>
            <a:ext cx="3048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2026.01.22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10763402" y="4924044"/>
            <a:ext cx="3048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C9A2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★ 전면 시행</a:t>
            </a:r>
            <a:endParaRPr lang="en-US" sz="1950" dirty="0"/>
          </a:p>
        </p:txBody>
      </p:sp>
      <p:sp>
        <p:nvSpPr>
          <p:cNvPr id="29" name="Text 22"/>
          <p:cNvSpPr txBox="1"/>
          <p:nvPr/>
        </p:nvSpPr>
        <p:spPr>
          <a:xfrm>
            <a:off x="10763402" y="5246827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세계 최초</a:t>
            </a:r>
            <a:endParaRPr lang="en-US" sz="1125" dirty="0"/>
          </a:p>
        </p:txBody>
      </p:sp>
      <p:sp>
        <p:nvSpPr>
          <p:cNvPr id="30" name="Text 23"/>
          <p:cNvSpPr txBox="1"/>
          <p:nvPr/>
        </p:nvSpPr>
        <p:spPr>
          <a:xfrm>
            <a:off x="14287500" y="3238805"/>
            <a:ext cx="2477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2026.Q1–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4287500" y="3467405"/>
            <a:ext cx="2477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50" b="1" dirty="0" err="1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가이드라인</a:t>
            </a:r>
            <a:r>
              <a:rPr lang="en-US" sz="16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1650" b="1" dirty="0" err="1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순차</a:t>
            </a:r>
            <a:r>
              <a:rPr lang="en-US" sz="16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발표</a:t>
            </a:r>
            <a:endParaRPr lang="en-US" sz="1650" dirty="0"/>
          </a:p>
        </p:txBody>
      </p:sp>
      <p:sp>
        <p:nvSpPr>
          <p:cNvPr id="32" name="Text 25"/>
          <p:cNvSpPr txBox="1"/>
          <p:nvPr/>
        </p:nvSpPr>
        <p:spPr>
          <a:xfrm>
            <a:off x="14325447" y="3825379"/>
            <a:ext cx="2477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5종 · 지속 개정</a:t>
            </a:r>
            <a:endParaRPr lang="en-US" sz="1125" dirty="0"/>
          </a:p>
        </p:txBody>
      </p:sp>
      <p:sp>
        <p:nvSpPr>
          <p:cNvPr id="33" name="Text 26"/>
          <p:cNvSpPr txBox="1"/>
          <p:nvPr/>
        </p:nvSpPr>
        <p:spPr>
          <a:xfrm>
            <a:off x="15811805" y="6476695"/>
            <a:ext cx="1714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50" dirty="0">
                <a:solidFill>
                  <a:srgbClr val="B8342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 · 9/3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15811805" y="6667805"/>
            <a:ext cx="1714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342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지금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15811805" y="6981444"/>
            <a:ext cx="1714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시행 약 7개월차</a:t>
            </a:r>
            <a:endParaRPr lang="en-US" sz="1125" dirty="0"/>
          </a:p>
        </p:txBody>
      </p:sp>
      <p:sp>
        <p:nvSpPr>
          <p:cNvPr id="36" name="Text 29"/>
          <p:cNvSpPr txBox="1"/>
          <p:nvPr/>
        </p:nvSpPr>
        <p:spPr>
          <a:xfrm>
            <a:off x="1143000" y="7524598"/>
            <a:ext cx="1600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과기정통부 하위 가이드라인 5종 · 순차 제정 중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1143000" y="7772400"/>
            <a:ext cx="16002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법률 조문만으로는 컴플라이언스 완성 X — 가이드라인 5종이 결합돼야 규범 완성</a:t>
            </a:r>
            <a:endParaRPr lang="en-US" sz="1650" dirty="0"/>
          </a:p>
        </p:txBody>
      </p:sp>
      <p:sp>
        <p:nvSpPr>
          <p:cNvPr id="38" name="Shape 31"/>
          <p:cNvSpPr/>
          <p:nvPr/>
        </p:nvSpPr>
        <p:spPr>
          <a:xfrm>
            <a:off x="1143000" y="8220456"/>
            <a:ext cx="28346" cy="4956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1285646" y="8220456"/>
            <a:ext cx="2953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AI 투명성</a:t>
            </a:r>
            <a:endParaRPr lang="en-US" sz="1275" dirty="0"/>
          </a:p>
        </p:txBody>
      </p:sp>
      <p:sp>
        <p:nvSpPr>
          <p:cNvPr id="40" name="Text 33"/>
          <p:cNvSpPr txBox="1"/>
          <p:nvPr/>
        </p:nvSpPr>
        <p:spPr>
          <a:xfrm>
            <a:off x="1285646" y="8484718"/>
            <a:ext cx="2953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§31 시행 세부. 워터마크·표시 방식.</a:t>
            </a:r>
            <a:endParaRPr lang="en-US" sz="1275" dirty="0"/>
          </a:p>
        </p:txBody>
      </p:sp>
      <p:sp>
        <p:nvSpPr>
          <p:cNvPr id="41" name="Shape 34"/>
          <p:cNvSpPr/>
          <p:nvPr/>
        </p:nvSpPr>
        <p:spPr>
          <a:xfrm>
            <a:off x="4369918" y="8220456"/>
            <a:ext cx="28346" cy="4956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4512564" y="8220456"/>
            <a:ext cx="2953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AI 안전성</a:t>
            </a:r>
            <a:endParaRPr lang="en-US" sz="1275" dirty="0"/>
          </a:p>
        </p:txBody>
      </p:sp>
      <p:sp>
        <p:nvSpPr>
          <p:cNvPr id="43" name="Text 36"/>
          <p:cNvSpPr txBox="1"/>
          <p:nvPr/>
        </p:nvSpPr>
        <p:spPr>
          <a:xfrm>
            <a:off x="4512564" y="8484718"/>
            <a:ext cx="2953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§32 시행 세부. 위험평가·완화.</a:t>
            </a:r>
            <a:endParaRPr lang="en-US" sz="1275" dirty="0"/>
          </a:p>
        </p:txBody>
      </p:sp>
      <p:sp>
        <p:nvSpPr>
          <p:cNvPr id="44" name="Shape 37"/>
          <p:cNvSpPr/>
          <p:nvPr/>
        </p:nvSpPr>
        <p:spPr>
          <a:xfrm>
            <a:off x="7596835" y="8220456"/>
            <a:ext cx="28346" cy="4956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7740396" y="8220456"/>
            <a:ext cx="2953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고영향 AI 판단</a:t>
            </a:r>
            <a:endParaRPr lang="en-US" sz="1275" dirty="0"/>
          </a:p>
        </p:txBody>
      </p:sp>
      <p:sp>
        <p:nvSpPr>
          <p:cNvPr id="46" name="Text 39"/>
          <p:cNvSpPr txBox="1"/>
          <p:nvPr/>
        </p:nvSpPr>
        <p:spPr>
          <a:xfrm>
            <a:off x="7740396" y="8484718"/>
            <a:ext cx="2953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§2·§33 대상 분류 기준.</a:t>
            </a:r>
            <a:endParaRPr lang="en-US" sz="1275" dirty="0"/>
          </a:p>
        </p:txBody>
      </p:sp>
      <p:sp>
        <p:nvSpPr>
          <p:cNvPr id="47" name="Shape 40"/>
          <p:cNvSpPr/>
          <p:nvPr/>
        </p:nvSpPr>
        <p:spPr>
          <a:xfrm>
            <a:off x="10823753" y="8220456"/>
            <a:ext cx="28346" cy="4956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10967314" y="8220456"/>
            <a:ext cx="2953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사업자 책무</a:t>
            </a:r>
            <a:endParaRPr lang="en-US" sz="1275" dirty="0"/>
          </a:p>
        </p:txBody>
      </p:sp>
      <p:sp>
        <p:nvSpPr>
          <p:cNvPr id="49" name="Text 42"/>
          <p:cNvSpPr txBox="1"/>
          <p:nvPr/>
        </p:nvSpPr>
        <p:spPr>
          <a:xfrm>
            <a:off x="10967314" y="8484718"/>
            <a:ext cx="2953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§33-34 6대 의무 이행 절차.</a:t>
            </a:r>
            <a:endParaRPr lang="en-US" sz="1275" dirty="0"/>
          </a:p>
        </p:txBody>
      </p:sp>
      <p:sp>
        <p:nvSpPr>
          <p:cNvPr id="50" name="Shape 43"/>
          <p:cNvSpPr/>
          <p:nvPr/>
        </p:nvSpPr>
        <p:spPr>
          <a:xfrm>
            <a:off x="14051585" y="8220456"/>
            <a:ext cx="28346" cy="4956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14194231" y="8220456"/>
            <a:ext cx="2953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AI 영향평가</a:t>
            </a:r>
            <a:endParaRPr lang="en-US" sz="1275" dirty="0"/>
          </a:p>
        </p:txBody>
      </p:sp>
      <p:sp>
        <p:nvSpPr>
          <p:cNvPr id="52" name="Text 45"/>
          <p:cNvSpPr txBox="1"/>
          <p:nvPr/>
        </p:nvSpPr>
        <p:spPr>
          <a:xfrm>
            <a:off x="14194231" y="8484718"/>
            <a:ext cx="2953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§34 영향평가 방법론.</a:t>
            </a:r>
            <a:endParaRPr lang="en-US" sz="1275" dirty="0"/>
          </a:p>
        </p:txBody>
      </p:sp>
      <p:sp>
        <p:nvSpPr>
          <p:cNvPr id="53" name="Shape 46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/ 43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pic>
        <p:nvPicPr>
          <p:cNvPr id="4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6" name="Shape 1"/>
          <p:cNvSpPr/>
          <p:nvPr/>
        </p:nvSpPr>
        <p:spPr>
          <a:xfrm>
            <a:off x="761695" y="1143000"/>
            <a:ext cx="1276502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761695" y="1143000"/>
            <a:ext cx="1276502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비교</a:t>
            </a:r>
            <a:endParaRPr lang="en-US" sz="1500" dirty="0"/>
          </a:p>
        </p:txBody>
      </p:sp>
      <p:sp>
        <p:nvSpPr>
          <p:cNvPr id="8" name="Text 3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EU AI Act vs 한국 AI 기본법</a:t>
            </a:r>
            <a:endParaRPr lang="en-US" sz="5400" dirty="0"/>
          </a:p>
        </p:txBody>
      </p:sp>
      <p:sp>
        <p:nvSpPr>
          <p:cNvPr id="9" name="Text 4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Comparison</a:t>
            </a:r>
            <a:endParaRPr lang="en-US" sz="2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3524098"/>
          <a:ext cx="16754551" cy="5992064"/>
        </p:xfrm>
        <a:graphic>
          <a:graphicData uri="http://schemas.openxmlformats.org/drawingml/2006/table">
            <a:tbl>
              <a:tblPr/>
              <a:tblGrid>
                <a:gridCol w="2095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2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비교 항목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🇪🇺 EU AI Act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🇰🇷 한국 AI 기본법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정식 명칭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Regulation (EU) 2024/1689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인공지능 발전과 신뢰 기반 조성 등에 관한 기본법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법 형식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규정 (Regulation) · 직접 강제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기본법</a:t>
                      </a: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진흥+규제 혼합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제정 · 시행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2024.6.13 채택 · 2024.8.1 발효 · 단계별 적용 (~2027.8)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2025.1.21 제정 · </a:t>
                      </a: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2026.1.22 전면 시행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분량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13장 113조 · 13개 부속서 (~458p)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6장 43조 + 부칙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규제 접근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위험 </a:t>
                      </a: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4단계</a:t>
                      </a: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분류 (금지·고위험·제한·최소)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고영향 AI · 생성형 AI</a:t>
                      </a: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이원 구조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 지향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강한 규제 · 기본권 보호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진흥 우선 · 최소 규제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0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역외 적용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있음 (Art. 2) · 광범위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있음 (§4) · 광범위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0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사업자 의무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제공자·배포자·수입자·유통자 </a:t>
                      </a: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4역할</a:t>
                      </a: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세분화 · 7대 요구사항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고영향 AI 사업자 </a:t>
                      </a: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6대 책무</a:t>
                      </a: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(§33-34)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0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표시 의무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Art. 50 챗봇·딥페이크·생성물 라벨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§31 생성형 AI 결과물 표시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0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제재 상한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최대 3,500만 유로 또는 매출 7%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과태료 최대 3천만 원</a:t>
                      </a: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(형사처벌 최소화)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60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인증·평가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고위험 AI에 대한 </a:t>
                      </a: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사전 적합성 평가</a:t>
                      </a: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의무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영향평가는 </a:t>
                      </a: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노력 의무</a:t>
                      </a: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자율 인증 지향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60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감독기관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EU AI Office · 각 회원국 시장감시당국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과학기술정보통신부 · 국가인공지능위원회 · 안전연구소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 / 43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3238805"/>
            <a:ext cx="16763695" cy="1429207"/>
          </a:xfrm>
          <a:prstGeom prst="rect">
            <a:avLst/>
          </a:prstGeom>
          <a:solidFill>
            <a:srgbClr val="FFFFFF"/>
          </a:solidFill>
          <a:ln w="76200">
            <a:solidFill>
              <a:srgbClr val="036B3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4953305"/>
            <a:ext cx="8382305" cy="2000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61695" y="4953305"/>
            <a:ext cx="47549" cy="20007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334195" y="4953305"/>
            <a:ext cx="8191195" cy="2000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334195" y="4953305"/>
            <a:ext cx="47549" cy="20007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61695" y="7144207"/>
            <a:ext cx="8382305" cy="2000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61695" y="7144207"/>
            <a:ext cx="47549" cy="20007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334195" y="7144207"/>
            <a:ext cx="8191195" cy="2000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334195" y="7144207"/>
            <a:ext cx="47549" cy="2000707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pic>
        <p:nvPicPr>
          <p:cNvPr id="13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809951"/>
            <a:ext cx="761695" cy="2834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761695" y="1143000"/>
            <a:ext cx="1276502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61695" y="1143000"/>
            <a:ext cx="1276502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비교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61695" y="1619402"/>
            <a:ext cx="16764610" cy="876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거버넌스는 왜 지금 연구할 가치가 있는가?</a:t>
            </a:r>
            <a:endParaRPr lang="en-US" sz="4800" dirty="0"/>
          </a:p>
        </p:txBody>
      </p:sp>
      <p:sp>
        <p:nvSpPr>
          <p:cNvPr id="18" name="Text 13"/>
          <p:cNvSpPr txBox="1"/>
          <p:nvPr/>
        </p:nvSpPr>
        <p:spPr>
          <a:xfrm>
            <a:off x="761695" y="2572207"/>
            <a:ext cx="16764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Why AI Governance Deserves Academic Research Now</a:t>
            </a:r>
            <a:endParaRPr lang="en-US" sz="1950" dirty="0"/>
          </a:p>
        </p:txBody>
      </p:sp>
      <p:sp>
        <p:nvSpPr>
          <p:cNvPr id="19" name="Text 14"/>
          <p:cNvSpPr txBox="1"/>
          <p:nvPr/>
        </p:nvSpPr>
        <p:spPr>
          <a:xfrm>
            <a:off x="1238098" y="3524098"/>
            <a:ext cx="180978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"AI 거버넌스는 </a:t>
            </a:r>
            <a:r>
              <a:rPr lang="en-US" sz="2250" b="1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공학 · 법학 · 정책 · 윤리가 처음으로 한 자리에 모여</a:t>
            </a:r>
            <a:r>
              <a:rPr lang="en-US" sz="22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규범을 함께 만들고 있는, </a:t>
            </a:r>
            <a:r>
              <a:rPr lang="en-US" sz="2250" b="1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우리 세대의 학문적 격전지</a:t>
            </a:r>
            <a:r>
              <a:rPr lang="en-US" sz="22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이다."</a:t>
            </a:r>
            <a:endParaRPr lang="en-US" sz="225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5238598"/>
            <a:ext cx="55687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3300" dirty="0"/>
          </a:p>
        </p:txBody>
      </p:sp>
      <p:sp>
        <p:nvSpPr>
          <p:cNvPr id="21" name="Text 16"/>
          <p:cNvSpPr txBox="1"/>
          <p:nvPr/>
        </p:nvSpPr>
        <p:spPr>
          <a:xfrm>
            <a:off x="1746504" y="5324551"/>
            <a:ext cx="462229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규범 형성기 · 지금이 아니면 늦다</a:t>
            </a:r>
            <a:endParaRPr lang="en-US" sz="2100" dirty="0"/>
          </a:p>
        </p:txBody>
      </p:sp>
      <p:sp>
        <p:nvSpPr>
          <p:cNvPr id="22" name="Text 17"/>
          <p:cNvSpPr txBox="1"/>
          <p:nvPr/>
        </p:nvSpPr>
        <p:spPr>
          <a:xfrm>
            <a:off x="1143000" y="5820156"/>
            <a:ext cx="7620610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2019~2026,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7년 사이에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OECD 원칙·EU AI Act·한국 AI 기본법·ISO 42001이 모두 완성. 이 규범이 향후 20-30년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사회의 헌법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된다. 지금 참여하지 않으면 다음 세대는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주어진 규범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받아 쓰기만 한다.</a:t>
            </a:r>
            <a:endParaRPr lang="en-US" sz="1425" dirty="0"/>
          </a:p>
        </p:txBody>
      </p:sp>
      <p:sp>
        <p:nvSpPr>
          <p:cNvPr id="23" name="Text 18"/>
          <p:cNvSpPr txBox="1"/>
          <p:nvPr/>
        </p:nvSpPr>
        <p:spPr>
          <a:xfrm>
            <a:off x="9715500" y="5238598"/>
            <a:ext cx="56144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3300" dirty="0"/>
          </a:p>
        </p:txBody>
      </p:sp>
      <p:sp>
        <p:nvSpPr>
          <p:cNvPr id="24" name="Text 19"/>
          <p:cNvSpPr txBox="1"/>
          <p:nvPr/>
        </p:nvSpPr>
        <p:spPr>
          <a:xfrm>
            <a:off x="10381183" y="5324551"/>
            <a:ext cx="4787798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학제 간 · 진짜 융합이 필요한 영역</a:t>
            </a:r>
            <a:endParaRPr lang="en-US" sz="2100" dirty="0"/>
          </a:p>
        </p:txBody>
      </p:sp>
      <p:sp>
        <p:nvSpPr>
          <p:cNvPr id="25" name="Text 20"/>
          <p:cNvSpPr txBox="1"/>
          <p:nvPr/>
        </p:nvSpPr>
        <p:spPr>
          <a:xfrm>
            <a:off x="9715500" y="5820156"/>
            <a:ext cx="74295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공학자만으론 조문을 못 쓰고, 법학자만으론 알고리즘을 이해 못 한다.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양쪽을 아는 사람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매우 드물다. 이 강의를 이수한 여러분은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희소한 융합 인력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된다.</a:t>
            </a:r>
            <a:endParaRPr lang="en-US" sz="1425" dirty="0"/>
          </a:p>
        </p:txBody>
      </p:sp>
      <p:sp>
        <p:nvSpPr>
          <p:cNvPr id="26" name="Text 21"/>
          <p:cNvSpPr txBox="1"/>
          <p:nvPr/>
        </p:nvSpPr>
        <p:spPr>
          <a:xfrm>
            <a:off x="1143000" y="7429500"/>
            <a:ext cx="56144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3300" dirty="0"/>
          </a:p>
        </p:txBody>
      </p:sp>
      <p:sp>
        <p:nvSpPr>
          <p:cNvPr id="27" name="Text 22"/>
          <p:cNvSpPr txBox="1"/>
          <p:nvPr/>
        </p:nvSpPr>
        <p:spPr>
          <a:xfrm>
            <a:off x="1808683" y="7515454"/>
            <a:ext cx="4092854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국가 경쟁력 · 규범이 곧 시장</a:t>
            </a:r>
            <a:endParaRPr lang="en-US" sz="2100" dirty="0"/>
          </a:p>
        </p:txBody>
      </p:sp>
      <p:sp>
        <p:nvSpPr>
          <p:cNvPr id="28" name="Text 23"/>
          <p:cNvSpPr txBox="1"/>
          <p:nvPr/>
        </p:nvSpPr>
        <p:spPr>
          <a:xfrm>
            <a:off x="1143000" y="8010144"/>
            <a:ext cx="76206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Brussels Effect가 증명한 것 —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표준을 만드는 자가 시장을 얻는다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한국이 세계 2번째로 AI 기본법을 만든 것은 이 규범 주도권 경쟁의 일환. 후속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가이드라인·해설·판례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앞으로 10년의 승부처.</a:t>
            </a:r>
            <a:endParaRPr lang="en-US" sz="1425" dirty="0"/>
          </a:p>
        </p:txBody>
      </p:sp>
      <p:sp>
        <p:nvSpPr>
          <p:cNvPr id="29" name="Text 24"/>
          <p:cNvSpPr txBox="1"/>
          <p:nvPr/>
        </p:nvSpPr>
        <p:spPr>
          <a:xfrm>
            <a:off x="9715500" y="7429500"/>
            <a:ext cx="56144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9A2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3300" dirty="0"/>
          </a:p>
        </p:txBody>
      </p:sp>
      <p:sp>
        <p:nvSpPr>
          <p:cNvPr id="30" name="Text 25"/>
          <p:cNvSpPr txBox="1"/>
          <p:nvPr/>
        </p:nvSpPr>
        <p:spPr>
          <a:xfrm>
            <a:off x="10381183" y="7515454"/>
            <a:ext cx="3861511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미해결 연구 과제가 풍부하다</a:t>
            </a:r>
            <a:endParaRPr lang="en-US" sz="2100" dirty="0"/>
          </a:p>
        </p:txBody>
      </p:sp>
      <p:sp>
        <p:nvSpPr>
          <p:cNvPr id="31" name="Text 26"/>
          <p:cNvSpPr txBox="1"/>
          <p:nvPr/>
        </p:nvSpPr>
        <p:spPr>
          <a:xfrm>
            <a:off x="9715500" y="8010144"/>
            <a:ext cx="7429500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고영향 AI 판정 기준 · GPAI 시스템적 위험 임계 · AI 영향평가 방법론 · 학습 데이터의 저작권 · AI 사고의 책임 귀속 —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어느 하나도 확정되지 않았다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여러분이 학위 논문·박사 논문 주제로 삼기 좋은 미개척지.</a:t>
            </a:r>
            <a:endParaRPr lang="en-US" sz="1425" dirty="0"/>
          </a:p>
        </p:txBody>
      </p:sp>
      <p:sp>
        <p:nvSpPr>
          <p:cNvPr id="32" name="Shape 27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 / 43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3619195"/>
            <a:ext cx="5524805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3619195"/>
            <a:ext cx="5524805" cy="576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381598" y="3619195"/>
            <a:ext cx="5524805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381598" y="3619195"/>
            <a:ext cx="5524805" cy="57607"/>
          </a:xfrm>
          <a:prstGeom prst="rect">
            <a:avLst/>
          </a:prstGeom>
          <a:solidFill>
            <a:srgbClr val="B8342D"/>
          </a:solidFill>
          <a:ln w="12700">
            <a:solidFill>
              <a:srgbClr val="B8342D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2001500" y="3619195"/>
            <a:ext cx="5524805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2001500" y="3619195"/>
            <a:ext cx="5524805" cy="57607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pic>
        <p:nvPicPr>
          <p:cNvPr id="10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761695" y="1143000"/>
            <a:ext cx="1276502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61695" y="1143000"/>
            <a:ext cx="1276502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비교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우리 기업에의 시사점</a:t>
            </a:r>
            <a:endParaRPr lang="en-US" sz="54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Implications for Korean Companies</a:t>
            </a:r>
            <a:endParaRPr lang="en-US" sz="21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3905402"/>
            <a:ext cx="476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시나리오 A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4153205"/>
            <a:ext cx="4763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국내 시장만</a:t>
            </a:r>
            <a:endParaRPr lang="en-US" sz="2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대응하는 기업</a:t>
            </a:r>
            <a:endParaRPr lang="en-US" sz="2700" dirty="0"/>
          </a:p>
        </p:txBody>
      </p:sp>
      <p:pic>
        <p:nvPicPr>
          <p:cNvPr id="18" name="Image 2" descr="gen-dedup-e1c269e30e576df964e2a3ec780fd27a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5097780"/>
            <a:ext cx="571500" cy="192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43000" y="5307178"/>
            <a:ext cx="47631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AI 기본법만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제재는 상대적으로 낮지만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고영향 AI 판단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첫 관문. 사업자 책무 6종 문서화 필요.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123798" y="6522415"/>
            <a:ext cx="4782312" cy="128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ts val="2423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​§2 정의 대비 유형 판정</a:t>
            </a:r>
            <a:endParaRPr lang="en-US" sz="1425" dirty="0"/>
          </a:p>
          <a:p>
            <a:pPr marL="228600" indent="-228600" algn="l">
              <a:lnSpc>
                <a:spcPts val="2423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​§31 생성물 표시 (해당 시)</a:t>
            </a:r>
            <a:endParaRPr lang="en-US" sz="1425" dirty="0"/>
          </a:p>
          <a:p>
            <a:pPr marL="228600" indent="-228600" algn="l">
              <a:lnSpc>
                <a:spcPts val="2423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​§33-34 6대 책무 문서화</a:t>
            </a:r>
            <a:endParaRPr lang="en-US" sz="1425" dirty="0"/>
          </a:p>
          <a:p>
            <a:pPr marL="228600" indent="-228600" algn="l">
              <a:lnSpc>
                <a:spcPts val="2423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​과기정통부 가이드라인 5종 추적</a:t>
            </a:r>
            <a:endParaRPr lang="en-US" sz="1425" dirty="0"/>
          </a:p>
        </p:txBody>
      </p:sp>
      <p:sp>
        <p:nvSpPr>
          <p:cNvPr id="21" name="Shape 15"/>
          <p:cNvSpPr/>
          <p:nvPr/>
        </p:nvSpPr>
        <p:spPr>
          <a:xfrm>
            <a:off x="1143000" y="7979054"/>
            <a:ext cx="4762195" cy="743407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22" name="Shape 16"/>
          <p:cNvSpPr/>
          <p:nvPr/>
        </p:nvSpPr>
        <p:spPr>
          <a:xfrm>
            <a:off x="1143000" y="7979054"/>
            <a:ext cx="38405" cy="7434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1334110" y="7979054"/>
            <a:ext cx="4572000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14300" rIns="152400" bIns="11430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난이도: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낮음–중간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그러나 국내 최초 시행 → 판례 미형성 → 예측 불확실성 존재.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1143000" y="6202375"/>
            <a:ext cx="96469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체크리스트</a:t>
            </a:r>
            <a:endParaRPr lang="en-US" sz="1425" dirty="0"/>
          </a:p>
        </p:txBody>
      </p:sp>
      <p:sp>
        <p:nvSpPr>
          <p:cNvPr id="25" name="Text 19"/>
          <p:cNvSpPr txBox="1"/>
          <p:nvPr/>
        </p:nvSpPr>
        <p:spPr>
          <a:xfrm>
            <a:off x="6762902" y="3905402"/>
            <a:ext cx="476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B8342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시나리오 B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6762902" y="4153205"/>
            <a:ext cx="4763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EU 시장으로</a:t>
            </a:r>
            <a:endParaRPr lang="en-US" sz="2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진출하는 기업</a:t>
            </a:r>
            <a:endParaRPr lang="en-US" sz="2700" dirty="0"/>
          </a:p>
        </p:txBody>
      </p:sp>
      <p:pic>
        <p:nvPicPr>
          <p:cNvPr id="27" name="Image 3" descr="gen-dedup-e1c269e30e576df964e2a3ec780fd27a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6762902" y="5097780"/>
            <a:ext cx="571500" cy="1920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762902" y="5307178"/>
            <a:ext cx="47631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 법 동시 대응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특히 EU AI Act의 사전 적합성 평가·CE 마킹은 시장 출시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전제조건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실사 부담 최고.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6743700" y="6522415"/>
            <a:ext cx="4782312" cy="159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ts val="2423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​Annex III 고위험 판정</a:t>
            </a:r>
            <a:endParaRPr lang="en-US" sz="1425" dirty="0"/>
          </a:p>
          <a:p>
            <a:pPr marL="228600" indent="-228600" algn="l">
              <a:lnSpc>
                <a:spcPts val="2423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​기술 문서 (Annex IV) 준비</a:t>
            </a:r>
            <a:endParaRPr lang="en-US" sz="1425" dirty="0"/>
          </a:p>
          <a:p>
            <a:pPr marL="228600" indent="-228600" algn="l">
              <a:lnSpc>
                <a:spcPts val="2423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​인증기관(notified body) 지정</a:t>
            </a:r>
            <a:endParaRPr lang="en-US" sz="1425" dirty="0"/>
          </a:p>
          <a:p>
            <a:pPr marL="228600" indent="-228600" algn="l">
              <a:lnSpc>
                <a:spcPts val="2423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​EU 대리인 선임</a:t>
            </a:r>
            <a:endParaRPr lang="en-US" sz="1425" dirty="0"/>
          </a:p>
          <a:p>
            <a:pPr marL="228600" indent="-228600" algn="l">
              <a:lnSpc>
                <a:spcPts val="2423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​사후 모니터링 체계 구축</a:t>
            </a:r>
            <a:endParaRPr lang="en-US" sz="1425" dirty="0"/>
          </a:p>
        </p:txBody>
      </p:sp>
      <p:sp>
        <p:nvSpPr>
          <p:cNvPr id="30" name="Shape 23"/>
          <p:cNvSpPr/>
          <p:nvPr/>
        </p:nvSpPr>
        <p:spPr>
          <a:xfrm>
            <a:off x="6762902" y="8286293"/>
            <a:ext cx="4762195" cy="743407"/>
          </a:xfrm>
          <a:prstGeom prst="rect">
            <a:avLst/>
          </a:prstGeom>
          <a:solidFill>
            <a:srgbClr val="FFEDEB"/>
          </a:solidFill>
          <a:ln/>
        </p:spPr>
      </p:sp>
      <p:sp>
        <p:nvSpPr>
          <p:cNvPr id="31" name="Shape 24"/>
          <p:cNvSpPr/>
          <p:nvPr/>
        </p:nvSpPr>
        <p:spPr>
          <a:xfrm>
            <a:off x="6762902" y="8286293"/>
            <a:ext cx="38405" cy="743407"/>
          </a:xfrm>
          <a:prstGeom prst="rect">
            <a:avLst/>
          </a:prstGeom>
          <a:solidFill>
            <a:srgbClr val="B8342D"/>
          </a:solidFill>
          <a:ln w="12700">
            <a:solidFill>
              <a:srgbClr val="B8342D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954012" y="8286293"/>
            <a:ext cx="4572000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14300" rIns="152400" bIns="11430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난이도: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 높음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Annex III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2027.12.2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Annex I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2028.8.2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위반 시 최대 매출 7% 과징금.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6762902" y="6202375"/>
            <a:ext cx="96469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B834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체크리스트</a:t>
            </a:r>
            <a:endParaRPr lang="en-US" sz="1425" dirty="0"/>
          </a:p>
        </p:txBody>
      </p:sp>
      <p:sp>
        <p:nvSpPr>
          <p:cNvPr id="34" name="Text 27"/>
          <p:cNvSpPr txBox="1"/>
          <p:nvPr/>
        </p:nvSpPr>
        <p:spPr>
          <a:xfrm>
            <a:off x="12382805" y="3905402"/>
            <a:ext cx="476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시나리오 C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12382805" y="4153205"/>
            <a:ext cx="4763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글로벌 파운데이션</a:t>
            </a:r>
            <a:endParaRPr lang="en-US" sz="2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모델 사업자</a:t>
            </a:r>
            <a:endParaRPr lang="en-US" sz="2700" dirty="0"/>
          </a:p>
        </p:txBody>
      </p:sp>
      <p:pic>
        <p:nvPicPr>
          <p:cNvPr id="36" name="Image 4" descr="gen-dedup-e1c269e30e576df964e2a3ec780fd27a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2382805" y="5097780"/>
            <a:ext cx="571500" cy="1920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2382805" y="5307178"/>
            <a:ext cx="476311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관할 대응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EU GPAI 규정 · 한국 §36 국내대리인 · 미국 주(州)법 (콜로라도) · 중국 알고리즘 신고 · 각국 개별 대응.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12363602" y="6846113"/>
            <a:ext cx="4782312" cy="128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ts val="2423"/>
              </a:lnSpc>
              <a:buSzPct val="100000"/>
              <a:buChar char="•"/>
            </a:pPr>
            <a:r>
              <a:rPr lang="en-US" sz="1425" dirty="0">
                <a:solidFill>
                  <a:srgbClr val="C9A2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​ISO/IEC 42001 인증으로 기반 마련</a:t>
            </a:r>
            <a:endParaRPr lang="en-US" sz="1425" dirty="0"/>
          </a:p>
          <a:p>
            <a:pPr marL="228600" indent="-228600" algn="l">
              <a:lnSpc>
                <a:spcPts val="2423"/>
              </a:lnSpc>
              <a:buSzPct val="100000"/>
              <a:buChar char="•"/>
            </a:pPr>
            <a:r>
              <a:rPr lang="en-US" sz="1425" dirty="0">
                <a:solidFill>
                  <a:srgbClr val="C9A2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​NIST AI RMF 병행 채택</a:t>
            </a:r>
            <a:endParaRPr lang="en-US" sz="1425" dirty="0"/>
          </a:p>
          <a:p>
            <a:pPr marL="228600" indent="-228600" algn="l">
              <a:lnSpc>
                <a:spcPts val="2423"/>
              </a:lnSpc>
              <a:buSzPct val="100000"/>
              <a:buChar char="•"/>
            </a:pPr>
            <a:r>
              <a:rPr lang="en-US" sz="1425" dirty="0">
                <a:solidFill>
                  <a:srgbClr val="C9A2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​Model Card · System Card 표준화</a:t>
            </a:r>
            <a:endParaRPr lang="en-US" sz="1425" dirty="0"/>
          </a:p>
          <a:p>
            <a:pPr marL="228600" indent="-228600" algn="l">
              <a:lnSpc>
                <a:spcPts val="2423"/>
              </a:lnSpc>
              <a:buSzPct val="100000"/>
              <a:buChar char="•"/>
            </a:pPr>
            <a:r>
              <a:rPr lang="en-US" sz="1425" dirty="0">
                <a:solidFill>
                  <a:srgbClr val="C9A2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​지역별 대리인 네트워크 구축</a:t>
            </a:r>
            <a:endParaRPr lang="en-US" sz="1425" dirty="0"/>
          </a:p>
        </p:txBody>
      </p:sp>
      <p:sp>
        <p:nvSpPr>
          <p:cNvPr id="39" name="Shape 31"/>
          <p:cNvSpPr/>
          <p:nvPr/>
        </p:nvSpPr>
        <p:spPr>
          <a:xfrm>
            <a:off x="12382805" y="8302752"/>
            <a:ext cx="4762195" cy="743407"/>
          </a:xfrm>
          <a:prstGeom prst="rect">
            <a:avLst/>
          </a:prstGeom>
          <a:solidFill>
            <a:srgbClr val="FDF5E0"/>
          </a:solidFill>
          <a:ln/>
        </p:spPr>
      </p:sp>
      <p:sp>
        <p:nvSpPr>
          <p:cNvPr id="40" name="Shape 32"/>
          <p:cNvSpPr/>
          <p:nvPr/>
        </p:nvSpPr>
        <p:spPr>
          <a:xfrm>
            <a:off x="12382805" y="8302752"/>
            <a:ext cx="38405" cy="743407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12573914" y="8302752"/>
            <a:ext cx="4572000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14300" rIns="152400" bIns="11430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난이도: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최고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하지만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 표준을 기반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삼으면 다중 관할 대응 비용을 크게 줄일 수 있음.</a:t>
            </a:r>
            <a:endParaRPr lang="en-US" sz="1350" dirty="0"/>
          </a:p>
        </p:txBody>
      </p:sp>
      <p:sp>
        <p:nvSpPr>
          <p:cNvPr id="42" name="Text 34"/>
          <p:cNvSpPr txBox="1"/>
          <p:nvPr/>
        </p:nvSpPr>
        <p:spPr>
          <a:xfrm>
            <a:off x="12382805" y="6526073"/>
            <a:ext cx="139080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C9A2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대응 전략</a:t>
            </a:r>
            <a:endParaRPr lang="en-US" sz="1425" dirty="0"/>
          </a:p>
        </p:txBody>
      </p:sp>
      <p:sp>
        <p:nvSpPr>
          <p:cNvPr id="43" name="Shape 35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 / 43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4190695"/>
            <a:ext cx="8382305" cy="27624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4190695"/>
            <a:ext cx="8382305" cy="576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334195" y="4190695"/>
            <a:ext cx="8191195" cy="27624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334195" y="4190695"/>
            <a:ext cx="8191195" cy="576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61695" y="7144207"/>
            <a:ext cx="16763695" cy="2190902"/>
          </a:xfrm>
          <a:prstGeom prst="rect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11" name="Shape 6"/>
          <p:cNvSpPr/>
          <p:nvPr/>
        </p:nvSpPr>
        <p:spPr>
          <a:xfrm>
            <a:off x="761695" y="1143000"/>
            <a:ext cx="1666951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61695" y="1143000"/>
            <a:ext cx="16669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· 국제표준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국제표준화기구 · ISO와 IEC의 이해</a:t>
            </a:r>
            <a:endParaRPr lang="en-US" sz="540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Understanding ISO and IEC · The Two Global SDOs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3524098"/>
            <a:ext cx="16764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SC 42로 들어가기 전에, 그 상위 조직인 </a:t>
            </a: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ISO · IEC · JTC 1</a:t>
            </a:r>
            <a:r>
              <a:rPr lang="en-US" sz="195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무엇인지부터 짚습니다.</a:t>
            </a:r>
            <a:endParaRPr lang="en-US" sz="195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4476902"/>
            <a:ext cx="7620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ISO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4705502"/>
            <a:ext cx="7620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국제표준화기구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5094122"/>
            <a:ext cx="7620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8A8A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International Organization for Standardization</a:t>
            </a:r>
            <a:endParaRPr lang="en-US" sz="1500" dirty="0"/>
          </a:p>
        </p:txBody>
      </p:sp>
      <p:pic>
        <p:nvPicPr>
          <p:cNvPr id="19" name="Image 2" descr="gen-dedup-e1c269e30e576df964e2a3ec780fd27a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5541264"/>
            <a:ext cx="571500" cy="192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43000" y="5732374"/>
            <a:ext cx="76206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51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1947년 설립 · 본부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제네바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회원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176개국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발행 표준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25,000+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품질·환경·정보보안·의료기기 등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전산업 국제표준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만드는 최상위 민간 기구.</a:t>
            </a:r>
            <a:endParaRPr lang="en-US" sz="1425" dirty="0"/>
          </a:p>
        </p:txBody>
      </p:sp>
      <p:sp>
        <p:nvSpPr>
          <p:cNvPr id="21" name="Text 15"/>
          <p:cNvSpPr txBox="1"/>
          <p:nvPr/>
        </p:nvSpPr>
        <p:spPr>
          <a:xfrm>
            <a:off x="1143000" y="6481267"/>
            <a:ext cx="7620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표준: ISO 9001 (품질) · ISO 14001 (환경) · </a:t>
            </a:r>
            <a:r>
              <a:rPr lang="en-US" sz="13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27001 (정보보안)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9715500" y="4476902"/>
            <a:ext cx="7429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IEC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9715500" y="4705502"/>
            <a:ext cx="7429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국제전기기술위원회</a:t>
            </a:r>
            <a:endParaRPr lang="en-US" sz="2400" dirty="0"/>
          </a:p>
        </p:txBody>
      </p:sp>
      <p:sp>
        <p:nvSpPr>
          <p:cNvPr id="24" name="Text 18"/>
          <p:cNvSpPr txBox="1"/>
          <p:nvPr/>
        </p:nvSpPr>
        <p:spPr>
          <a:xfrm>
            <a:off x="9715500" y="5094122"/>
            <a:ext cx="7429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8A8A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International Electrotechnical Commission</a:t>
            </a:r>
            <a:endParaRPr lang="en-US" sz="1500" dirty="0"/>
          </a:p>
        </p:txBody>
      </p:sp>
      <p:pic>
        <p:nvPicPr>
          <p:cNvPr id="25" name="Image 3" descr="gen-dedup-e1c269e30e576df964e2a3ec780fd27a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9715500" y="5541264"/>
            <a:ext cx="571500" cy="192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15500" y="5732374"/>
            <a:ext cx="74295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51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1906년 설립 · 본부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제네바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회원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89개국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전기·전자·정보기술 관련 국제표준을 담당하는 세계에서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오래된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표준화 기구.</a:t>
            </a:r>
            <a:endParaRPr lang="en-US" sz="1425" dirty="0"/>
          </a:p>
        </p:txBody>
      </p:sp>
      <p:sp>
        <p:nvSpPr>
          <p:cNvPr id="27" name="Text 20"/>
          <p:cNvSpPr txBox="1"/>
          <p:nvPr/>
        </p:nvSpPr>
        <p:spPr>
          <a:xfrm>
            <a:off x="9715500" y="6481267"/>
            <a:ext cx="7429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표준: IEC 61508 (기능안전) · IEC 62443 (산업제어보안)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1238098" y="7429500"/>
            <a:ext cx="15811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JTC 1 · JOINT TECHNICAL COMMITTEE 1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1238098" y="7658100"/>
            <a:ext cx="158118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ISO와 IEC의 공동 위원회 · 정보기술 표준의 종합 사령탑</a:t>
            </a:r>
            <a:endParaRPr lang="en-US" sz="2700" dirty="0"/>
          </a:p>
        </p:txBody>
      </p:sp>
      <p:sp>
        <p:nvSpPr>
          <p:cNvPr id="30" name="Text 23"/>
          <p:cNvSpPr txBox="1"/>
          <p:nvPr/>
        </p:nvSpPr>
        <p:spPr>
          <a:xfrm>
            <a:off x="1238098" y="8185709"/>
            <a:ext cx="158118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IT는 ISO의 소관(정보처리)과 IEC의 소관(전기전자)에 </a:t>
            </a: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동시에 걸치는 영역</a:t>
            </a: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두 기구가 1987년 </a:t>
            </a: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공동 위원회 JTC 1</a:t>
            </a: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설립해 IT 표준을 일원화. 산하 </a:t>
            </a: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SC(Subcommittee) 20여 개</a:t>
            </a: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각 세부 영역을 담당 — 클라우드(SC 38), 정보보안(SC 27), 그리고 </a:t>
            </a: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AI(SC 42)</a:t>
            </a: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1238098" y="8928202"/>
            <a:ext cx="15811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CC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그래서 AI 표준은 "ISO/IEC" 두 이름이 함께 붙습니다: </a:t>
            </a:r>
            <a:r>
              <a:rPr lang="en-US" sz="1350" b="1" dirty="0">
                <a:solidFill>
                  <a:srgbClr val="FFCC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42001</a:t>
            </a:r>
            <a:r>
              <a:rPr lang="en-US" sz="1350" dirty="0">
                <a:solidFill>
                  <a:srgbClr val="FFCC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350" b="1" dirty="0">
                <a:solidFill>
                  <a:srgbClr val="FFCC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22989</a:t>
            </a:r>
            <a:r>
              <a:rPr lang="en-US" sz="1350" dirty="0">
                <a:solidFill>
                  <a:srgbClr val="FFCC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350" b="1" dirty="0">
                <a:solidFill>
                  <a:srgbClr val="FFCC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23894</a:t>
            </a:r>
            <a:r>
              <a:rPr lang="en-US" sz="1350" dirty="0">
                <a:solidFill>
                  <a:srgbClr val="FFCC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...</a:t>
            </a:r>
            <a:endParaRPr lang="en-US" sz="1350" dirty="0"/>
          </a:p>
        </p:txBody>
      </p:sp>
      <p:sp>
        <p:nvSpPr>
          <p:cNvPr id="32" name="Shape 25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/ 43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811305" y="3238805"/>
            <a:ext cx="5715000" cy="6096305"/>
          </a:xfrm>
          <a:prstGeom prst="rect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809951"/>
            <a:ext cx="761695" cy="2834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7" name="Shape 2"/>
          <p:cNvSpPr/>
          <p:nvPr/>
        </p:nvSpPr>
        <p:spPr>
          <a:xfrm>
            <a:off x="761695" y="1143000"/>
            <a:ext cx="1666951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761695" y="1143000"/>
            <a:ext cx="16669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· 국제표준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761695" y="1619402"/>
            <a:ext cx="16764610" cy="876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SC 42의 출범과 사명 · 왜 2017년이었나</a:t>
            </a:r>
            <a:endParaRPr lang="en-US" sz="48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2572207"/>
            <a:ext cx="16764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Birth and Mission of SC 42 · Why 2017</a:t>
            </a:r>
            <a:endParaRPr lang="en-US" sz="195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3238805"/>
            <a:ext cx="10668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ORIGIN STORY · 2017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3467405"/>
            <a:ext cx="10668305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왜 이 시점에 AI 전용 위원회가 만들어졌나</a:t>
            </a:r>
            <a:endParaRPr lang="en-US" sz="2550" dirty="0"/>
          </a:p>
        </p:txBody>
      </p:sp>
      <p:pic>
        <p:nvPicPr>
          <p:cNvPr id="13" name="Image 2" descr="gen-dedup-08173c94900e9aa2377887198bd5085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761695" y="4123944"/>
            <a:ext cx="761695" cy="192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61695" y="4334256"/>
            <a:ext cx="106683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2016년 3월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AlphaGo가 이세돌 9단을 이긴 사건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정책 결정자들에게 충격을 줬습니다. AI가 "언젠가"의 문제가 아니라 "지금"의 문제라는 인식 전환. 그해 백악관 리포트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"Preparing for the Future of AI"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발간되고, 각국이 AI 전략을 앞다투어 발표.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761695" y="5115154"/>
            <a:ext cx="106683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JTC 1은 2017년 10월 러시아 블라디보스토크 총회에서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 42의 설립을 승인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미국이 컨비너십(convenership)을 확보하고, 사무국은 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ANSI(미국국가표준협회)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맡음. 첫 총회는 2018년 4월 베이징에서 개최.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761695" y="6048756"/>
            <a:ext cx="10668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MILESTONES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761695" y="6334049"/>
            <a:ext cx="8577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2017.10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809598" y="6334049"/>
            <a:ext cx="256214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 42 설립 (JTC 1 총회 승인)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761695" y="6676949"/>
            <a:ext cx="8577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2018.04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1809598" y="6676949"/>
            <a:ext cx="287944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총회 · 베이징 · WG 조직 확정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761695" y="7019849"/>
            <a:ext cx="8577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2020.05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1809598" y="7019849"/>
            <a:ext cx="353232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표준 발행 · TR 24028 (AI 신뢰성 개요)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61695" y="7362749"/>
            <a:ext cx="8577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2022.07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1809598" y="7362749"/>
            <a:ext cx="368594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22989 · 23053 · 38507 동시 발행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647395" y="7763256"/>
            <a:ext cx="10896905" cy="457200"/>
          </a:xfrm>
          <a:prstGeom prst="rect">
            <a:avLst/>
          </a:prstGeom>
          <a:solidFill>
            <a:srgbClr val="E6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61695" y="7819949"/>
            <a:ext cx="8577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2023.12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1809598" y="7819949"/>
            <a:ext cx="363108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42001 발행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AI 경영시스템 표준</a:t>
            </a:r>
            <a:endParaRPr lang="en-US" sz="1350" dirty="0"/>
          </a:p>
        </p:txBody>
      </p:sp>
      <p:sp>
        <p:nvSpPr>
          <p:cNvPr id="28" name="Text 22"/>
          <p:cNvSpPr txBox="1"/>
          <p:nvPr/>
        </p:nvSpPr>
        <p:spPr>
          <a:xfrm>
            <a:off x="761695" y="8277149"/>
            <a:ext cx="8577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2024–현재</a:t>
            </a:r>
            <a:endParaRPr lang="en-US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1809598" y="8277149"/>
            <a:ext cx="401421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42001 인증 시행 · 42005 (AI 영향평가) 개발 중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12191695" y="3524098"/>
            <a:ext cx="4953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 42 · MISSION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12191695" y="3752698"/>
            <a:ext cx="4953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SC 42의 공식 사명</a:t>
            </a:r>
            <a:endParaRPr lang="en-US" sz="2400" dirty="0"/>
          </a:p>
        </p:txBody>
      </p:sp>
      <p:pic>
        <p:nvPicPr>
          <p:cNvPr id="32" name="Image 3" descr="gen-dedup-e1c269e30e576df964e2a3ec780fd27a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2191695" y="4294022"/>
            <a:ext cx="571500" cy="1920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2191695" y="4503420"/>
            <a:ext cx="4953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"인공지능 분야의 표준화에 대한 </a:t>
            </a:r>
            <a:r>
              <a:rPr lang="en-US" sz="1500" b="1" i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JTC 1의 초점(focus)이자 옹호자(proponent)</a:t>
            </a:r>
            <a:r>
              <a:rPr lang="en-US" sz="1500" i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역할을 수행하고, AI 프로그램 개발을 감독한다."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12191695" y="5588813"/>
            <a:ext cx="495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75" dirty="0">
                <a:solidFill>
                  <a:srgbClr val="FFCC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 42는 세 가지 역할을 합니다</a:t>
            </a:r>
            <a:endParaRPr lang="en-US" sz="1350" dirty="0"/>
          </a:p>
        </p:txBody>
      </p:sp>
      <p:sp>
        <p:nvSpPr>
          <p:cNvPr id="35" name="Text 28"/>
          <p:cNvSpPr txBox="1"/>
          <p:nvPr/>
        </p:nvSpPr>
        <p:spPr>
          <a:xfrm>
            <a:off x="12191695" y="5882335"/>
            <a:ext cx="4953305" cy="100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ts val="2494"/>
              </a:lnSpc>
              <a:buSzPct val="100000"/>
              <a:buChar char="•"/>
            </a:pPr>
            <a:r>
              <a:rPr lang="en-US" sz="14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​AI 관련 </a:t>
            </a: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 표준</a:t>
            </a:r>
            <a:r>
              <a:rPr lang="en-US" sz="14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(용어·개념·아키텍처) 직접 개발</a:t>
            </a:r>
            <a:endParaRPr lang="en-US" sz="1425" dirty="0"/>
          </a:p>
          <a:p>
            <a:pPr marL="228600" indent="-228600" algn="l">
              <a:lnSpc>
                <a:spcPts val="2494"/>
              </a:lnSpc>
              <a:buSzPct val="100000"/>
              <a:buChar char="•"/>
            </a:pPr>
            <a:r>
              <a:rPr lang="en-US" sz="14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​다른 SC(27·38·41 등)와 </a:t>
            </a: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공동 작업</a:t>
            </a:r>
            <a:r>
              <a:rPr lang="en-US" sz="14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(JWG)</a:t>
            </a:r>
            <a:endParaRPr lang="en-US" sz="1425" dirty="0"/>
          </a:p>
          <a:p>
            <a:pPr marL="228600" indent="-228600" algn="l">
              <a:lnSpc>
                <a:spcPts val="2494"/>
              </a:lnSpc>
              <a:buSzPct val="100000"/>
              <a:buChar char="•"/>
            </a:pPr>
            <a:r>
              <a:rPr lang="en-US" sz="14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​ISO의 다른 TC와 </a:t>
            </a: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</a:t>
            </a:r>
            <a:r>
              <a:rPr lang="en-US" sz="14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(자동차 SC의 자율주행 AI 등)</a:t>
            </a:r>
            <a:endParaRPr lang="en-US" sz="1425" dirty="0"/>
          </a:p>
        </p:txBody>
      </p:sp>
      <p:sp>
        <p:nvSpPr>
          <p:cNvPr id="36" name="Shape 29"/>
          <p:cNvSpPr/>
          <p:nvPr/>
        </p:nvSpPr>
        <p:spPr>
          <a:xfrm>
            <a:off x="12191695" y="7167982"/>
            <a:ext cx="4953305" cy="1162202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7" name="Shape 30"/>
          <p:cNvSpPr/>
          <p:nvPr/>
        </p:nvSpPr>
        <p:spPr>
          <a:xfrm>
            <a:off x="12191695" y="7167982"/>
            <a:ext cx="38405" cy="1162202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>
                <a:alpha val="0"/>
              </a:srgbClr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12420295" y="7339889"/>
            <a:ext cx="45345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CC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특징</a:t>
            </a:r>
            <a:endParaRPr lang="en-US" sz="1500" dirty="0"/>
          </a:p>
        </p:txBody>
      </p:sp>
      <p:sp>
        <p:nvSpPr>
          <p:cNvPr id="39" name="Text 32"/>
          <p:cNvSpPr txBox="1"/>
          <p:nvPr/>
        </p:nvSpPr>
        <p:spPr>
          <a:xfrm>
            <a:off x="12420295" y="7672730"/>
            <a:ext cx="45345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기술(technology) 표준이 아니라 </a:t>
            </a: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경영·거버넌스·평가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표준 중심. AI를 어떻게 만드느냐보다 </a:t>
            </a: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관리하느냐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초점.</a:t>
            </a:r>
            <a:endParaRPr lang="en-US" sz="1275" dirty="0"/>
          </a:p>
        </p:txBody>
      </p:sp>
      <p:sp>
        <p:nvSpPr>
          <p:cNvPr id="40" name="Shape 33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29 / 43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4286707"/>
            <a:ext cx="3276295" cy="50484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4286707"/>
            <a:ext cx="3276295" cy="576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4153205" y="4286707"/>
            <a:ext cx="3276295" cy="50484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153205" y="4286707"/>
            <a:ext cx="3276295" cy="576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543800" y="4286707"/>
            <a:ext cx="3276295" cy="5048402"/>
          </a:xfrm>
          <a:prstGeom prst="rect">
            <a:avLst/>
          </a:prstGeom>
          <a:solidFill>
            <a:srgbClr val="E6F1EA"/>
          </a:solidFill>
          <a:ln w="12700">
            <a:solidFill>
              <a:srgbClr val="036B3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543800" y="4286707"/>
            <a:ext cx="3276295" cy="57607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934395" y="4286707"/>
            <a:ext cx="3276295" cy="50484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934395" y="4286707"/>
            <a:ext cx="3276295" cy="576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4325905" y="4286707"/>
            <a:ext cx="3276295" cy="50484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4325905" y="4286707"/>
            <a:ext cx="3276295" cy="576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14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761695" y="1143000"/>
            <a:ext cx="1666951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61695" y="1143000"/>
            <a:ext cx="16669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· 국제표준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SC 42의 워킹그룹 · 5개 축의 분업 체계</a:t>
            </a:r>
            <a:endParaRPr lang="en-US" sz="5400" dirty="0"/>
          </a:p>
        </p:txBody>
      </p:sp>
      <p:sp>
        <p:nvSpPr>
          <p:cNvPr id="19" name="Text 14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Five Working Groups of SC 42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761695" y="3524098"/>
            <a:ext cx="16764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SC 42는 5개 </a:t>
            </a: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WG(Working Group)</a:t>
            </a:r>
            <a:r>
              <a:rPr lang="en-US" sz="195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와 여러 JWG(Joint WG)로 표준을 분업. 각 WG의 성과물이 결국 </a:t>
            </a:r>
            <a:r>
              <a:rPr lang="en-US" sz="195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ISO/IEC 42001의 조각</a:t>
            </a:r>
            <a:r>
              <a:rPr lang="en-US" sz="195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을 이룬다.</a:t>
            </a:r>
            <a:endParaRPr lang="en-US" sz="1950" dirty="0"/>
          </a:p>
        </p:txBody>
      </p:sp>
      <p:sp>
        <p:nvSpPr>
          <p:cNvPr id="21" name="Text 16"/>
          <p:cNvSpPr txBox="1"/>
          <p:nvPr/>
        </p:nvSpPr>
        <p:spPr>
          <a:xfrm>
            <a:off x="952805" y="4572000"/>
            <a:ext cx="28959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WG 1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952805" y="4800600"/>
            <a:ext cx="28959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Foundational</a:t>
            </a:r>
            <a:endParaRPr lang="en-US" sz="19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Standards</a:t>
            </a:r>
            <a:endParaRPr lang="en-US" sz="1950" dirty="0"/>
          </a:p>
        </p:txBody>
      </p:sp>
      <p:sp>
        <p:nvSpPr>
          <p:cNvPr id="23" name="Text 18"/>
          <p:cNvSpPr txBox="1"/>
          <p:nvPr/>
        </p:nvSpPr>
        <p:spPr>
          <a:xfrm>
            <a:off x="952805" y="5426964"/>
            <a:ext cx="28959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 표준</a:t>
            </a:r>
            <a:endParaRPr lang="en-US" sz="1350" dirty="0"/>
          </a:p>
        </p:txBody>
      </p:sp>
      <p:pic>
        <p:nvPicPr>
          <p:cNvPr id="24" name="Image 2" descr="gen-dedup-d109ff05e72c210e0f17b1865a27bb91.png"/>
          <p:cNvPicPr>
            <a:picLocks noChangeAspect="1"/>
          </p:cNvPicPr>
          <p:nvPr/>
        </p:nvPicPr>
        <p:blipFill>
          <a:blip r:embed="rId5"/>
          <a:srcRect t="-384" b="-384"/>
          <a:stretch/>
        </p:blipFill>
        <p:spPr>
          <a:xfrm>
            <a:off x="952805" y="5827471"/>
            <a:ext cx="476402" cy="192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52805" y="5998464"/>
            <a:ext cx="28959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 </a:t>
            </a: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어휘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개념 프레임워크를 만든다. 여기가 없으면 다른 WG의 표준들이 서로 어긋난다.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952805" y="6824167"/>
            <a:ext cx="2895905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성과</a:t>
            </a:r>
            <a:endParaRPr lang="en-US" sz="112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ISO/IEC 22989 (개념·용어)</a:t>
            </a:r>
            <a:endParaRPr lang="en-US" sz="112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ISO/IEC 23053 (ML 프레임워크)</a:t>
            </a:r>
            <a:endParaRPr lang="en-US" sz="112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ISO/IEC 5338 (AI 시스템 수명주기)</a:t>
            </a:r>
            <a:endParaRPr lang="en-US" sz="1125" dirty="0"/>
          </a:p>
        </p:txBody>
      </p:sp>
      <p:sp>
        <p:nvSpPr>
          <p:cNvPr id="27" name="Text 21"/>
          <p:cNvSpPr txBox="1"/>
          <p:nvPr/>
        </p:nvSpPr>
        <p:spPr>
          <a:xfrm>
            <a:off x="4343400" y="4572000"/>
            <a:ext cx="28959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WG 2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4343400" y="4800600"/>
            <a:ext cx="28959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Data</a:t>
            </a:r>
            <a:endParaRPr lang="en-US" sz="1950" dirty="0"/>
          </a:p>
        </p:txBody>
      </p:sp>
      <p:sp>
        <p:nvSpPr>
          <p:cNvPr id="29" name="Text 23"/>
          <p:cNvSpPr txBox="1"/>
          <p:nvPr/>
        </p:nvSpPr>
        <p:spPr>
          <a:xfrm>
            <a:off x="4343400" y="5142586"/>
            <a:ext cx="28959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endParaRPr lang="en-US" sz="1350" dirty="0"/>
          </a:p>
        </p:txBody>
      </p:sp>
      <p:pic>
        <p:nvPicPr>
          <p:cNvPr id="30" name="Image 3" descr="gen-dedup-d109ff05e72c210e0f17b1865a27bb91.png"/>
          <p:cNvPicPr>
            <a:picLocks noChangeAspect="1"/>
          </p:cNvPicPr>
          <p:nvPr/>
        </p:nvPicPr>
        <p:blipFill>
          <a:blip r:embed="rId5"/>
          <a:srcRect t="-384" b="-384"/>
          <a:stretch/>
        </p:blipFill>
        <p:spPr>
          <a:xfrm>
            <a:off x="4343400" y="5542178"/>
            <a:ext cx="476402" cy="1920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343400" y="5714086"/>
            <a:ext cx="28959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학습·검증 </a:t>
            </a: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데이터의 품질·거버넌스·라이프사이클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"쓰레기가 들어가면 쓰레기가 나온다" 문제를 표준화.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4343400" y="6538874"/>
            <a:ext cx="2895905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성과</a:t>
            </a:r>
            <a:endParaRPr lang="en-US" sz="112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ISO/IEC 5259-1~6 (데이터 품질)</a:t>
            </a:r>
            <a:endParaRPr lang="en-US" sz="112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ISO/IEC 8183 (데이터 라이프사이클)</a:t>
            </a:r>
            <a:endParaRPr lang="en-US" sz="112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ISO/IEC 24668 (분석 프로세스)</a:t>
            </a:r>
            <a:endParaRPr lang="en-US" sz="1125" dirty="0"/>
          </a:p>
        </p:txBody>
      </p:sp>
      <p:sp>
        <p:nvSpPr>
          <p:cNvPr id="33" name="Text 26"/>
          <p:cNvSpPr txBox="1"/>
          <p:nvPr/>
        </p:nvSpPr>
        <p:spPr>
          <a:xfrm>
            <a:off x="7733995" y="4572000"/>
            <a:ext cx="28959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50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WG 3 ★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7733995" y="4800600"/>
            <a:ext cx="28959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Trustworthiness</a:t>
            </a:r>
            <a:endParaRPr lang="en-US" sz="1950" dirty="0"/>
          </a:p>
        </p:txBody>
      </p:sp>
      <p:sp>
        <p:nvSpPr>
          <p:cNvPr id="35" name="Text 28"/>
          <p:cNvSpPr txBox="1"/>
          <p:nvPr/>
        </p:nvSpPr>
        <p:spPr>
          <a:xfrm>
            <a:off x="7733995" y="5142586"/>
            <a:ext cx="28959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9A2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 · 최중요</a:t>
            </a:r>
            <a:endParaRPr lang="en-US" sz="1350" dirty="0"/>
          </a:p>
        </p:txBody>
      </p:sp>
      <p:pic>
        <p:nvPicPr>
          <p:cNvPr id="36" name="Image 4" descr="gen-dedup-d109ff05e72c210e0f17b1865a27bb91.png"/>
          <p:cNvPicPr>
            <a:picLocks noChangeAspect="1"/>
          </p:cNvPicPr>
          <p:nvPr/>
        </p:nvPicPr>
        <p:blipFill>
          <a:blip r:embed="rId5"/>
          <a:srcRect t="-384" b="-384"/>
          <a:stretch/>
        </p:blipFill>
        <p:spPr>
          <a:xfrm>
            <a:off x="7733995" y="5542178"/>
            <a:ext cx="476402" cy="1920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733995" y="5714086"/>
            <a:ext cx="28959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거버넌스 · 리스크 · 편향 · 견고성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SC 42의 사실상 심장. </a:t>
            </a: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42001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여기서 나옴.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7733995" y="6538874"/>
            <a:ext cx="2895905" cy="1493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C9A2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성과</a:t>
            </a:r>
            <a:endParaRPr lang="en-US" sz="112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125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42001</a:t>
            </a: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(경영시스템)</a:t>
            </a:r>
            <a:endParaRPr lang="en-US" sz="112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ISO/IEC 38507 (거버넌스 지침)</a:t>
            </a:r>
            <a:endParaRPr lang="en-US" sz="112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ISO/IEC 23894 (리스크 관리)</a:t>
            </a:r>
            <a:endParaRPr lang="en-US" sz="112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ISO/IEC 24028 · 24029 (신뢰성·견고성)</a:t>
            </a:r>
            <a:endParaRPr lang="en-US" sz="112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ISO/IEC 42005 (영향평가 · 개발 중)</a:t>
            </a:r>
            <a:endParaRPr lang="en-US" sz="1125" dirty="0"/>
          </a:p>
        </p:txBody>
      </p:sp>
      <p:sp>
        <p:nvSpPr>
          <p:cNvPr id="39" name="Text 31"/>
          <p:cNvSpPr txBox="1"/>
          <p:nvPr/>
        </p:nvSpPr>
        <p:spPr>
          <a:xfrm>
            <a:off x="11125505" y="4572000"/>
            <a:ext cx="28959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WG 4</a:t>
            </a:r>
            <a:endParaRPr lang="en-US" sz="1050" dirty="0"/>
          </a:p>
        </p:txBody>
      </p:sp>
      <p:sp>
        <p:nvSpPr>
          <p:cNvPr id="40" name="Text 32"/>
          <p:cNvSpPr txBox="1"/>
          <p:nvPr/>
        </p:nvSpPr>
        <p:spPr>
          <a:xfrm>
            <a:off x="11125505" y="4800600"/>
            <a:ext cx="28959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Use Cases &amp;</a:t>
            </a:r>
            <a:endParaRPr lang="en-US" sz="19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Applications</a:t>
            </a:r>
            <a:endParaRPr lang="en-US" sz="1950" dirty="0"/>
          </a:p>
        </p:txBody>
      </p:sp>
      <p:sp>
        <p:nvSpPr>
          <p:cNvPr id="41" name="Text 33"/>
          <p:cNvSpPr txBox="1"/>
          <p:nvPr/>
        </p:nvSpPr>
        <p:spPr>
          <a:xfrm>
            <a:off x="11125505" y="5426964"/>
            <a:ext cx="28959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사례</a:t>
            </a:r>
            <a:endParaRPr lang="en-US" sz="1350" dirty="0"/>
          </a:p>
        </p:txBody>
      </p:sp>
      <p:pic>
        <p:nvPicPr>
          <p:cNvPr id="42" name="Image 5" descr="gen-dedup-d109ff05e72c210e0f17b1865a27bb91.png"/>
          <p:cNvPicPr>
            <a:picLocks noChangeAspect="1"/>
          </p:cNvPicPr>
          <p:nvPr/>
        </p:nvPicPr>
        <p:blipFill>
          <a:blip r:embed="rId5"/>
          <a:srcRect t="-384" b="-384"/>
          <a:stretch/>
        </p:blipFill>
        <p:spPr>
          <a:xfrm>
            <a:off x="11125505" y="5827471"/>
            <a:ext cx="476402" cy="1920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1125505" y="5998464"/>
            <a:ext cx="28959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산업별 활용 사례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표준화된 방식으로 문서화. 헬스케어·금융·자율주행·교육 등 도메인별 시나리오.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11125505" y="6824167"/>
            <a:ext cx="2895905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성과</a:t>
            </a:r>
            <a:endParaRPr lang="en-US" sz="112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ISO/IEC TR 24030 (활용 사례)</a:t>
            </a:r>
            <a:endParaRPr lang="en-US" sz="112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ISO/IEC TR 24372 (윤리 사례)</a:t>
            </a:r>
            <a:endParaRPr lang="en-US" sz="112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ISO/IEC 5339 (AI 응용 지침)</a:t>
            </a:r>
            <a:endParaRPr lang="en-US" sz="1125" dirty="0"/>
          </a:p>
        </p:txBody>
      </p:sp>
      <p:sp>
        <p:nvSpPr>
          <p:cNvPr id="45" name="Text 36"/>
          <p:cNvSpPr txBox="1"/>
          <p:nvPr/>
        </p:nvSpPr>
        <p:spPr>
          <a:xfrm>
            <a:off x="14516100" y="4572000"/>
            <a:ext cx="28959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WG 5</a:t>
            </a:r>
            <a:endParaRPr lang="en-US" sz="1050" dirty="0"/>
          </a:p>
        </p:txBody>
      </p:sp>
      <p:sp>
        <p:nvSpPr>
          <p:cNvPr id="46" name="Text 37"/>
          <p:cNvSpPr txBox="1"/>
          <p:nvPr/>
        </p:nvSpPr>
        <p:spPr>
          <a:xfrm>
            <a:off x="14516100" y="4800600"/>
            <a:ext cx="28959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Computational</a:t>
            </a:r>
            <a:endParaRPr lang="en-US" sz="19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Approaches</a:t>
            </a:r>
            <a:endParaRPr lang="en-US" sz="1950" dirty="0"/>
          </a:p>
        </p:txBody>
      </p:sp>
      <p:sp>
        <p:nvSpPr>
          <p:cNvPr id="47" name="Text 38"/>
          <p:cNvSpPr txBox="1"/>
          <p:nvPr/>
        </p:nvSpPr>
        <p:spPr>
          <a:xfrm>
            <a:off x="14516100" y="5426964"/>
            <a:ext cx="28959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계산적 접근</a:t>
            </a:r>
            <a:endParaRPr lang="en-US" sz="1350" dirty="0"/>
          </a:p>
        </p:txBody>
      </p:sp>
      <p:pic>
        <p:nvPicPr>
          <p:cNvPr id="48" name="Image 6" descr="gen-dedup-d109ff05e72c210e0f17b1865a27bb91.png"/>
          <p:cNvPicPr>
            <a:picLocks noChangeAspect="1"/>
          </p:cNvPicPr>
          <p:nvPr/>
        </p:nvPicPr>
        <p:blipFill>
          <a:blip r:embed="rId5"/>
          <a:srcRect t="-384" b="-384"/>
          <a:stretch/>
        </p:blipFill>
        <p:spPr>
          <a:xfrm>
            <a:off x="14516100" y="5827471"/>
            <a:ext cx="476402" cy="19202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14516100" y="5998464"/>
            <a:ext cx="28959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 </a:t>
            </a: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방법·아키텍처·성능 측정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5개 WG 중 가장 기술적. 신경망·최적화 등.</a:t>
            </a:r>
            <a:endParaRPr lang="en-US" sz="1200" dirty="0"/>
          </a:p>
        </p:txBody>
      </p:sp>
      <p:sp>
        <p:nvSpPr>
          <p:cNvPr id="50" name="Text 40"/>
          <p:cNvSpPr txBox="1"/>
          <p:nvPr/>
        </p:nvSpPr>
        <p:spPr>
          <a:xfrm>
            <a:off x="14516100" y="6587338"/>
            <a:ext cx="2895905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성과</a:t>
            </a:r>
            <a:endParaRPr lang="en-US" sz="112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ISO/IEC 25059 (AI 시스템 품질 모델)</a:t>
            </a:r>
            <a:endParaRPr lang="en-US" sz="112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ISO/IEC 24029-1/2 (견고성 평가)</a:t>
            </a:r>
            <a:endParaRPr lang="en-US" sz="112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ISO/IEC 4213 (분류 성능 평가)</a:t>
            </a:r>
            <a:endParaRPr lang="en-US" sz="1125" dirty="0"/>
          </a:p>
        </p:txBody>
      </p:sp>
      <p:sp>
        <p:nvSpPr>
          <p:cNvPr id="51" name="Shape 41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/ 43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668305" y="3238805"/>
            <a:ext cx="6858000" cy="6096305"/>
          </a:xfrm>
          <a:prstGeom prst="rect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809951"/>
            <a:ext cx="761695" cy="2834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7" name="Shape 2"/>
          <p:cNvSpPr/>
          <p:nvPr/>
        </p:nvSpPr>
        <p:spPr>
          <a:xfrm>
            <a:off x="761695" y="1143000"/>
            <a:ext cx="1666951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761695" y="1143000"/>
            <a:ext cx="16669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· 국제표준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761695" y="1619402"/>
            <a:ext cx="16764610" cy="876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표준이 만들어지는 과정과 참여</a:t>
            </a:r>
            <a:endParaRPr lang="en-US" sz="48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2572207"/>
            <a:ext cx="16764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The ISO Process &amp; Korea's Participation</a:t>
            </a:r>
            <a:endParaRPr lang="en-US" sz="195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3238805"/>
            <a:ext cx="9525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STANDARD DEVELOPMENT · 6 STAGES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3467405"/>
            <a:ext cx="95253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표준 하나가 태어나는 과정</a:t>
            </a:r>
            <a:endParaRPr lang="en-US" sz="2400" dirty="0"/>
          </a:p>
        </p:txBody>
      </p:sp>
      <p:pic>
        <p:nvPicPr>
          <p:cNvPr id="13" name="Image 2" descr="gen-dedup-08173c94900e9aa2377887198bd5085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761695" y="4076395"/>
            <a:ext cx="761695" cy="1920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761695" y="4753966"/>
            <a:ext cx="952530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61695" y="4362602"/>
            <a:ext cx="762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STAGE 10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1676095" y="4362602"/>
            <a:ext cx="4452214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PWI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Preliminary Work Item — 예비 안건 등록</a:t>
            </a:r>
            <a:endParaRPr lang="en-US" sz="1425" dirty="0"/>
          </a:p>
        </p:txBody>
      </p:sp>
      <p:sp>
        <p:nvSpPr>
          <p:cNvPr id="17" name="Shape 11"/>
          <p:cNvSpPr/>
          <p:nvPr/>
        </p:nvSpPr>
        <p:spPr>
          <a:xfrm>
            <a:off x="761695" y="5243170"/>
            <a:ext cx="952530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761695" y="4851806"/>
            <a:ext cx="762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STAGE 20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1676095" y="4851806"/>
            <a:ext cx="3926434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WD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Working Draft — 워킹그룹 초안 개발</a:t>
            </a:r>
            <a:endParaRPr lang="en-US" sz="1425" dirty="0"/>
          </a:p>
        </p:txBody>
      </p:sp>
      <p:sp>
        <p:nvSpPr>
          <p:cNvPr id="20" name="Shape 14"/>
          <p:cNvSpPr/>
          <p:nvPr/>
        </p:nvSpPr>
        <p:spPr>
          <a:xfrm>
            <a:off x="761695" y="5733288"/>
            <a:ext cx="952530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61695" y="5341925"/>
            <a:ext cx="762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STAGE 30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1676095" y="5341925"/>
            <a:ext cx="4582058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Committee Draft — 위원회 초안 회원국 회람</a:t>
            </a:r>
            <a:endParaRPr lang="en-US" sz="1425" dirty="0"/>
          </a:p>
        </p:txBody>
      </p:sp>
      <p:sp>
        <p:nvSpPr>
          <p:cNvPr id="23" name="Shape 17"/>
          <p:cNvSpPr/>
          <p:nvPr/>
        </p:nvSpPr>
        <p:spPr>
          <a:xfrm>
            <a:off x="761695" y="6222492"/>
            <a:ext cx="952530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61695" y="5831129"/>
            <a:ext cx="762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STAGE 40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676095" y="5831129"/>
            <a:ext cx="48966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Draft International Standard — 공식 초안 투표</a:t>
            </a:r>
            <a:endParaRPr lang="en-US" sz="1425" dirty="0"/>
          </a:p>
        </p:txBody>
      </p:sp>
      <p:sp>
        <p:nvSpPr>
          <p:cNvPr id="26" name="Shape 20"/>
          <p:cNvSpPr/>
          <p:nvPr/>
        </p:nvSpPr>
        <p:spPr>
          <a:xfrm>
            <a:off x="761695" y="6712610"/>
            <a:ext cx="952530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61695" y="6321247"/>
            <a:ext cx="762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STAGE 50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1676095" y="6321247"/>
            <a:ext cx="318577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FDIS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Final DIS — 최종 초안 투표</a:t>
            </a:r>
            <a:endParaRPr lang="en-US" sz="1425" dirty="0"/>
          </a:p>
        </p:txBody>
      </p:sp>
      <p:sp>
        <p:nvSpPr>
          <p:cNvPr id="29" name="Shape 23"/>
          <p:cNvSpPr/>
          <p:nvPr/>
        </p:nvSpPr>
        <p:spPr>
          <a:xfrm>
            <a:off x="761695" y="6715354"/>
            <a:ext cx="9525305" cy="485546"/>
          </a:xfrm>
          <a:prstGeom prst="rect">
            <a:avLst/>
          </a:prstGeom>
          <a:solidFill>
            <a:srgbClr val="E6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61695" y="6810451"/>
            <a:ext cx="762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STAGE 60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1676095" y="6810451"/>
            <a:ext cx="3827678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International Standard —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발행</a:t>
            </a:r>
            <a:endParaRPr lang="en-US" sz="1425" dirty="0"/>
          </a:p>
        </p:txBody>
      </p:sp>
      <p:sp>
        <p:nvSpPr>
          <p:cNvPr id="32" name="Shape 26"/>
          <p:cNvSpPr/>
          <p:nvPr/>
        </p:nvSpPr>
        <p:spPr>
          <a:xfrm>
            <a:off x="761695" y="7385609"/>
            <a:ext cx="9525305" cy="752551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33" name="Shape 27"/>
          <p:cNvSpPr/>
          <p:nvPr/>
        </p:nvSpPr>
        <p:spPr>
          <a:xfrm>
            <a:off x="761695" y="7385609"/>
            <a:ext cx="38405" cy="752551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972007" y="7385609"/>
            <a:ext cx="9314993" cy="7525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39700" rIns="177800" bIns="13970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하나에 평균 3-5년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각 단계마다 회원국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P-member 투표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통과. AI 표준은 시급성 때문에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Fast-track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이나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PAS(Publicly Available Specification)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경로도 활용.</a:t>
            </a:r>
            <a:endParaRPr lang="en-US" sz="1275" dirty="0"/>
          </a:p>
        </p:txBody>
      </p:sp>
      <p:sp>
        <p:nvSpPr>
          <p:cNvPr id="35" name="Text 29"/>
          <p:cNvSpPr txBox="1"/>
          <p:nvPr/>
        </p:nvSpPr>
        <p:spPr>
          <a:xfrm>
            <a:off x="11048695" y="3429000"/>
            <a:ext cx="6096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KOREA'S PARTICIPATION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11048695" y="3657600"/>
            <a:ext cx="6096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한국은 어떻게 참여하는가</a:t>
            </a:r>
            <a:endParaRPr lang="en-US" sz="2400" dirty="0"/>
          </a:p>
        </p:txBody>
      </p:sp>
      <p:pic>
        <p:nvPicPr>
          <p:cNvPr id="37" name="Image 3" descr="gen-dedup-e1c269e30e576df964e2a3ec780fd27a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1048695" y="4141318"/>
            <a:ext cx="571500" cy="19202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1048695" y="4294022"/>
            <a:ext cx="6096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CC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국가 대표기관</a:t>
            </a:r>
            <a:endParaRPr lang="en-US" sz="1425" dirty="0"/>
          </a:p>
        </p:txBody>
      </p:sp>
      <p:sp>
        <p:nvSpPr>
          <p:cNvPr id="39" name="Text 32"/>
          <p:cNvSpPr txBox="1"/>
          <p:nvPr/>
        </p:nvSpPr>
        <p:spPr>
          <a:xfrm>
            <a:off x="11048695" y="4593031"/>
            <a:ext cx="6449263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산업통상자원부 국가기술표준원(KATS)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ISO/IEC 회원국(P-member) 자격 보유.</a:t>
            </a:r>
            <a:endParaRPr lang="en-US" sz="1275" dirty="0"/>
          </a:p>
        </p:txBody>
      </p:sp>
      <p:sp>
        <p:nvSpPr>
          <p:cNvPr id="40" name="Text 33"/>
          <p:cNvSpPr txBox="1"/>
          <p:nvPr/>
        </p:nvSpPr>
        <p:spPr>
          <a:xfrm>
            <a:off x="11048695" y="4958791"/>
            <a:ext cx="6096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CC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국내 대응 기구</a:t>
            </a:r>
            <a:endParaRPr lang="en-US" sz="1425" dirty="0"/>
          </a:p>
        </p:txBody>
      </p:sp>
      <p:sp>
        <p:nvSpPr>
          <p:cNvPr id="41" name="Text 34"/>
          <p:cNvSpPr txBox="1"/>
          <p:nvPr/>
        </p:nvSpPr>
        <p:spPr>
          <a:xfrm>
            <a:off x="11048695" y="5257800"/>
            <a:ext cx="6096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TTA(한국정보통신기술협회)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JTC 1 국내 간사기관. TTA 산하 </a:t>
            </a: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PG 505(인공지능표준)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SC 42 국내대응.</a:t>
            </a:r>
            <a:endParaRPr lang="en-US" sz="1275" dirty="0"/>
          </a:p>
        </p:txBody>
      </p:sp>
      <p:sp>
        <p:nvSpPr>
          <p:cNvPr id="42" name="Text 35"/>
          <p:cNvSpPr txBox="1"/>
          <p:nvPr/>
        </p:nvSpPr>
        <p:spPr>
          <a:xfrm>
            <a:off x="11048695" y="5874106"/>
            <a:ext cx="6096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CC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국내 표준화 위원회</a:t>
            </a:r>
            <a:endParaRPr lang="en-US" sz="1425" dirty="0"/>
          </a:p>
        </p:txBody>
      </p:sp>
      <p:sp>
        <p:nvSpPr>
          <p:cNvPr id="43" name="Text 36"/>
          <p:cNvSpPr txBox="1"/>
          <p:nvPr/>
        </p:nvSpPr>
        <p:spPr>
          <a:xfrm>
            <a:off x="11048695" y="6174029"/>
            <a:ext cx="6739128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산·학·연 전문가 참여. 표준 검토, 의견 수렴, 국제회의 </a:t>
            </a: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대표단 파견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연 4회 개최.</a:t>
            </a:r>
            <a:endParaRPr lang="en-US" sz="1275" dirty="0"/>
          </a:p>
        </p:txBody>
      </p:sp>
      <p:sp>
        <p:nvSpPr>
          <p:cNvPr id="44" name="Text 37"/>
          <p:cNvSpPr txBox="1"/>
          <p:nvPr/>
        </p:nvSpPr>
        <p:spPr>
          <a:xfrm>
            <a:off x="11048695" y="6538874"/>
            <a:ext cx="6096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CC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한국의 성과</a:t>
            </a:r>
            <a:endParaRPr lang="en-US" sz="1425" dirty="0"/>
          </a:p>
        </p:txBody>
      </p:sp>
      <p:sp>
        <p:nvSpPr>
          <p:cNvPr id="45" name="Text 38"/>
          <p:cNvSpPr txBox="1"/>
          <p:nvPr/>
        </p:nvSpPr>
        <p:spPr>
          <a:xfrm>
            <a:off x="11048695" y="6838798"/>
            <a:ext cx="6096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 42 </a:t>
            </a: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Convenor 다수 확보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AI 신뢰성·데이터 품질 분야 </a:t>
            </a: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NP(신규 제안) 주도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편집자 역할 다수.</a:t>
            </a:r>
            <a:endParaRPr lang="en-US" sz="1275" dirty="0"/>
          </a:p>
        </p:txBody>
      </p:sp>
      <p:sp>
        <p:nvSpPr>
          <p:cNvPr id="46" name="Shape 39"/>
          <p:cNvSpPr/>
          <p:nvPr/>
        </p:nvSpPr>
        <p:spPr>
          <a:xfrm>
            <a:off x="11048695" y="7474306"/>
            <a:ext cx="6096305" cy="657454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7" name="Shape 40"/>
          <p:cNvSpPr/>
          <p:nvPr/>
        </p:nvSpPr>
        <p:spPr>
          <a:xfrm>
            <a:off x="11048695" y="7474306"/>
            <a:ext cx="38405" cy="657454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>
                <a:alpha val="0"/>
              </a:srgbClr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11239805" y="7453274"/>
            <a:ext cx="5905195" cy="67848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14300" rIns="152400" bIns="11430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CC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실무자·연구자 참여 경로</a:t>
            </a:r>
            <a:endParaRPr lang="en-US" sz="1125" dirty="0"/>
          </a:p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TTA 위원 등록 → PG 505 참여 → 국제회의 대표단 파견 → 편집자·컨비너 진출</a:t>
            </a:r>
            <a:endParaRPr lang="en-US" sz="1125" dirty="0"/>
          </a:p>
        </p:txBody>
      </p:sp>
      <p:sp>
        <p:nvSpPr>
          <p:cNvPr id="49" name="Shape 42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 / 43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334195" y="3524098"/>
            <a:ext cx="8191195" cy="581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9334195" y="3524098"/>
            <a:ext cx="47549" cy="5810098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6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8" name="Shape 3"/>
          <p:cNvSpPr/>
          <p:nvPr/>
        </p:nvSpPr>
        <p:spPr>
          <a:xfrm>
            <a:off x="761695" y="1143000"/>
            <a:ext cx="1666951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61695" y="1143000"/>
            <a:ext cx="16669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· 국제표준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1619402"/>
            <a:ext cx="1720535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국제표준의 총본산 · ISO/IEC JTC 1 · SC 42</a:t>
            </a:r>
            <a:endParaRPr lang="en-US" sz="54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2686507"/>
            <a:ext cx="16764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The Hub of AI International Standards</a:t>
            </a:r>
            <a:endParaRPr lang="en-US" sz="195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3524098"/>
            <a:ext cx="8192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ORGANIZATIONAL TREE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761695" y="3771900"/>
            <a:ext cx="81921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표준은 어디에서 만들어지는가</a:t>
            </a:r>
            <a:endParaRPr lang="en-US" sz="2400" dirty="0"/>
          </a:p>
        </p:txBody>
      </p:sp>
      <p:pic>
        <p:nvPicPr>
          <p:cNvPr id="14" name="Image 2" descr="gen-dedup-08173c94900e9aa2377887198bd5085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761695" y="4401007"/>
            <a:ext cx="761695" cy="1920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61695" y="4610405"/>
            <a:ext cx="8191195" cy="10863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1143000" y="5783580"/>
            <a:ext cx="19202" cy="4295851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1352398" y="5783580"/>
            <a:ext cx="7601407" cy="1047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1733702" y="6922922"/>
            <a:ext cx="19202" cy="316199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943100" y="6922922"/>
            <a:ext cx="7010705" cy="1190549"/>
          </a:xfrm>
          <a:prstGeom prst="rect">
            <a:avLst/>
          </a:prstGeom>
          <a:solidFill>
            <a:srgbClr val="E6F1EA"/>
          </a:solidFill>
          <a:ln w="12700">
            <a:solidFill>
              <a:srgbClr val="036B3F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2324405" y="8225942"/>
            <a:ext cx="19202" cy="1857146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2533802" y="8174736"/>
            <a:ext cx="6420002" cy="1909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WG 1 · Foundational Standards</a:t>
            </a:r>
            <a:endParaRPr lang="en-US" sz="1350" dirty="0"/>
          </a:p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WG 2 · Data</a:t>
            </a:r>
            <a:endParaRPr lang="en-US" sz="1350" dirty="0"/>
          </a:p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WG 3 · Trustworthiness</a:t>
            </a:r>
            <a:endParaRPr lang="en-US" sz="1350" dirty="0"/>
          </a:p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WG 4 · Use Cases &amp; Applications</a:t>
            </a:r>
            <a:endParaRPr lang="en-US" sz="1350" dirty="0"/>
          </a:p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WG 5 · Computational Approaches</a:t>
            </a:r>
            <a:endParaRPr lang="en-US" sz="1350" dirty="0"/>
          </a:p>
          <a:p>
            <a:pPr marL="0" indent="0" algn="l">
              <a:lnSpc>
                <a:spcPts val="243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JWG 1–4 · 타 SC와의 공동작업반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961949" y="4809744"/>
            <a:ext cx="2154326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ISO + IEC (공동)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61949" y="5240426"/>
            <a:ext cx="2969971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국제표준화기구 · 국제전기기술위원회</a:t>
            </a:r>
            <a:endParaRPr lang="en-US" sz="1275" dirty="0"/>
          </a:p>
        </p:txBody>
      </p:sp>
      <p:sp>
        <p:nvSpPr>
          <p:cNvPr id="24" name="Text 18"/>
          <p:cNvSpPr txBox="1"/>
          <p:nvPr/>
        </p:nvSpPr>
        <p:spPr>
          <a:xfrm>
            <a:off x="1552651" y="5983834"/>
            <a:ext cx="444124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JTC 1 · Joint Technical Committee 1</a:t>
            </a:r>
            <a:endParaRPr lang="en-US" sz="1650" dirty="0"/>
          </a:p>
        </p:txBody>
      </p:sp>
      <p:sp>
        <p:nvSpPr>
          <p:cNvPr id="25" name="Text 19"/>
          <p:cNvSpPr txBox="1"/>
          <p:nvPr/>
        </p:nvSpPr>
        <p:spPr>
          <a:xfrm>
            <a:off x="1552651" y="6379769"/>
            <a:ext cx="25530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정보기술 (IT) 공동 기술위원회</a:t>
            </a:r>
            <a:endParaRPr lang="en-US" sz="1275" dirty="0"/>
          </a:p>
        </p:txBody>
      </p:sp>
      <p:sp>
        <p:nvSpPr>
          <p:cNvPr id="26" name="Text 20"/>
          <p:cNvSpPr txBox="1"/>
          <p:nvPr/>
        </p:nvSpPr>
        <p:spPr>
          <a:xfrm>
            <a:off x="2180844" y="7160666"/>
            <a:ext cx="3646627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24A2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SC 42 · Subcommittee 42</a:t>
            </a:r>
            <a:endParaRPr lang="en-US" sz="1950" dirty="0"/>
          </a:p>
        </p:txBody>
      </p:sp>
      <p:sp>
        <p:nvSpPr>
          <p:cNvPr id="27" name="Text 21"/>
          <p:cNvSpPr txBox="1"/>
          <p:nvPr/>
        </p:nvSpPr>
        <p:spPr>
          <a:xfrm>
            <a:off x="2180844" y="7616038"/>
            <a:ext cx="35433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인공지능 표준화 소위원회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(2017.10 설립)</a:t>
            </a:r>
            <a:endParaRPr lang="en-US" sz="1350" dirty="0"/>
          </a:p>
        </p:txBody>
      </p:sp>
      <p:sp>
        <p:nvSpPr>
          <p:cNvPr id="28" name="Text 22"/>
          <p:cNvSpPr txBox="1"/>
          <p:nvPr/>
        </p:nvSpPr>
        <p:spPr>
          <a:xfrm>
            <a:off x="9715500" y="3810305"/>
            <a:ext cx="7525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 42 · BY THE NUMBERS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9715500" y="4038905"/>
            <a:ext cx="7525512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국제표준의 심장</a:t>
            </a:r>
            <a:endParaRPr lang="en-US" sz="2400" dirty="0"/>
          </a:p>
        </p:txBody>
      </p:sp>
      <p:pic>
        <p:nvPicPr>
          <p:cNvPr id="30" name="Image 3" descr="gen-dedup-08173c94900e9aa2377887198bd5085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9715500" y="4647895"/>
            <a:ext cx="761695" cy="19202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715500" y="4839005"/>
            <a:ext cx="3676802" cy="1095451"/>
          </a:xfrm>
          <a:prstGeom prst="rect">
            <a:avLst/>
          </a:prstGeom>
          <a:solidFill>
            <a:srgbClr val="E6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905695" y="5009998"/>
            <a:ext cx="32964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48</a:t>
            </a:r>
            <a:endParaRPr lang="en-US" sz="3600" dirty="0"/>
          </a:p>
        </p:txBody>
      </p:sp>
      <p:sp>
        <p:nvSpPr>
          <p:cNvPr id="33" name="Text 26"/>
          <p:cNvSpPr txBox="1"/>
          <p:nvPr/>
        </p:nvSpPr>
        <p:spPr>
          <a:xfrm>
            <a:off x="9905695" y="5524805"/>
            <a:ext cx="32964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발행된 ISO 표준</a:t>
            </a:r>
            <a:endParaRPr lang="en-US" sz="1275" dirty="0"/>
          </a:p>
        </p:txBody>
      </p:sp>
      <p:sp>
        <p:nvSpPr>
          <p:cNvPr id="34" name="Shape 27"/>
          <p:cNvSpPr/>
          <p:nvPr/>
        </p:nvSpPr>
        <p:spPr>
          <a:xfrm>
            <a:off x="13563295" y="4839005"/>
            <a:ext cx="3676802" cy="1095451"/>
          </a:xfrm>
          <a:prstGeom prst="rect">
            <a:avLst/>
          </a:prstGeom>
          <a:solidFill>
            <a:srgbClr val="E6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13754405" y="5009998"/>
            <a:ext cx="32964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58</a:t>
            </a:r>
            <a:endParaRPr lang="en-US" sz="3600" dirty="0"/>
          </a:p>
        </p:txBody>
      </p:sp>
      <p:sp>
        <p:nvSpPr>
          <p:cNvPr id="36" name="Text 29"/>
          <p:cNvSpPr txBox="1"/>
          <p:nvPr/>
        </p:nvSpPr>
        <p:spPr>
          <a:xfrm>
            <a:off x="13754405" y="5524805"/>
            <a:ext cx="32964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중인 표준</a:t>
            </a:r>
            <a:endParaRPr lang="en-US" sz="1275" dirty="0"/>
          </a:p>
        </p:txBody>
      </p:sp>
      <p:sp>
        <p:nvSpPr>
          <p:cNvPr id="37" name="Shape 30"/>
          <p:cNvSpPr/>
          <p:nvPr/>
        </p:nvSpPr>
        <p:spPr>
          <a:xfrm>
            <a:off x="9715500" y="6105449"/>
            <a:ext cx="3676802" cy="1095451"/>
          </a:xfrm>
          <a:prstGeom prst="rect">
            <a:avLst/>
          </a:prstGeom>
          <a:solidFill>
            <a:srgbClr val="E6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9905695" y="6277356"/>
            <a:ext cx="32964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39</a:t>
            </a:r>
            <a:endParaRPr lang="en-US" sz="3600" dirty="0"/>
          </a:p>
        </p:txBody>
      </p:sp>
      <p:sp>
        <p:nvSpPr>
          <p:cNvPr id="39" name="Text 32"/>
          <p:cNvSpPr txBox="1"/>
          <p:nvPr/>
        </p:nvSpPr>
        <p:spPr>
          <a:xfrm>
            <a:off x="9905695" y="6791249"/>
            <a:ext cx="32964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참여국(P-member)</a:t>
            </a:r>
            <a:endParaRPr lang="en-US" sz="1275" dirty="0"/>
          </a:p>
        </p:txBody>
      </p:sp>
      <p:sp>
        <p:nvSpPr>
          <p:cNvPr id="40" name="Shape 33"/>
          <p:cNvSpPr/>
          <p:nvPr/>
        </p:nvSpPr>
        <p:spPr>
          <a:xfrm>
            <a:off x="13563295" y="6105449"/>
            <a:ext cx="3676802" cy="1095451"/>
          </a:xfrm>
          <a:prstGeom prst="rect">
            <a:avLst/>
          </a:prstGeom>
          <a:solidFill>
            <a:srgbClr val="E6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13754405" y="6277356"/>
            <a:ext cx="32964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2017</a:t>
            </a:r>
            <a:endParaRPr lang="en-US" sz="3600" dirty="0"/>
          </a:p>
        </p:txBody>
      </p:sp>
      <p:sp>
        <p:nvSpPr>
          <p:cNvPr id="42" name="Text 35"/>
          <p:cNvSpPr txBox="1"/>
          <p:nvPr/>
        </p:nvSpPr>
        <p:spPr>
          <a:xfrm>
            <a:off x="13754405" y="6791249"/>
            <a:ext cx="32964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 42 설립 연도</a:t>
            </a:r>
            <a:endParaRPr lang="en-US" sz="1275" dirty="0"/>
          </a:p>
        </p:txBody>
      </p:sp>
      <p:sp>
        <p:nvSpPr>
          <p:cNvPr id="43" name="Text 36"/>
          <p:cNvSpPr txBox="1"/>
          <p:nvPr/>
        </p:nvSpPr>
        <p:spPr>
          <a:xfrm>
            <a:off x="9715500" y="7429500"/>
            <a:ext cx="75255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SC 42가 중요한가</a:t>
            </a:r>
            <a:endParaRPr lang="en-US" sz="1425" dirty="0"/>
          </a:p>
        </p:txBody>
      </p:sp>
      <p:sp>
        <p:nvSpPr>
          <p:cNvPr id="44" name="Text 37"/>
          <p:cNvSpPr txBox="1"/>
          <p:nvPr/>
        </p:nvSpPr>
        <p:spPr>
          <a:xfrm>
            <a:off x="9708998" y="7756855"/>
            <a:ext cx="7531100" cy="1173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5900" indent="-215900" algn="l">
              <a:lnSpc>
                <a:spcPts val="2228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​EU AI Act가 요구하는 "적합성 추정(presumption of conformity)"의 근거 표준을 생산</a:t>
            </a:r>
            <a:endParaRPr lang="en-US" sz="1350" dirty="0"/>
          </a:p>
          <a:p>
            <a:pPr marL="215900" indent="-215900" algn="l">
              <a:lnSpc>
                <a:spcPts val="2228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​한국 AI 기본법의 "인증·평가"에서도 표준 준수가 실무 기준</a:t>
            </a:r>
            <a:endParaRPr lang="en-US" sz="1350" dirty="0"/>
          </a:p>
          <a:p>
            <a:pPr marL="215900" indent="-215900" algn="l">
              <a:lnSpc>
                <a:spcPts val="2228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​글로벌 사업자에게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관할 대응의 공통 언어</a:t>
            </a:r>
            <a:endParaRPr lang="en-US" sz="1350" dirty="0"/>
          </a:p>
          <a:p>
            <a:pPr marL="215900" indent="-215900" algn="l">
              <a:lnSpc>
                <a:spcPts val="2228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​한국은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P-member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SC 42 활동 · TTA · 산업표준심의회가 국내 대응</a:t>
            </a:r>
            <a:endParaRPr lang="en-US" sz="1350" dirty="0"/>
          </a:p>
        </p:txBody>
      </p:sp>
      <p:sp>
        <p:nvSpPr>
          <p:cNvPr id="45" name="Shape 38"/>
          <p:cNvSpPr/>
          <p:nvPr/>
        </p:nvSpPr>
        <p:spPr>
          <a:xfrm>
            <a:off x="9715500" y="9117482"/>
            <a:ext cx="7524598" cy="514807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46" name="Shape 39"/>
          <p:cNvSpPr/>
          <p:nvPr/>
        </p:nvSpPr>
        <p:spPr>
          <a:xfrm>
            <a:off x="9715500" y="9117482"/>
            <a:ext cx="47549" cy="5148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9934956" y="9250985"/>
            <a:ext cx="741944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11주차(11.12) 강의에서 SC 42의 WG 구조·발간 프로세스·국내 대응 체계를 상세히 다룹니다.</a:t>
            </a:r>
            <a:endParaRPr lang="en-US" sz="1275" dirty="0"/>
          </a:p>
        </p:txBody>
      </p:sp>
      <p:sp>
        <p:nvSpPr>
          <p:cNvPr id="48" name="Shape 41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 / 43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3619195"/>
            <a:ext cx="7239305" cy="6096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3619195"/>
            <a:ext cx="7239305" cy="576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6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8" name="Shape 3"/>
          <p:cNvSpPr/>
          <p:nvPr/>
        </p:nvSpPr>
        <p:spPr>
          <a:xfrm>
            <a:off x="761695" y="1143000"/>
            <a:ext cx="1666951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61695" y="1143000"/>
            <a:ext cx="16669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· 국제표준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경영시스템 표준</a:t>
            </a:r>
            <a:endParaRPr lang="en-US" sz="54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The First International Management System Standard for AI</a:t>
            </a:r>
            <a:endParaRPr lang="en-US" sz="21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3847795"/>
            <a:ext cx="6477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STANDARD · IDENTITY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4095598"/>
            <a:ext cx="64776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2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ISO/IEC 42001</a:t>
            </a:r>
            <a:endParaRPr lang="en-US" sz="525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5544007"/>
            <a:ext cx="6477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Information technology — Artificial intelligence — Management system</a:t>
            </a:r>
            <a:endParaRPr lang="en-US" sz="1650" dirty="0"/>
          </a:p>
        </p:txBody>
      </p:sp>
      <p:pic>
        <p:nvPicPr>
          <p:cNvPr id="15" name="Image 2" descr="gen-dedup-08e7ad798eedbf64ad9fc6738abbdb5e.png"/>
          <p:cNvPicPr>
            <a:picLocks noChangeAspect="1"/>
          </p:cNvPicPr>
          <p:nvPr/>
        </p:nvPicPr>
        <p:blipFill>
          <a:blip r:embed="rId5"/>
          <a:srcRect t="-384" b="-384"/>
          <a:stretch/>
        </p:blipFill>
        <p:spPr>
          <a:xfrm>
            <a:off x="1143000" y="6299302"/>
            <a:ext cx="952805" cy="192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43000" y="6508699"/>
            <a:ext cx="161940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발행</a:t>
            </a:r>
            <a:endParaRPr lang="en-US" sz="1425" dirty="0"/>
          </a:p>
        </p:txBody>
      </p:sp>
      <p:sp>
        <p:nvSpPr>
          <p:cNvPr id="17" name="Text 11"/>
          <p:cNvSpPr txBox="1"/>
          <p:nvPr/>
        </p:nvSpPr>
        <p:spPr>
          <a:xfrm>
            <a:off x="2762402" y="6508699"/>
            <a:ext cx="48582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2023년 12월 18일</a:t>
            </a:r>
            <a:endParaRPr lang="en-US" sz="1425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6880860"/>
            <a:ext cx="161940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1425" dirty="0"/>
          </a:p>
        </p:txBody>
      </p:sp>
      <p:sp>
        <p:nvSpPr>
          <p:cNvPr id="19" name="Text 13"/>
          <p:cNvSpPr txBox="1"/>
          <p:nvPr/>
        </p:nvSpPr>
        <p:spPr>
          <a:xfrm>
            <a:off x="2762402" y="6880860"/>
            <a:ext cx="48582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JTC 1/SC 42/WG 3</a:t>
            </a:r>
            <a:endParaRPr lang="en-US" sz="1425" dirty="0"/>
          </a:p>
        </p:txBody>
      </p:sp>
      <p:sp>
        <p:nvSpPr>
          <p:cNvPr id="20" name="Text 14"/>
          <p:cNvSpPr txBox="1"/>
          <p:nvPr/>
        </p:nvSpPr>
        <p:spPr>
          <a:xfrm>
            <a:off x="1143000" y="7252106"/>
            <a:ext cx="161940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</a:t>
            </a:r>
            <a:endParaRPr lang="en-US" sz="1425" dirty="0"/>
          </a:p>
        </p:txBody>
      </p:sp>
      <p:sp>
        <p:nvSpPr>
          <p:cNvPr id="21" name="Text 15"/>
          <p:cNvSpPr txBox="1"/>
          <p:nvPr/>
        </p:nvSpPr>
        <p:spPr>
          <a:xfrm>
            <a:off x="2762402" y="7252106"/>
            <a:ext cx="48582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 A ·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 가능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경영시스템 표준</a:t>
            </a:r>
            <a:endParaRPr lang="en-US" sz="1425" dirty="0"/>
          </a:p>
        </p:txBody>
      </p:sp>
      <p:sp>
        <p:nvSpPr>
          <p:cNvPr id="22" name="Text 16"/>
          <p:cNvSpPr txBox="1"/>
          <p:nvPr/>
        </p:nvSpPr>
        <p:spPr>
          <a:xfrm>
            <a:off x="1143000" y="7623353"/>
            <a:ext cx="161940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</a:t>
            </a:r>
            <a:endParaRPr lang="en-US" sz="1425" dirty="0"/>
          </a:p>
        </p:txBody>
      </p:sp>
      <p:sp>
        <p:nvSpPr>
          <p:cNvPr id="23" name="Text 17"/>
          <p:cNvSpPr txBox="1"/>
          <p:nvPr/>
        </p:nvSpPr>
        <p:spPr>
          <a:xfrm>
            <a:off x="2762402" y="7623353"/>
            <a:ext cx="48582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HLS (High-Level Structure) 10개 절</a:t>
            </a:r>
            <a:endParaRPr lang="en-US" sz="1425" dirty="0"/>
          </a:p>
        </p:txBody>
      </p:sp>
      <p:sp>
        <p:nvSpPr>
          <p:cNvPr id="24" name="Text 18"/>
          <p:cNvSpPr txBox="1"/>
          <p:nvPr/>
        </p:nvSpPr>
        <p:spPr>
          <a:xfrm>
            <a:off x="1143000" y="7994599"/>
            <a:ext cx="161940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부속서</a:t>
            </a:r>
            <a:endParaRPr lang="en-US" sz="1425" dirty="0"/>
          </a:p>
        </p:txBody>
      </p:sp>
      <p:sp>
        <p:nvSpPr>
          <p:cNvPr id="25" name="Text 19"/>
          <p:cNvSpPr txBox="1"/>
          <p:nvPr/>
        </p:nvSpPr>
        <p:spPr>
          <a:xfrm>
            <a:off x="2762402" y="7994599"/>
            <a:ext cx="48582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Annex A (통제 38개 · 통제목표 9개)</a:t>
            </a:r>
            <a:endParaRPr lang="en-US" sz="1425" dirty="0"/>
          </a:p>
        </p:txBody>
      </p:sp>
      <p:sp>
        <p:nvSpPr>
          <p:cNvPr id="26" name="Text 20"/>
          <p:cNvSpPr txBox="1"/>
          <p:nvPr/>
        </p:nvSpPr>
        <p:spPr>
          <a:xfrm>
            <a:off x="1143000" y="8366760"/>
            <a:ext cx="161940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</a:t>
            </a:r>
            <a:endParaRPr lang="en-US" sz="1425" dirty="0"/>
          </a:p>
        </p:txBody>
      </p:sp>
      <p:sp>
        <p:nvSpPr>
          <p:cNvPr id="27" name="Text 21"/>
          <p:cNvSpPr txBox="1"/>
          <p:nvPr/>
        </p:nvSpPr>
        <p:spPr>
          <a:xfrm>
            <a:off x="2762402" y="8366760"/>
            <a:ext cx="48582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 27001 · 9001과 통합 인증 가능</a:t>
            </a:r>
            <a:endParaRPr lang="en-US" sz="1425" dirty="0"/>
          </a:p>
        </p:txBody>
      </p:sp>
      <p:sp>
        <p:nvSpPr>
          <p:cNvPr id="28" name="Shape 22"/>
          <p:cNvSpPr/>
          <p:nvPr/>
        </p:nvSpPr>
        <p:spPr>
          <a:xfrm>
            <a:off x="1143000" y="8813902"/>
            <a:ext cx="6476695" cy="780898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29" name="Shape 23"/>
          <p:cNvSpPr/>
          <p:nvPr/>
        </p:nvSpPr>
        <p:spPr>
          <a:xfrm>
            <a:off x="1143000" y="8813902"/>
            <a:ext cx="38405" cy="780898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1353312" y="8813902"/>
            <a:ext cx="6267298" cy="7818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39700" rIns="177800" bIns="13970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"AI판 ISO 27001"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보안이 ISO 27001로 관리되듯, AI는 42001로 관리한다. AI를 조직 내부에서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PDCA 사이클로 굴리는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첫 국제표준.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8382305" y="3619195"/>
            <a:ext cx="9144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CLAUSES · HIGH-LEVEL STRUCTURE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8382305" y="3847795"/>
            <a:ext cx="9144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조직에 AIMS를 심는 순서</a:t>
            </a:r>
            <a:endParaRPr lang="en-US" sz="2400" dirty="0"/>
          </a:p>
        </p:txBody>
      </p:sp>
      <p:pic>
        <p:nvPicPr>
          <p:cNvPr id="33" name="Image 3" descr="gen-dedup-08173c94900e9aa2377887198bd5085e.png"/>
          <p:cNvPicPr>
            <a:picLocks noChangeAspect="1"/>
          </p:cNvPicPr>
          <p:nvPr/>
        </p:nvPicPr>
        <p:blipFill>
          <a:blip r:embed="rId6"/>
          <a:srcRect t="-420" b="-420"/>
          <a:stretch/>
        </p:blipFill>
        <p:spPr>
          <a:xfrm>
            <a:off x="8382305" y="4457700"/>
            <a:ext cx="761695" cy="19202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8382305" y="5057546"/>
            <a:ext cx="9144000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382305" y="4724705"/>
            <a:ext cx="4197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§1-3</a:t>
            </a:r>
            <a:endParaRPr lang="en-US" sz="1350" dirty="0"/>
          </a:p>
        </p:txBody>
      </p:sp>
      <p:sp>
        <p:nvSpPr>
          <p:cNvPr id="36" name="Text 29"/>
          <p:cNvSpPr txBox="1"/>
          <p:nvPr/>
        </p:nvSpPr>
        <p:spPr>
          <a:xfrm>
            <a:off x="8934602" y="4724705"/>
            <a:ext cx="2154326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 · 인용 · 용어 · 정의</a:t>
            </a:r>
            <a:endParaRPr lang="en-US" sz="1350" dirty="0"/>
          </a:p>
        </p:txBody>
      </p:sp>
      <p:sp>
        <p:nvSpPr>
          <p:cNvPr id="37" name="Shape 30"/>
          <p:cNvSpPr/>
          <p:nvPr/>
        </p:nvSpPr>
        <p:spPr>
          <a:xfrm>
            <a:off x="8382305" y="5477256"/>
            <a:ext cx="9144000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8382305" y="5143500"/>
            <a:ext cx="4197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§4</a:t>
            </a:r>
            <a:endParaRPr lang="en-US" sz="1350" dirty="0"/>
          </a:p>
        </p:txBody>
      </p:sp>
      <p:sp>
        <p:nvSpPr>
          <p:cNvPr id="39" name="Text 32"/>
          <p:cNvSpPr txBox="1"/>
          <p:nvPr/>
        </p:nvSpPr>
        <p:spPr>
          <a:xfrm>
            <a:off x="8934602" y="5143500"/>
            <a:ext cx="488198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조직의 상황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이해관계자 파악, AI가 조직에 미치는 영향</a:t>
            </a:r>
            <a:endParaRPr lang="en-US" sz="1350" dirty="0"/>
          </a:p>
        </p:txBody>
      </p:sp>
      <p:sp>
        <p:nvSpPr>
          <p:cNvPr id="40" name="Shape 33"/>
          <p:cNvSpPr/>
          <p:nvPr/>
        </p:nvSpPr>
        <p:spPr>
          <a:xfrm>
            <a:off x="8382305" y="5486400"/>
            <a:ext cx="9144000" cy="418795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41" name="Shape 34"/>
          <p:cNvSpPr/>
          <p:nvPr/>
        </p:nvSpPr>
        <p:spPr>
          <a:xfrm>
            <a:off x="8382305" y="5896051"/>
            <a:ext cx="9144000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8382305" y="5562295"/>
            <a:ext cx="4197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§5</a:t>
            </a:r>
            <a:endParaRPr lang="en-US" sz="1350" dirty="0"/>
          </a:p>
        </p:txBody>
      </p:sp>
      <p:sp>
        <p:nvSpPr>
          <p:cNvPr id="43" name="Text 36"/>
          <p:cNvSpPr txBox="1"/>
          <p:nvPr/>
        </p:nvSpPr>
        <p:spPr>
          <a:xfrm>
            <a:off x="8934602" y="5562295"/>
            <a:ext cx="3955694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리더십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최고경영진 책임, AI 정책 수립·공표</a:t>
            </a:r>
            <a:endParaRPr lang="en-US" sz="1350" dirty="0"/>
          </a:p>
        </p:txBody>
      </p:sp>
      <p:sp>
        <p:nvSpPr>
          <p:cNvPr id="44" name="Shape 37"/>
          <p:cNvSpPr/>
          <p:nvPr/>
        </p:nvSpPr>
        <p:spPr>
          <a:xfrm>
            <a:off x="8382305" y="6314846"/>
            <a:ext cx="9144000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8382305" y="5982005"/>
            <a:ext cx="4197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§6</a:t>
            </a:r>
            <a:endParaRPr lang="en-US" sz="1350" dirty="0"/>
          </a:p>
        </p:txBody>
      </p:sp>
      <p:sp>
        <p:nvSpPr>
          <p:cNvPr id="46" name="Text 39"/>
          <p:cNvSpPr txBox="1"/>
          <p:nvPr/>
        </p:nvSpPr>
        <p:spPr>
          <a:xfrm>
            <a:off x="8934602" y="5982005"/>
            <a:ext cx="49725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(Plan)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AI 리스크·기회 식별, 목표 설정, AI 영향평가</a:t>
            </a:r>
            <a:endParaRPr lang="en-US" sz="1350" dirty="0"/>
          </a:p>
        </p:txBody>
      </p:sp>
      <p:sp>
        <p:nvSpPr>
          <p:cNvPr id="47" name="Shape 40"/>
          <p:cNvSpPr/>
          <p:nvPr/>
        </p:nvSpPr>
        <p:spPr>
          <a:xfrm>
            <a:off x="8382305" y="6734556"/>
            <a:ext cx="9144000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8382305" y="6400800"/>
            <a:ext cx="4197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§7</a:t>
            </a:r>
            <a:endParaRPr lang="en-US" sz="1350" dirty="0"/>
          </a:p>
        </p:txBody>
      </p:sp>
      <p:sp>
        <p:nvSpPr>
          <p:cNvPr id="49" name="Text 42"/>
          <p:cNvSpPr txBox="1"/>
          <p:nvPr/>
        </p:nvSpPr>
        <p:spPr>
          <a:xfrm>
            <a:off x="8934602" y="6400800"/>
            <a:ext cx="337962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자원·역량·인식·의사소통·문서화</a:t>
            </a:r>
            <a:endParaRPr lang="en-US" sz="1350" dirty="0"/>
          </a:p>
        </p:txBody>
      </p:sp>
      <p:sp>
        <p:nvSpPr>
          <p:cNvPr id="50" name="Shape 43"/>
          <p:cNvSpPr/>
          <p:nvPr/>
        </p:nvSpPr>
        <p:spPr>
          <a:xfrm>
            <a:off x="8382305" y="6743700"/>
            <a:ext cx="9144000" cy="418795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51" name="Shape 44"/>
          <p:cNvSpPr/>
          <p:nvPr/>
        </p:nvSpPr>
        <p:spPr>
          <a:xfrm>
            <a:off x="8382305" y="7153351"/>
            <a:ext cx="9144000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8382305" y="6819595"/>
            <a:ext cx="4197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§8</a:t>
            </a:r>
            <a:endParaRPr lang="en-US" sz="1350" dirty="0"/>
          </a:p>
        </p:txBody>
      </p:sp>
      <p:sp>
        <p:nvSpPr>
          <p:cNvPr id="53" name="Text 46"/>
          <p:cNvSpPr txBox="1"/>
          <p:nvPr/>
        </p:nvSpPr>
        <p:spPr>
          <a:xfrm>
            <a:off x="8934602" y="6819595"/>
            <a:ext cx="4101998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운용 (Do)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AI 시스템 개발·배포 프로세스 관리</a:t>
            </a:r>
            <a:endParaRPr lang="en-US" sz="1350" dirty="0"/>
          </a:p>
        </p:txBody>
      </p:sp>
      <p:sp>
        <p:nvSpPr>
          <p:cNvPr id="54" name="Shape 47"/>
          <p:cNvSpPr/>
          <p:nvPr/>
        </p:nvSpPr>
        <p:spPr>
          <a:xfrm>
            <a:off x="8382305" y="7572146"/>
            <a:ext cx="9144000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8382305" y="7239305"/>
            <a:ext cx="4197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§9</a:t>
            </a:r>
            <a:endParaRPr lang="en-US" sz="1350" dirty="0"/>
          </a:p>
        </p:txBody>
      </p:sp>
      <p:sp>
        <p:nvSpPr>
          <p:cNvPr id="56" name="Text 49"/>
          <p:cNvSpPr txBox="1"/>
          <p:nvPr/>
        </p:nvSpPr>
        <p:spPr>
          <a:xfrm>
            <a:off x="8934602" y="7239305"/>
            <a:ext cx="4799686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평가 (Check)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모니터링·측정·내부 감사·경영검토</a:t>
            </a:r>
            <a:endParaRPr lang="en-US" sz="1350" dirty="0"/>
          </a:p>
        </p:txBody>
      </p:sp>
      <p:sp>
        <p:nvSpPr>
          <p:cNvPr id="57" name="Shape 50"/>
          <p:cNvSpPr/>
          <p:nvPr/>
        </p:nvSpPr>
        <p:spPr>
          <a:xfrm>
            <a:off x="8382305" y="7991856"/>
            <a:ext cx="9144000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58" name="Text 51"/>
          <p:cNvSpPr txBox="1"/>
          <p:nvPr/>
        </p:nvSpPr>
        <p:spPr>
          <a:xfrm>
            <a:off x="8382305" y="7658100"/>
            <a:ext cx="4197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§10</a:t>
            </a:r>
            <a:endParaRPr lang="en-US" sz="1350" dirty="0"/>
          </a:p>
        </p:txBody>
      </p:sp>
      <p:sp>
        <p:nvSpPr>
          <p:cNvPr id="59" name="Text 52"/>
          <p:cNvSpPr txBox="1"/>
          <p:nvPr/>
        </p:nvSpPr>
        <p:spPr>
          <a:xfrm>
            <a:off x="8934602" y="7658100"/>
            <a:ext cx="3729838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(Act)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부적합·시정조치·지속적 개선</a:t>
            </a:r>
            <a:endParaRPr lang="en-US" sz="1350" dirty="0"/>
          </a:p>
        </p:txBody>
      </p:sp>
      <p:sp>
        <p:nvSpPr>
          <p:cNvPr id="60" name="Text 53"/>
          <p:cNvSpPr txBox="1"/>
          <p:nvPr/>
        </p:nvSpPr>
        <p:spPr>
          <a:xfrm>
            <a:off x="8382305" y="8076895"/>
            <a:ext cx="7242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Annex A</a:t>
            </a:r>
            <a:endParaRPr lang="en-US" sz="1350" dirty="0"/>
          </a:p>
        </p:txBody>
      </p:sp>
      <p:sp>
        <p:nvSpPr>
          <p:cNvPr id="61" name="Text 54"/>
          <p:cNvSpPr txBox="1"/>
          <p:nvPr/>
        </p:nvSpPr>
        <p:spPr>
          <a:xfrm>
            <a:off x="9235440" y="8076895"/>
            <a:ext cx="56583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38개 통제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9개 통제목표(A.2–A.10) 아래의 AI 특유 리스크 제어 항목</a:t>
            </a:r>
            <a:endParaRPr lang="en-US" sz="1350" dirty="0"/>
          </a:p>
        </p:txBody>
      </p:sp>
      <p:sp>
        <p:nvSpPr>
          <p:cNvPr id="62" name="Shape 55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63" name="Text 56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 / 43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4381805"/>
            <a:ext cx="3276295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4381805"/>
            <a:ext cx="3276295" cy="576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4153205" y="4381805"/>
            <a:ext cx="3276295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153205" y="4381805"/>
            <a:ext cx="3276295" cy="576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543800" y="4381805"/>
            <a:ext cx="3276295" cy="4953305"/>
          </a:xfrm>
          <a:prstGeom prst="rect">
            <a:avLst/>
          </a:prstGeom>
          <a:solidFill>
            <a:srgbClr val="E6F1EA"/>
          </a:solidFill>
          <a:ln w="12700">
            <a:solidFill>
              <a:srgbClr val="036B3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543800" y="4381805"/>
            <a:ext cx="3276295" cy="57607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934395" y="4381805"/>
            <a:ext cx="3276295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934395" y="4381805"/>
            <a:ext cx="3276295" cy="576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4325905" y="4381805"/>
            <a:ext cx="3276295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4325905" y="4381805"/>
            <a:ext cx="3276295" cy="576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14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761695" y="1143000"/>
            <a:ext cx="1666951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61695" y="1143000"/>
            <a:ext cx="16669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· 국제표준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5단계 AI 표준 스택</a:t>
            </a:r>
            <a:endParaRPr lang="en-US" sz="5400" dirty="0"/>
          </a:p>
        </p:txBody>
      </p:sp>
      <p:sp>
        <p:nvSpPr>
          <p:cNvPr id="19" name="Text 14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The Five-Stage Map of AI Standards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761695" y="3524098"/>
            <a:ext cx="16764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SC 42의 표준들은 조직이 AI를 도입할 때 밟는 </a:t>
            </a: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5단계 여정</a:t>
            </a:r>
            <a:r>
              <a:rPr lang="en-US" sz="195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에 맞춰 배치 가능</a:t>
            </a:r>
            <a:endParaRPr lang="en-US" sz="1950" dirty="0"/>
          </a:p>
        </p:txBody>
      </p:sp>
      <p:sp>
        <p:nvSpPr>
          <p:cNvPr id="21" name="Text 16"/>
          <p:cNvSpPr txBox="1"/>
          <p:nvPr/>
        </p:nvSpPr>
        <p:spPr>
          <a:xfrm>
            <a:off x="952805" y="4667098"/>
            <a:ext cx="28959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STAGE 1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952805" y="4895698"/>
            <a:ext cx="289590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준비</a:t>
            </a:r>
            <a:endParaRPr lang="en-US" sz="2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8A8A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언어 통일</a:t>
            </a:r>
            <a:endParaRPr lang="en-US" sz="2400" dirty="0"/>
          </a:p>
        </p:txBody>
      </p:sp>
      <p:pic>
        <p:nvPicPr>
          <p:cNvPr id="23" name="Image 2" descr="gen-dedup-e1c269e30e576df964e2a3ec780fd27a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952805" y="5718658"/>
            <a:ext cx="571500" cy="192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52805" y="5857646"/>
            <a:ext cx="2895905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22989</a:t>
            </a:r>
            <a:endParaRPr lang="en-US" sz="1275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개념·용어 (2022)</a:t>
            </a:r>
            <a:endParaRPr lang="en-US" sz="1275" dirty="0"/>
          </a:p>
        </p:txBody>
      </p:sp>
      <p:sp>
        <p:nvSpPr>
          <p:cNvPr id="25" name="Text 19"/>
          <p:cNvSpPr txBox="1"/>
          <p:nvPr/>
        </p:nvSpPr>
        <p:spPr>
          <a:xfrm>
            <a:off x="952805" y="6509614"/>
            <a:ext cx="2895905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23053</a:t>
            </a:r>
            <a:endParaRPr lang="en-US" sz="1275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 시스템 프레임워크 (2022)</a:t>
            </a:r>
            <a:endParaRPr lang="en-US" sz="1275" dirty="0"/>
          </a:p>
        </p:txBody>
      </p:sp>
      <p:sp>
        <p:nvSpPr>
          <p:cNvPr id="26" name="Text 20"/>
          <p:cNvSpPr txBox="1"/>
          <p:nvPr/>
        </p:nvSpPr>
        <p:spPr>
          <a:xfrm>
            <a:off x="952805" y="7250278"/>
            <a:ext cx="2895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"우리가 말하는 AI가 정확히 뭔가?" 조직 내 공통 용어부터 확립.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4343400" y="4667098"/>
            <a:ext cx="28959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STAGE 2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4343400" y="4895698"/>
            <a:ext cx="289590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방향</a:t>
            </a:r>
            <a:endParaRPr lang="en-US" sz="2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8A8A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거버넌스</a:t>
            </a:r>
            <a:endParaRPr lang="en-US" sz="2400" dirty="0"/>
          </a:p>
        </p:txBody>
      </p:sp>
      <p:pic>
        <p:nvPicPr>
          <p:cNvPr id="29" name="Image 3" descr="gen-dedup-e1c269e30e576df964e2a3ec780fd27a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4343400" y="5718658"/>
            <a:ext cx="571500" cy="1920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343400" y="5857646"/>
            <a:ext cx="2895905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38507</a:t>
            </a:r>
            <a:endParaRPr lang="en-US" sz="1275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조직의 AI 사용 거버넌스 (2022)</a:t>
            </a:r>
            <a:endParaRPr lang="en-US" sz="1275" dirty="0"/>
          </a:p>
        </p:txBody>
      </p:sp>
      <p:sp>
        <p:nvSpPr>
          <p:cNvPr id="31" name="Text 24"/>
          <p:cNvSpPr txBox="1"/>
          <p:nvPr/>
        </p:nvSpPr>
        <p:spPr>
          <a:xfrm>
            <a:off x="4343400" y="6598310"/>
            <a:ext cx="2895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"이사회가 무엇을 결정해야 하는가?" AI 도입은 최고경영진 책임.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7733995" y="4667098"/>
            <a:ext cx="28959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50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STAGE 3 ★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7733995" y="4895698"/>
            <a:ext cx="289590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시스템</a:t>
            </a:r>
            <a:endParaRPr lang="en-US" sz="2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8A8A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경영시스템</a:t>
            </a:r>
            <a:endParaRPr lang="en-US" sz="2400" dirty="0"/>
          </a:p>
        </p:txBody>
      </p:sp>
      <p:pic>
        <p:nvPicPr>
          <p:cNvPr id="34" name="Image 4" descr="gen-dedup-e1c269e30e576df964e2a3ec780fd27a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7733995" y="5718658"/>
            <a:ext cx="571500" cy="1920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733995" y="5857646"/>
            <a:ext cx="2895905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42001</a:t>
            </a:r>
            <a:endParaRPr lang="en-US" sz="1275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경영시스템 (2023)</a:t>
            </a:r>
            <a:endParaRPr lang="en-US" sz="1275" dirty="0"/>
          </a:p>
        </p:txBody>
      </p:sp>
      <p:sp>
        <p:nvSpPr>
          <p:cNvPr id="36" name="Text 28"/>
          <p:cNvSpPr txBox="1"/>
          <p:nvPr/>
        </p:nvSpPr>
        <p:spPr>
          <a:xfrm>
            <a:off x="7733995" y="6509614"/>
            <a:ext cx="2895905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25059</a:t>
            </a:r>
            <a:endParaRPr lang="en-US" sz="1275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시스템 품질 모델 (2023)</a:t>
            </a:r>
            <a:endParaRPr lang="en-US" sz="1275" dirty="0"/>
          </a:p>
        </p:txBody>
      </p:sp>
      <p:sp>
        <p:nvSpPr>
          <p:cNvPr id="37" name="Text 29"/>
          <p:cNvSpPr txBox="1"/>
          <p:nvPr/>
        </p:nvSpPr>
        <p:spPr>
          <a:xfrm>
            <a:off x="7733995" y="7250278"/>
            <a:ext cx="2895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"우리 조직에 AI 관리를 어떻게 심는가?" PDCA 사이클 구축.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11125505" y="4667098"/>
            <a:ext cx="28959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STAGE 4</a:t>
            </a:r>
            <a:endParaRPr lang="en-US" sz="1050" dirty="0"/>
          </a:p>
        </p:txBody>
      </p:sp>
      <p:sp>
        <p:nvSpPr>
          <p:cNvPr id="39" name="Text 31"/>
          <p:cNvSpPr txBox="1"/>
          <p:nvPr/>
        </p:nvSpPr>
        <p:spPr>
          <a:xfrm>
            <a:off x="11125505" y="4895698"/>
            <a:ext cx="289590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실행</a:t>
            </a:r>
            <a:endParaRPr lang="en-US" sz="2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8A8A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운영·관리</a:t>
            </a:r>
            <a:endParaRPr lang="en-US" sz="2400" dirty="0"/>
          </a:p>
        </p:txBody>
      </p:sp>
      <p:pic>
        <p:nvPicPr>
          <p:cNvPr id="40" name="Image 5" descr="gen-dedup-e1c269e30e576df964e2a3ec780fd27a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125505" y="5718658"/>
            <a:ext cx="571500" cy="1920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1125505" y="5889650"/>
            <a:ext cx="28959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5259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데이터 품질</a:t>
            </a:r>
            <a:endParaRPr lang="en-US" sz="1200" dirty="0"/>
          </a:p>
        </p:txBody>
      </p:sp>
      <p:sp>
        <p:nvSpPr>
          <p:cNvPr id="42" name="Text 33"/>
          <p:cNvSpPr txBox="1"/>
          <p:nvPr/>
        </p:nvSpPr>
        <p:spPr>
          <a:xfrm>
            <a:off x="11125505" y="6221578"/>
            <a:ext cx="28959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23894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리스크 관리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11125505" y="6552590"/>
            <a:ext cx="28959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27090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AI 보안 지침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11125505" y="6884518"/>
            <a:ext cx="28959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27091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AI 프라이버시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11125505" y="7310628"/>
            <a:ext cx="31903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42001을 실제 굴릴 때 필요한 도구 상자.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14516100" y="4667098"/>
            <a:ext cx="28959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STAGE 5</a:t>
            </a:r>
            <a:endParaRPr lang="en-US" sz="1050" dirty="0"/>
          </a:p>
        </p:txBody>
      </p:sp>
      <p:sp>
        <p:nvSpPr>
          <p:cNvPr id="47" name="Text 38"/>
          <p:cNvSpPr txBox="1"/>
          <p:nvPr/>
        </p:nvSpPr>
        <p:spPr>
          <a:xfrm>
            <a:off x="14516100" y="4895698"/>
            <a:ext cx="289590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검증</a:t>
            </a:r>
            <a:endParaRPr lang="en-US" sz="2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8A8A8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신뢰성 평가</a:t>
            </a:r>
            <a:endParaRPr lang="en-US" sz="2400" dirty="0"/>
          </a:p>
        </p:txBody>
      </p:sp>
      <p:pic>
        <p:nvPicPr>
          <p:cNvPr id="48" name="Image 6" descr="gen-dedup-e1c269e30e576df964e2a3ec780fd27a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4516100" y="5718658"/>
            <a:ext cx="571500" cy="19202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14516100" y="5857646"/>
            <a:ext cx="2895905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TR 24028</a:t>
            </a:r>
            <a:endParaRPr lang="en-US" sz="1275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 개요 (2020)</a:t>
            </a:r>
            <a:endParaRPr lang="en-US" sz="1275" dirty="0"/>
          </a:p>
        </p:txBody>
      </p:sp>
      <p:sp>
        <p:nvSpPr>
          <p:cNvPr id="50" name="Text 40"/>
          <p:cNvSpPr txBox="1"/>
          <p:nvPr/>
        </p:nvSpPr>
        <p:spPr>
          <a:xfrm>
            <a:off x="14516100" y="6490411"/>
            <a:ext cx="2895905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24029-1/2</a:t>
            </a:r>
            <a:endParaRPr lang="en-US" sz="1275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견고성 평가 방법</a:t>
            </a:r>
            <a:endParaRPr lang="en-US" sz="1275" dirty="0"/>
          </a:p>
        </p:txBody>
      </p:sp>
      <p:sp>
        <p:nvSpPr>
          <p:cNvPr id="51" name="Text 41"/>
          <p:cNvSpPr txBox="1"/>
          <p:nvPr/>
        </p:nvSpPr>
        <p:spPr>
          <a:xfrm>
            <a:off x="14516100" y="7231075"/>
            <a:ext cx="2895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후 지속 검증. 편향·견고성·설명가능성 측정.</a:t>
            </a:r>
            <a:endParaRPr lang="en-US" sz="1200" dirty="0"/>
          </a:p>
        </p:txBody>
      </p:sp>
      <p:sp>
        <p:nvSpPr>
          <p:cNvPr id="52" name="Shape 42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53" name="Text 43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 / 43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4000500"/>
            <a:ext cx="16763695" cy="1429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4000500"/>
            <a:ext cx="75895" cy="14292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61695" y="5619902"/>
            <a:ext cx="16763695" cy="1714500"/>
          </a:xfrm>
          <a:prstGeom prst="rect">
            <a:avLst/>
          </a:prstGeom>
          <a:solidFill>
            <a:srgbClr val="E6F1EA"/>
          </a:solidFill>
          <a:ln w="12700">
            <a:solidFill>
              <a:srgbClr val="036B3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61695" y="5619902"/>
            <a:ext cx="75895" cy="17145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61695" y="7524598"/>
            <a:ext cx="16763695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61695" y="7524598"/>
            <a:ext cx="75895" cy="1714500"/>
          </a:xfrm>
          <a:prstGeom prst="rect">
            <a:avLst/>
          </a:prstGeom>
          <a:solidFill>
            <a:srgbClr val="024A2C"/>
          </a:solidFill>
          <a:ln w="12700">
            <a:solidFill>
              <a:srgbClr val="024A2C">
                <a:alpha val="0"/>
              </a:srgbClr>
            </a:solidFill>
            <a:prstDash val="solid"/>
          </a:ln>
        </p:spPr>
      </p:sp>
      <p:pic>
        <p:nvPicPr>
          <p:cNvPr id="10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857500"/>
            <a:ext cx="761695" cy="2834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761695" y="1143000"/>
            <a:ext cx="2438705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61695" y="1143000"/>
            <a:ext cx="2438705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06B · 후반부 미리보기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1619402"/>
            <a:ext cx="16764610" cy="876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법과 표준 다음 · 기술과 연구로 가는 길</a:t>
            </a:r>
            <a:endParaRPr lang="en-US" sz="48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2572207"/>
            <a:ext cx="16764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What Comes After Law and Standards · Weeks 9–16</a:t>
            </a:r>
            <a:endParaRPr lang="en-US" sz="1950" dirty="0"/>
          </a:p>
        </p:txBody>
      </p:sp>
      <p:sp>
        <p:nvSpPr>
          <p:cNvPr id="16" name="Text 11"/>
          <p:cNvSpPr txBox="1"/>
          <p:nvPr/>
        </p:nvSpPr>
        <p:spPr>
          <a:xfrm>
            <a:off x="761695" y="3238805"/>
            <a:ext cx="16764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여기까지가 </a:t>
            </a: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법(3–6주)</a:t>
            </a: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국제표준(11주 예고)</a:t>
            </a: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이제 남은 질문은 </a:t>
            </a:r>
            <a:r>
              <a:rPr lang="en-US" sz="18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"그래서 무엇으로 구현하고, 무엇을 연구하는가"</a:t>
            </a: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4267505"/>
            <a:ext cx="23820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1 · WEEK 1–8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4476902"/>
            <a:ext cx="2382012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법 · 무엇을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3866998" y="4677156"/>
            <a:ext cx="6143854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— Case Study 1(7주) · 중간고사(8주)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3866998" y="4334256"/>
            <a:ext cx="404713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AI Act · 한국 AI 기본법 · 국내 관련 법.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7284110" y="4334256"/>
            <a:ext cx="207203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규범이 요구하는 결과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968435" y="4334256"/>
            <a:ext cx="13405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읽는 단계.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1143000" y="5867705"/>
            <a:ext cx="23820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2 · WEEK 9–11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1143000" y="6077102"/>
            <a:ext cx="2382012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실행 · 어떻게</a:t>
            </a:r>
            <a:endParaRPr lang="en-US" sz="2400" dirty="0"/>
          </a:p>
        </p:txBody>
      </p:sp>
      <p:sp>
        <p:nvSpPr>
          <p:cNvPr id="28" name="Text 23"/>
          <p:cNvSpPr txBox="1"/>
          <p:nvPr/>
        </p:nvSpPr>
        <p:spPr>
          <a:xfrm>
            <a:off x="3866998" y="5934456"/>
            <a:ext cx="146852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9주 가이드라인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5084978" y="5934456"/>
            <a:ext cx="323149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법 조문을 실무 절차로 번역. ·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7759598" y="5934456"/>
            <a:ext cx="192024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10주 거버넌스 기술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9317736" y="5934456"/>
            <a:ext cx="40773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표시·설명·편향탐지·감사를 실제 구현. ·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2907670" y="5934456"/>
            <a:ext cx="1392631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11주 국제표준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14061643" y="5934456"/>
            <a:ext cx="326532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ISO/IEC 42001로 조직에 심기.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1143000" y="7772400"/>
            <a:ext cx="23820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24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3 · WEEK 12–16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1143000" y="7981798"/>
            <a:ext cx="2760574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연구 · 왜 그런가</a:t>
            </a:r>
            <a:endParaRPr lang="en-US" sz="2400" dirty="0"/>
          </a:p>
        </p:txBody>
      </p:sp>
      <p:sp>
        <p:nvSpPr>
          <p:cNvPr id="36" name="Text 31"/>
          <p:cNvSpPr txBox="1"/>
          <p:nvPr/>
        </p:nvSpPr>
        <p:spPr>
          <a:xfrm>
            <a:off x="3866998" y="8201254"/>
            <a:ext cx="951616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— Case Study 2(15주) · </a:t>
            </a:r>
            <a:r>
              <a:rPr lang="en-US" sz="13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소논문(16주 · 12.17)</a:t>
            </a: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과목명의 "연구방법론"이 실현되는 구간.</a:t>
            </a:r>
            <a:endParaRPr lang="en-US" sz="1350" dirty="0"/>
          </a:p>
        </p:txBody>
      </p:sp>
      <p:sp>
        <p:nvSpPr>
          <p:cNvPr id="37" name="Text 32"/>
          <p:cNvSpPr txBox="1"/>
          <p:nvPr/>
        </p:nvSpPr>
        <p:spPr>
          <a:xfrm>
            <a:off x="3866998" y="7839151"/>
            <a:ext cx="159562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12주 연구방법론</a:t>
            </a:r>
            <a:endParaRPr lang="en-US" sz="1500" dirty="0"/>
          </a:p>
        </p:txBody>
      </p:sp>
      <p:sp>
        <p:nvSpPr>
          <p:cNvPr id="38" name="Text 33"/>
          <p:cNvSpPr txBox="1"/>
          <p:nvPr/>
        </p:nvSpPr>
        <p:spPr>
          <a:xfrm>
            <a:off x="5196535" y="7839151"/>
            <a:ext cx="211226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연구문제 세우기. ·</a:t>
            </a:r>
            <a:endParaRPr lang="en-US" sz="1500" dirty="0"/>
          </a:p>
        </p:txBody>
      </p:sp>
      <p:sp>
        <p:nvSpPr>
          <p:cNvPr id="39" name="Text 34"/>
          <p:cNvSpPr txBox="1"/>
          <p:nvPr/>
        </p:nvSpPr>
        <p:spPr>
          <a:xfrm>
            <a:off x="7010705" y="7839151"/>
            <a:ext cx="1392631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13주 선행연구</a:t>
            </a:r>
            <a:endParaRPr lang="en-US" sz="1500" dirty="0"/>
          </a:p>
        </p:txBody>
      </p:sp>
      <p:sp>
        <p:nvSpPr>
          <p:cNvPr id="40" name="Text 35"/>
          <p:cNvSpPr txBox="1"/>
          <p:nvPr/>
        </p:nvSpPr>
        <p:spPr>
          <a:xfrm>
            <a:off x="8164678" y="7839151"/>
            <a:ext cx="28200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문헌을 비판적으로 읽기. ·</a:t>
            </a:r>
            <a:endParaRPr lang="en-US" sz="1500" dirty="0"/>
          </a:p>
        </p:txBody>
      </p:sp>
      <p:sp>
        <p:nvSpPr>
          <p:cNvPr id="41" name="Text 36"/>
          <p:cNvSpPr txBox="1"/>
          <p:nvPr/>
        </p:nvSpPr>
        <p:spPr>
          <a:xfrm>
            <a:off x="10557662" y="7839151"/>
            <a:ext cx="1392631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14주 실무사례</a:t>
            </a:r>
            <a:endParaRPr lang="en-US" sz="1500" dirty="0"/>
          </a:p>
        </p:txBody>
      </p:sp>
      <p:sp>
        <p:nvSpPr>
          <p:cNvPr id="42" name="Text 37"/>
          <p:cNvSpPr txBox="1"/>
          <p:nvPr/>
        </p:nvSpPr>
        <p:spPr>
          <a:xfrm>
            <a:off x="11712550" y="7839151"/>
            <a:ext cx="198516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분야별 적용 분석.</a:t>
            </a:r>
            <a:endParaRPr lang="en-US" sz="1500" dirty="0"/>
          </a:p>
        </p:txBody>
      </p:sp>
      <p:sp>
        <p:nvSpPr>
          <p:cNvPr id="43" name="Shape 38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35 / 43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3924605"/>
            <a:ext cx="3238805" cy="28190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3924605"/>
            <a:ext cx="32388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4238244" y="3924605"/>
            <a:ext cx="3238805" cy="28190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238244" y="3924605"/>
            <a:ext cx="32388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15707" y="3924605"/>
            <a:ext cx="3238805" cy="2819095"/>
          </a:xfrm>
          <a:prstGeom prst="rect">
            <a:avLst/>
          </a:prstGeom>
          <a:solidFill>
            <a:srgbClr val="E6F1EA"/>
          </a:solidFill>
          <a:ln w="12700">
            <a:solidFill>
              <a:srgbClr val="036B3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715707" y="3924605"/>
            <a:ext cx="3238805" cy="47549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192256" y="3924605"/>
            <a:ext cx="3238805" cy="28190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92256" y="3924605"/>
            <a:ext cx="32388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4668805" y="3924605"/>
            <a:ext cx="2857500" cy="28190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4668805" y="3924605"/>
            <a:ext cx="2857500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1695" y="7048195"/>
            <a:ext cx="109535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61695" y="7048195"/>
            <a:ext cx="57607" cy="2286000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2001500" y="7048195"/>
            <a:ext cx="5524805" cy="2286000"/>
          </a:xfrm>
          <a:prstGeom prst="rect">
            <a:avLst/>
          </a:prstGeom>
          <a:solidFill>
            <a:srgbClr val="E6F1EA"/>
          </a:solidFill>
          <a:ln w="12700">
            <a:solidFill>
              <a:srgbClr val="036B3F"/>
            </a:solidFill>
            <a:prstDash val="solid"/>
          </a:ln>
        </p:spPr>
      </p:sp>
      <p:pic>
        <p:nvPicPr>
          <p:cNvPr id="17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857500"/>
            <a:ext cx="761695" cy="2834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761695" y="1143000"/>
            <a:ext cx="1895551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61695" y="1143000"/>
            <a:ext cx="18955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09주차 · 10.29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761695" y="1619402"/>
            <a:ext cx="16764610" cy="8485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가이드라인 · 법이 실제로 작동하는 방식</a:t>
            </a:r>
            <a:endParaRPr lang="en-US" sz="4650" dirty="0"/>
          </a:p>
        </p:txBody>
      </p:sp>
      <p:sp>
        <p:nvSpPr>
          <p:cNvPr id="22" name="Text 17"/>
          <p:cNvSpPr txBox="1"/>
          <p:nvPr/>
        </p:nvSpPr>
        <p:spPr>
          <a:xfrm>
            <a:off x="761695" y="2542946"/>
            <a:ext cx="16764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Week 9 · Guidelines · How the Act Actually Operates</a:t>
            </a:r>
            <a:endParaRPr lang="en-US" sz="1950" dirty="0"/>
          </a:p>
        </p:txBody>
      </p:sp>
      <p:sp>
        <p:nvSpPr>
          <p:cNvPr id="23" name="Text 18"/>
          <p:cNvSpPr txBox="1"/>
          <p:nvPr/>
        </p:nvSpPr>
        <p:spPr>
          <a:xfrm>
            <a:off x="761695" y="3200400"/>
            <a:ext cx="167646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법률 조문(43조)은 </a:t>
            </a:r>
            <a:r>
              <a:rPr lang="en-US" sz="16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"무엇을 해야 한다"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까지만 말한다. </a:t>
            </a:r>
            <a:r>
              <a:rPr lang="en-US" sz="16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가이드라인 5종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</a:t>
            </a:r>
            <a:r>
              <a:rPr lang="en-US" sz="16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"어떻게 해야 하는가"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채운다 — 법 시행(2026.1.22)과 함께 공개, 이후 계속 보완 중.</a:t>
            </a:r>
            <a:endParaRPr lang="en-US" sz="1650" dirty="0"/>
          </a:p>
        </p:txBody>
      </p:sp>
      <p:sp>
        <p:nvSpPr>
          <p:cNvPr id="24" name="Text 19"/>
          <p:cNvSpPr txBox="1"/>
          <p:nvPr/>
        </p:nvSpPr>
        <p:spPr>
          <a:xfrm>
            <a:off x="1009498" y="4153205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GUIDELINE 01</a:t>
            </a:r>
            <a:endParaRPr lang="en-US" sz="975" dirty="0"/>
          </a:p>
        </p:txBody>
      </p:sp>
      <p:sp>
        <p:nvSpPr>
          <p:cNvPr id="25" name="Text 20"/>
          <p:cNvSpPr txBox="1"/>
          <p:nvPr/>
        </p:nvSpPr>
        <p:spPr>
          <a:xfrm>
            <a:off x="1009498" y="4371746"/>
            <a:ext cx="27432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투명성 확보</a:t>
            </a:r>
            <a:endParaRPr lang="en-US" sz="1950" dirty="0"/>
          </a:p>
        </p:txBody>
      </p:sp>
      <p:sp>
        <p:nvSpPr>
          <p:cNvPr id="26" name="Text 21"/>
          <p:cNvSpPr txBox="1"/>
          <p:nvPr/>
        </p:nvSpPr>
        <p:spPr>
          <a:xfrm>
            <a:off x="1009498" y="4707331"/>
            <a:ext cx="27432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§31 이행</a:t>
            </a:r>
            <a:endParaRPr lang="en-US" sz="1125" dirty="0"/>
          </a:p>
        </p:txBody>
      </p:sp>
      <p:sp>
        <p:nvSpPr>
          <p:cNvPr id="27" name="Text 22"/>
          <p:cNvSpPr txBox="1"/>
          <p:nvPr/>
        </p:nvSpPr>
        <p:spPr>
          <a:xfrm>
            <a:off x="1009498" y="5002682"/>
            <a:ext cx="27432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결과물 표시 방법.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내부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UI·로고 등 유연한 표시,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반출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워터마크·메타데이터로 엄격한 표시.</a:t>
            </a:r>
            <a:endParaRPr lang="en-US" sz="1275" dirty="0"/>
          </a:p>
        </p:txBody>
      </p:sp>
      <p:sp>
        <p:nvSpPr>
          <p:cNvPr id="28" name="Text 23"/>
          <p:cNvSpPr txBox="1"/>
          <p:nvPr/>
        </p:nvSpPr>
        <p:spPr>
          <a:xfrm>
            <a:off x="4486046" y="4153205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GUIDELINE 02</a:t>
            </a:r>
            <a:endParaRPr lang="en-US" sz="975" dirty="0"/>
          </a:p>
        </p:txBody>
      </p:sp>
      <p:sp>
        <p:nvSpPr>
          <p:cNvPr id="29" name="Text 24"/>
          <p:cNvSpPr txBox="1"/>
          <p:nvPr/>
        </p:nvSpPr>
        <p:spPr>
          <a:xfrm>
            <a:off x="4486046" y="4371746"/>
            <a:ext cx="27432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안전성 확보</a:t>
            </a:r>
            <a:endParaRPr lang="en-US" sz="1950" dirty="0"/>
          </a:p>
        </p:txBody>
      </p:sp>
      <p:sp>
        <p:nvSpPr>
          <p:cNvPr id="30" name="Text 25"/>
          <p:cNvSpPr txBox="1"/>
          <p:nvPr/>
        </p:nvSpPr>
        <p:spPr>
          <a:xfrm>
            <a:off x="4486046" y="4707331"/>
            <a:ext cx="27432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§32 이행</a:t>
            </a:r>
            <a:endParaRPr lang="en-US" sz="1125" dirty="0"/>
          </a:p>
        </p:txBody>
      </p:sp>
      <p:sp>
        <p:nvSpPr>
          <p:cNvPr id="31" name="Text 26"/>
          <p:cNvSpPr txBox="1"/>
          <p:nvPr/>
        </p:nvSpPr>
        <p:spPr>
          <a:xfrm>
            <a:off x="4486046" y="5002682"/>
            <a:ext cx="27432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규모 이상 사업자의 위험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식별·평가·완화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절차, 안전사고 모니터링·대응 체계, 이행결과 제출 방법.</a:t>
            </a:r>
            <a:endParaRPr lang="en-US" sz="1275" dirty="0"/>
          </a:p>
        </p:txBody>
      </p:sp>
      <p:sp>
        <p:nvSpPr>
          <p:cNvPr id="32" name="Text 27"/>
          <p:cNvSpPr txBox="1"/>
          <p:nvPr/>
        </p:nvSpPr>
        <p:spPr>
          <a:xfrm>
            <a:off x="7962595" y="4153205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GUIDELINE 03 ★</a:t>
            </a:r>
            <a:endParaRPr lang="en-US" sz="975" dirty="0"/>
          </a:p>
        </p:txBody>
      </p:sp>
      <p:sp>
        <p:nvSpPr>
          <p:cNvPr id="33" name="Text 28"/>
          <p:cNvSpPr txBox="1"/>
          <p:nvPr/>
        </p:nvSpPr>
        <p:spPr>
          <a:xfrm>
            <a:off x="7962595" y="4371746"/>
            <a:ext cx="27432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고영향 AI 확인</a:t>
            </a:r>
            <a:endParaRPr lang="en-US" sz="1950" dirty="0"/>
          </a:p>
        </p:txBody>
      </p:sp>
      <p:sp>
        <p:nvSpPr>
          <p:cNvPr id="34" name="Text 29"/>
          <p:cNvSpPr txBox="1"/>
          <p:nvPr/>
        </p:nvSpPr>
        <p:spPr>
          <a:xfrm>
            <a:off x="7962595" y="4707331"/>
            <a:ext cx="27432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§33 이행</a:t>
            </a:r>
            <a:endParaRPr lang="en-US" sz="1125" dirty="0"/>
          </a:p>
        </p:txBody>
      </p:sp>
      <p:sp>
        <p:nvSpPr>
          <p:cNvPr id="35" name="Text 30"/>
          <p:cNvSpPr txBox="1"/>
          <p:nvPr/>
        </p:nvSpPr>
        <p:spPr>
          <a:xfrm>
            <a:off x="7962595" y="5002682"/>
            <a:ext cx="27432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파급이 가장 큰 문서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의료기기·에너지·교통·채용·대출심사·공공서비스·학생평가 해당 여부 판단.</a:t>
            </a:r>
            <a:endParaRPr lang="en-US" sz="1275" dirty="0"/>
          </a:p>
        </p:txBody>
      </p:sp>
      <p:sp>
        <p:nvSpPr>
          <p:cNvPr id="36" name="Text 31"/>
          <p:cNvSpPr txBox="1"/>
          <p:nvPr/>
        </p:nvSpPr>
        <p:spPr>
          <a:xfrm>
            <a:off x="11439144" y="4153205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GUIDELINE 04</a:t>
            </a:r>
            <a:endParaRPr lang="en-US" sz="975" dirty="0"/>
          </a:p>
        </p:txBody>
      </p:sp>
      <p:sp>
        <p:nvSpPr>
          <p:cNvPr id="37" name="Text 32"/>
          <p:cNvSpPr txBox="1"/>
          <p:nvPr/>
        </p:nvSpPr>
        <p:spPr>
          <a:xfrm>
            <a:off x="11439144" y="4371746"/>
            <a:ext cx="27432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사업자 책무</a:t>
            </a:r>
            <a:endParaRPr lang="en-US" sz="1950" dirty="0"/>
          </a:p>
        </p:txBody>
      </p:sp>
      <p:sp>
        <p:nvSpPr>
          <p:cNvPr id="38" name="Text 33"/>
          <p:cNvSpPr txBox="1"/>
          <p:nvPr/>
        </p:nvSpPr>
        <p:spPr>
          <a:xfrm>
            <a:off x="11439144" y="4707331"/>
            <a:ext cx="27432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§34 이행</a:t>
            </a:r>
            <a:endParaRPr lang="en-US" sz="1125" dirty="0"/>
          </a:p>
        </p:txBody>
      </p:sp>
      <p:sp>
        <p:nvSpPr>
          <p:cNvPr id="39" name="Text 34"/>
          <p:cNvSpPr txBox="1"/>
          <p:nvPr/>
        </p:nvSpPr>
        <p:spPr>
          <a:xfrm>
            <a:off x="11439144" y="5002682"/>
            <a:ext cx="27432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위험관리 방안 · 결과 설명 방안 · 이용자 보호 방안 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사람의 관리·감독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체계를 문서로 갖추는 절차.</a:t>
            </a:r>
            <a:endParaRPr lang="en-US" sz="1275" dirty="0"/>
          </a:p>
        </p:txBody>
      </p:sp>
      <p:sp>
        <p:nvSpPr>
          <p:cNvPr id="40" name="Text 35"/>
          <p:cNvSpPr txBox="1"/>
          <p:nvPr/>
        </p:nvSpPr>
        <p:spPr>
          <a:xfrm>
            <a:off x="14916607" y="4153205"/>
            <a:ext cx="2382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GUIDELINE 05</a:t>
            </a:r>
            <a:endParaRPr lang="en-US" sz="975" dirty="0"/>
          </a:p>
        </p:txBody>
      </p:sp>
      <p:sp>
        <p:nvSpPr>
          <p:cNvPr id="41" name="Text 36"/>
          <p:cNvSpPr txBox="1"/>
          <p:nvPr/>
        </p:nvSpPr>
        <p:spPr>
          <a:xfrm>
            <a:off x="14916607" y="4371746"/>
            <a:ext cx="23820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영향평가</a:t>
            </a:r>
            <a:endParaRPr lang="en-US" sz="1950" dirty="0"/>
          </a:p>
        </p:txBody>
      </p:sp>
      <p:sp>
        <p:nvSpPr>
          <p:cNvPr id="42" name="Text 37"/>
          <p:cNvSpPr txBox="1"/>
          <p:nvPr/>
        </p:nvSpPr>
        <p:spPr>
          <a:xfrm>
            <a:off x="14916607" y="4707331"/>
            <a:ext cx="2382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§35 이행</a:t>
            </a:r>
            <a:endParaRPr lang="en-US" sz="1125" dirty="0"/>
          </a:p>
        </p:txBody>
      </p:sp>
      <p:sp>
        <p:nvSpPr>
          <p:cNvPr id="43" name="Text 38"/>
          <p:cNvSpPr txBox="1"/>
          <p:nvPr/>
        </p:nvSpPr>
        <p:spPr>
          <a:xfrm>
            <a:off x="14916607" y="5002682"/>
            <a:ext cx="238201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고영향 AI가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기본권에 미치는 영향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사전 평가하는 방법론. ISO/IEC 42005와 대응 구조.</a:t>
            </a:r>
            <a:endParaRPr lang="en-US" sz="1275" dirty="0"/>
          </a:p>
        </p:txBody>
      </p:sp>
      <p:sp>
        <p:nvSpPr>
          <p:cNvPr id="44" name="Text 39"/>
          <p:cNvSpPr txBox="1"/>
          <p:nvPr/>
        </p:nvSpPr>
        <p:spPr>
          <a:xfrm>
            <a:off x="1143000" y="7295998"/>
            <a:ext cx="10287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왜 별도 주차로 다루는가</a:t>
            </a:r>
            <a:endParaRPr lang="en-US" sz="2025" dirty="0"/>
          </a:p>
        </p:txBody>
      </p:sp>
      <p:sp>
        <p:nvSpPr>
          <p:cNvPr id="45" name="Text 40"/>
          <p:cNvSpPr txBox="1"/>
          <p:nvPr/>
        </p:nvSpPr>
        <p:spPr>
          <a:xfrm>
            <a:off x="1143000" y="7740396"/>
            <a:ext cx="10287000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1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규범의 완성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조문만으로는 컴플라이언스가 성립하지 않는다. 법 + 시행령 + 가이드라인이 하나의 규범.</a:t>
            </a:r>
            <a:endParaRPr lang="en-US" sz="1425" dirty="0"/>
          </a:p>
          <a:p>
            <a:pPr marL="0" indent="0" algn="l">
              <a:lnSpc>
                <a:spcPts val="2351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개정 속도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법률은 국회를 거쳐야 하지만 가이드라인은 수시 보완.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최신본 추적이 곧 실무 역량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425" dirty="0"/>
          </a:p>
          <a:p>
            <a:pPr marL="0" indent="0" algn="l">
              <a:lnSpc>
                <a:spcPts val="2351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유예기간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정부는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1년 이상 규제 유예(계도기간)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운영 방침. 지금이 준비 시점.</a:t>
            </a:r>
            <a:endParaRPr lang="en-US" sz="1425" dirty="0"/>
          </a:p>
        </p:txBody>
      </p:sp>
      <p:sp>
        <p:nvSpPr>
          <p:cNvPr id="46" name="Text 41"/>
          <p:cNvSpPr txBox="1"/>
          <p:nvPr/>
        </p:nvSpPr>
        <p:spPr>
          <a:xfrm>
            <a:off x="12382805" y="7295998"/>
            <a:ext cx="4858207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9주차 수업 방식</a:t>
            </a:r>
            <a:endParaRPr lang="en-US" sz="1950" dirty="0"/>
          </a:p>
        </p:txBody>
      </p:sp>
      <p:sp>
        <p:nvSpPr>
          <p:cNvPr id="47" name="Text 42"/>
          <p:cNvSpPr txBox="1"/>
          <p:nvPr/>
        </p:nvSpPr>
        <p:spPr>
          <a:xfrm>
            <a:off x="12382805" y="7763256"/>
            <a:ext cx="485820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51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가이드라인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원문을 직접 열어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법 조문과 나란히 읽습니다. 사전에 최신본을 내려받아 오시면 좋습니다.</a:t>
            </a:r>
            <a:endParaRPr lang="en-US" sz="1425" dirty="0"/>
          </a:p>
        </p:txBody>
      </p:sp>
      <p:sp>
        <p:nvSpPr>
          <p:cNvPr id="48" name="Text 43"/>
          <p:cNvSpPr txBox="1"/>
          <p:nvPr/>
        </p:nvSpPr>
        <p:spPr>
          <a:xfrm>
            <a:off x="12382805" y="8451799"/>
            <a:ext cx="4858207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aikorea.go.kr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sw.or.kr · 기본법 지원데스크</a:t>
            </a:r>
            <a:endParaRPr lang="en-US" sz="1200" dirty="0"/>
          </a:p>
        </p:txBody>
      </p:sp>
      <p:sp>
        <p:nvSpPr>
          <p:cNvPr id="49" name="Shape 44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 / 43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33348" y="3962095"/>
            <a:ext cx="4095598" cy="3143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3924605"/>
            <a:ext cx="4095598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095951" y="3924605"/>
            <a:ext cx="4095598" cy="3143707"/>
          </a:xfrm>
          <a:prstGeom prst="rect">
            <a:avLst/>
          </a:prstGeom>
          <a:solidFill>
            <a:srgbClr val="E6F1EA"/>
          </a:solidFill>
          <a:ln w="12700">
            <a:solidFill>
              <a:srgbClr val="036B3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095951" y="3924605"/>
            <a:ext cx="4095598" cy="47549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430207" y="3924605"/>
            <a:ext cx="4095598" cy="3143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430207" y="3924605"/>
            <a:ext cx="4095598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63549" y="3924605"/>
            <a:ext cx="3762756" cy="3143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3763549" y="3924605"/>
            <a:ext cx="3762756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2287707" y="7315200"/>
            <a:ext cx="5238598" cy="2018995"/>
          </a:xfrm>
          <a:prstGeom prst="rect">
            <a:avLst/>
          </a:prstGeom>
          <a:solidFill>
            <a:srgbClr val="E6F1EA"/>
          </a:solidFill>
          <a:ln w="12700">
            <a:solidFill>
              <a:srgbClr val="036B3F"/>
            </a:solidFill>
            <a:prstDash val="solid"/>
          </a:ln>
        </p:spPr>
      </p:sp>
      <p:pic>
        <p:nvPicPr>
          <p:cNvPr id="13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857500"/>
            <a:ext cx="761695" cy="2834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761695" y="1143000"/>
            <a:ext cx="1895551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61695" y="1143000"/>
            <a:ext cx="18955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10주차 · 11.05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61695" y="1619402"/>
            <a:ext cx="16764610" cy="8485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거버넌스 기술 · 규범을 구현하는 기술 스택</a:t>
            </a:r>
            <a:endParaRPr lang="en-US" sz="4650" dirty="0"/>
          </a:p>
        </p:txBody>
      </p:sp>
      <p:sp>
        <p:nvSpPr>
          <p:cNvPr id="18" name="Text 13"/>
          <p:cNvSpPr txBox="1"/>
          <p:nvPr/>
        </p:nvSpPr>
        <p:spPr>
          <a:xfrm>
            <a:off x="761695" y="2542946"/>
            <a:ext cx="16764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Week 10 · The Technology That Implements Governance</a:t>
            </a:r>
            <a:endParaRPr lang="en-US" sz="1950" dirty="0"/>
          </a:p>
        </p:txBody>
      </p:sp>
      <p:sp>
        <p:nvSpPr>
          <p:cNvPr id="19" name="Text 14"/>
          <p:cNvSpPr txBox="1"/>
          <p:nvPr/>
        </p:nvSpPr>
        <p:spPr>
          <a:xfrm>
            <a:off x="761695" y="3200400"/>
            <a:ext cx="1703893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법이 </a:t>
            </a:r>
            <a:r>
              <a:rPr lang="en-US" sz="16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"설명할 수 있어야 한다"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 쓰면, 누군가는 그것을 </a:t>
            </a:r>
            <a:r>
              <a:rPr lang="en-US" sz="16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코드로 구현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해야 </a:t>
            </a:r>
            <a:r>
              <a:rPr lang="en-US" sz="165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한다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법조문을 기술 요구사항으로 번역한다.</a:t>
            </a:r>
            <a:endParaRPr lang="en-US" sz="1650" dirty="0"/>
          </a:p>
        </p:txBody>
      </p:sp>
      <p:sp>
        <p:nvSpPr>
          <p:cNvPr id="20" name="Text 15"/>
          <p:cNvSpPr txBox="1"/>
          <p:nvPr/>
        </p:nvSpPr>
        <p:spPr>
          <a:xfrm>
            <a:off x="1067105" y="4172407"/>
            <a:ext cx="3525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DOMAIN 01 · TRANSPARENCY</a:t>
            </a:r>
            <a:endParaRPr lang="en-US" sz="975" dirty="0"/>
          </a:p>
        </p:txBody>
      </p:sp>
      <p:sp>
        <p:nvSpPr>
          <p:cNvPr id="21" name="Text 16"/>
          <p:cNvSpPr txBox="1"/>
          <p:nvPr/>
        </p:nvSpPr>
        <p:spPr>
          <a:xfrm>
            <a:off x="1067105" y="4390949"/>
            <a:ext cx="352501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출처·표시 기술</a:t>
            </a:r>
            <a:endParaRPr lang="en-US" sz="2175" dirty="0"/>
          </a:p>
        </p:txBody>
      </p:sp>
      <p:sp>
        <p:nvSpPr>
          <p:cNvPr id="22" name="Text 17"/>
          <p:cNvSpPr txBox="1"/>
          <p:nvPr/>
        </p:nvSpPr>
        <p:spPr>
          <a:xfrm>
            <a:off x="1067105" y="4819802"/>
            <a:ext cx="35250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C9A2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규범 — 한국법 §31 · EU Art. 50</a:t>
            </a:r>
            <a:endParaRPr lang="en-US" sz="1275" dirty="0"/>
          </a:p>
        </p:txBody>
      </p:sp>
      <p:sp>
        <p:nvSpPr>
          <p:cNvPr id="23" name="Text 18"/>
          <p:cNvSpPr txBox="1"/>
          <p:nvPr/>
        </p:nvSpPr>
        <p:spPr>
          <a:xfrm>
            <a:off x="1067104" y="5139842"/>
            <a:ext cx="3761841" cy="132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가시적 워터마크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화면·이미지에 직접 표기</a:t>
            </a:r>
            <a:endParaRPr lang="en-US" sz="1275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비가시적 워터마크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SynthID 등 신호 삽입</a:t>
            </a:r>
            <a:endParaRPr lang="en-US" sz="1275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C2PA / Content Credentials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콘텐츠 이력 서명</a:t>
            </a:r>
            <a:endParaRPr lang="en-US" sz="1275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메타데이터 표준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기계 판독형 출처 정보</a:t>
            </a:r>
            <a:endParaRPr lang="en-US" sz="1275" dirty="0"/>
          </a:p>
        </p:txBody>
      </p:sp>
      <p:sp>
        <p:nvSpPr>
          <p:cNvPr id="24" name="Text 19"/>
          <p:cNvSpPr txBox="1"/>
          <p:nvPr/>
        </p:nvSpPr>
        <p:spPr>
          <a:xfrm>
            <a:off x="5400446" y="4172407"/>
            <a:ext cx="3525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DOMAIN 02 · EXPLAINABILITY ★</a:t>
            </a:r>
            <a:endParaRPr lang="en-US" sz="975" dirty="0"/>
          </a:p>
        </p:txBody>
      </p:sp>
      <p:sp>
        <p:nvSpPr>
          <p:cNvPr id="25" name="Text 20"/>
          <p:cNvSpPr txBox="1"/>
          <p:nvPr/>
        </p:nvSpPr>
        <p:spPr>
          <a:xfrm>
            <a:off x="5400446" y="4390949"/>
            <a:ext cx="352501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설명가능성 · XAI</a:t>
            </a:r>
            <a:endParaRPr lang="en-US" sz="2175" dirty="0"/>
          </a:p>
        </p:txBody>
      </p:sp>
      <p:sp>
        <p:nvSpPr>
          <p:cNvPr id="26" name="Text 21"/>
          <p:cNvSpPr txBox="1"/>
          <p:nvPr/>
        </p:nvSpPr>
        <p:spPr>
          <a:xfrm>
            <a:off x="5400446" y="4819802"/>
            <a:ext cx="3648456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C9A2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규범 — 한국법 §34 · EU Art. 13·14</a:t>
            </a:r>
            <a:endParaRPr lang="en-US" sz="1275" dirty="0"/>
          </a:p>
        </p:txBody>
      </p:sp>
      <p:sp>
        <p:nvSpPr>
          <p:cNvPr id="27" name="Text 22"/>
          <p:cNvSpPr txBox="1"/>
          <p:nvPr/>
        </p:nvSpPr>
        <p:spPr>
          <a:xfrm>
            <a:off x="5400446" y="5139842"/>
            <a:ext cx="3525012" cy="1070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 설명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특성 기여도 기반 국소 설명</a:t>
            </a:r>
            <a:endParaRPr lang="en-US" sz="1275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내재적 해석모델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설계부터 해석 가능한 구조</a:t>
            </a:r>
            <a:endParaRPr lang="en-US" sz="1275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문서화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Model Card · System Card</a:t>
            </a:r>
            <a:endParaRPr lang="en-US" sz="1275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문서화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Datasheets for Datasets</a:t>
            </a:r>
            <a:endParaRPr lang="en-US" sz="1275" dirty="0"/>
          </a:p>
        </p:txBody>
      </p:sp>
      <p:sp>
        <p:nvSpPr>
          <p:cNvPr id="28" name="Text 23"/>
          <p:cNvSpPr txBox="1"/>
          <p:nvPr/>
        </p:nvSpPr>
        <p:spPr>
          <a:xfrm>
            <a:off x="9734702" y="4172407"/>
            <a:ext cx="3525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DOMAIN 03 · FAIRNESS</a:t>
            </a:r>
            <a:endParaRPr lang="en-US" sz="975" dirty="0"/>
          </a:p>
        </p:txBody>
      </p:sp>
      <p:sp>
        <p:nvSpPr>
          <p:cNvPr id="29" name="Text 24"/>
          <p:cNvSpPr txBox="1"/>
          <p:nvPr/>
        </p:nvSpPr>
        <p:spPr>
          <a:xfrm>
            <a:off x="9734702" y="4390949"/>
            <a:ext cx="352501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편향 탐지·완화</a:t>
            </a:r>
            <a:endParaRPr lang="en-US" sz="2175" dirty="0"/>
          </a:p>
        </p:txBody>
      </p:sp>
      <p:sp>
        <p:nvSpPr>
          <p:cNvPr id="30" name="Text 25"/>
          <p:cNvSpPr txBox="1"/>
          <p:nvPr/>
        </p:nvSpPr>
        <p:spPr>
          <a:xfrm>
            <a:off x="9734702" y="4819802"/>
            <a:ext cx="35250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C9A2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규범 — 고영향 AI 위험관리 · 24027</a:t>
            </a:r>
            <a:endParaRPr lang="en-US" sz="1275" dirty="0"/>
          </a:p>
        </p:txBody>
      </p:sp>
      <p:sp>
        <p:nvSpPr>
          <p:cNvPr id="31" name="Text 26"/>
          <p:cNvSpPr txBox="1"/>
          <p:nvPr/>
        </p:nvSpPr>
        <p:spPr>
          <a:xfrm>
            <a:off x="9734702" y="5139842"/>
            <a:ext cx="3525012" cy="1070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공정성 지표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집단별 오류율·기회 균등 측정</a:t>
            </a:r>
            <a:endParaRPr lang="en-US" sz="1275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편향 진단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대표성·라벨 편향 점검</a:t>
            </a:r>
            <a:endParaRPr lang="en-US" sz="1275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완화 기법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전처리·학습중·후처리 3계열</a:t>
            </a:r>
            <a:endParaRPr lang="en-US" sz="1275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레드팀 테스트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취약점 능동 탐색</a:t>
            </a:r>
            <a:endParaRPr lang="en-US" sz="1275" dirty="0"/>
          </a:p>
        </p:txBody>
      </p:sp>
      <p:sp>
        <p:nvSpPr>
          <p:cNvPr id="32" name="Text 27"/>
          <p:cNvSpPr txBox="1"/>
          <p:nvPr/>
        </p:nvSpPr>
        <p:spPr>
          <a:xfrm>
            <a:off x="14068044" y="4172407"/>
            <a:ext cx="31912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DOMAIN 04 · OPERATIONS</a:t>
            </a:r>
            <a:endParaRPr lang="en-US" sz="975" dirty="0"/>
          </a:p>
        </p:txBody>
      </p:sp>
      <p:sp>
        <p:nvSpPr>
          <p:cNvPr id="33" name="Text 28"/>
          <p:cNvSpPr txBox="1"/>
          <p:nvPr/>
        </p:nvSpPr>
        <p:spPr>
          <a:xfrm>
            <a:off x="14068044" y="4390949"/>
            <a:ext cx="3191256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운영·감사 체계</a:t>
            </a:r>
            <a:endParaRPr lang="en-US" sz="2175" dirty="0"/>
          </a:p>
        </p:txBody>
      </p:sp>
      <p:sp>
        <p:nvSpPr>
          <p:cNvPr id="34" name="Text 29"/>
          <p:cNvSpPr txBox="1"/>
          <p:nvPr/>
        </p:nvSpPr>
        <p:spPr>
          <a:xfrm>
            <a:off x="14068044" y="4819802"/>
            <a:ext cx="3567989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C9A2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규범 — 42001 §8·§9 · EU Art. 12</a:t>
            </a:r>
            <a:endParaRPr lang="en-US" sz="1275" dirty="0"/>
          </a:p>
        </p:txBody>
      </p:sp>
      <p:sp>
        <p:nvSpPr>
          <p:cNvPr id="35" name="Text 30"/>
          <p:cNvSpPr txBox="1"/>
          <p:nvPr/>
        </p:nvSpPr>
        <p:spPr>
          <a:xfrm>
            <a:off x="14068044" y="5139842"/>
            <a:ext cx="3191256" cy="1070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로그·추적성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자동 기록 보존</a:t>
            </a:r>
            <a:endParaRPr lang="en-US" sz="1275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등록부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버전·계보 관리</a:t>
            </a:r>
            <a:endParaRPr lang="en-US" sz="1275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드리프트 모니터링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성능 변화 감시</a:t>
            </a:r>
            <a:endParaRPr lang="en-US" sz="1275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게이트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심의 통과 후 배포</a:t>
            </a:r>
            <a:endParaRPr lang="en-US" sz="1275" dirty="0"/>
          </a:p>
        </p:txBody>
      </p:sp>
      <p:sp>
        <p:nvSpPr>
          <p:cNvPr id="36" name="Text 31"/>
          <p:cNvSpPr txBox="1"/>
          <p:nvPr/>
        </p:nvSpPr>
        <p:spPr>
          <a:xfrm>
            <a:off x="761695" y="7315200"/>
            <a:ext cx="11239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TRANSLATION · 법조문 → 기술 요구사항</a:t>
            </a:r>
            <a:endParaRPr lang="en-US" sz="10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7601407"/>
          <a:ext cx="11230661" cy="2286000"/>
        </p:xfrm>
        <a:graphic>
          <a:graphicData uri="http://schemas.openxmlformats.org/drawingml/2006/table">
            <a:tbl>
              <a:tblPr/>
              <a:tblGrid>
                <a:gridCol w="3143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9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규범이 요구하는 것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기술적 번역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구현 시 핵심 쟁점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생성물임을 표시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워터마크 · 메타데이터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제거 공격에 대한 견고성, 서비스 UX 저해 최소화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결과에 대한 설명 제공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XAI · Model Card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설명의 충실성 vs 이해가능성의 상충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위험 식별·평가·완화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공정성 지표 · 레드팀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어떤 지표를 쓰는지가 곧 정책적 선택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사람의 관리·감독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배포 게이트 · 로그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형식적 승인에 그치지 않게 설계하는 문제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" name="Text 32"/>
          <p:cNvSpPr txBox="1"/>
          <p:nvPr/>
        </p:nvSpPr>
        <p:spPr>
          <a:xfrm>
            <a:off x="12630607" y="7543800"/>
            <a:ext cx="457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주차의 메시지</a:t>
            </a:r>
            <a:endParaRPr lang="en-US" sz="1875" dirty="0"/>
          </a:p>
        </p:txBody>
      </p:sp>
      <p:sp>
        <p:nvSpPr>
          <p:cNvPr id="39" name="Text 33"/>
          <p:cNvSpPr txBox="1"/>
          <p:nvPr/>
        </p:nvSpPr>
        <p:spPr>
          <a:xfrm>
            <a:off x="12630607" y="8625535"/>
            <a:ext cx="4572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이 주차가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11주 표준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12주 연구방법론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사이의 다리가 된다.</a:t>
            </a:r>
            <a:endParaRPr lang="en-US" sz="1350" dirty="0"/>
          </a:p>
        </p:txBody>
      </p:sp>
      <p:sp>
        <p:nvSpPr>
          <p:cNvPr id="40" name="Text 34"/>
          <p:cNvSpPr txBox="1"/>
          <p:nvPr/>
        </p:nvSpPr>
        <p:spPr>
          <a:xfrm>
            <a:off x="12630607" y="7991856"/>
            <a:ext cx="52395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기술은</a:t>
            </a:r>
            <a:endParaRPr lang="en-US" sz="1350" dirty="0"/>
          </a:p>
        </p:txBody>
      </p:sp>
      <p:sp>
        <p:nvSpPr>
          <p:cNvPr id="41" name="Text 35"/>
          <p:cNvSpPr txBox="1"/>
          <p:nvPr/>
        </p:nvSpPr>
        <p:spPr>
          <a:xfrm>
            <a:off x="13151815" y="7991856"/>
            <a:ext cx="186537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중립적 도구가 아니다</a:t>
            </a:r>
            <a:endParaRPr lang="en-US" sz="1350" dirty="0"/>
          </a:p>
        </p:txBody>
      </p:sp>
      <p:sp>
        <p:nvSpPr>
          <p:cNvPr id="42" name="Text 36"/>
          <p:cNvSpPr txBox="1"/>
          <p:nvPr/>
        </p:nvSpPr>
        <p:spPr>
          <a:xfrm>
            <a:off x="12630607" y="7991856"/>
            <a:ext cx="45345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어떤 공정성 지표를 고르는가는 이미</a:t>
            </a:r>
            <a:endParaRPr lang="en-US" sz="1350" dirty="0"/>
          </a:p>
        </p:txBody>
      </p:sp>
      <p:sp>
        <p:nvSpPr>
          <p:cNvPr id="43" name="Text 37"/>
          <p:cNvSpPr txBox="1"/>
          <p:nvPr/>
        </p:nvSpPr>
        <p:spPr>
          <a:xfrm>
            <a:off x="12836347" y="8266176"/>
            <a:ext cx="84216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판단</a:t>
            </a:r>
            <a:endParaRPr lang="en-US" sz="1350" dirty="0"/>
          </a:p>
        </p:txBody>
      </p:sp>
      <p:sp>
        <p:nvSpPr>
          <p:cNvPr id="44" name="Text 38"/>
          <p:cNvSpPr txBox="1"/>
          <p:nvPr/>
        </p:nvSpPr>
        <p:spPr>
          <a:xfrm>
            <a:off x="13514832" y="8266176"/>
            <a:ext cx="46177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이다.</a:t>
            </a:r>
            <a:endParaRPr lang="en-US" sz="1350" dirty="0"/>
          </a:p>
        </p:txBody>
      </p:sp>
      <p:sp>
        <p:nvSpPr>
          <p:cNvPr id="45" name="Shape 39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37 / 43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3924605"/>
            <a:ext cx="8287207" cy="3238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3924605"/>
            <a:ext cx="8287207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286646" y="3924605"/>
            <a:ext cx="8238744" cy="3238805"/>
          </a:xfrm>
          <a:prstGeom prst="rect">
            <a:avLst/>
          </a:prstGeom>
          <a:solidFill>
            <a:srgbClr val="E6F1EA"/>
          </a:solidFill>
          <a:ln w="12700">
            <a:solidFill>
              <a:srgbClr val="036B3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3924605"/>
            <a:ext cx="8238744" cy="47549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pic>
        <p:nvPicPr>
          <p:cNvPr id="8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857500"/>
            <a:ext cx="761695" cy="2834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10" name="Shape 5"/>
          <p:cNvSpPr/>
          <p:nvPr/>
        </p:nvSpPr>
        <p:spPr>
          <a:xfrm>
            <a:off x="761695" y="1143000"/>
            <a:ext cx="3010205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61695" y="1143000"/>
            <a:ext cx="3010205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12주차 · 11.19 · 전환점 ★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1619402"/>
            <a:ext cx="16764610" cy="8485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거버넌스 </a:t>
            </a:r>
            <a:r>
              <a:rPr lang="en-US" sz="4650" b="1" kern="0" spc="-75" dirty="0" err="1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연구방법론</a:t>
            </a:r>
            <a:r>
              <a:rPr lang="en-US" sz="465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endParaRPr lang="en-US" sz="4650" dirty="0"/>
          </a:p>
        </p:txBody>
      </p:sp>
      <p:sp>
        <p:nvSpPr>
          <p:cNvPr id="13" name="Text 8"/>
          <p:cNvSpPr txBox="1"/>
          <p:nvPr/>
        </p:nvSpPr>
        <p:spPr>
          <a:xfrm>
            <a:off x="761695" y="2542946"/>
            <a:ext cx="16764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Week 12 · Research Methodology · The Pivot of the Semester</a:t>
            </a:r>
            <a:endParaRPr lang="en-US" sz="1950" dirty="0"/>
          </a:p>
        </p:txBody>
      </p:sp>
      <p:sp>
        <p:nvSpPr>
          <p:cNvPr id="15" name="Text 10"/>
          <p:cNvSpPr txBox="1"/>
          <p:nvPr/>
        </p:nvSpPr>
        <p:spPr>
          <a:xfrm>
            <a:off x="1104595" y="4172407"/>
            <a:ext cx="7620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 A · RESEARCH ON AI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1104595" y="4401007"/>
            <a:ext cx="76206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AI를 </a:t>
            </a:r>
            <a:r>
              <a:rPr lang="en-US" sz="25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대상으로</a:t>
            </a:r>
            <a:r>
              <a:rPr lang="en-US" sz="25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하는 연구</a:t>
            </a:r>
            <a:endParaRPr lang="en-US" sz="2550" dirty="0"/>
          </a:p>
        </p:txBody>
      </p:sp>
      <p:sp>
        <p:nvSpPr>
          <p:cNvPr id="17" name="Text 12"/>
          <p:cNvSpPr txBox="1"/>
          <p:nvPr/>
        </p:nvSpPr>
        <p:spPr>
          <a:xfrm>
            <a:off x="1104595" y="4981651"/>
            <a:ext cx="7620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자체를 분석 대상으로 삼는다. 거버넌스 연구의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주류 형태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425" dirty="0"/>
          </a:p>
        </p:txBody>
      </p:sp>
      <p:sp>
        <p:nvSpPr>
          <p:cNvPr id="18" name="Text 13"/>
          <p:cNvSpPr txBox="1"/>
          <p:nvPr/>
        </p:nvSpPr>
        <p:spPr>
          <a:xfrm>
            <a:off x="1104595" y="5356555"/>
            <a:ext cx="7620610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법제 비교 연구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EU·한국·미국 규범의 구조 대조</a:t>
            </a:r>
            <a:endParaRPr lang="en-US" sz="1350" dirty="0"/>
          </a:p>
          <a:p>
            <a:pPr marL="0" indent="0" algn="l">
              <a:lnSpc>
                <a:spcPts val="2363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제도 분석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고영향 AI 판정 기준의 정합성 검토</a:t>
            </a:r>
            <a:endParaRPr lang="en-US" sz="1350" dirty="0"/>
          </a:p>
          <a:p>
            <a:pPr marL="0" indent="0" algn="l">
              <a:lnSpc>
                <a:spcPts val="2363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연구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특정 서비스의 컴플라이언스 설계 분석</a:t>
            </a:r>
            <a:endParaRPr lang="en-US" sz="1350" dirty="0"/>
          </a:p>
          <a:p>
            <a:pPr marL="0" indent="0" algn="l">
              <a:lnSpc>
                <a:spcPts val="2363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갭 분석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42001 통제와 법 요구사항의 매핑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1104595" y="6738214"/>
            <a:ext cx="7619695" cy="428854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20" name="Shape 15"/>
          <p:cNvSpPr/>
          <p:nvPr/>
        </p:nvSpPr>
        <p:spPr>
          <a:xfrm>
            <a:off x="1104595" y="6738214"/>
            <a:ext cx="28346" cy="428854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285646" y="6738214"/>
            <a:ext cx="7439558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101600" rIns="152400" bIns="10160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쟁점 —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규범 텍스트를 어떻게 자료로 다루는가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인용의 정확성과 해석의 근거.</a:t>
            </a:r>
            <a:endParaRPr lang="en-US" sz="1275" dirty="0"/>
          </a:p>
        </p:txBody>
      </p:sp>
      <p:sp>
        <p:nvSpPr>
          <p:cNvPr id="22" name="Text 17"/>
          <p:cNvSpPr txBox="1"/>
          <p:nvPr/>
        </p:nvSpPr>
        <p:spPr>
          <a:xfrm>
            <a:off x="9629546" y="4172407"/>
            <a:ext cx="757306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 B · RESEARCH WITH AI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9629546" y="4401007"/>
            <a:ext cx="7573061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AI를 </a:t>
            </a:r>
            <a:r>
              <a:rPr lang="en-US" sz="2550" b="1" dirty="0">
                <a:solidFill>
                  <a:srgbClr val="C9A2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도구로</a:t>
            </a:r>
            <a:r>
              <a:rPr lang="en-US" sz="25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활용하는 연구</a:t>
            </a:r>
            <a:endParaRPr lang="en-US" sz="2550" dirty="0"/>
          </a:p>
        </p:txBody>
      </p:sp>
      <p:sp>
        <p:nvSpPr>
          <p:cNvPr id="24" name="Text 19"/>
          <p:cNvSpPr txBox="1"/>
          <p:nvPr/>
        </p:nvSpPr>
        <p:spPr>
          <a:xfrm>
            <a:off x="9629546" y="4981651"/>
            <a:ext cx="75730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연구 수행의 수단으로 쓴다.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방법론적 타당성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관건.</a:t>
            </a:r>
            <a:endParaRPr lang="en-US" sz="1425" dirty="0"/>
          </a:p>
        </p:txBody>
      </p:sp>
      <p:sp>
        <p:nvSpPr>
          <p:cNvPr id="25" name="Text 20"/>
          <p:cNvSpPr txBox="1"/>
          <p:nvPr/>
        </p:nvSpPr>
        <p:spPr>
          <a:xfrm>
            <a:off x="9629546" y="5356555"/>
            <a:ext cx="7573061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마이닝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조문·판례·가이드라인 대량 분석</a:t>
            </a:r>
            <a:endParaRPr lang="en-US" sz="1350" dirty="0"/>
          </a:p>
          <a:p>
            <a:pPr marL="0" indent="0" algn="l">
              <a:lnSpc>
                <a:spcPts val="2363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보조 문헌 리뷰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선행연구 1차 스크리닝</a:t>
            </a:r>
            <a:endParaRPr lang="en-US" sz="1350" dirty="0"/>
          </a:p>
          <a:p>
            <a:pPr marL="0" indent="0" algn="l">
              <a:lnSpc>
                <a:spcPts val="2363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 분석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규제 강도의 지표화·비교</a:t>
            </a:r>
            <a:endParaRPr lang="en-US" sz="1350" dirty="0"/>
          </a:p>
          <a:p>
            <a:pPr marL="0" indent="0" algn="l">
              <a:lnSpc>
                <a:spcPts val="2363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코딩 자동화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질적 자료의 범주화 보조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9629546" y="6738214"/>
            <a:ext cx="7572146" cy="4288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2"/>
          <p:cNvSpPr/>
          <p:nvPr/>
        </p:nvSpPr>
        <p:spPr>
          <a:xfrm>
            <a:off x="9629546" y="6738214"/>
            <a:ext cx="28346" cy="428854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9810598" y="6738214"/>
            <a:ext cx="7392010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101600" rIns="152400" bIns="10160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쟁점 —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연구윤리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프롬프트·모델·출력물을 부록에 명시해야 한다.</a:t>
            </a:r>
            <a:endParaRPr lang="en-US" sz="1275" dirty="0"/>
          </a:p>
        </p:txBody>
      </p:sp>
      <p:sp>
        <p:nvSpPr>
          <p:cNvPr id="29" name="Text 24"/>
          <p:cNvSpPr txBox="1"/>
          <p:nvPr/>
        </p:nvSpPr>
        <p:spPr>
          <a:xfrm>
            <a:off x="761695" y="7410298"/>
            <a:ext cx="16764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DESIGN · 12주차에 함께 세우는 5단계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761695" y="7715707"/>
            <a:ext cx="3247949" cy="109545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61695" y="7715707"/>
            <a:ext cx="3247949" cy="384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942746" y="7886700"/>
            <a:ext cx="288676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1</a:t>
            </a:r>
            <a:endParaRPr lang="en-US" sz="975" dirty="0"/>
          </a:p>
        </p:txBody>
      </p:sp>
      <p:sp>
        <p:nvSpPr>
          <p:cNvPr id="33" name="Text 28"/>
          <p:cNvSpPr txBox="1"/>
          <p:nvPr/>
        </p:nvSpPr>
        <p:spPr>
          <a:xfrm>
            <a:off x="942746" y="8086954"/>
            <a:ext cx="28867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문제 발견</a:t>
            </a:r>
            <a:endParaRPr lang="en-US" sz="1650" dirty="0"/>
          </a:p>
        </p:txBody>
      </p:sp>
      <p:sp>
        <p:nvSpPr>
          <p:cNvPr id="34" name="Text 29"/>
          <p:cNvSpPr txBox="1"/>
          <p:nvPr/>
        </p:nvSpPr>
        <p:spPr>
          <a:xfrm>
            <a:off x="942746" y="8438998"/>
            <a:ext cx="28867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규범의 빈틈·모순을 찾는다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4141318" y="7715707"/>
            <a:ext cx="3247949" cy="109545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141318" y="7715707"/>
            <a:ext cx="3247949" cy="384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4322369" y="7886700"/>
            <a:ext cx="288676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2</a:t>
            </a:r>
            <a:endParaRPr lang="en-US" sz="975" dirty="0"/>
          </a:p>
        </p:txBody>
      </p:sp>
      <p:sp>
        <p:nvSpPr>
          <p:cNvPr id="38" name="Text 33"/>
          <p:cNvSpPr txBox="1"/>
          <p:nvPr/>
        </p:nvSpPr>
        <p:spPr>
          <a:xfrm>
            <a:off x="4322369" y="8086954"/>
            <a:ext cx="28867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연구문제 정식화</a:t>
            </a:r>
            <a:endParaRPr lang="en-US" sz="1650" dirty="0"/>
          </a:p>
        </p:txBody>
      </p:sp>
      <p:sp>
        <p:nvSpPr>
          <p:cNvPr id="39" name="Text 34"/>
          <p:cNvSpPr txBox="1"/>
          <p:nvPr/>
        </p:nvSpPr>
        <p:spPr>
          <a:xfrm>
            <a:off x="4322369" y="8438998"/>
            <a:ext cx="28867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답할 수 있는 형태로 좁힌다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7520940" y="7715707"/>
            <a:ext cx="3247949" cy="109545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520940" y="7715707"/>
            <a:ext cx="3247949" cy="384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7701991" y="7886700"/>
            <a:ext cx="288676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3</a:t>
            </a:r>
            <a:endParaRPr lang="en-US" sz="975" dirty="0"/>
          </a:p>
        </p:txBody>
      </p:sp>
      <p:sp>
        <p:nvSpPr>
          <p:cNvPr id="43" name="Text 38"/>
          <p:cNvSpPr txBox="1"/>
          <p:nvPr/>
        </p:nvSpPr>
        <p:spPr>
          <a:xfrm>
            <a:off x="7701991" y="8086954"/>
            <a:ext cx="28867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방법 선택</a:t>
            </a:r>
            <a:endParaRPr lang="en-US" sz="1650" dirty="0"/>
          </a:p>
        </p:txBody>
      </p:sp>
      <p:sp>
        <p:nvSpPr>
          <p:cNvPr id="44" name="Text 39"/>
          <p:cNvSpPr txBox="1"/>
          <p:nvPr/>
        </p:nvSpPr>
        <p:spPr>
          <a:xfrm>
            <a:off x="7701991" y="8438998"/>
            <a:ext cx="28867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비교법·사례·정량 중 택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10900562" y="7715707"/>
            <a:ext cx="3247949" cy="109545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10900562" y="7715707"/>
            <a:ext cx="3247949" cy="384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11081614" y="7886700"/>
            <a:ext cx="288676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4</a:t>
            </a:r>
            <a:endParaRPr lang="en-US" sz="975" dirty="0"/>
          </a:p>
        </p:txBody>
      </p:sp>
      <p:sp>
        <p:nvSpPr>
          <p:cNvPr id="48" name="Text 43"/>
          <p:cNvSpPr txBox="1"/>
          <p:nvPr/>
        </p:nvSpPr>
        <p:spPr>
          <a:xfrm>
            <a:off x="11081614" y="8086954"/>
            <a:ext cx="28867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자료 확보</a:t>
            </a:r>
            <a:endParaRPr lang="en-US" sz="1650" dirty="0"/>
          </a:p>
        </p:txBody>
      </p:sp>
      <p:sp>
        <p:nvSpPr>
          <p:cNvPr id="49" name="Text 44"/>
          <p:cNvSpPr txBox="1"/>
          <p:nvPr/>
        </p:nvSpPr>
        <p:spPr>
          <a:xfrm>
            <a:off x="11081614" y="8438998"/>
            <a:ext cx="28867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출처 우선 원칙</a:t>
            </a:r>
            <a:endParaRPr lang="en-US" sz="1200" dirty="0"/>
          </a:p>
        </p:txBody>
      </p:sp>
      <p:sp>
        <p:nvSpPr>
          <p:cNvPr id="50" name="Shape 45"/>
          <p:cNvSpPr/>
          <p:nvPr/>
        </p:nvSpPr>
        <p:spPr>
          <a:xfrm>
            <a:off x="14280185" y="7715707"/>
            <a:ext cx="3247949" cy="1095451"/>
          </a:xfrm>
          <a:prstGeom prst="rect">
            <a:avLst/>
          </a:prstGeom>
          <a:solidFill>
            <a:srgbClr val="E6F1EA"/>
          </a:solidFill>
          <a:ln w="12700">
            <a:solidFill>
              <a:srgbClr val="036B3F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14280185" y="7715707"/>
            <a:ext cx="3247949" cy="38405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14461236" y="7886700"/>
            <a:ext cx="288676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5</a:t>
            </a:r>
            <a:endParaRPr lang="en-US" sz="975" dirty="0"/>
          </a:p>
        </p:txBody>
      </p:sp>
      <p:sp>
        <p:nvSpPr>
          <p:cNvPr id="53" name="Text 48"/>
          <p:cNvSpPr txBox="1"/>
          <p:nvPr/>
        </p:nvSpPr>
        <p:spPr>
          <a:xfrm>
            <a:off x="14461236" y="8086954"/>
            <a:ext cx="28867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논증 구성</a:t>
            </a:r>
            <a:endParaRPr lang="en-US" sz="1650" dirty="0"/>
          </a:p>
        </p:txBody>
      </p:sp>
      <p:sp>
        <p:nvSpPr>
          <p:cNvPr id="54" name="Text 49"/>
          <p:cNvSpPr txBox="1"/>
          <p:nvPr/>
        </p:nvSpPr>
        <p:spPr>
          <a:xfrm>
            <a:off x="14461236" y="8438998"/>
            <a:ext cx="28867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소논문 목차로 전환</a:t>
            </a:r>
            <a:endParaRPr lang="en-US" sz="1200" dirty="0"/>
          </a:p>
        </p:txBody>
      </p:sp>
      <p:sp>
        <p:nvSpPr>
          <p:cNvPr id="55" name="Shape 50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38 / 43</a:t>
            </a:r>
            <a:endParaRPr lang="en-US" sz="1200" dirty="0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76720802-D81A-476B-BB23-80233734693B}"/>
              </a:ext>
            </a:extLst>
          </p:cNvPr>
          <p:cNvSpPr txBox="1"/>
          <p:nvPr/>
        </p:nvSpPr>
        <p:spPr>
          <a:xfrm>
            <a:off x="761695" y="3200400"/>
            <a:ext cx="167646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6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아직 답이 없는 문제 </a:t>
            </a:r>
            <a:r>
              <a:rPr lang="ko-KR" alt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다루기</a:t>
            </a:r>
            <a:endParaRPr lang="en-US" sz="16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0" y="3847795"/>
            <a:ext cx="6096305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1430000" y="3847795"/>
            <a:ext cx="6096305" cy="47549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61695" y="7619695"/>
            <a:ext cx="10287000" cy="1714500"/>
          </a:xfrm>
          <a:prstGeom prst="rect">
            <a:avLst/>
          </a:prstGeom>
          <a:solidFill>
            <a:srgbClr val="E6F1EA"/>
          </a:solidFill>
          <a:ln w="12700">
            <a:solidFill>
              <a:srgbClr val="036B3F"/>
            </a:solidFill>
            <a:prstDash val="solid"/>
          </a:ln>
        </p:spPr>
      </p:sp>
      <p:pic>
        <p:nvPicPr>
          <p:cNvPr id="7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857500"/>
            <a:ext cx="761695" cy="2834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9" name="Shape 4"/>
          <p:cNvSpPr/>
          <p:nvPr/>
        </p:nvSpPr>
        <p:spPr>
          <a:xfrm>
            <a:off x="761695" y="1143000"/>
            <a:ext cx="1895551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61695" y="1143000"/>
            <a:ext cx="18955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13주차 · 11.26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1619402"/>
            <a:ext cx="16764610" cy="8485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</a:t>
            </a:r>
            <a:r>
              <a:rPr lang="en-US" sz="4650" b="1" kern="0" spc="-75" dirty="0" err="1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거버넌스</a:t>
            </a:r>
            <a:r>
              <a:rPr lang="en-US" sz="465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4650" b="1" kern="0" spc="-75" dirty="0" err="1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선행연구</a:t>
            </a:r>
            <a:endParaRPr lang="en-US" sz="465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2542946"/>
            <a:ext cx="16764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Week 13 · Literature Review · Reading the Field Critically</a:t>
            </a:r>
            <a:endParaRPr lang="en-US" sz="1950" dirty="0"/>
          </a:p>
        </p:txBody>
      </p:sp>
      <p:sp>
        <p:nvSpPr>
          <p:cNvPr id="13" name="Text 8"/>
          <p:cNvSpPr txBox="1"/>
          <p:nvPr/>
        </p:nvSpPr>
        <p:spPr>
          <a:xfrm>
            <a:off x="761695" y="3200400"/>
            <a:ext cx="167646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선행연구 검토는 </a:t>
            </a:r>
            <a:r>
              <a:rPr lang="en-US" sz="16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요약을 모으는 </a:t>
            </a:r>
            <a:r>
              <a:rPr lang="en-US" sz="1650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작업이</a:t>
            </a:r>
            <a:r>
              <a:rPr lang="en-US" sz="16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50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아니</a:t>
            </a:r>
            <a:r>
              <a:rPr lang="ko-KR" altLang="en-US" sz="16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며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"이미 답이 나온 것"과 "아직 비어 있는 것"의 경계를 그리는 </a:t>
            </a:r>
            <a:r>
              <a:rPr lang="en-US" sz="1650" b="1" dirty="0" err="1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65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3847795"/>
            <a:ext cx="10287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LAYERS · 무엇을 읽는가 · 신뢰도 순</a:t>
            </a:r>
            <a:endParaRPr lang="en-US" sz="10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4153205"/>
          <a:ext cx="10278770" cy="2628716"/>
        </p:xfrm>
        <a:graphic>
          <a:graphicData uri="http://schemas.openxmlformats.org/drawingml/2006/table">
            <a:tbl>
              <a:tblPr/>
              <a:tblGrid>
                <a:gridCol w="1429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05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층위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자료 유형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대표 출처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14300" marB="114300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1차 규범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법령 원문 · 규정 · 국제표준 본문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국가법령정보센터 · EUR-Lex · ISO OBP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공적 해설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정부 가이드라인 · 해설서 · 입법자료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과기정통부 · aikorea.go.kr · 국회 의안정보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학술 문헌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학술지 논문 · 학위논문 · 단행본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KCI · DBpia · SSRN · arXiv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실무 문헌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로펌 뉴스레터 · 기관 보고서 · 표준화 문서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주요 로펌 · KISDI · SPRi · TTA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0"/>
          <p:cNvSpPr/>
          <p:nvPr/>
        </p:nvSpPr>
        <p:spPr>
          <a:xfrm>
            <a:off x="761695" y="6819595"/>
            <a:ext cx="10287000" cy="495605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17" name="Shape 11"/>
          <p:cNvSpPr/>
          <p:nvPr/>
        </p:nvSpPr>
        <p:spPr>
          <a:xfrm>
            <a:off x="761695" y="6819595"/>
            <a:ext cx="38405" cy="4956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972007" y="6819595"/>
            <a:ext cx="10076688" cy="4956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114300" rIns="177800" bIns="11430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아래 층위로 인용을 쌓지 말 것. 로펌 뉴스레터에서 본 조문 해석은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반드시 1차 규범으로 확인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뒤 인용한다.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11772900" y="4095598"/>
            <a:ext cx="54297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CRITICAL READING · 어떻게 읽는가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11772900" y="4343400"/>
            <a:ext cx="5429707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논문 한 편에 던지는 5개 질문</a:t>
            </a:r>
            <a:endParaRPr lang="en-US" sz="2250" dirty="0"/>
          </a:p>
        </p:txBody>
      </p:sp>
      <p:pic>
        <p:nvPicPr>
          <p:cNvPr id="21" name="Image 2" descr="gen-dedup-5b1ed60b22dfe221f5e60d8ea3fec8c8.png"/>
          <p:cNvPicPr>
            <a:picLocks noChangeAspect="1"/>
          </p:cNvPicPr>
          <p:nvPr/>
        </p:nvPicPr>
        <p:blipFill>
          <a:blip r:embed="rId5"/>
          <a:srcRect t="-411" b="-411"/>
          <a:stretch/>
        </p:blipFill>
        <p:spPr>
          <a:xfrm>
            <a:off x="11772900" y="4914900"/>
            <a:ext cx="666598" cy="192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772900" y="5052060"/>
            <a:ext cx="5429707" cy="587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Q1. 무엇을 묻는가</a:t>
            </a:r>
            <a:endParaRPr lang="en-US" sz="135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연구문제가 한 문장으로 잡히는가. 안 잡히면 논문 자체가 흐린 것.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11772900" y="5733288"/>
            <a:ext cx="5429707" cy="587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Q2. 어떤 방법으로 답하는가</a:t>
            </a:r>
            <a:endParaRPr lang="en-US" sz="135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비교법·사례·정량 중 무엇이며, 그 방법이 질문에 맞는가.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11772900" y="6415430"/>
            <a:ext cx="5429707" cy="587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Q3. 근거가 1차 출처인가</a:t>
            </a:r>
            <a:endParaRPr lang="en-US" sz="135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조문·표준을 직접 인용하는가, 2차 요약에 의존하는가.</a:t>
            </a:r>
            <a:endParaRPr lang="en-US" sz="1350" dirty="0"/>
          </a:p>
        </p:txBody>
      </p:sp>
      <p:sp>
        <p:nvSpPr>
          <p:cNvPr id="25" name="Text 18"/>
          <p:cNvSpPr txBox="1"/>
          <p:nvPr/>
        </p:nvSpPr>
        <p:spPr>
          <a:xfrm>
            <a:off x="11772900" y="7097573"/>
            <a:ext cx="5429707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Q4. 언제 쓰였는가 ★</a:t>
            </a:r>
            <a:endParaRPr lang="en-US" sz="135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분야에서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발행 연도가 결정적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2025년 이전 국내 논문은 시행 전 상태를 다룬다.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11772900" y="8054035"/>
            <a:ext cx="5429707" cy="587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Q5. 무엇을 남겨두었는가</a:t>
            </a:r>
            <a:endParaRPr lang="en-US" sz="135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결론의 "향후 연구 과제"가 여러분의 출발점.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1104595" y="7848295"/>
            <a:ext cx="962040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13주차 산출물 · 갭 맵(Gap Map) 한 장</a:t>
            </a:r>
            <a:endParaRPr lang="en-US" sz="1950" dirty="0"/>
          </a:p>
        </p:txBody>
      </p:sp>
      <p:sp>
        <p:nvSpPr>
          <p:cNvPr id="28" name="Text 21"/>
          <p:cNvSpPr txBox="1"/>
          <p:nvPr/>
        </p:nvSpPr>
        <p:spPr>
          <a:xfrm>
            <a:off x="1104595" y="8296351"/>
            <a:ext cx="96204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각자 주제에 대해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선행연구 6–10편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표로 정리합니다 — 저자·연도 / 연구문제 / 방법 / 결론 /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남긴 빈틈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마지막 칸이 모이면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"내 소논문이 채울 자리"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드러납니다. 이 표가 소논문 2장(선행연구 검토)의 초안이 됩니다.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 / 43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3924605"/>
            <a:ext cx="3238805" cy="3066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3924605"/>
            <a:ext cx="32388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4238244" y="3924605"/>
            <a:ext cx="3238805" cy="3066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238244" y="3924605"/>
            <a:ext cx="32388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15707" y="3924605"/>
            <a:ext cx="3238805" cy="3066898"/>
          </a:xfrm>
          <a:prstGeom prst="rect">
            <a:avLst/>
          </a:prstGeom>
          <a:solidFill>
            <a:srgbClr val="E6F1EA"/>
          </a:solidFill>
          <a:ln w="12700">
            <a:solidFill>
              <a:srgbClr val="036B3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715707" y="3924605"/>
            <a:ext cx="3238805" cy="47549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192256" y="3924605"/>
            <a:ext cx="3238805" cy="3066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92256" y="3924605"/>
            <a:ext cx="32388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4668805" y="3924605"/>
            <a:ext cx="2857500" cy="3066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4668805" y="3924605"/>
            <a:ext cx="2857500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1695" y="7276795"/>
            <a:ext cx="1095359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61695" y="7276795"/>
            <a:ext cx="57607" cy="2057400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2001500" y="7276795"/>
            <a:ext cx="5524805" cy="2057400"/>
          </a:xfrm>
          <a:prstGeom prst="rect">
            <a:avLst/>
          </a:prstGeom>
          <a:solidFill>
            <a:srgbClr val="E6F1EA"/>
          </a:solidFill>
          <a:ln w="12700">
            <a:solidFill>
              <a:srgbClr val="036B3F"/>
            </a:solidFill>
            <a:prstDash val="solid"/>
          </a:ln>
        </p:spPr>
      </p:sp>
      <p:pic>
        <p:nvPicPr>
          <p:cNvPr id="17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857500"/>
            <a:ext cx="761695" cy="2834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761695" y="1143000"/>
            <a:ext cx="1895551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61695" y="1143000"/>
            <a:ext cx="18955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14주차 · 12.03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761695" y="1619402"/>
            <a:ext cx="16764610" cy="8485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거버넌스 </a:t>
            </a:r>
            <a:r>
              <a:rPr lang="en-US" sz="4650" b="1" kern="0" spc="-75" dirty="0" err="1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실무사례</a:t>
            </a:r>
            <a:r>
              <a:rPr lang="en-US" sz="465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endParaRPr lang="en-US" sz="4650" dirty="0"/>
          </a:p>
        </p:txBody>
      </p:sp>
      <p:sp>
        <p:nvSpPr>
          <p:cNvPr id="22" name="Text 17"/>
          <p:cNvSpPr txBox="1"/>
          <p:nvPr/>
        </p:nvSpPr>
        <p:spPr>
          <a:xfrm>
            <a:off x="761695" y="2542946"/>
            <a:ext cx="16764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Week 14 · Practice Cases · Sector-by-Sector Application</a:t>
            </a:r>
            <a:endParaRPr lang="en-US" sz="1950" dirty="0"/>
          </a:p>
        </p:txBody>
      </p:sp>
      <p:sp>
        <p:nvSpPr>
          <p:cNvPr id="23" name="Text 18"/>
          <p:cNvSpPr txBox="1"/>
          <p:nvPr/>
        </p:nvSpPr>
        <p:spPr>
          <a:xfrm>
            <a:off x="761695" y="3200400"/>
            <a:ext cx="167646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법·같은 표준이라도 </a:t>
            </a:r>
            <a:r>
              <a:rPr lang="en-US" sz="16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분야에 따라 쟁점이 완전히 달라진다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이 주차는 여러분의 소논문 </a:t>
            </a:r>
            <a:r>
              <a:rPr lang="en-US" sz="16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선정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직접 쓰이는 지도다.</a:t>
            </a:r>
            <a:endParaRPr lang="en-US" sz="1650" dirty="0"/>
          </a:p>
        </p:txBody>
      </p:sp>
      <p:sp>
        <p:nvSpPr>
          <p:cNvPr id="24" name="Text 19"/>
          <p:cNvSpPr txBox="1"/>
          <p:nvPr/>
        </p:nvSpPr>
        <p:spPr>
          <a:xfrm>
            <a:off x="1009498" y="4153205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SECTOR 01</a:t>
            </a:r>
            <a:endParaRPr lang="en-US" sz="975" dirty="0"/>
          </a:p>
        </p:txBody>
      </p:sp>
      <p:sp>
        <p:nvSpPr>
          <p:cNvPr id="25" name="Text 20"/>
          <p:cNvSpPr txBox="1"/>
          <p:nvPr/>
        </p:nvSpPr>
        <p:spPr>
          <a:xfrm>
            <a:off x="1009498" y="4371746"/>
            <a:ext cx="27432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금융</a:t>
            </a:r>
            <a:endParaRPr lang="en-US" sz="2025" dirty="0"/>
          </a:p>
        </p:txBody>
      </p:sp>
      <p:sp>
        <p:nvSpPr>
          <p:cNvPr id="26" name="Text 21"/>
          <p:cNvSpPr txBox="1"/>
          <p:nvPr/>
        </p:nvSpPr>
        <p:spPr>
          <a:xfrm>
            <a:off x="1009498" y="4781398"/>
            <a:ext cx="302575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2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신용평가 · 대출심사 · 로보어드바이저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009498" y="5062118"/>
            <a:ext cx="2743200" cy="128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고영향 해당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가능성 높음(개인 권리관계 평가).</a:t>
            </a:r>
            <a:endParaRPr lang="en-US" sz="1275" dirty="0"/>
          </a:p>
          <a:p>
            <a:pPr marL="0" indent="0" algn="l">
              <a:lnSpc>
                <a:spcPts val="1976"/>
              </a:lnSpc>
              <a:buNone/>
            </a:pPr>
            <a:endParaRPr lang="en-US" sz="1275" dirty="0"/>
          </a:p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쟁점 — 거절 사유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 의무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기존 금융 규제와의 중첩, 대리변수에 의한 차별.</a:t>
            </a:r>
            <a:endParaRPr lang="en-US" sz="1275" dirty="0"/>
          </a:p>
        </p:txBody>
      </p:sp>
      <p:sp>
        <p:nvSpPr>
          <p:cNvPr id="28" name="Text 23"/>
          <p:cNvSpPr txBox="1"/>
          <p:nvPr/>
        </p:nvSpPr>
        <p:spPr>
          <a:xfrm>
            <a:off x="4486046" y="4153205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SECTOR 02</a:t>
            </a:r>
            <a:endParaRPr lang="en-US" sz="975" dirty="0"/>
          </a:p>
        </p:txBody>
      </p:sp>
      <p:sp>
        <p:nvSpPr>
          <p:cNvPr id="29" name="Text 24"/>
          <p:cNvSpPr txBox="1"/>
          <p:nvPr/>
        </p:nvSpPr>
        <p:spPr>
          <a:xfrm>
            <a:off x="4486046" y="4371746"/>
            <a:ext cx="27432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의료</a:t>
            </a:r>
            <a:endParaRPr lang="en-US" sz="2025" dirty="0"/>
          </a:p>
        </p:txBody>
      </p:sp>
      <p:sp>
        <p:nvSpPr>
          <p:cNvPr id="30" name="Text 25"/>
          <p:cNvSpPr txBox="1"/>
          <p:nvPr/>
        </p:nvSpPr>
        <p:spPr>
          <a:xfrm>
            <a:off x="4486046" y="4781398"/>
            <a:ext cx="2743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2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진단 보조 · 디지털의료기기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4486046" y="5062118"/>
            <a:ext cx="2743200" cy="1543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법에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명시된 고영향 영역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의료기기 규제와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이중 규율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75" dirty="0"/>
          </a:p>
          <a:p>
            <a:pPr marL="0" indent="0" algn="l">
              <a:lnSpc>
                <a:spcPts val="1976"/>
              </a:lnSpc>
              <a:buNone/>
            </a:pPr>
            <a:endParaRPr lang="en-US" sz="1275" dirty="0"/>
          </a:p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쟁점 — 인허가와 AI법의 관계, 최종 판단 책임의 귀속, 지속 학습 모델의 변경 관리.</a:t>
            </a:r>
            <a:endParaRPr lang="en-US" sz="1275" dirty="0"/>
          </a:p>
        </p:txBody>
      </p:sp>
      <p:sp>
        <p:nvSpPr>
          <p:cNvPr id="32" name="Text 27"/>
          <p:cNvSpPr txBox="1"/>
          <p:nvPr/>
        </p:nvSpPr>
        <p:spPr>
          <a:xfrm>
            <a:off x="7962595" y="4153205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SECTOR 03 ★</a:t>
            </a:r>
            <a:endParaRPr lang="en-US" sz="975" dirty="0"/>
          </a:p>
        </p:txBody>
      </p:sp>
      <p:sp>
        <p:nvSpPr>
          <p:cNvPr id="33" name="Text 28"/>
          <p:cNvSpPr txBox="1"/>
          <p:nvPr/>
        </p:nvSpPr>
        <p:spPr>
          <a:xfrm>
            <a:off x="7962595" y="4371746"/>
            <a:ext cx="27432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채용 · HR</a:t>
            </a:r>
            <a:endParaRPr lang="en-US" sz="2025" dirty="0"/>
          </a:p>
        </p:txBody>
      </p:sp>
      <p:sp>
        <p:nvSpPr>
          <p:cNvPr id="34" name="Text 29"/>
          <p:cNvSpPr txBox="1"/>
          <p:nvPr/>
        </p:nvSpPr>
        <p:spPr>
          <a:xfrm>
            <a:off x="7962595" y="4781398"/>
            <a:ext cx="2743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2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이력서 스크리닝 · AI 면접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7962595" y="5062118"/>
            <a:ext cx="2743200" cy="1543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EU·한국 모두 고위험/고영향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포섭. 사례 연구가 가장 활발.</a:t>
            </a:r>
            <a:endParaRPr lang="en-US" sz="1275" dirty="0"/>
          </a:p>
          <a:p>
            <a:pPr marL="0" indent="0" algn="l">
              <a:lnSpc>
                <a:spcPts val="1976"/>
              </a:lnSpc>
              <a:buNone/>
            </a:pPr>
            <a:endParaRPr lang="en-US" sz="1275" dirty="0"/>
          </a:p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쟁점 — 편향 측정 지표 선택, 탈락자에 대한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사람의 감독을 형식화하지 않는 설계.</a:t>
            </a:r>
            <a:endParaRPr lang="en-US" sz="1275" dirty="0"/>
          </a:p>
        </p:txBody>
      </p:sp>
      <p:sp>
        <p:nvSpPr>
          <p:cNvPr id="36" name="Text 31"/>
          <p:cNvSpPr txBox="1"/>
          <p:nvPr/>
        </p:nvSpPr>
        <p:spPr>
          <a:xfrm>
            <a:off x="11439144" y="4153205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SECTOR 04</a:t>
            </a:r>
            <a:endParaRPr lang="en-US" sz="975" dirty="0"/>
          </a:p>
        </p:txBody>
      </p:sp>
      <p:sp>
        <p:nvSpPr>
          <p:cNvPr id="37" name="Text 32"/>
          <p:cNvSpPr txBox="1"/>
          <p:nvPr/>
        </p:nvSpPr>
        <p:spPr>
          <a:xfrm>
            <a:off x="11439144" y="4371746"/>
            <a:ext cx="27432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공공</a:t>
            </a:r>
            <a:endParaRPr lang="en-US" sz="2025" dirty="0"/>
          </a:p>
        </p:txBody>
      </p:sp>
      <p:sp>
        <p:nvSpPr>
          <p:cNvPr id="38" name="Text 33"/>
          <p:cNvSpPr txBox="1"/>
          <p:nvPr/>
        </p:nvSpPr>
        <p:spPr>
          <a:xfrm>
            <a:off x="11439144" y="4781398"/>
            <a:ext cx="2743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2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복지 자격 판정 · 민원 응대 · 조달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11439144" y="5062118"/>
            <a:ext cx="2743200" cy="128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2026.7.21 개정법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공공조달 우대·AI 제품 확인제 도입.</a:t>
            </a:r>
            <a:endParaRPr lang="en-US" sz="1275" dirty="0"/>
          </a:p>
          <a:p>
            <a:pPr marL="0" indent="0" algn="l">
              <a:lnSpc>
                <a:spcPts val="1976"/>
              </a:lnSpc>
              <a:buNone/>
            </a:pPr>
            <a:endParaRPr lang="en-US" sz="1275" dirty="0"/>
          </a:p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쟁점 — 행정처분의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적법절차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조달 요구사항 설계, 취약계층 접근성.</a:t>
            </a:r>
            <a:endParaRPr lang="en-US" sz="1275" dirty="0"/>
          </a:p>
        </p:txBody>
      </p:sp>
      <p:sp>
        <p:nvSpPr>
          <p:cNvPr id="40" name="Text 35"/>
          <p:cNvSpPr txBox="1"/>
          <p:nvPr/>
        </p:nvSpPr>
        <p:spPr>
          <a:xfrm>
            <a:off x="14916607" y="4153205"/>
            <a:ext cx="2382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SECTOR 05</a:t>
            </a:r>
            <a:endParaRPr lang="en-US" sz="975" dirty="0"/>
          </a:p>
        </p:txBody>
      </p:sp>
      <p:sp>
        <p:nvSpPr>
          <p:cNvPr id="41" name="Text 36"/>
          <p:cNvSpPr txBox="1"/>
          <p:nvPr/>
        </p:nvSpPr>
        <p:spPr>
          <a:xfrm>
            <a:off x="14916607" y="4371746"/>
            <a:ext cx="23820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플랫폼</a:t>
            </a:r>
            <a:endParaRPr lang="en-US" sz="2025" dirty="0"/>
          </a:p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· 제조</a:t>
            </a:r>
            <a:endParaRPr lang="en-US" sz="2025" dirty="0"/>
          </a:p>
        </p:txBody>
      </p:sp>
      <p:sp>
        <p:nvSpPr>
          <p:cNvPr id="42" name="Text 37"/>
          <p:cNvSpPr txBox="1"/>
          <p:nvPr/>
        </p:nvSpPr>
        <p:spPr>
          <a:xfrm>
            <a:off x="14916607" y="5152644"/>
            <a:ext cx="23820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2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서비스 · 스마트팩토리</a:t>
            </a:r>
            <a:endParaRPr lang="en-US" sz="1200" dirty="0"/>
          </a:p>
        </p:txBody>
      </p:sp>
      <p:sp>
        <p:nvSpPr>
          <p:cNvPr id="43" name="Text 38"/>
          <p:cNvSpPr txBox="1"/>
          <p:nvPr/>
        </p:nvSpPr>
        <p:spPr>
          <a:xfrm>
            <a:off x="14916607" y="5433365"/>
            <a:ext cx="2382012" cy="128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생성형은 </a:t>
            </a:r>
            <a:r>
              <a:rPr lang="en-US" sz="12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§31 표시 의무</a:t>
            </a: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핵심. 제조는 안전·품질과 결합.</a:t>
            </a:r>
            <a:endParaRPr lang="en-US" sz="1275" dirty="0"/>
          </a:p>
          <a:p>
            <a:pPr marL="0" indent="0" algn="l">
              <a:lnSpc>
                <a:spcPts val="1976"/>
              </a:lnSpc>
              <a:buNone/>
            </a:pPr>
            <a:endParaRPr lang="en-US" sz="1275" dirty="0"/>
          </a:p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쟁점 — 표시의 UX 설계, 학습 데이터 권리, 설비 안전과 AI 판단.</a:t>
            </a:r>
            <a:endParaRPr lang="en-US" sz="1275" dirty="0"/>
          </a:p>
        </p:txBody>
      </p:sp>
      <p:sp>
        <p:nvSpPr>
          <p:cNvPr id="44" name="Text 39"/>
          <p:cNvSpPr txBox="1"/>
          <p:nvPr/>
        </p:nvSpPr>
        <p:spPr>
          <a:xfrm>
            <a:off x="1104595" y="7505395"/>
            <a:ext cx="102870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사례를 분석하는 공통 5단 프레임</a:t>
            </a:r>
            <a:endParaRPr lang="en-US" sz="1950" dirty="0"/>
          </a:p>
        </p:txBody>
      </p:sp>
      <p:sp>
        <p:nvSpPr>
          <p:cNvPr id="45" name="Text 40"/>
          <p:cNvSpPr txBox="1"/>
          <p:nvPr/>
        </p:nvSpPr>
        <p:spPr>
          <a:xfrm>
            <a:off x="1104595" y="8577986"/>
            <a:ext cx="10287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⑤에서 남은 문제가 곧 </a:t>
            </a:r>
            <a:r>
              <a:rPr lang="en-US" sz="135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소논문의 연구문제</a:t>
            </a: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된다.</a:t>
            </a:r>
            <a:endParaRPr lang="en-US" sz="1350" dirty="0"/>
          </a:p>
        </p:txBody>
      </p:sp>
      <p:sp>
        <p:nvSpPr>
          <p:cNvPr id="46" name="Text 41"/>
          <p:cNvSpPr txBox="1"/>
          <p:nvPr/>
        </p:nvSpPr>
        <p:spPr>
          <a:xfrm>
            <a:off x="1104595" y="7962595"/>
            <a:ext cx="107167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유형 판정</a:t>
            </a:r>
            <a:endParaRPr lang="en-US" sz="1350" dirty="0"/>
          </a:p>
        </p:txBody>
      </p:sp>
      <p:sp>
        <p:nvSpPr>
          <p:cNvPr id="47" name="Text 42"/>
          <p:cNvSpPr txBox="1"/>
          <p:nvPr/>
        </p:nvSpPr>
        <p:spPr>
          <a:xfrm>
            <a:off x="2003450" y="7962595"/>
            <a:ext cx="309798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고영향/생성형 해당 여부(§2·§33) →</a:t>
            </a:r>
            <a:endParaRPr lang="en-US" sz="1350" dirty="0"/>
          </a:p>
        </p:txBody>
      </p:sp>
      <p:sp>
        <p:nvSpPr>
          <p:cNvPr id="48" name="Text 43"/>
          <p:cNvSpPr txBox="1"/>
          <p:nvPr/>
        </p:nvSpPr>
        <p:spPr>
          <a:xfrm>
            <a:off x="4900270" y="7962595"/>
            <a:ext cx="125455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의무 목록화</a:t>
            </a:r>
            <a:endParaRPr lang="en-US" sz="1350" dirty="0"/>
          </a:p>
        </p:txBody>
      </p:sp>
      <p:sp>
        <p:nvSpPr>
          <p:cNvPr id="49" name="Text 44"/>
          <p:cNvSpPr txBox="1"/>
          <p:nvPr/>
        </p:nvSpPr>
        <p:spPr>
          <a:xfrm>
            <a:off x="5956402" y="7962595"/>
            <a:ext cx="25054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조문·가이드라인 추출 →</a:t>
            </a:r>
            <a:endParaRPr lang="en-US" sz="1350" dirty="0"/>
          </a:p>
        </p:txBody>
      </p:sp>
      <p:sp>
        <p:nvSpPr>
          <p:cNvPr id="50" name="Text 45"/>
          <p:cNvSpPr txBox="1"/>
          <p:nvPr/>
        </p:nvSpPr>
        <p:spPr>
          <a:xfrm>
            <a:off x="8199425" y="7962595"/>
            <a:ext cx="154716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기술 통제 설계</a:t>
            </a:r>
            <a:endParaRPr lang="en-US" sz="1350" dirty="0"/>
          </a:p>
        </p:txBody>
      </p:sp>
      <p:sp>
        <p:nvSpPr>
          <p:cNvPr id="51" name="Text 46"/>
          <p:cNvSpPr txBox="1"/>
          <p:nvPr/>
        </p:nvSpPr>
        <p:spPr>
          <a:xfrm>
            <a:off x="9461297" y="7962595"/>
            <a:ext cx="218633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10주차 기술 스택 대입 →</a:t>
            </a:r>
            <a:endParaRPr lang="en-US" sz="1350" dirty="0"/>
          </a:p>
        </p:txBody>
      </p:sp>
      <p:sp>
        <p:nvSpPr>
          <p:cNvPr id="52" name="Text 47"/>
          <p:cNvSpPr txBox="1"/>
          <p:nvPr/>
        </p:nvSpPr>
        <p:spPr>
          <a:xfrm>
            <a:off x="1104595" y="8236915"/>
            <a:ext cx="107167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표준 매핑</a:t>
            </a:r>
            <a:endParaRPr lang="en-US" sz="1350" dirty="0"/>
          </a:p>
        </p:txBody>
      </p:sp>
      <p:sp>
        <p:nvSpPr>
          <p:cNvPr id="53" name="Text 48"/>
          <p:cNvSpPr txBox="1"/>
          <p:nvPr/>
        </p:nvSpPr>
        <p:spPr>
          <a:xfrm>
            <a:off x="2003450" y="8236915"/>
            <a:ext cx="266547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42001 통제와 대조 →</a:t>
            </a:r>
            <a:endParaRPr lang="en-US" sz="1350" dirty="0"/>
          </a:p>
        </p:txBody>
      </p:sp>
      <p:sp>
        <p:nvSpPr>
          <p:cNvPr id="54" name="Text 49"/>
          <p:cNvSpPr txBox="1"/>
          <p:nvPr/>
        </p:nvSpPr>
        <p:spPr>
          <a:xfrm>
            <a:off x="4335170" y="8236915"/>
            <a:ext cx="154716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잔여 위험 기술</a:t>
            </a:r>
            <a:endParaRPr lang="en-US" sz="1350" dirty="0"/>
          </a:p>
        </p:txBody>
      </p:sp>
      <p:sp>
        <p:nvSpPr>
          <p:cNvPr id="55" name="Text 50"/>
          <p:cNvSpPr txBox="1"/>
          <p:nvPr/>
        </p:nvSpPr>
        <p:spPr>
          <a:xfrm>
            <a:off x="5597042" y="8236915"/>
            <a:ext cx="145846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남는 문제를 명시</a:t>
            </a:r>
            <a:endParaRPr lang="en-US" sz="1350" dirty="0"/>
          </a:p>
        </p:txBody>
      </p:sp>
      <p:sp>
        <p:nvSpPr>
          <p:cNvPr id="56" name="Text 51"/>
          <p:cNvSpPr txBox="1"/>
          <p:nvPr/>
        </p:nvSpPr>
        <p:spPr>
          <a:xfrm>
            <a:off x="12344400" y="7505395"/>
            <a:ext cx="48582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14주차 수업 방식</a:t>
            </a:r>
            <a:endParaRPr lang="en-US" sz="1875" dirty="0"/>
          </a:p>
        </p:txBody>
      </p:sp>
      <p:sp>
        <p:nvSpPr>
          <p:cNvPr id="57" name="Text 52"/>
          <p:cNvSpPr txBox="1"/>
          <p:nvPr/>
        </p:nvSpPr>
        <p:spPr>
          <a:xfrm>
            <a:off x="12344400" y="8568842"/>
            <a:ext cx="48582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직후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15주 Case Study 2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발표로 바로 연결됩니다.</a:t>
            </a:r>
            <a:endParaRPr lang="en-US" sz="1350" dirty="0"/>
          </a:p>
        </p:txBody>
      </p:sp>
      <p:sp>
        <p:nvSpPr>
          <p:cNvPr id="58" name="Text 53"/>
          <p:cNvSpPr txBox="1"/>
          <p:nvPr/>
        </p:nvSpPr>
        <p:spPr>
          <a:xfrm>
            <a:off x="12344400" y="7953451"/>
            <a:ext cx="99669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기업의</a:t>
            </a:r>
            <a:endParaRPr lang="en-US" sz="1350" dirty="0"/>
          </a:p>
        </p:txBody>
      </p:sp>
      <p:sp>
        <p:nvSpPr>
          <p:cNvPr id="59" name="Text 54"/>
          <p:cNvSpPr txBox="1"/>
          <p:nvPr/>
        </p:nvSpPr>
        <p:spPr>
          <a:xfrm>
            <a:off x="13229539" y="7953451"/>
            <a:ext cx="186537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공개된 거버넌스 체계</a:t>
            </a:r>
            <a:endParaRPr lang="en-US" sz="1350" dirty="0"/>
          </a:p>
        </p:txBody>
      </p:sp>
      <p:sp>
        <p:nvSpPr>
          <p:cNvPr id="60" name="Text 55"/>
          <p:cNvSpPr txBox="1"/>
          <p:nvPr/>
        </p:nvSpPr>
        <p:spPr>
          <a:xfrm>
            <a:off x="12344400" y="7953451"/>
            <a:ext cx="47439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자료로 씁니다 — 전담조직, 위험관리 절차, 표시 방식, 인증 취득 등.</a:t>
            </a:r>
            <a:endParaRPr lang="en-US" sz="1350" dirty="0"/>
          </a:p>
        </p:txBody>
      </p:sp>
      <p:sp>
        <p:nvSpPr>
          <p:cNvPr id="61" name="Shape 56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62" name="Text 57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40 / 43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pic>
        <p:nvPicPr>
          <p:cNvPr id="4" name="Image 1" descr="gen-dedup-1bdf13fc61a1d35bd98a98967cf3c8ae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1143000" y="4304995"/>
            <a:ext cx="16002000" cy="47549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61695" y="6667805"/>
            <a:ext cx="9620402" cy="2667305"/>
          </a:xfrm>
          <a:prstGeom prst="rect">
            <a:avLst/>
          </a:prstGeom>
          <a:solidFill>
            <a:srgbClr val="E6F1EA"/>
          </a:solidFill>
          <a:ln w="12700">
            <a:solidFill>
              <a:srgbClr val="036B3F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761695" y="6667805"/>
            <a:ext cx="57607" cy="2667305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10763402" y="6667805"/>
            <a:ext cx="6762902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10763402" y="6667805"/>
            <a:ext cx="6762902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904695" y="4209898"/>
            <a:ext cx="247802" cy="247802"/>
          </a:xfrm>
          <a:prstGeom prst="ellipse">
            <a:avLst/>
          </a:prstGeom>
          <a:solidFill>
            <a:srgbClr val="036B3F"/>
          </a:solidFill>
          <a:ln w="50800">
            <a:solidFill>
              <a:srgbClr val="FAF8F4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5905195" y="4209898"/>
            <a:ext cx="247802" cy="247802"/>
          </a:xfrm>
          <a:prstGeom prst="ellipse">
            <a:avLst/>
          </a:prstGeom>
          <a:solidFill>
            <a:srgbClr val="036B3F"/>
          </a:solidFill>
          <a:ln w="50800">
            <a:solidFill>
              <a:srgbClr val="FAF8F4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905695" y="4209898"/>
            <a:ext cx="247802" cy="247802"/>
          </a:xfrm>
          <a:prstGeom prst="ellipse">
            <a:avLst/>
          </a:prstGeom>
          <a:solidFill>
            <a:srgbClr val="036B3F"/>
          </a:solidFill>
          <a:ln w="50800">
            <a:solidFill>
              <a:srgbClr val="FAF8F4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3716000" y="4209898"/>
            <a:ext cx="247802" cy="247802"/>
          </a:xfrm>
          <a:prstGeom prst="ellipse">
            <a:avLst/>
          </a:prstGeom>
          <a:solidFill>
            <a:srgbClr val="036B3F"/>
          </a:solidFill>
          <a:ln w="50800">
            <a:solidFill>
              <a:srgbClr val="FAF8F4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6573500" y="4134002"/>
            <a:ext cx="400507" cy="400507"/>
          </a:xfrm>
          <a:prstGeom prst="ellipse">
            <a:avLst/>
          </a:prstGeom>
          <a:solidFill>
            <a:srgbClr val="C9A24A"/>
          </a:solidFill>
          <a:ln w="50800">
            <a:solidFill>
              <a:srgbClr val="FAF8F4"/>
            </a:solidFill>
            <a:prstDash val="solid"/>
          </a:ln>
        </p:spPr>
      </p:sp>
      <p:pic>
        <p:nvPicPr>
          <p:cNvPr id="14" name="Image 2" descr="gen-dedup-fa0cbed79e4ba9f00851ca4a50b9d912.png"/>
          <p:cNvPicPr>
            <a:picLocks noChangeAspect="1"/>
          </p:cNvPicPr>
          <p:nvPr/>
        </p:nvPicPr>
        <p:blipFill>
          <a:blip r:embed="rId5"/>
          <a:srcRect l="-385" r="-385"/>
          <a:stretch/>
        </p:blipFill>
        <p:spPr>
          <a:xfrm>
            <a:off x="761695" y="2857500"/>
            <a:ext cx="761695" cy="2834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761695" y="1143000"/>
            <a:ext cx="3029407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61695" y="1143000"/>
            <a:ext cx="3029407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15–16주차 · 12.10, 12.17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61695" y="1619402"/>
            <a:ext cx="16764610" cy="8485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소논문 로드맵 · 학기 전체가 하나의 논문으로</a:t>
            </a:r>
            <a:endParaRPr lang="en-US" sz="4650" dirty="0"/>
          </a:p>
        </p:txBody>
      </p:sp>
      <p:sp>
        <p:nvSpPr>
          <p:cNvPr id="19" name="Text 13"/>
          <p:cNvSpPr txBox="1"/>
          <p:nvPr/>
        </p:nvSpPr>
        <p:spPr>
          <a:xfrm>
            <a:off x="761695" y="2542946"/>
            <a:ext cx="16764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Term Paper Roadmap · The Semester Accumulates into One Paper</a:t>
            </a:r>
            <a:endParaRPr lang="en-US" sz="1950" dirty="0"/>
          </a:p>
        </p:txBody>
      </p:sp>
      <p:sp>
        <p:nvSpPr>
          <p:cNvPr id="20" name="Text 14"/>
          <p:cNvSpPr txBox="1"/>
          <p:nvPr/>
        </p:nvSpPr>
        <p:spPr>
          <a:xfrm>
            <a:off x="761695" y="3200400"/>
            <a:ext cx="167646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소논문은 </a:t>
            </a:r>
            <a:r>
              <a:rPr lang="en-US" sz="16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학기 말에 새로 쓰는 과제가 아니다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r>
              <a:rPr lang="en-US" sz="16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7주 Case 1 → 13주 갭 맵 → 15주 Case 2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각각 논문의 한 장(章)이 되도록 설계했다.</a:t>
            </a:r>
            <a:endParaRPr lang="en-US" sz="1650" dirty="0"/>
          </a:p>
        </p:txBody>
      </p:sp>
      <p:sp>
        <p:nvSpPr>
          <p:cNvPr id="21" name="Text 15"/>
          <p:cNvSpPr txBox="1"/>
          <p:nvPr/>
        </p:nvSpPr>
        <p:spPr>
          <a:xfrm>
            <a:off x="1143000" y="4686300"/>
            <a:ext cx="3620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7주차 · 10.15</a:t>
            </a:r>
            <a:endParaRPr lang="en-US" sz="1125" dirty="0"/>
          </a:p>
        </p:txBody>
      </p:sp>
      <p:sp>
        <p:nvSpPr>
          <p:cNvPr id="22" name="Text 16"/>
          <p:cNvSpPr txBox="1"/>
          <p:nvPr/>
        </p:nvSpPr>
        <p:spPr>
          <a:xfrm>
            <a:off x="1143000" y="4924044"/>
            <a:ext cx="3620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Case Study 1</a:t>
            </a:r>
            <a:endParaRPr lang="en-US" sz="1875" dirty="0"/>
          </a:p>
        </p:txBody>
      </p:sp>
      <p:sp>
        <p:nvSpPr>
          <p:cNvPr id="23" name="Text 17"/>
          <p:cNvSpPr txBox="1"/>
          <p:nvPr/>
        </p:nvSpPr>
        <p:spPr>
          <a:xfrm>
            <a:off x="1143000" y="5867705"/>
            <a:ext cx="362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논문 1장 · 문제 제기</a:t>
            </a:r>
            <a:endParaRPr lang="en-US" sz="1275" dirty="0"/>
          </a:p>
        </p:txBody>
      </p:sp>
      <p:sp>
        <p:nvSpPr>
          <p:cNvPr id="24" name="Text 18"/>
          <p:cNvSpPr txBox="1"/>
          <p:nvPr/>
        </p:nvSpPr>
        <p:spPr>
          <a:xfrm>
            <a:off x="1143000" y="5324551"/>
            <a:ext cx="3591763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법규제 사례 발표(3분). 사례를 하나 고르고 법 적용을 판단한다.</a:t>
            </a:r>
            <a:endParaRPr lang="en-US" sz="1275" dirty="0"/>
          </a:p>
        </p:txBody>
      </p:sp>
      <p:sp>
        <p:nvSpPr>
          <p:cNvPr id="25" name="Text 19"/>
          <p:cNvSpPr txBox="1"/>
          <p:nvPr/>
        </p:nvSpPr>
        <p:spPr>
          <a:xfrm>
            <a:off x="5143500" y="4686300"/>
            <a:ext cx="3620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12주차 · 11.19</a:t>
            </a:r>
            <a:endParaRPr lang="en-US" sz="1125" dirty="0"/>
          </a:p>
        </p:txBody>
      </p:sp>
      <p:sp>
        <p:nvSpPr>
          <p:cNvPr id="26" name="Text 20"/>
          <p:cNvSpPr txBox="1"/>
          <p:nvPr/>
        </p:nvSpPr>
        <p:spPr>
          <a:xfrm>
            <a:off x="5143500" y="4924044"/>
            <a:ext cx="3620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연구 설계</a:t>
            </a:r>
            <a:endParaRPr lang="en-US" sz="1875" dirty="0"/>
          </a:p>
        </p:txBody>
      </p:sp>
      <p:sp>
        <p:nvSpPr>
          <p:cNvPr id="27" name="Text 21"/>
          <p:cNvSpPr txBox="1"/>
          <p:nvPr/>
        </p:nvSpPr>
        <p:spPr>
          <a:xfrm>
            <a:off x="5143500" y="5624474"/>
            <a:ext cx="362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논문 3장 · 연구방법</a:t>
            </a:r>
            <a:endParaRPr lang="en-US" sz="1275" dirty="0"/>
          </a:p>
        </p:txBody>
      </p:sp>
      <p:sp>
        <p:nvSpPr>
          <p:cNvPr id="28" name="Text 22"/>
          <p:cNvSpPr txBox="1"/>
          <p:nvPr/>
        </p:nvSpPr>
        <p:spPr>
          <a:xfrm>
            <a:off x="5143500" y="5324551"/>
            <a:ext cx="403799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연구문제를 한 문장으로 정식화하고 방법을 택한다.</a:t>
            </a:r>
            <a:endParaRPr lang="en-US" sz="1275" dirty="0"/>
          </a:p>
        </p:txBody>
      </p:sp>
      <p:sp>
        <p:nvSpPr>
          <p:cNvPr id="29" name="Text 23"/>
          <p:cNvSpPr txBox="1"/>
          <p:nvPr/>
        </p:nvSpPr>
        <p:spPr>
          <a:xfrm>
            <a:off x="9144000" y="4686300"/>
            <a:ext cx="3620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13주차 · 11.26</a:t>
            </a:r>
            <a:endParaRPr lang="en-US" sz="1125" dirty="0"/>
          </a:p>
        </p:txBody>
      </p:sp>
      <p:sp>
        <p:nvSpPr>
          <p:cNvPr id="30" name="Text 24"/>
          <p:cNvSpPr txBox="1"/>
          <p:nvPr/>
        </p:nvSpPr>
        <p:spPr>
          <a:xfrm>
            <a:off x="9144000" y="4924044"/>
            <a:ext cx="3620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갭 맵 작성</a:t>
            </a:r>
            <a:endParaRPr lang="en-US" sz="1875" dirty="0"/>
          </a:p>
        </p:txBody>
      </p:sp>
      <p:sp>
        <p:nvSpPr>
          <p:cNvPr id="31" name="Text 25"/>
          <p:cNvSpPr txBox="1"/>
          <p:nvPr/>
        </p:nvSpPr>
        <p:spPr>
          <a:xfrm>
            <a:off x="9144000" y="5624474"/>
            <a:ext cx="362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논문 2장 · 선행연구 검토</a:t>
            </a:r>
            <a:endParaRPr lang="en-US" sz="1275" dirty="0"/>
          </a:p>
        </p:txBody>
      </p:sp>
      <p:sp>
        <p:nvSpPr>
          <p:cNvPr id="32" name="Text 26"/>
          <p:cNvSpPr txBox="1"/>
          <p:nvPr/>
        </p:nvSpPr>
        <p:spPr>
          <a:xfrm>
            <a:off x="9144000" y="5324551"/>
            <a:ext cx="4115714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선행연구 6–10편을 표로 정리하고 빈틈을 특정한다.</a:t>
            </a:r>
            <a:endParaRPr lang="en-US" sz="1275" dirty="0"/>
          </a:p>
        </p:txBody>
      </p:sp>
      <p:sp>
        <p:nvSpPr>
          <p:cNvPr id="33" name="Text 27"/>
          <p:cNvSpPr txBox="1"/>
          <p:nvPr/>
        </p:nvSpPr>
        <p:spPr>
          <a:xfrm>
            <a:off x="12954305" y="4686300"/>
            <a:ext cx="3429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15주차 · 12.10</a:t>
            </a:r>
            <a:endParaRPr lang="en-US" sz="1125" dirty="0"/>
          </a:p>
        </p:txBody>
      </p:sp>
      <p:sp>
        <p:nvSpPr>
          <p:cNvPr id="34" name="Text 28"/>
          <p:cNvSpPr txBox="1"/>
          <p:nvPr/>
        </p:nvSpPr>
        <p:spPr>
          <a:xfrm>
            <a:off x="12954305" y="4924044"/>
            <a:ext cx="3429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Case Study 2</a:t>
            </a:r>
            <a:endParaRPr lang="en-US" sz="1875" dirty="0"/>
          </a:p>
        </p:txBody>
      </p:sp>
      <p:sp>
        <p:nvSpPr>
          <p:cNvPr id="35" name="Text 29"/>
          <p:cNvSpPr txBox="1"/>
          <p:nvPr/>
        </p:nvSpPr>
        <p:spPr>
          <a:xfrm>
            <a:off x="12954305" y="5867705"/>
            <a:ext cx="342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논문 4장 · 분석·논의</a:t>
            </a:r>
            <a:endParaRPr lang="en-US" sz="1275" dirty="0"/>
          </a:p>
        </p:txBody>
      </p:sp>
      <p:sp>
        <p:nvSpPr>
          <p:cNvPr id="36" name="Text 30"/>
          <p:cNvSpPr txBox="1"/>
          <p:nvPr/>
        </p:nvSpPr>
        <p:spPr>
          <a:xfrm>
            <a:off x="12954305" y="5324551"/>
            <a:ext cx="338145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14주 5단 프레임으로 사례를 분석하고 적용 계획을 제시.</a:t>
            </a:r>
            <a:endParaRPr lang="en-US" sz="1275" dirty="0"/>
          </a:p>
        </p:txBody>
      </p:sp>
      <p:sp>
        <p:nvSpPr>
          <p:cNvPr id="37" name="Text 31"/>
          <p:cNvSpPr txBox="1"/>
          <p:nvPr/>
        </p:nvSpPr>
        <p:spPr>
          <a:xfrm>
            <a:off x="1104595" y="6915607"/>
            <a:ext cx="8953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 · 16주차 · 12.17 · 20%</a:t>
            </a:r>
            <a:endParaRPr lang="en-US" sz="1050" dirty="0"/>
          </a:p>
        </p:txBody>
      </p:sp>
      <p:sp>
        <p:nvSpPr>
          <p:cNvPr id="38" name="Text 32"/>
          <p:cNvSpPr txBox="1"/>
          <p:nvPr/>
        </p:nvSpPr>
        <p:spPr>
          <a:xfrm>
            <a:off x="1104595" y="7162495"/>
            <a:ext cx="89538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기말 종합 평가 보고서 (소논문)</a:t>
            </a:r>
            <a:endParaRPr lang="en-US" sz="2400" dirty="0"/>
          </a:p>
        </p:txBody>
      </p:sp>
      <p:sp>
        <p:nvSpPr>
          <p:cNvPr id="39" name="Text 33"/>
          <p:cNvSpPr txBox="1"/>
          <p:nvPr/>
        </p:nvSpPr>
        <p:spPr>
          <a:xfrm>
            <a:off x="1104595" y="7677302"/>
            <a:ext cx="895380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1장 문제 제기 · 2장 선행연구 검토 · 3장 연구방법 · 4장 분석·논의 · 5장 결론과 한계</a:t>
            </a:r>
            <a:endParaRPr lang="en-US" sz="1350" dirty="0"/>
          </a:p>
          <a:p>
            <a:pPr marL="0" indent="0" algn="l">
              <a:lnSpc>
                <a:spcPts val="2228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1차 출처 인용(조문·표준 원문). 2차 요약에서 본 내용은 원문 확인 후 인용.</a:t>
            </a:r>
            <a:endParaRPr lang="en-US" sz="1350" dirty="0"/>
          </a:p>
          <a:p>
            <a:pPr marL="0" indent="0" algn="l">
              <a:lnSpc>
                <a:spcPts val="2228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활용 허용. 단 </a:t>
            </a: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사용한 프롬프트·모델·출력물을 부록에 명시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350" dirty="0"/>
          </a:p>
        </p:txBody>
      </p:sp>
      <p:sp>
        <p:nvSpPr>
          <p:cNvPr id="40" name="Text 34"/>
          <p:cNvSpPr txBox="1"/>
          <p:nvPr/>
        </p:nvSpPr>
        <p:spPr>
          <a:xfrm>
            <a:off x="11106302" y="6915607"/>
            <a:ext cx="6096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누적 구조가 배점에 반영된 방식</a:t>
            </a:r>
            <a:endParaRPr lang="en-US" sz="1950" dirty="0"/>
          </a:p>
        </p:txBody>
      </p:sp>
      <p:sp>
        <p:nvSpPr>
          <p:cNvPr id="41" name="Shape 35"/>
          <p:cNvSpPr/>
          <p:nvPr/>
        </p:nvSpPr>
        <p:spPr>
          <a:xfrm>
            <a:off x="11106302" y="7754112"/>
            <a:ext cx="609630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11106302" y="7381951"/>
            <a:ext cx="189372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Case Study 1 · 7주차</a:t>
            </a:r>
            <a:endParaRPr lang="en-US" sz="1350" dirty="0"/>
          </a:p>
        </p:txBody>
      </p:sp>
      <p:sp>
        <p:nvSpPr>
          <p:cNvPr id="43" name="Text 37"/>
          <p:cNvSpPr txBox="1"/>
          <p:nvPr/>
        </p:nvSpPr>
        <p:spPr>
          <a:xfrm>
            <a:off x="16893540" y="7381951"/>
            <a:ext cx="3145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15%</a:t>
            </a:r>
            <a:endParaRPr lang="en-US" sz="1350" dirty="0"/>
          </a:p>
        </p:txBody>
      </p:sp>
      <p:sp>
        <p:nvSpPr>
          <p:cNvPr id="44" name="Shape 38"/>
          <p:cNvSpPr/>
          <p:nvPr/>
        </p:nvSpPr>
        <p:spPr>
          <a:xfrm>
            <a:off x="11106302" y="8127187"/>
            <a:ext cx="609630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11106302" y="7755026"/>
            <a:ext cx="200710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Case Study 2 · 15주차</a:t>
            </a:r>
            <a:endParaRPr lang="en-US" sz="1350" dirty="0"/>
          </a:p>
        </p:txBody>
      </p:sp>
      <p:sp>
        <p:nvSpPr>
          <p:cNvPr id="46" name="Text 40"/>
          <p:cNvSpPr txBox="1"/>
          <p:nvPr/>
        </p:nvSpPr>
        <p:spPr>
          <a:xfrm>
            <a:off x="16893540" y="7755026"/>
            <a:ext cx="3145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15%</a:t>
            </a:r>
            <a:endParaRPr lang="en-US" sz="1350" dirty="0"/>
          </a:p>
        </p:txBody>
      </p:sp>
      <p:sp>
        <p:nvSpPr>
          <p:cNvPr id="47" name="Shape 41"/>
          <p:cNvSpPr/>
          <p:nvPr/>
        </p:nvSpPr>
        <p:spPr>
          <a:xfrm>
            <a:off x="11106302" y="8501177"/>
            <a:ext cx="609630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11106302" y="8129016"/>
            <a:ext cx="1383487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소논문 · 16주차</a:t>
            </a:r>
            <a:endParaRPr lang="en-US" sz="1350" dirty="0"/>
          </a:p>
        </p:txBody>
      </p:sp>
      <p:sp>
        <p:nvSpPr>
          <p:cNvPr id="49" name="Text 43"/>
          <p:cNvSpPr txBox="1"/>
          <p:nvPr/>
        </p:nvSpPr>
        <p:spPr>
          <a:xfrm>
            <a:off x="16893540" y="8129016"/>
            <a:ext cx="3145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20%</a:t>
            </a:r>
            <a:endParaRPr lang="en-US" sz="1350" dirty="0"/>
          </a:p>
        </p:txBody>
      </p:sp>
      <p:sp>
        <p:nvSpPr>
          <p:cNvPr id="50" name="Text 44"/>
          <p:cNvSpPr txBox="1"/>
          <p:nvPr/>
        </p:nvSpPr>
        <p:spPr>
          <a:xfrm>
            <a:off x="11106302" y="8521294"/>
            <a:ext cx="167243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+ 소논문 합계</a:t>
            </a:r>
            <a:endParaRPr lang="en-US" sz="1350" dirty="0"/>
          </a:p>
        </p:txBody>
      </p:sp>
      <p:sp>
        <p:nvSpPr>
          <p:cNvPr id="51" name="Text 45"/>
          <p:cNvSpPr txBox="1"/>
          <p:nvPr/>
        </p:nvSpPr>
        <p:spPr>
          <a:xfrm>
            <a:off x="16893540" y="8521294"/>
            <a:ext cx="3145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50%</a:t>
            </a:r>
            <a:endParaRPr lang="en-US" sz="1350" dirty="0"/>
          </a:p>
        </p:txBody>
      </p:sp>
      <p:sp>
        <p:nvSpPr>
          <p:cNvPr id="52" name="Text 46"/>
          <p:cNvSpPr txBox="1"/>
          <p:nvPr/>
        </p:nvSpPr>
        <p:spPr>
          <a:xfrm>
            <a:off x="11106302" y="8961120"/>
            <a:ext cx="6096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시험(20%)보다 </a:t>
            </a:r>
            <a:r>
              <a:rPr lang="en-US" sz="1275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수행(50%)</a:t>
            </a:r>
            <a:r>
              <a:rPr lang="en-US" sz="127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비중이 크다 — 배점 자체가 이 강의의 성격이다.</a:t>
            </a:r>
            <a:endParaRPr lang="en-US" sz="1275" dirty="0"/>
          </a:p>
        </p:txBody>
      </p:sp>
      <p:sp>
        <p:nvSpPr>
          <p:cNvPr id="53" name="Shape 47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 / 43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3524098"/>
            <a:ext cx="5524805" cy="2762402"/>
          </a:xfrm>
          <a:prstGeom prst="roundRect">
            <a:avLst>
              <a:gd name="adj" fmla="val 695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  <a:effectLst>
            <a:outerShdw blurRad="63500" dist="254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761695" y="3524098"/>
            <a:ext cx="5524805" cy="38405"/>
          </a:xfrm>
          <a:prstGeom prst="roundRect">
            <a:avLst>
              <a:gd name="adj" fmla="val 50000"/>
            </a:avLst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381598" y="3524098"/>
            <a:ext cx="5524805" cy="2762402"/>
          </a:xfrm>
          <a:prstGeom prst="roundRect">
            <a:avLst>
              <a:gd name="adj" fmla="val 695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  <a:effectLst>
            <a:outerShdw blurRad="63500" dist="254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381598" y="3524098"/>
            <a:ext cx="5524805" cy="38405"/>
          </a:xfrm>
          <a:prstGeom prst="roundRect">
            <a:avLst>
              <a:gd name="adj" fmla="val 50000"/>
            </a:avLst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2001500" y="3524098"/>
            <a:ext cx="5524805" cy="2762402"/>
          </a:xfrm>
          <a:prstGeom prst="roundRect">
            <a:avLst>
              <a:gd name="adj" fmla="val 695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  <a:effectLst>
            <a:outerShdw blurRad="63500" dist="254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12001500" y="3524098"/>
            <a:ext cx="5524805" cy="38405"/>
          </a:xfrm>
          <a:prstGeom prst="roundRect">
            <a:avLst>
              <a:gd name="adj" fmla="val 50000"/>
            </a:avLst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61695" y="6476695"/>
            <a:ext cx="5524805" cy="2762402"/>
          </a:xfrm>
          <a:prstGeom prst="roundRect">
            <a:avLst>
              <a:gd name="adj" fmla="val 695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  <a:effectLst>
            <a:outerShdw blurRad="63500" dist="254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61695" y="6476695"/>
            <a:ext cx="5524805" cy="38405"/>
          </a:xfrm>
          <a:prstGeom prst="roundRect">
            <a:avLst>
              <a:gd name="adj" fmla="val 50000"/>
            </a:avLst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381598" y="6476695"/>
            <a:ext cx="5524805" cy="2762402"/>
          </a:xfrm>
          <a:prstGeom prst="roundRect">
            <a:avLst>
              <a:gd name="adj" fmla="val 695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  <a:effectLst>
            <a:outerShdw blurRad="63500" dist="254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81598" y="6476695"/>
            <a:ext cx="5524805" cy="38405"/>
          </a:xfrm>
          <a:prstGeom prst="roundRect">
            <a:avLst>
              <a:gd name="adj" fmla="val 50000"/>
            </a:avLst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2001500" y="6476695"/>
            <a:ext cx="5524805" cy="2762402"/>
          </a:xfrm>
          <a:prstGeom prst="roundRect">
            <a:avLst>
              <a:gd name="adj" fmla="val 695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  <a:effectLst>
            <a:outerShdw blurRad="63500" dist="254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2001500" y="6476695"/>
            <a:ext cx="5524805" cy="38405"/>
          </a:xfrm>
          <a:prstGeom prst="roundRect">
            <a:avLst>
              <a:gd name="adj" fmla="val 50000"/>
            </a:avLst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16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761695" y="1143000"/>
            <a:ext cx="1276502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61695" y="1143000"/>
            <a:ext cx="1276502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· 정리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여섯 가지 핵심</a:t>
            </a:r>
            <a:endParaRPr lang="en-US" sz="5400" dirty="0"/>
          </a:p>
        </p:txBody>
      </p:sp>
      <p:sp>
        <p:nvSpPr>
          <p:cNvPr id="21" name="Text 16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Six Takeaways · Week 1 Recap</a:t>
            </a:r>
            <a:endParaRPr lang="en-US" sz="2100" dirty="0"/>
          </a:p>
        </p:txBody>
      </p:sp>
      <p:sp>
        <p:nvSpPr>
          <p:cNvPr id="22" name="Text 17"/>
          <p:cNvSpPr txBox="1"/>
          <p:nvPr/>
        </p:nvSpPr>
        <p:spPr>
          <a:xfrm>
            <a:off x="1143000" y="3810305"/>
            <a:ext cx="758952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4500" dirty="0"/>
          </a:p>
        </p:txBody>
      </p:sp>
      <p:sp>
        <p:nvSpPr>
          <p:cNvPr id="23" name="Text 18"/>
          <p:cNvSpPr txBox="1"/>
          <p:nvPr/>
        </p:nvSpPr>
        <p:spPr>
          <a:xfrm>
            <a:off x="1910182" y="4058107"/>
            <a:ext cx="2857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거버넌스는 </a:t>
            </a: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 축</a:t>
            </a: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이다</a:t>
            </a:r>
            <a:endParaRPr lang="en-US" sz="1950" dirty="0"/>
          </a:p>
        </p:txBody>
      </p:sp>
      <p:sp>
        <p:nvSpPr>
          <p:cNvPr id="24" name="Text 19"/>
          <p:cNvSpPr txBox="1"/>
          <p:nvPr/>
        </p:nvSpPr>
        <p:spPr>
          <a:xfrm>
            <a:off x="1143000" y="4543654"/>
            <a:ext cx="47631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윤리(방향) · 법(강제) · 표준(이행)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층층이 맞물려야 실제 작동. 어느 하나만 강해도 실패한다.</a:t>
            </a:r>
            <a:endParaRPr lang="en-US" sz="1425" dirty="0"/>
          </a:p>
        </p:txBody>
      </p:sp>
      <p:sp>
        <p:nvSpPr>
          <p:cNvPr id="25" name="Text 20"/>
          <p:cNvSpPr txBox="1"/>
          <p:nvPr/>
        </p:nvSpPr>
        <p:spPr>
          <a:xfrm>
            <a:off x="6762902" y="3810305"/>
            <a:ext cx="765353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4500" dirty="0"/>
          </a:p>
        </p:txBody>
      </p:sp>
      <p:sp>
        <p:nvSpPr>
          <p:cNvPr id="26" name="Text 21"/>
          <p:cNvSpPr txBox="1"/>
          <p:nvPr/>
        </p:nvSpPr>
        <p:spPr>
          <a:xfrm>
            <a:off x="7615123" y="4058107"/>
            <a:ext cx="3180283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EU AI Act는 </a:t>
            </a: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위험 4단계</a:t>
            </a:r>
            <a:endParaRPr lang="en-US" sz="1950" dirty="0"/>
          </a:p>
        </p:txBody>
      </p:sp>
      <p:sp>
        <p:nvSpPr>
          <p:cNvPr id="27" name="Text 22"/>
          <p:cNvSpPr txBox="1"/>
          <p:nvPr/>
        </p:nvSpPr>
        <p:spPr>
          <a:xfrm>
            <a:off x="6762902" y="4543654"/>
            <a:ext cx="47631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금지 · 고위험 · 제한적 · 최소. 등급이 높을수록 요구사항이 무거워진다. 세계 최초 포괄 규제.</a:t>
            </a:r>
            <a:endParaRPr lang="en-US" sz="1425" dirty="0"/>
          </a:p>
        </p:txBody>
      </p:sp>
      <p:sp>
        <p:nvSpPr>
          <p:cNvPr id="28" name="Text 23"/>
          <p:cNvSpPr txBox="1"/>
          <p:nvPr/>
        </p:nvSpPr>
        <p:spPr>
          <a:xfrm>
            <a:off x="12382805" y="3810305"/>
            <a:ext cx="765353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4500" dirty="0"/>
          </a:p>
        </p:txBody>
      </p:sp>
      <p:sp>
        <p:nvSpPr>
          <p:cNvPr id="29" name="Text 24"/>
          <p:cNvSpPr txBox="1"/>
          <p:nvPr/>
        </p:nvSpPr>
        <p:spPr>
          <a:xfrm>
            <a:off x="13234111" y="4058107"/>
            <a:ext cx="269748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한국법은 </a:t>
            </a: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기본법</a:t>
            </a: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이다</a:t>
            </a:r>
            <a:endParaRPr lang="en-US" sz="1950" dirty="0"/>
          </a:p>
        </p:txBody>
      </p:sp>
      <p:sp>
        <p:nvSpPr>
          <p:cNvPr id="30" name="Text 25"/>
          <p:cNvSpPr txBox="1"/>
          <p:nvPr/>
        </p:nvSpPr>
        <p:spPr>
          <a:xfrm>
            <a:off x="12382805" y="4543654"/>
            <a:ext cx="47631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진흥 · 신뢰 · 규제를 한 법에. 세계 최초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전면 시행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(2026.1.22). EU 대비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진흥형 설계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425" dirty="0"/>
          </a:p>
        </p:txBody>
      </p:sp>
      <p:sp>
        <p:nvSpPr>
          <p:cNvPr id="31" name="Text 26"/>
          <p:cNvSpPr txBox="1"/>
          <p:nvPr/>
        </p:nvSpPr>
        <p:spPr>
          <a:xfrm>
            <a:off x="1143000" y="6762902"/>
            <a:ext cx="765353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4500" dirty="0"/>
          </a:p>
        </p:txBody>
      </p:sp>
      <p:sp>
        <p:nvSpPr>
          <p:cNvPr id="32" name="Text 27"/>
          <p:cNvSpPr txBox="1"/>
          <p:nvPr/>
        </p:nvSpPr>
        <p:spPr>
          <a:xfrm>
            <a:off x="1995221" y="7010705"/>
            <a:ext cx="2752344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역외 적용</a:t>
            </a: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실무 축</a:t>
            </a:r>
            <a:endParaRPr lang="en-US" sz="1950" dirty="0"/>
          </a:p>
        </p:txBody>
      </p:sp>
      <p:sp>
        <p:nvSpPr>
          <p:cNvPr id="33" name="Text 28"/>
          <p:cNvSpPr txBox="1"/>
          <p:nvPr/>
        </p:nvSpPr>
        <p:spPr>
          <a:xfrm>
            <a:off x="1143000" y="7496251"/>
            <a:ext cx="47631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AI Act §2 · 한국법 §4 모두 역외 적용.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국내에서 만들어도 국외에서 적용, 국외에서 만들어도 국내에서 적용.</a:t>
            </a:r>
            <a:endParaRPr lang="en-US" sz="1425" dirty="0"/>
          </a:p>
        </p:txBody>
      </p:sp>
      <p:sp>
        <p:nvSpPr>
          <p:cNvPr id="34" name="Text 29"/>
          <p:cNvSpPr txBox="1"/>
          <p:nvPr/>
        </p:nvSpPr>
        <p:spPr>
          <a:xfrm>
            <a:off x="6762902" y="6762902"/>
            <a:ext cx="765353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endParaRPr lang="en-US" sz="4500" dirty="0"/>
          </a:p>
        </p:txBody>
      </p:sp>
      <p:sp>
        <p:nvSpPr>
          <p:cNvPr id="35" name="Text 30"/>
          <p:cNvSpPr txBox="1"/>
          <p:nvPr/>
        </p:nvSpPr>
        <p:spPr>
          <a:xfrm>
            <a:off x="7615123" y="7010705"/>
            <a:ext cx="3026664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SC 42</a:t>
            </a: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 표준의 총본산</a:t>
            </a:r>
            <a:endParaRPr lang="en-US" sz="1950" dirty="0"/>
          </a:p>
        </p:txBody>
      </p:sp>
      <p:sp>
        <p:nvSpPr>
          <p:cNvPr id="36" name="Text 31"/>
          <p:cNvSpPr txBox="1"/>
          <p:nvPr/>
        </p:nvSpPr>
        <p:spPr>
          <a:xfrm>
            <a:off x="6762902" y="7496251"/>
            <a:ext cx="47631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JTC 1/SC 42가 AI 국제표준을 만든다. 48종 발행 · 58종 개발 중. 5단계 지도로 접근.</a:t>
            </a:r>
            <a:endParaRPr lang="en-US" sz="1425" dirty="0"/>
          </a:p>
        </p:txBody>
      </p:sp>
      <p:sp>
        <p:nvSpPr>
          <p:cNvPr id="37" name="Text 32"/>
          <p:cNvSpPr txBox="1"/>
          <p:nvPr/>
        </p:nvSpPr>
        <p:spPr>
          <a:xfrm>
            <a:off x="12382805" y="6762902"/>
            <a:ext cx="765353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C9A2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06</a:t>
            </a:r>
            <a:endParaRPr lang="en-US" sz="4500" dirty="0"/>
          </a:p>
        </p:txBody>
      </p:sp>
      <p:sp>
        <p:nvSpPr>
          <p:cNvPr id="38" name="Text 33"/>
          <p:cNvSpPr txBox="1"/>
          <p:nvPr/>
        </p:nvSpPr>
        <p:spPr>
          <a:xfrm>
            <a:off x="13235026" y="7010705"/>
            <a:ext cx="3038551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9A2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42001</a:t>
            </a:r>
            <a:r>
              <a:rPr lang="en-US" sz="19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실무의 나침반</a:t>
            </a:r>
            <a:endParaRPr lang="en-US" sz="1950" dirty="0"/>
          </a:p>
        </p:txBody>
      </p:sp>
      <p:sp>
        <p:nvSpPr>
          <p:cNvPr id="39" name="Text 34"/>
          <p:cNvSpPr txBox="1"/>
          <p:nvPr/>
        </p:nvSpPr>
        <p:spPr>
          <a:xfrm>
            <a:off x="12382805" y="7496251"/>
            <a:ext cx="47631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AI판 ISO 27001. 조직에 AIMS를 심는 PDCA 사이클. </a:t>
            </a:r>
            <a:r>
              <a:rPr lang="en-US" sz="14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관할 대응의 공통 언어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425" dirty="0"/>
          </a:p>
        </p:txBody>
      </p:sp>
      <p:sp>
        <p:nvSpPr>
          <p:cNvPr id="40" name="Shape 35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42 / 43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e1e28ef2fe296947168fce89c7b84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143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3524098"/>
            <a:ext cx="8382305" cy="581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3524098"/>
            <a:ext cx="8382305" cy="576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334195" y="3524098"/>
            <a:ext cx="8191195" cy="5810098"/>
          </a:xfrm>
          <a:prstGeom prst="rect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fa0cbed79e4ba9f00851ca4a50b9d912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2952598"/>
            <a:ext cx="761695" cy="2834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71500" y="323698"/>
            <a:ext cx="354604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건국대학교 공학대학원 </a:t>
            </a:r>
            <a:r>
              <a:rPr lang="en-US" sz="1500" b="1" kern="0" spc="38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AI전공</a:t>
            </a:r>
            <a:endParaRPr lang="en-US" sz="1650" dirty="0"/>
          </a:p>
        </p:txBody>
      </p:sp>
      <p:sp>
        <p:nvSpPr>
          <p:cNvPr id="9" name="Shape 4"/>
          <p:cNvSpPr/>
          <p:nvPr/>
        </p:nvSpPr>
        <p:spPr>
          <a:xfrm>
            <a:off x="761695" y="1143000"/>
            <a:ext cx="1276502" cy="409651"/>
          </a:xfrm>
          <a:prstGeom prst="roundRect">
            <a:avLst>
              <a:gd name="adj" fmla="val 4688"/>
            </a:avLst>
          </a:prstGeom>
          <a:noFill/>
          <a:ln w="12700">
            <a:solidFill>
              <a:srgbClr val="036B3F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61695" y="1143000"/>
            <a:ext cx="1276502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· 정리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1619402"/>
            <a:ext cx="16764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다음 주 예고, 질문</a:t>
            </a:r>
            <a:endParaRPr lang="en-US" sz="54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2686507"/>
            <a:ext cx="16764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Preview of Week 2 · Q&amp;A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3810305"/>
            <a:ext cx="7620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· WEEK 2 · 09.10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4076395"/>
            <a:ext cx="762061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법규제의</a:t>
            </a:r>
            <a:endParaRPr lang="en-US" sz="3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기초 이론</a:t>
            </a:r>
            <a:endParaRPr lang="en-US" sz="3600" dirty="0"/>
          </a:p>
        </p:txBody>
      </p:sp>
      <p:pic>
        <p:nvPicPr>
          <p:cNvPr id="15" name="Image 2" descr="gen-dedup-08173c94900e9aa2377887198bd5085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1143000" y="5291633"/>
            <a:ext cx="761695" cy="192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43000" y="5520233"/>
            <a:ext cx="76206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"왜 AI에는 </a:t>
            </a:r>
            <a:r>
              <a:rPr lang="en-US" sz="16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법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필요한가?"에 대한 이론적 답변.</a:t>
            </a:r>
            <a:endParaRPr lang="en-US" sz="1650" dirty="0"/>
          </a:p>
        </p:txBody>
      </p:sp>
      <p:sp>
        <p:nvSpPr>
          <p:cNvPr id="17" name="Text 11"/>
          <p:cNvSpPr txBox="1"/>
          <p:nvPr/>
        </p:nvSpPr>
        <p:spPr>
          <a:xfrm>
            <a:off x="1123798" y="6373368"/>
            <a:ext cx="7639812" cy="1447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ts val="2708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​법경제학의 시장실패 · 정보 비대칭 · 외부성</a:t>
            </a:r>
            <a:endParaRPr lang="en-US" sz="1425" dirty="0"/>
          </a:p>
          <a:p>
            <a:pPr marL="228600" indent="-228600" algn="l">
              <a:lnSpc>
                <a:spcPts val="2708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​예방원칙 (Precautionary Principle)</a:t>
            </a:r>
            <a:endParaRPr lang="en-US" sz="1425" dirty="0"/>
          </a:p>
          <a:p>
            <a:pPr marL="228600" indent="-228600" algn="l">
              <a:lnSpc>
                <a:spcPts val="2708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​기술 규제의 4가지 접근 (Command-and-Control / 성과 기반 / 자율 규제 / 공동 규제)</a:t>
            </a:r>
            <a:endParaRPr lang="en-US" sz="1425" dirty="0"/>
          </a:p>
          <a:p>
            <a:pPr marL="228600" indent="-228600" algn="l">
              <a:lnSpc>
                <a:spcPts val="2708"/>
              </a:lnSpc>
              <a:buSzPct val="100000"/>
              <a:buChar char="•"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​Brussels Effect · California Effect</a:t>
            </a:r>
            <a:endParaRPr lang="en-US" sz="1425" dirty="0"/>
          </a:p>
        </p:txBody>
      </p:sp>
      <p:sp>
        <p:nvSpPr>
          <p:cNvPr id="18" name="Shape 12"/>
          <p:cNvSpPr/>
          <p:nvPr/>
        </p:nvSpPr>
        <p:spPr>
          <a:xfrm>
            <a:off x="1143000" y="8021117"/>
            <a:ext cx="7619695" cy="1133856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19" name="Shape 13"/>
          <p:cNvSpPr/>
          <p:nvPr/>
        </p:nvSpPr>
        <p:spPr>
          <a:xfrm>
            <a:off x="1143000" y="8021117"/>
            <a:ext cx="38405" cy="1133856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1371600" y="8173822"/>
            <a:ext cx="72009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사전 학습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371600" y="8488375"/>
            <a:ext cx="72009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저장소 TextBook-02에 자료 게시. Bradford (2020) 「The Brussels Effect」 서문 발췌 읽기.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1143000" y="6074359"/>
            <a:ext cx="88879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다룰 개념</a:t>
            </a:r>
            <a:endParaRPr lang="en-US" sz="1425" dirty="0"/>
          </a:p>
        </p:txBody>
      </p:sp>
      <p:sp>
        <p:nvSpPr>
          <p:cNvPr id="23" name="Text 17"/>
          <p:cNvSpPr txBox="1"/>
          <p:nvPr/>
        </p:nvSpPr>
        <p:spPr>
          <a:xfrm>
            <a:off x="9715500" y="3905402"/>
            <a:ext cx="7525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25" dirty="0">
                <a:solidFill>
                  <a:srgbClr val="C9A2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Q&amp;A · DISCUSSION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9715500" y="4209898"/>
            <a:ext cx="7525512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감사합니다.</a:t>
            </a:r>
            <a:endParaRPr lang="en-US" sz="7200" dirty="0"/>
          </a:p>
        </p:txBody>
      </p:sp>
      <p:sp>
        <p:nvSpPr>
          <p:cNvPr id="25" name="Text 19"/>
          <p:cNvSpPr txBox="1"/>
          <p:nvPr/>
        </p:nvSpPr>
        <p:spPr>
          <a:xfrm>
            <a:off x="9715500" y="5201107"/>
            <a:ext cx="752551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FFCC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Thank you · Questions?</a:t>
            </a:r>
            <a:endParaRPr lang="en-US" sz="2100" dirty="0"/>
          </a:p>
        </p:txBody>
      </p:sp>
      <p:pic>
        <p:nvPicPr>
          <p:cNvPr id="26" name="Image 3" descr="gen-dedup-869b38778c74fb3e6da4211284bb5ca2.png"/>
          <p:cNvPicPr>
            <a:picLocks noChangeAspect="1"/>
          </p:cNvPicPr>
          <p:nvPr/>
        </p:nvPicPr>
        <p:blipFill>
          <a:blip r:embed="rId6"/>
          <a:srcRect t="-420" b="-420"/>
          <a:stretch/>
        </p:blipFill>
        <p:spPr>
          <a:xfrm>
            <a:off x="9715500" y="5848502"/>
            <a:ext cx="761695" cy="192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15500" y="6133795"/>
            <a:ext cx="752551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다룬 것 중 어떤 개념이든 편하게 질문해주십시오.</a:t>
            </a:r>
            <a:endParaRPr lang="en-US" sz="1650" dirty="0"/>
          </a:p>
        </p:txBody>
      </p:sp>
      <p:sp>
        <p:nvSpPr>
          <p:cNvPr id="28" name="Text 21"/>
          <p:cNvSpPr txBox="1"/>
          <p:nvPr/>
        </p:nvSpPr>
        <p:spPr>
          <a:xfrm>
            <a:off x="9715500" y="6775704"/>
            <a:ext cx="104790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CC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10916107" y="6775704"/>
            <a:ext cx="37344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양희정 · 건국대학교 공학대학원 AI전공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9715500" y="7137806"/>
            <a:ext cx="104790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CC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Email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10916107" y="7147865"/>
            <a:ext cx="21717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guibee@konkuk.ac.kr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715500" y="7509053"/>
            <a:ext cx="1223467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CC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10916107" y="7519111"/>
            <a:ext cx="29718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github.com/YangGuiBee/AIG2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9715500" y="7881214"/>
            <a:ext cx="104790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CC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강의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10916107" y="7881214"/>
            <a:ext cx="234635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2026.09.10 (목) · 제2강</a:t>
            </a:r>
            <a:endParaRPr lang="en-US" sz="1500" dirty="0"/>
          </a:p>
        </p:txBody>
      </p:sp>
      <p:sp>
        <p:nvSpPr>
          <p:cNvPr id="36" name="Shape 29"/>
          <p:cNvSpPr/>
          <p:nvPr/>
        </p:nvSpPr>
        <p:spPr>
          <a:xfrm>
            <a:off x="17076420" y="9648749"/>
            <a:ext cx="647395" cy="9144"/>
          </a:xfrm>
          <a:prstGeom prst="rect">
            <a:avLst/>
          </a:prstGeom>
          <a:solidFill>
            <a:srgbClr val="D8D4C8"/>
          </a:solidFill>
          <a:ln w="12700">
            <a:solidFill>
              <a:srgbClr val="D8D4C8">
                <a:alpha val="0"/>
              </a:srgbClr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17076420" y="9791395"/>
            <a:ext cx="648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43 / 43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10077</Words>
  <Application>Microsoft Office PowerPoint</Application>
  <PresentationFormat>사용자 지정</PresentationFormat>
  <Paragraphs>1502</Paragraphs>
  <Slides>43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0" baseType="lpstr">
      <vt:lpstr>Noto Sans KR</vt:lpstr>
      <vt:lpstr>Noto Serif KR</vt:lpstr>
      <vt:lpstr>맑은 고딕</vt:lpstr>
      <vt:lpstr>Arial</vt:lpstr>
      <vt:lpstr>Calibri</vt:lpstr>
      <vt:lpstr>IBM Plex Mono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양희정</cp:lastModifiedBy>
  <cp:revision>11</cp:revision>
  <dcterms:created xsi:type="dcterms:W3CDTF">2026-09-03T05:58:46Z</dcterms:created>
  <dcterms:modified xsi:type="dcterms:W3CDTF">2026-09-03T06:48:04Z</dcterms:modified>
</cp:coreProperties>
</file>