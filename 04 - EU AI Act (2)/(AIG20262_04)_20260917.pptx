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96" y="9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7223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686507"/>
            <a:ext cx="1067105" cy="418795"/>
          </a:xfrm>
          <a:prstGeom prst="rect">
            <a:avLst/>
          </a:prstGeom>
          <a:noFill/>
          <a:ln w="25400">
            <a:solidFill>
              <a:srgbClr val="036B3F"/>
            </a:solidFill>
            <a:prstDash val="solid"/>
          </a:ln>
        </p:spPr>
      </p:sp>
      <p:pic>
        <p:nvPicPr>
          <p:cNvPr id="4" name="Image 1" descr="gen-dedup-19c911119b5455341ec56e38170d158e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952805" y="7200900"/>
            <a:ext cx="1714500" cy="384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477695" y="8020202"/>
            <a:ext cx="2857500" cy="1238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952805" y="418795"/>
            <a:ext cx="8572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kern="0" spc="38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KONKUK UNIVERSITY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952805" y="838505"/>
            <a:ext cx="85725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952805" y="2686507"/>
            <a:ext cx="10671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강</a:t>
            </a:r>
            <a:endParaRPr lang="en-US" sz="1650" dirty="0"/>
          </a:p>
        </p:txBody>
      </p:sp>
      <p:sp>
        <p:nvSpPr>
          <p:cNvPr id="9" name="Text 5"/>
          <p:cNvSpPr txBox="1"/>
          <p:nvPr/>
        </p:nvSpPr>
        <p:spPr>
          <a:xfrm>
            <a:off x="952805" y="3353105"/>
            <a:ext cx="16383305" cy="1334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-22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 (2)</a:t>
            </a:r>
            <a:endParaRPr lang="en-US" sz="7200" dirty="0"/>
          </a:p>
        </p:txBody>
      </p:sp>
      <p:sp>
        <p:nvSpPr>
          <p:cNvPr id="10" name="Text 6"/>
          <p:cNvSpPr txBox="1"/>
          <p:nvPr/>
        </p:nvSpPr>
        <p:spPr>
          <a:xfrm>
            <a:off x="952805" y="4762195"/>
            <a:ext cx="163833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 7대 요건에서 주체별 의무, 범용 AI, 거버넌스와 제재까지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952805" y="6724498"/>
            <a:ext cx="9525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https://github.com/YangGuiBee/AIG2</a:t>
            </a:r>
            <a:endParaRPr lang="en-US" sz="1575" dirty="0"/>
          </a:p>
        </p:txBody>
      </p:sp>
      <p:sp>
        <p:nvSpPr>
          <p:cNvPr id="12" name="Text 8"/>
          <p:cNvSpPr txBox="1"/>
          <p:nvPr/>
        </p:nvSpPr>
        <p:spPr>
          <a:xfrm>
            <a:off x="952805" y="7563002"/>
            <a:ext cx="11430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2026학년도 2학기 · 담당교수 </a:t>
            </a: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양희정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952805" y="7987284"/>
            <a:ext cx="11430000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https://yangguibee.github.io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guibee@konkuk.ac.kr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4783105" y="8268005"/>
            <a:ext cx="22485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kern="0" spc="7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COURSE · 2026-2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14783105" y="8572500"/>
            <a:ext cx="2248510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09.24</a:t>
            </a:r>
            <a:endParaRPr lang="en-US" sz="3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16강 목차</a:t>
            </a:r>
            <a:endParaRPr 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중간고사 8주차(10.22) · 기말 보고서 16주차(12.17) · 오늘은 4주차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743200"/>
          <a:ext cx="7705648" cy="4763106"/>
        </p:xfrm>
        <a:graphic>
          <a:graphicData uri="http://schemas.openxmlformats.org/drawingml/2006/table">
            <a:tbl>
              <a:tblPr/>
              <a:tblGrid>
                <a:gridCol w="761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6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9.3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소개, AI 거버넌스 개론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9.10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법규제의 기초 이론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9.17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 AI Act (1)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9.24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 AI Act (2), 추석 휴강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국내 인공지능기본법, 시행령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10.8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국내 AI 관련 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10.15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사례연구(Case Study) 1, AI 법규제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10.22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중간고사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20402" y="2743200"/>
          <a:ext cx="7705648" cy="4763106"/>
        </p:xfrm>
        <a:graphic>
          <a:graphicData uri="http://schemas.openxmlformats.org/drawingml/2006/table">
            <a:tbl>
              <a:tblPr/>
              <a:tblGrid>
                <a:gridCol w="761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6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10.29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가이드라인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11.5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거버넌스 기술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11.12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거버넌스 국제표준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11.19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거버넌스 연구방법론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11.26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거버넌스 선행연구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12.3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거버넌스 실무사례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12.10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사례연구(Case Study) 2, 적용 계획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12.17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기말고사, 종합 평가 보고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2/51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5266944" cy="495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5266944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ecf24681c8a913dc2f6d75d5c759c67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3715207"/>
            <a:ext cx="465795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505956" y="2704795"/>
            <a:ext cx="5266944" cy="495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505956" y="2704795"/>
            <a:ext cx="5266944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ecf24681c8a913dc2f6d75d5c759c67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6810451" y="3715207"/>
            <a:ext cx="4657954" cy="91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2059107" y="2704795"/>
            <a:ext cx="5277002" cy="495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2059107" y="2704795"/>
            <a:ext cx="5277002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pic>
        <p:nvPicPr>
          <p:cNvPr id="11" name="Image 3" descr="gen-dedup-871f3dfe2e6d510d81c0b0c2273c4c8e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2363602" y="3715207"/>
            <a:ext cx="4667098" cy="914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805" y="7867498"/>
            <a:ext cx="16383305" cy="16578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3강 요약</a:t>
            </a:r>
            <a:endParaRPr lang="en-US" sz="5000" dirty="0"/>
          </a:p>
        </p:txBody>
      </p:sp>
      <p:sp>
        <p:nvSpPr>
          <p:cNvPr id="15" name="Text 9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제3강 EU AI Act (1) · 규정의 골격과 금지 관행, 고위험 분류까지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1257300" y="2991002"/>
            <a:ext cx="46579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입법과 규정 체계</a:t>
            </a:r>
            <a:endParaRPr lang="en-US" sz="2500" dirty="0"/>
          </a:p>
        </p:txBody>
      </p:sp>
      <p:sp>
        <p:nvSpPr>
          <p:cNvPr id="17" name="Text 11"/>
          <p:cNvSpPr txBox="1"/>
          <p:nvPr/>
        </p:nvSpPr>
        <p:spPr>
          <a:xfrm>
            <a:off x="1257300" y="3962095"/>
            <a:ext cx="5134356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규정(Regulation) 형식, 27개국에 직접 적용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257300" y="4461358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13개 장 113개 조문, 부속서 13개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1257300" y="4960620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등급이 높은 순서로 장을 배치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1257300" y="5459882"/>
            <a:ext cx="5348326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 제3장이 44개 조문, 전체의 약 40퍼센트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6810451" y="2991002"/>
            <a:ext cx="46579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총칙과 위험 4단계</a:t>
            </a:r>
            <a:endParaRPr lang="en-US" sz="2500" dirty="0"/>
          </a:p>
        </p:txBody>
      </p:sp>
      <p:sp>
        <p:nvSpPr>
          <p:cNvPr id="22" name="Text 16"/>
          <p:cNvSpPr txBox="1"/>
          <p:nvPr/>
        </p:nvSpPr>
        <p:spPr>
          <a:xfrm>
            <a:off x="6810451" y="3962095"/>
            <a:ext cx="4860036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추론(inference)이 AI 시스템 판단의 핵심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810451" y="4461358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산출물이 EU에서 쓰이면 역외에도 적용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6810451" y="4960620"/>
            <a:ext cx="529346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금지, 고위험, 제한적 위험, 최소 위험의 4단계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6810451" y="5459882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 10유형, 위반 시 매출 7퍼센트까지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12363602" y="2991002"/>
            <a:ext cx="46680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 분류 2경로</a:t>
            </a:r>
            <a:endParaRPr lang="en-US" sz="2500" dirty="0"/>
          </a:p>
        </p:txBody>
      </p:sp>
      <p:sp>
        <p:nvSpPr>
          <p:cNvPr id="27" name="Text 21"/>
          <p:cNvSpPr txBox="1"/>
          <p:nvPr/>
        </p:nvSpPr>
        <p:spPr>
          <a:xfrm>
            <a:off x="12363602" y="3962095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제6조 1항 — 부속서 I 제품 안전 경로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12363602" y="4461358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제6조 2항 — 부속서 III 8개 영역 경로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12363602" y="4960620"/>
            <a:ext cx="466801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제6조 3항 제외 요건, 다만 프로파일링은 항상 고위험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12363602" y="5825642"/>
            <a:ext cx="466801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적용일 — 부속서 III 2027.12.2, 부속서 I 2028.8.2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1333195" y="8320582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제3강 :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고위험인가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?, 제4강 :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무엇을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1333195" y="8762238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기준을 다루는 연구와 의무 이행을 다루는 연구는 방법이 다름, 앞은 개념 분석, 뒤는 실증과 사례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3/51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667305"/>
            <a:ext cx="16383305" cy="7434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66730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3486607"/>
            <a:ext cx="16383305" cy="7434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3486607"/>
            <a:ext cx="16383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4304995"/>
            <a:ext cx="16383305" cy="7434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4304995"/>
            <a:ext cx="16383305" cy="47549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2805" y="5124298"/>
            <a:ext cx="16383305" cy="7434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2805" y="5124298"/>
            <a:ext cx="16383305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2805" y="5943600"/>
            <a:ext cx="16383305" cy="7434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2805" y="5943600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52805" y="6762902"/>
            <a:ext cx="16383305" cy="7434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2805" y="6762902"/>
            <a:ext cx="16383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4강 구성</a:t>
            </a:r>
            <a:endParaRPr lang="en-US" sz="5000" dirty="0"/>
          </a:p>
        </p:txBody>
      </p:sp>
      <p:sp>
        <p:nvSpPr>
          <p:cNvPr id="20" name="Shape 17"/>
          <p:cNvSpPr/>
          <p:nvPr/>
        </p:nvSpPr>
        <p:spPr>
          <a:xfrm>
            <a:off x="1295705" y="2876702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95705" y="2876702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867205" y="2800807"/>
            <a:ext cx="49533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 7대 요건</a:t>
            </a:r>
            <a:endParaRPr lang="en-US" sz="2500" dirty="0"/>
          </a:p>
        </p:txBody>
      </p:sp>
      <p:sp>
        <p:nvSpPr>
          <p:cNvPr id="23" name="Text 20"/>
          <p:cNvSpPr txBox="1"/>
          <p:nvPr/>
        </p:nvSpPr>
        <p:spPr>
          <a:xfrm>
            <a:off x="7048195" y="2866644"/>
            <a:ext cx="644560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위험관리, 데이터, 문서, 기록, 설명서, 인간감독, 정확성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4800637" y="2866643"/>
            <a:ext cx="1252162" cy="3529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제8~15조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295705" y="3696005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95705" y="3696005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867205" y="3619195"/>
            <a:ext cx="49533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주체별 의무</a:t>
            </a:r>
            <a:endParaRPr lang="en-US" sz="2500" dirty="0"/>
          </a:p>
        </p:txBody>
      </p:sp>
      <p:sp>
        <p:nvSpPr>
          <p:cNvPr id="28" name="Text 25"/>
          <p:cNvSpPr txBox="1"/>
          <p:nvPr/>
        </p:nvSpPr>
        <p:spPr>
          <a:xfrm>
            <a:off x="7048195" y="3685946"/>
            <a:ext cx="6096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제공자, 배포자, 수입자, 유통자의 의무 분담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14800637" y="3685945"/>
            <a:ext cx="1252162" cy="3529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7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제16~27조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1295705" y="4515307"/>
            <a:ext cx="323698" cy="323698"/>
          </a:xfrm>
          <a:prstGeom prst="ellipse">
            <a:avLst/>
          </a:prstGeom>
          <a:solidFill>
            <a:srgbClr val="6B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295705" y="4515307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1867205" y="4438498"/>
            <a:ext cx="49533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적합성 평가와 등록</a:t>
            </a:r>
            <a:endParaRPr lang="en-US" sz="2500" dirty="0"/>
          </a:p>
        </p:txBody>
      </p:sp>
      <p:sp>
        <p:nvSpPr>
          <p:cNvPr id="33" name="Text 30"/>
          <p:cNvSpPr txBox="1"/>
          <p:nvPr/>
        </p:nvSpPr>
        <p:spPr>
          <a:xfrm>
            <a:off x="7048195" y="4505249"/>
            <a:ext cx="647303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표준, 두 가지 평가 경로, 인증기관, CE 표시, EU 등록부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14800637" y="4505248"/>
            <a:ext cx="1252162" cy="3529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제28~49조, 제71조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1295705" y="5333695"/>
            <a:ext cx="323698" cy="323698"/>
          </a:xfrm>
          <a:prstGeom prst="ellipse">
            <a:avLst/>
          </a:prstGeom>
          <a:solidFill>
            <a:srgbClr val="A82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295705" y="5333695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1867205" y="5257800"/>
            <a:ext cx="49533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투명성 의무</a:t>
            </a:r>
            <a:endParaRPr lang="en-US" sz="2500" dirty="0"/>
          </a:p>
        </p:txBody>
      </p:sp>
      <p:sp>
        <p:nvSpPr>
          <p:cNvPr id="38" name="Text 35"/>
          <p:cNvSpPr txBox="1"/>
          <p:nvPr/>
        </p:nvSpPr>
        <p:spPr>
          <a:xfrm>
            <a:off x="7048195" y="5324551"/>
            <a:ext cx="658276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고지, 합성 콘텐츠 표시, 감정인식 고지, 딥페이크 공개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14800637" y="5324550"/>
            <a:ext cx="1252162" cy="3529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8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제50조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1295705" y="6152998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295705" y="6152998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1867205" y="6077102"/>
            <a:ext cx="49533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AI 모델</a:t>
            </a:r>
            <a:endParaRPr lang="en-US" sz="2500" dirty="0"/>
          </a:p>
        </p:txBody>
      </p:sp>
      <p:sp>
        <p:nvSpPr>
          <p:cNvPr id="43" name="Text 40"/>
          <p:cNvSpPr txBox="1"/>
          <p:nvPr/>
        </p:nvSpPr>
        <p:spPr>
          <a:xfrm>
            <a:off x="7048195" y="6143854"/>
            <a:ext cx="6096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체계적 위험 분류, 학습 연산량 기준, 행동강령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4800637" y="6143853"/>
            <a:ext cx="1252162" cy="3529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제51~56조</a:t>
            </a:r>
            <a:endParaRPr lang="en-US" sz="1800" dirty="0"/>
          </a:p>
        </p:txBody>
      </p:sp>
      <p:sp>
        <p:nvSpPr>
          <p:cNvPr id="45" name="Shape 42"/>
          <p:cNvSpPr/>
          <p:nvPr/>
        </p:nvSpPr>
        <p:spPr>
          <a:xfrm>
            <a:off x="1295705" y="69723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295705" y="69723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867205" y="6896405"/>
            <a:ext cx="49533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거버넌스와 제재</a:t>
            </a:r>
            <a:endParaRPr lang="en-US" sz="2500" dirty="0"/>
          </a:p>
        </p:txBody>
      </p:sp>
      <p:sp>
        <p:nvSpPr>
          <p:cNvPr id="48" name="Text 45"/>
          <p:cNvSpPr txBox="1"/>
          <p:nvPr/>
        </p:nvSpPr>
        <p:spPr>
          <a:xfrm>
            <a:off x="7048195" y="6963156"/>
            <a:ext cx="6096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사무국, 회원국 당국, 시장감시, 과징금 3단계</a:t>
            </a:r>
            <a:endParaRPr lang="en-US" sz="1800" dirty="0"/>
          </a:p>
        </p:txBody>
      </p:sp>
      <p:sp>
        <p:nvSpPr>
          <p:cNvPr id="49" name="Text 46"/>
          <p:cNvSpPr txBox="1"/>
          <p:nvPr/>
        </p:nvSpPr>
        <p:spPr>
          <a:xfrm>
            <a:off x="14800637" y="6963155"/>
            <a:ext cx="1252162" cy="3529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7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제64~101조</a:t>
            </a:r>
            <a:endParaRPr lang="en-US" sz="1800" dirty="0"/>
          </a:p>
        </p:txBody>
      </p:sp>
      <p:sp>
        <p:nvSpPr>
          <p:cNvPr id="54" name="Text 51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4/51</a:t>
            </a:r>
            <a:endParaRPr lang="en-US" sz="1800" dirty="0"/>
          </a:p>
        </p:txBody>
      </p:sp>
      <p:sp>
        <p:nvSpPr>
          <p:cNvPr id="55" name="Text 8">
            <a:extLst>
              <a:ext uri="{FF2B5EF4-FFF2-40B4-BE49-F238E27FC236}">
                <a16:creationId xmlns:a16="http://schemas.microsoft.com/office/drawing/2014/main" id="{5134A277-D8F7-4FD9-AA40-9E3354CC16F5}"/>
              </a:ext>
            </a:extLst>
          </p:cNvPr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56" name="Text 9">
            <a:extLst>
              <a:ext uri="{FF2B5EF4-FFF2-40B4-BE49-F238E27FC236}">
                <a16:creationId xmlns:a16="http://schemas.microsoft.com/office/drawing/2014/main" id="{8BFB52C1-0510-49BA-9193-271D1BF42166}"/>
              </a:ext>
            </a:extLst>
          </p:cNvPr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57" name="Text 10">
            <a:extLst>
              <a:ext uri="{FF2B5EF4-FFF2-40B4-BE49-F238E27FC236}">
                <a16:creationId xmlns:a16="http://schemas.microsoft.com/office/drawing/2014/main" id="{350A32FB-ABC1-4985-BEC2-0AB39B7C7E41}"/>
              </a:ext>
            </a:extLst>
          </p:cNvPr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58C674A7-83E8-4B7B-9634-6AA11FF6BD5F}"/>
              </a:ext>
            </a:extLst>
          </p:cNvPr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59" name="Text 12">
            <a:extLst>
              <a:ext uri="{FF2B5EF4-FFF2-40B4-BE49-F238E27FC236}">
                <a16:creationId xmlns:a16="http://schemas.microsoft.com/office/drawing/2014/main" id="{7641C018-3FC6-4460-9CCF-93D1C34D0BAF}"/>
              </a:ext>
            </a:extLst>
          </p:cNvPr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7AEA06D2-EBDD-41CD-90F0-54874A25C55C}"/>
              </a:ext>
            </a:extLst>
          </p:cNvPr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6324905"/>
            <a:ext cx="8048549" cy="184703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632490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286646" y="6324905"/>
            <a:ext cx="8048549" cy="184703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286646" y="632490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8515807"/>
            <a:ext cx="16383305" cy="100949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(1-1) 고위험 요건의 위치</a:t>
            </a:r>
            <a:endParaRPr lang="en-US" sz="5000" dirty="0"/>
          </a:p>
        </p:txBody>
      </p:sp>
      <p:sp>
        <p:nvSpPr>
          <p:cNvPr id="17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제3장 제2절이 요건, 제3절이 주체별 의무, 제5절이 절차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624436"/>
              </p:ext>
            </p:extLst>
          </p:nvPr>
        </p:nvGraphicFramePr>
        <p:xfrm>
          <a:off x="952805" y="2704795"/>
          <a:ext cx="16373246" cy="3182112"/>
        </p:xfrm>
        <a:graphic>
          <a:graphicData uri="http://schemas.openxmlformats.org/drawingml/2006/table">
            <a:tbl>
              <a:tblPr/>
              <a:tblGrid>
                <a:gridCol w="2190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7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강의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제1절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고위험 분류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제6~7조, 두 경로와 제외 요건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3강 (5)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제2절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고위험 요건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제8~15조, 시스템이 갖춰야 할 상태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r>
                        <a:rPr lang="ko-KR" alt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 </a:t>
                      </a: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(1)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제3절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주체별 의무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제16~27조, 누가 무엇을 지는가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r>
                        <a:rPr lang="ko-KR" alt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 </a:t>
                      </a: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(2)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제4절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인증기관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제28~39조, 평가를 수행하는 기관의 요건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r>
                        <a:rPr lang="ko-KR" alt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 </a:t>
                      </a: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(3)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제5절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표준과 절차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제40~49조, 적합성 평가와 CE 표시, 등록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r>
                        <a:rPr lang="ko-KR" alt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 </a:t>
                      </a: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(3)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1257300" y="6553505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요건과 의무의 구분</a:t>
            </a:r>
            <a:endParaRPr lang="en-US" sz="2500" dirty="0"/>
          </a:p>
        </p:txBody>
      </p:sp>
      <p:sp>
        <p:nvSpPr>
          <p:cNvPr id="20" name="Text 16"/>
          <p:cNvSpPr txBox="1"/>
          <p:nvPr/>
        </p:nvSpPr>
        <p:spPr>
          <a:xfrm>
            <a:off x="1257300" y="7125005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요건은 시스템이 갖춰야 할 상태를 규정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1257300" y="7524598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의무는 그 상태를 누가 확인하고 증명하는지를 규정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9592056" y="6553505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시점</a:t>
            </a:r>
            <a:endParaRPr lang="en-US" sz="2500" dirty="0"/>
          </a:p>
        </p:txBody>
      </p:sp>
      <p:sp>
        <p:nvSpPr>
          <p:cNvPr id="23" name="Text 19"/>
          <p:cNvSpPr txBox="1"/>
          <p:nvPr/>
        </p:nvSpPr>
        <p:spPr>
          <a:xfrm>
            <a:off x="9592056" y="7125005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부속서 III 경로는 2027.12.2, 부속서 I 경로는 2028.8.2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9592056" y="7524598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다루는 요건 전체가 그 시점에 강제력을 가짐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1257300" y="8909375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요건을 연구할 것인가 의무를 연구할 것인가, 이 선택이 연구 방법을 결정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5/51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724852"/>
            <a:ext cx="16383305" cy="1800454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(1-2) 제8조 요건 준수의 총괄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 요건을 개별이 아니라 하나의 체계로 다루라는 규정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의도된 목적 기준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57580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 충족 여부는 의도된 목적(intended purpose)을 기준으로 판단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기술이라도 용도가 다르면 요구 수준이 달라짐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일반적으로 인정된 최신 기술 수준(state of the art)을 고려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제9조 위험관리 체계가 판단의 기준점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규제의 조정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부속서 I 제품에 내장된 경로는 기존 제품안전 법령과 중복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제공자는 두 체계의 요건을 하나의 문서와 절차로 통합 가능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기계류 규정과의 평가 중복은 옴니버스 개정에서 명시적으로 정리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항목을 두 번 평가하지 않도록 하는 취지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959689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요건은 성과 기반 규제 방식, 달성 상태만 지정하고 방법은 사업자가 선택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332388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 방법은 조화 표준(harmonised standards)이 채우는 구조, 제40조로 연결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712726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기술 수준을 기준으로 삼으면 요구 수준이 계속 올라감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5853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사업자는 무엇을 언제까지 해야 하는지 알 수 있는가? 예측 가능성의 문제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6/51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16383305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3657600"/>
            <a:ext cx="16383305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3657600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4610405"/>
            <a:ext cx="16383305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461040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2805" y="5562295"/>
            <a:ext cx="16383305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2805" y="556229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2805" y="7104888"/>
            <a:ext cx="16383305" cy="242041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(1-3) 제9조 위험관리 체계</a:t>
            </a:r>
            <a:endParaRPr lang="en-US" sz="5000" dirty="0"/>
          </a:p>
        </p:txBody>
      </p:sp>
      <p:sp>
        <p:nvSpPr>
          <p:cNvPr id="23" name="Text 20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 요건 중 첫째, 나머지 여섯을 묶는 상위 체계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295705" y="2980944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95705" y="2980944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867205" y="2984278"/>
            <a:ext cx="4000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식별과 분석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6096305" y="3003481"/>
            <a:ext cx="109161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의도된 목적대로 쓸 때 건강, 안전, 기본권에 생길 수 있는 위험을 식별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295705" y="3933749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295705" y="3933749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867205" y="3937083"/>
            <a:ext cx="4000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합리적 오용 추정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6096305" y="3955371"/>
            <a:ext cx="109161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예견 가능한 오용(reasonably foreseeable misuse)까지 범위에 포함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295705" y="4886554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295705" y="4886554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1867205" y="4888974"/>
            <a:ext cx="4000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완화 조치 채택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6096305" y="4908176"/>
            <a:ext cx="109161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설계로 제거하는 것이 1순위, 불가하면 완화, 마지막이 정보 제공과 교육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1295705" y="5838444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295705" y="5838444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1867205" y="5841778"/>
            <a:ext cx="4000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시험과 반복</a:t>
            </a:r>
            <a:endParaRPr lang="en-US" sz="2000" dirty="0"/>
          </a:p>
        </p:txBody>
      </p:sp>
      <p:sp>
        <p:nvSpPr>
          <p:cNvPr id="39" name="Text 36"/>
          <p:cNvSpPr txBox="1"/>
          <p:nvPr/>
        </p:nvSpPr>
        <p:spPr>
          <a:xfrm>
            <a:off x="6096305" y="5860981"/>
            <a:ext cx="109161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정의된 지표로 시험, 전 생애주기에 걸쳐 반복적으로 갱신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1333195" y="7409327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일회성 점검이 아니라 반복적(iterative) 과정, 출시 후에도 계속 갱신할 의무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1333195" y="7820807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18세 미만이 접근할 수 있는 시스템은 아동에게 미칠 영향을 별도로 고려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1333195" y="8232287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제72조 사후 모니터링과 연결, 운영 중 수집한 정보가 위험관리로 되돌아오는 구조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1333195" y="8666627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국제표준 참고 — ISO/IEC 42001 AI 경영시스템, ISO/IEC 23894 AI 위험관리 지침이 실무 기준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333195" y="9029700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잔여 위험이 수용 가능한 수준이라는 판단은 누가 하는가? 판단 근거를 검증할 수 있는가?</a:t>
            </a:r>
            <a:endParaRPr lang="en-US" sz="1800" dirty="0"/>
          </a:p>
        </p:txBody>
      </p:sp>
      <p:sp>
        <p:nvSpPr>
          <p:cNvPr id="45" name="Text 42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7/51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904988"/>
            <a:ext cx="16383305" cy="162031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(1-4) 제10조 데이터와 데이터 거버넌스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 요건 중 둘째, 편향의 출발점을 데이터 단계에서 차단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데이터셋이 갖춰야 할 성질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학습, 검증, 시험 데이터셋 전부에 적용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관련성, 대표성, 오류 최소화, 완전성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통계적으로 적절한 속성 확보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의도된 목적과 대상 집단을 반영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거버넌스 관행으로 요구되는 것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선택과 수집 경위 문서화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주석, 라벨링, 정제 등 준비 과정 기록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편향 검토와 완화 조치 실시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공백과 부족분 식별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8067265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편향 검출과 교정을 위해서는 민감 정보 처리가 예외적으로 허용, 다만 보호조치 전제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466858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편향을 없애려면 민감 속성을 알아야 한다는 역설, 개인정보보호법과 긴장 관계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820302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없는 데이터라는 요건은 실제로 달성 가능한가?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152660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대표성을 어떤 지표로 측정할 것인가? 측정 방법이 정해지지 않은 요건의 실효성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8/51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6420002"/>
            <a:ext cx="8048549" cy="181874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6420002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286646" y="6420002"/>
            <a:ext cx="8048549" cy="181874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286646" y="6420002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8457288"/>
            <a:ext cx="16383305" cy="106801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(1-5) 제11조 기술문서</a:t>
            </a:r>
            <a:endParaRPr lang="en-US" sz="5000" dirty="0"/>
          </a:p>
        </p:txBody>
      </p:sp>
      <p:sp>
        <p:nvSpPr>
          <p:cNvPr id="17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 요건 중 셋째, 부속서 IV가 항목을 지정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704795"/>
          <a:ext cx="16374161" cy="3182112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7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기재 내용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설명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의도된 목적, 제공자, 버전, 상호작용하는 하드웨어와 소프트웨어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부속서 IV 1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과정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 명세, 사용한 학습 방법, 데이터셋 구성, 검증 절차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부속서 IV 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성능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정확도 지표와 시험 결과, 한계와 예견 가능한 오용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부속서 IV 3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위험관리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제9조 체계의 내용과 채택한 완화 조치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부속서 IV 5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 관리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생애주기 중 이루어진 변경 이력과 유지관리 계획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부속서 IV 6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1257300" y="6648602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시점과 유지</a:t>
            </a:r>
            <a:endParaRPr lang="en-US" sz="2500" dirty="0"/>
          </a:p>
        </p:txBody>
      </p:sp>
      <p:sp>
        <p:nvSpPr>
          <p:cNvPr id="20" name="Text 16"/>
          <p:cNvSpPr txBox="1"/>
          <p:nvPr/>
        </p:nvSpPr>
        <p:spPr>
          <a:xfrm>
            <a:off x="1257300" y="7200900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전에 작성 완료, 이후 항상 최신 상태로 유지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1257300" y="7601407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당국 요청 시 제출, 보관 기간은 별도 규정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9592056" y="6648602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중소기업 완화</a:t>
            </a:r>
            <a:endParaRPr lang="en-US" sz="2500" dirty="0"/>
          </a:p>
        </p:txBody>
      </p:sp>
      <p:sp>
        <p:nvSpPr>
          <p:cNvPr id="23" name="Text 19"/>
          <p:cNvSpPr txBox="1"/>
          <p:nvPr/>
        </p:nvSpPr>
        <p:spPr>
          <a:xfrm>
            <a:off x="9592056" y="7200900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중소기업은 간소화된 양식으로 작성 가능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9592056" y="7601407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집행위원회가 간소 양식을 제공, 항목 자체는 동일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1333195" y="8652269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기술문서가 적합성 평가의 대상이자 사후 감시의 증거, 문서가 없으면 요건 충족을 증명할 수 없는 구조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1333195" y="9105595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문서화 의무가 실제 안전을 높이는가, 형식적 준수로 끝나는가?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9/51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(1-6) 제12조 기록 보관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 요건 중 넷째, 사후 추적을 가능하게 하는 장치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기록 기능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생애주기 전체에서 사건을 자동 기록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기능은 설계 단계에 내장되어야 함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대상과 수준은 의도된 목적에 맞게 설정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 기간은 최소 6개월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기록이 쓰이는 국면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상황 식별과 중대 사고 원인 규명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모니터링 자료로 활용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시장감시 당국의 조사 근거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피해자 구제 절차에서 증거로 기능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의무가 제공자와 배포자 양쪽에 걸침, 누가 어느 기록을 보관하는지가 실무 쟁점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자체가 개인정보가 될 수 있음, 보관 목적과 기간의 정당성 필요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로그가 있어도 피해자가 접근할 수 없다면 구제에 쓸 수 있는가?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열람권을 어디까지 인정할 것인가, 영업비밀과 충돌하는 지점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10/51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5266944" cy="495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5266944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ecf24681c8a913dc2f6d75d5c759c67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3715207"/>
            <a:ext cx="465795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505956" y="2704795"/>
            <a:ext cx="5266944" cy="495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505956" y="2704795"/>
            <a:ext cx="5266944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ecf24681c8a913dc2f6d75d5c759c67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6810451" y="3715207"/>
            <a:ext cx="4657954" cy="91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2059107" y="2704795"/>
            <a:ext cx="5277002" cy="495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2059107" y="2704795"/>
            <a:ext cx="5277002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pic>
        <p:nvPicPr>
          <p:cNvPr id="11" name="Image 3" descr="gen-dedup-871f3dfe2e6d510d81c0b0c2273c4c8e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2363602" y="3715207"/>
            <a:ext cx="4667098" cy="914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805" y="7867498"/>
            <a:ext cx="16383305" cy="16578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(1-7) 제13조 배포자에 대한 투명성</a:t>
            </a:r>
            <a:endParaRPr lang="en-US" sz="5000" dirty="0"/>
          </a:p>
        </p:txBody>
      </p:sp>
      <p:sp>
        <p:nvSpPr>
          <p:cNvPr id="21" name="Text 15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 요건 중 다섯째, 제50조 일반 투명성과 구별할 것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1257300" y="2991002"/>
            <a:ext cx="46579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설명서 기재 사항</a:t>
            </a:r>
            <a:endParaRPr lang="en-US" sz="2500" dirty="0"/>
          </a:p>
        </p:txBody>
      </p:sp>
      <p:sp>
        <p:nvSpPr>
          <p:cNvPr id="23" name="Text 17"/>
          <p:cNvSpPr txBox="1"/>
          <p:nvPr/>
        </p:nvSpPr>
        <p:spPr>
          <a:xfrm>
            <a:off x="1257300" y="3962095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제공자 신원과 연락처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1257300" y="4461358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시스템의 특성, 능력, 성능 한계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1257300" y="4960620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예견 가능한 오용과 금지된 사용 방식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1257300" y="5459882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감독을 위해 마련된 수단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6810451" y="2991002"/>
            <a:ext cx="46579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조건</a:t>
            </a:r>
            <a:endParaRPr lang="en-US" sz="2500" dirty="0"/>
          </a:p>
        </p:txBody>
      </p:sp>
      <p:sp>
        <p:nvSpPr>
          <p:cNvPr id="28" name="Text 22"/>
          <p:cNvSpPr txBox="1"/>
          <p:nvPr/>
        </p:nvSpPr>
        <p:spPr>
          <a:xfrm>
            <a:off x="6810451" y="3962095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연산 자원과 하드웨어 조건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6810451" y="4461358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사용 기간과 유지관리 조치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6810451" y="4960620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수집과 해석 방법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6810451" y="5459882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집단에 대한 성능 차이 정보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12363602" y="2991002"/>
            <a:ext cx="46680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제50조와의 차이</a:t>
            </a:r>
            <a:endParaRPr lang="en-US" sz="2500" dirty="0"/>
          </a:p>
        </p:txBody>
      </p:sp>
      <p:sp>
        <p:nvSpPr>
          <p:cNvPr id="33" name="Text 27"/>
          <p:cNvSpPr txBox="1"/>
          <p:nvPr/>
        </p:nvSpPr>
        <p:spPr>
          <a:xfrm>
            <a:off x="12363602" y="3962095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제13조는 고위험 시스템에만 적용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12363602" y="4461358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상대방은 일반 이용자가 아니라 배포자</a:t>
            </a:r>
            <a:endParaRPr lang="en-US" sz="1800" dirty="0"/>
          </a:p>
        </p:txBody>
      </p:sp>
      <p:sp>
        <p:nvSpPr>
          <p:cNvPr id="35" name="Text 29"/>
          <p:cNvSpPr txBox="1"/>
          <p:nvPr/>
        </p:nvSpPr>
        <p:spPr>
          <a:xfrm>
            <a:off x="12363602" y="4960620"/>
            <a:ext cx="488198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제50조는 모든 등급에서 이용자를 상대로 함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12363602" y="5459882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조항이 겹치면 양쪽 모두 이행</a:t>
            </a:r>
            <a:endParaRPr lang="en-US" sz="1800" dirty="0"/>
          </a:p>
        </p:txBody>
      </p:sp>
      <p:sp>
        <p:nvSpPr>
          <p:cNvPr id="37" name="Text 31"/>
          <p:cNvSpPr txBox="1"/>
          <p:nvPr/>
        </p:nvSpPr>
        <p:spPr>
          <a:xfrm>
            <a:off x="1333195" y="8134502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설명서가 배포자에게 전달된다고 이용자 보호가 되는가?</a:t>
            </a:r>
            <a:endParaRPr lang="en-US" sz="1800" dirty="0"/>
          </a:p>
        </p:txBody>
      </p:sp>
      <p:sp>
        <p:nvSpPr>
          <p:cNvPr id="38" name="Text 32"/>
          <p:cNvSpPr txBox="1"/>
          <p:nvPr/>
        </p:nvSpPr>
        <p:spPr>
          <a:xfrm>
            <a:off x="1333195" y="8576158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제공자가 설명서를 주면 책임이 배포자로 넘어가는 구조, 책임 전가의 통로가 될 수 있음</a:t>
            </a:r>
            <a:endParaRPr lang="en-US" sz="1800" dirty="0"/>
          </a:p>
        </p:txBody>
      </p:sp>
      <p:sp>
        <p:nvSpPr>
          <p:cNvPr id="39" name="Text 33"/>
          <p:cNvSpPr txBox="1"/>
          <p:nvPr/>
        </p:nvSpPr>
        <p:spPr>
          <a:xfrm>
            <a:off x="1333195" y="9018727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가능성(explainability)을 법적 요건으로 만들 때 기술적 한계를 어디까지 인정할 것인가?</a:t>
            </a:r>
            <a:endParaRPr lang="en-US" sz="1800" dirty="0"/>
          </a:p>
        </p:txBody>
      </p:sp>
      <p:sp>
        <p:nvSpPr>
          <p:cNvPr id="40" name="Text 34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11/51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16383305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3657600"/>
            <a:ext cx="16383305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3657600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4610405"/>
            <a:ext cx="16383305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461040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2805" y="5562295"/>
            <a:ext cx="16383305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2805" y="5562295"/>
            <a:ext cx="16383305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2805" y="6761988"/>
            <a:ext cx="16383305" cy="276331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(1-8) 제14조 인간 감독</a:t>
            </a:r>
            <a:endParaRPr lang="en-US" sz="5000" dirty="0"/>
          </a:p>
        </p:txBody>
      </p:sp>
      <p:sp>
        <p:nvSpPr>
          <p:cNvPr id="23" name="Text 20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 요건 중 여섯째, 사람이 개입할 수 있게 설계할 의무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295705" y="2980944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95705" y="2980944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867205" y="2876702"/>
            <a:ext cx="4000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능력과 한계 이해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6096305" y="2895905"/>
            <a:ext cx="109161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감독자가 시스템의 능력과 한계를 제대로 파악할 수 있어야 함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295705" y="3933749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295705" y="3933749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867205" y="3829507"/>
            <a:ext cx="4000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편향 경계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6096305" y="3847795"/>
            <a:ext cx="109161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출력을 무비판적으로 신뢰하는 자동화 편향(automation bias)을 인식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295705" y="4886554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295705" y="4886554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1867205" y="4781398"/>
            <a:ext cx="4000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해석과 무시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6096305" y="4800600"/>
            <a:ext cx="109161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출력을 올바르게 해석하고, 필요하면 무시하거나 되돌릴 수 있어야 함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1295705" y="5838444"/>
            <a:ext cx="323698" cy="323698"/>
          </a:xfrm>
          <a:prstGeom prst="ellipse">
            <a:avLst/>
          </a:prstGeom>
          <a:solidFill>
            <a:srgbClr val="A82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295705" y="5838444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1867205" y="5734202"/>
            <a:ext cx="4000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 장치</a:t>
            </a:r>
            <a:endParaRPr lang="en-US" sz="2000" dirty="0"/>
          </a:p>
        </p:txBody>
      </p:sp>
      <p:sp>
        <p:nvSpPr>
          <p:cNvPr id="39" name="Text 36"/>
          <p:cNvSpPr txBox="1"/>
          <p:nvPr/>
        </p:nvSpPr>
        <p:spPr>
          <a:xfrm>
            <a:off x="6096305" y="5753405"/>
            <a:ext cx="109161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운영에 개입하거나 정지 버튼으로 시스템을 멈출 수 있어야 함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1333195" y="6858000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생체인식 시스템은 별도 강화 규정, 두 사람 이상의 확인을 거쳐야 조치 가능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1333195" y="7269480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감독 수단은 제공자가 설계에 내장하거나 배포자가 구현할 조건으로 제시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1333195" y="7680960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 집행, 이민, 국경 관리 분야는 두 사람 확인 요건의 예외가 인정될 수 있음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1333195" y="8115300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배포자 측 대응 의무는 제26조, 충분한 역량과 교육을 갖춘 자연인을 감독자로 지정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333195" y="9029700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형식적 감독자만 두면 요건을 충족하는가? 실질적 개입 가능성을 어떻게 측정할 것인가?</a:t>
            </a:r>
            <a:endParaRPr lang="en-US" sz="1800" dirty="0"/>
          </a:p>
        </p:txBody>
      </p:sp>
      <p:sp>
        <p:nvSpPr>
          <p:cNvPr id="45" name="Text 42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12/51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5266944" cy="495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5266944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ecf24681c8a913dc2f6d75d5c759c67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3715207"/>
            <a:ext cx="465795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505956" y="2704795"/>
            <a:ext cx="5266944" cy="495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505956" y="2704795"/>
            <a:ext cx="5266944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ecf24681c8a913dc2f6d75d5c759c67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6810451" y="3715207"/>
            <a:ext cx="4657954" cy="91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2059107" y="2704795"/>
            <a:ext cx="5277002" cy="495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2059107" y="2704795"/>
            <a:ext cx="5277002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pic>
        <p:nvPicPr>
          <p:cNvPr id="11" name="Image 3" descr="gen-dedup-871f3dfe2e6d510d81c0b0c2273c4c8e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2363602" y="3715207"/>
            <a:ext cx="4667098" cy="914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805" y="7867498"/>
            <a:ext cx="16383305" cy="16578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(1-9) 제15조 정확성과 견고성, 보안</a:t>
            </a:r>
            <a:endParaRPr lang="en-US" sz="5000" dirty="0"/>
          </a:p>
        </p:txBody>
      </p:sp>
      <p:sp>
        <p:nvSpPr>
          <p:cNvPr id="21" name="Text 15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 요건 중 일곱째, 세 성질을 하나의 조문에 묶음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1257300" y="2991002"/>
            <a:ext cx="46579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정확성</a:t>
            </a:r>
            <a:endParaRPr lang="en-US" sz="2500" dirty="0"/>
          </a:p>
        </p:txBody>
      </p:sp>
      <p:sp>
        <p:nvSpPr>
          <p:cNvPr id="23" name="Text 17"/>
          <p:cNvSpPr txBox="1"/>
          <p:nvPr/>
        </p:nvSpPr>
        <p:spPr>
          <a:xfrm>
            <a:off x="1257300" y="3962095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의도된 목적에 적절한 수준의 정확도 확보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1257300" y="4461358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지표와 측정 수준을 설명서에 명시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1257300" y="4960620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기준이 아니라 용도별 상대 기준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1257300" y="5459882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방법론은 집행위원회가 표준으로 보완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6810451" y="2991002"/>
            <a:ext cx="46579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견고성</a:t>
            </a:r>
            <a:endParaRPr lang="en-US" sz="2500" dirty="0"/>
          </a:p>
        </p:txBody>
      </p:sp>
      <p:sp>
        <p:nvSpPr>
          <p:cNvPr id="28" name="Text 22"/>
          <p:cNvSpPr txBox="1"/>
          <p:nvPr/>
        </p:nvSpPr>
        <p:spPr>
          <a:xfrm>
            <a:off x="6810451" y="3962095"/>
            <a:ext cx="496427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오류와 결함, 불일치 상황에서도 복원력 유지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6810451" y="4461358"/>
            <a:ext cx="480517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예비 계획이나 안전 실패(fail-safe) 설계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6810451" y="4960620"/>
            <a:ext cx="46579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후 학습을 계속하는 시스템은 되먹임 고리(feedback loop) 방지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6810451" y="5825642"/>
            <a:ext cx="496427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편향된 출력이 다시 입력이 되는 순환을 차단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12363602" y="2991002"/>
            <a:ext cx="46680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사이버보안</a:t>
            </a:r>
            <a:endParaRPr lang="en-US" sz="2500" dirty="0"/>
          </a:p>
        </p:txBody>
      </p:sp>
      <p:sp>
        <p:nvSpPr>
          <p:cNvPr id="33" name="Text 27"/>
          <p:cNvSpPr txBox="1"/>
          <p:nvPr/>
        </p:nvSpPr>
        <p:spPr>
          <a:xfrm>
            <a:off x="12363602" y="3962095"/>
            <a:ext cx="54580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없는 제3자의 시스템 변경 시도에 대한 대응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12363602" y="4461358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오염(data poisoning) 공격 대비</a:t>
            </a:r>
            <a:endParaRPr lang="en-US" sz="1800" dirty="0"/>
          </a:p>
        </p:txBody>
      </p:sp>
      <p:sp>
        <p:nvSpPr>
          <p:cNvPr id="35" name="Text 29"/>
          <p:cNvSpPr txBox="1"/>
          <p:nvPr/>
        </p:nvSpPr>
        <p:spPr>
          <a:xfrm>
            <a:off x="12363602" y="4960620"/>
            <a:ext cx="494233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적대적 예제(adversarial examples) 대응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12363602" y="5459882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회피와 기밀성 공격 방어 조치</a:t>
            </a:r>
            <a:endParaRPr lang="en-US" sz="1800" dirty="0"/>
          </a:p>
        </p:txBody>
      </p:sp>
      <p:sp>
        <p:nvSpPr>
          <p:cNvPr id="37" name="Text 31"/>
          <p:cNvSpPr txBox="1"/>
          <p:nvPr/>
        </p:nvSpPr>
        <p:spPr>
          <a:xfrm>
            <a:off x="1333195" y="8134502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수치를 설명서에 쓰게 하면 사업자는 유리한 조건에서 측정할 유인이 생김</a:t>
            </a:r>
            <a:endParaRPr lang="en-US" sz="1800" dirty="0"/>
          </a:p>
        </p:txBody>
      </p:sp>
      <p:sp>
        <p:nvSpPr>
          <p:cNvPr id="38" name="Text 32"/>
          <p:cNvSpPr txBox="1"/>
          <p:nvPr/>
        </p:nvSpPr>
        <p:spPr>
          <a:xfrm>
            <a:off x="1333195" y="8576158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조건을 표준화하지 않으면 숫자의 비교 가능성이 사라짐, 어떻게 통제할 것인가?</a:t>
            </a:r>
            <a:endParaRPr lang="en-US" sz="1800" dirty="0"/>
          </a:p>
        </p:txBody>
      </p:sp>
      <p:sp>
        <p:nvSpPr>
          <p:cNvPr id="39" name="Text 33"/>
          <p:cNvSpPr txBox="1"/>
          <p:nvPr/>
        </p:nvSpPr>
        <p:spPr>
          <a:xfrm>
            <a:off x="1333195" y="9018727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성질을 한 조문에 묶은 입법 선택이 적절한가? 각각 다른 기술 영역인데 같은 수준으로 요구</a:t>
            </a:r>
            <a:endParaRPr lang="en-US" sz="1800" dirty="0"/>
          </a:p>
        </p:txBody>
      </p:sp>
      <p:sp>
        <p:nvSpPr>
          <p:cNvPr id="40" name="Text 34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13/51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52805" y="8416887"/>
            <a:ext cx="16383305" cy="110841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7</a:t>
            </a: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 요건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정리</a:t>
            </a:r>
            <a:endParaRPr lang="en-US" sz="50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 7대 요건, 제8조 총괄과 제9~15조 개별 요건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320924"/>
              </p:ext>
            </p:extLst>
          </p:nvPr>
        </p:nvGraphicFramePr>
        <p:xfrm>
          <a:off x="952805" y="2704795"/>
          <a:ext cx="16373246" cy="4246848"/>
        </p:xfrm>
        <a:graphic>
          <a:graphicData uri="http://schemas.openxmlformats.org/drawingml/2006/table">
            <a:tbl>
              <a:tblPr/>
              <a:tblGrid>
                <a:gridCol w="1333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7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34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8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8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제9조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위험관리 체계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식별, 오용 추정, 완화, 시험을 생애주기에 걸쳐 반복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나머지를 묶는 상위 체계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8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제10조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거버넌스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관련성, 대표성, 오류 최소화, 편향 검토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투입 단계 통제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8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제11조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기술문서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부속서 IV 항목, 출시 전 작성과 최신 유지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증명 수단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8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제12조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보관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기록 기능 내장, 최소 6개월 보관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사후 추적 수단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8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제13조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배포자 투명성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설명서로 특성, 한계, 감독 수단 전달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사슬 내부 정보 전달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8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제14조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인간 감독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해석, 무시, 개입, 정지가 가능한 설계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통제권 유보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8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제15조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정확성과 견고성, 보안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용도별 정확도, 복원력, 공격 대응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기술적 품질 보증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66751" marB="66751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1333195" y="8644030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 요건 중 기술적으로 측정 기준이 가장 불명확한 것은 무엇인가?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333195" y="9043623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요건의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지표를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14/51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6172199"/>
            <a:ext cx="8048549" cy="200071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6172200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286646" y="6172199"/>
            <a:ext cx="8048549" cy="200071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286646" y="6172200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8439000"/>
            <a:ext cx="16383305" cy="1086306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(2-1) 의무를 지는 네 주체</a:t>
            </a:r>
            <a:endParaRPr lang="en-US" sz="5000" dirty="0"/>
          </a:p>
        </p:txBody>
      </p:sp>
      <p:sp>
        <p:nvSpPr>
          <p:cNvPr id="17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시스템에 대해 지위가 다르면 의무도 다름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257750"/>
              </p:ext>
            </p:extLst>
          </p:nvPr>
        </p:nvGraphicFramePr>
        <p:xfrm>
          <a:off x="952805" y="2704795"/>
          <a:ext cx="16373246" cy="3267150"/>
        </p:xfrm>
        <a:graphic>
          <a:graphicData uri="http://schemas.openxmlformats.org/drawingml/2006/table">
            <a:tbl>
              <a:tblPr/>
              <a:tblGrid>
                <a:gridCol w="10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32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8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4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34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의무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4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시스템을 개발하여 자기 이름으로 출시하거나 운용하는 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7대 요건 충족 확인, 품질관리, 적합성 평가, 등록, 사고 보고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제16~22조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4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수입자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역외 제공자의 시스템을 EU 시장에 들여오는 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완료와 문서 구비 확인, 미비 시 출시 보류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제23조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4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유통자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공급망에서 시스템을 시장에 제공하는 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 표시와 문서 확인, 하자 인지 시 시정과 통보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제24조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4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자기 권한으로 시스템을 사용하는 자, 개인적 비업무 사용은 제외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설명서대로 사용, 감독자 지정, 입력 데이터 관리, 기록 보관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제26~27조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1257300" y="6400800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지위는 고정되지 않음</a:t>
            </a:r>
            <a:endParaRPr lang="en-US" sz="2500" dirty="0"/>
          </a:p>
        </p:txBody>
      </p:sp>
      <p:sp>
        <p:nvSpPr>
          <p:cNvPr id="20" name="Text 16"/>
          <p:cNvSpPr txBox="1"/>
          <p:nvPr/>
        </p:nvSpPr>
        <p:spPr>
          <a:xfrm>
            <a:off x="1257300" y="6972300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배포자가 상표를 붙이거나 용도를 바꾸면 제공자로 전환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1257300" y="7372807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전환되면 제16조 제공자 의무 전부를 새로 부담, 제25조가 근거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9592056" y="6400800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역외 제공자</a:t>
            </a:r>
            <a:endParaRPr lang="en-US" sz="2500" dirty="0"/>
          </a:p>
        </p:txBody>
      </p:sp>
      <p:sp>
        <p:nvSpPr>
          <p:cNvPr id="23" name="Text 19"/>
          <p:cNvSpPr txBox="1"/>
          <p:nvPr/>
        </p:nvSpPr>
        <p:spPr>
          <a:xfrm>
            <a:off x="9592056" y="6972300"/>
            <a:ext cx="81253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내에 권한 있는 대표(authorised representative)를 서면 위임으로 지정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9592056" y="7372807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대표가 문서 보관과 당국 협력을 수행, 제22조가 근거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1333195" y="8658912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의무의 무게는 제공자에 집중, 배포자는 사용 단계 관리, 수입자와 유통자는 확인 의무 중심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1333195" y="9087307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인공지능기본법은 AI 사업자 하나로 통합, 네 주체 분리가 실무에 어떤 차이를 만드는가?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15/51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762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762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8152791"/>
            <a:ext cx="16383305" cy="1372514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(2-2) 제16조 제공자의 의무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의무의 대부분이 여기에 집중, 출시 전과 출시 후로 나뉨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전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제8~15조 요건 충족 확인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66106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제17조 품질관리체계 구축과 운영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5622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제11조 기술문서 작성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45429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제43조 적합성 평가 수행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1257300" y="643554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제47조 EU 적합성 선언 작성, 제48조 CE 표시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1257300" y="6924751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제49조 EU 데이터베이스 등록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후</a:t>
            </a:r>
            <a:endParaRPr lang="en-US" sz="25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제72조 사후 모니터링 체계 운영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4966106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제73조 중대 사고 당국 보고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9592056" y="545622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부적합 확인 시 시정, 회수, 철수 조치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9592056" y="5945429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당국 요청 시 문서 제출과 협력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9592056" y="643554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접근성 요건 준수 여부 확인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9592056" y="6924751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보관, 연락처를 시스템에 표시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333195" y="8333842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제16조는 목록 조항, 실제 내용은 각각 다른 조문에 있음, 조문 사이를 오가며 읽어야 하는 구조</a:t>
            </a:r>
            <a:endParaRPr lang="en-US" sz="1800" dirty="0"/>
          </a:p>
        </p:txBody>
      </p:sp>
      <p:sp>
        <p:nvSpPr>
          <p:cNvPr id="39" name="Text 34"/>
          <p:cNvSpPr txBox="1"/>
          <p:nvPr/>
        </p:nvSpPr>
        <p:spPr>
          <a:xfrm>
            <a:off x="1333195" y="867814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의무 목록을 중소기업이 실제로 이행할 수 있는가?</a:t>
            </a:r>
            <a:endParaRPr lang="en-US" sz="1800" dirty="0"/>
          </a:p>
        </p:txBody>
      </p:sp>
      <p:sp>
        <p:nvSpPr>
          <p:cNvPr id="40" name="Text 35"/>
          <p:cNvSpPr txBox="1"/>
          <p:nvPr/>
        </p:nvSpPr>
        <p:spPr>
          <a:xfrm>
            <a:off x="1333195" y="907773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준수 비용을 추정하는 연구는 법경제학 방법, 자료는 공개 재무제표와 인증 비용 공시</a:t>
            </a:r>
            <a:endParaRPr lang="en-US" sz="1800" dirty="0"/>
          </a:p>
        </p:txBody>
      </p:sp>
      <p:sp>
        <p:nvSpPr>
          <p:cNvPr id="41" name="Text 36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16/51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5266944" cy="4762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5266944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ecf24681c8a913dc2f6d75d5c759c67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3715207"/>
            <a:ext cx="465795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505956" y="2704795"/>
            <a:ext cx="5266944" cy="4762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505956" y="2704795"/>
            <a:ext cx="5266944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ecf24681c8a913dc2f6d75d5c759c67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6810451" y="3715207"/>
            <a:ext cx="4657954" cy="91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2059107" y="2704795"/>
            <a:ext cx="5277002" cy="4762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2059107" y="2704795"/>
            <a:ext cx="5277002" cy="47549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>
                <a:alpha val="0"/>
              </a:srgbClr>
            </a:solidFill>
            <a:prstDash val="solid"/>
          </a:ln>
        </p:spPr>
      </p:sp>
      <p:pic>
        <p:nvPicPr>
          <p:cNvPr id="11" name="Image 3" descr="gen-dedup-871f3dfe2e6d510d81c0b0c2273c4c8e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2363602" y="3715207"/>
            <a:ext cx="4667098" cy="914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952805" y="8126731"/>
            <a:ext cx="16383305" cy="1398574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(2-3) 제17조 품질관리체계</a:t>
            </a:r>
            <a:endParaRPr lang="en-US" sz="5000" dirty="0"/>
          </a:p>
        </p:txBody>
      </p:sp>
      <p:sp>
        <p:nvSpPr>
          <p:cNvPr id="22" name="Text 16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시스템이 아니라 조직 차원의 체계를 요구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1257300" y="2991002"/>
            <a:ext cx="46579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전략과 절차</a:t>
            </a:r>
            <a:endParaRPr lang="en-US" sz="2500" dirty="0"/>
          </a:p>
        </p:txBody>
      </p:sp>
      <p:sp>
        <p:nvSpPr>
          <p:cNvPr id="24" name="Text 18"/>
          <p:cNvSpPr txBox="1"/>
          <p:nvPr/>
        </p:nvSpPr>
        <p:spPr>
          <a:xfrm>
            <a:off x="1257300" y="3962095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준수를 위한 전략 수립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1257300" y="4452214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설계와 개발, 검증 절차 문서화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1257300" y="4941418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시험과 검증 절차의 실시 방법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1257300" y="5431536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적용할 기술 명세와 표준 목록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1257300" y="5920740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표준을 일부만 적용할 경우 그 방법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6810451" y="2991002"/>
            <a:ext cx="46579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데이터와 위험</a:t>
            </a:r>
            <a:endParaRPr lang="en-US" sz="2500" dirty="0"/>
          </a:p>
        </p:txBody>
      </p:sp>
      <p:sp>
        <p:nvSpPr>
          <p:cNvPr id="30" name="Text 24"/>
          <p:cNvSpPr txBox="1"/>
          <p:nvPr/>
        </p:nvSpPr>
        <p:spPr>
          <a:xfrm>
            <a:off x="6810451" y="3962095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관리 절차 전반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6810451" y="4452214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제9조 위험관리 체계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6810451" y="4941418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제72조 사후 모니터링 계획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6810451" y="5431536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제73조 사고 보고 절차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6810451" y="5920740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공급업체와 제3자 관리 방안</a:t>
            </a:r>
            <a:endParaRPr lang="en-US" sz="1800" dirty="0"/>
          </a:p>
        </p:txBody>
      </p:sp>
      <p:sp>
        <p:nvSpPr>
          <p:cNvPr id="35" name="Text 29"/>
          <p:cNvSpPr txBox="1"/>
          <p:nvPr/>
        </p:nvSpPr>
        <p:spPr>
          <a:xfrm>
            <a:off x="12363602" y="2991002"/>
            <a:ext cx="46680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조직과 책임</a:t>
            </a:r>
            <a:endParaRPr lang="en-US" sz="2500" dirty="0"/>
          </a:p>
        </p:txBody>
      </p:sp>
      <p:sp>
        <p:nvSpPr>
          <p:cNvPr id="36" name="Text 30"/>
          <p:cNvSpPr txBox="1"/>
          <p:nvPr/>
        </p:nvSpPr>
        <p:spPr>
          <a:xfrm>
            <a:off x="12363602" y="3962095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책임과 권한, 보고 체계 명시</a:t>
            </a:r>
            <a:endParaRPr lang="en-US" sz="1800" dirty="0"/>
          </a:p>
        </p:txBody>
      </p:sp>
      <p:sp>
        <p:nvSpPr>
          <p:cNvPr id="37" name="Text 31"/>
          <p:cNvSpPr txBox="1"/>
          <p:nvPr/>
        </p:nvSpPr>
        <p:spPr>
          <a:xfrm>
            <a:off x="12363602" y="4452214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문서와 기록 관리 체계</a:t>
            </a:r>
            <a:endParaRPr lang="en-US" sz="1800" dirty="0"/>
          </a:p>
        </p:txBody>
      </p:sp>
      <p:sp>
        <p:nvSpPr>
          <p:cNvPr id="38" name="Text 32"/>
          <p:cNvSpPr txBox="1"/>
          <p:nvPr/>
        </p:nvSpPr>
        <p:spPr>
          <a:xfrm>
            <a:off x="12363602" y="4941418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 관리와 공급망 보안</a:t>
            </a:r>
            <a:endParaRPr lang="en-US" sz="1800" dirty="0"/>
          </a:p>
        </p:txBody>
      </p:sp>
      <p:sp>
        <p:nvSpPr>
          <p:cNvPr id="39" name="Text 33"/>
          <p:cNvSpPr txBox="1"/>
          <p:nvPr/>
        </p:nvSpPr>
        <p:spPr>
          <a:xfrm>
            <a:off x="12363602" y="5431536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경영진의 책임을 기록으로 남김</a:t>
            </a:r>
            <a:endParaRPr lang="en-US" sz="1800" dirty="0"/>
          </a:p>
        </p:txBody>
      </p:sp>
      <p:sp>
        <p:nvSpPr>
          <p:cNvPr id="40" name="Text 34"/>
          <p:cNvSpPr txBox="1"/>
          <p:nvPr/>
        </p:nvSpPr>
        <p:spPr>
          <a:xfrm>
            <a:off x="12363602" y="5920740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규모에 비례하여 이행, 중소기업 완화 적용</a:t>
            </a:r>
            <a:endParaRPr lang="en-US" sz="1800" dirty="0"/>
          </a:p>
        </p:txBody>
      </p:sp>
      <p:sp>
        <p:nvSpPr>
          <p:cNvPr id="41" name="Text 35"/>
          <p:cNvSpPr txBox="1"/>
          <p:nvPr/>
        </p:nvSpPr>
        <p:spPr>
          <a:xfrm>
            <a:off x="1328623" y="8334057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국제표준 참고 — ISO/IEC 42001 AI 경영시스템 인증이 이 조문의 이행 수단으로 활용 가능</a:t>
            </a:r>
            <a:endParaRPr lang="en-US" sz="1800" dirty="0"/>
          </a:p>
        </p:txBody>
      </p:sp>
      <p:sp>
        <p:nvSpPr>
          <p:cNvPr id="42" name="Text 36"/>
          <p:cNvSpPr txBox="1"/>
          <p:nvPr/>
        </p:nvSpPr>
        <p:spPr>
          <a:xfrm>
            <a:off x="1333195" y="8691588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차원 인증이 개별 시스템의 안전을 보장하는가?</a:t>
            </a:r>
            <a:endParaRPr lang="en-US" sz="1800" dirty="0"/>
          </a:p>
        </p:txBody>
      </p:sp>
      <p:sp>
        <p:nvSpPr>
          <p:cNvPr id="43" name="Text 37"/>
          <p:cNvSpPr txBox="1"/>
          <p:nvPr/>
        </p:nvSpPr>
        <p:spPr>
          <a:xfrm>
            <a:off x="1333195" y="909118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품질경영 인증과 실제 사고율의 관계를 따지는 실증 연구, 제조업 선행연구가 참고 자료</a:t>
            </a:r>
            <a:endParaRPr lang="en-US" sz="1800" dirty="0"/>
          </a:p>
        </p:txBody>
      </p:sp>
      <p:sp>
        <p:nvSpPr>
          <p:cNvPr id="44" name="Text 3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17/51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16383305" cy="1429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4229100"/>
            <a:ext cx="16383305" cy="1429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4229100"/>
            <a:ext cx="16383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5753405"/>
            <a:ext cx="16383305" cy="1429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5753405"/>
            <a:ext cx="16383305" cy="47549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2805" y="7710221"/>
            <a:ext cx="16383305" cy="1815084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(2-4) </a:t>
            </a:r>
            <a:r>
              <a:rPr lang="en-US" altLang="ko-KR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제22~24조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공급망의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</a:t>
            </a:r>
            <a:endParaRPr lang="en-US" sz="5000" dirty="0"/>
          </a:p>
        </p:txBody>
      </p:sp>
      <p:sp>
        <p:nvSpPr>
          <p:cNvPr id="19" name="Text 16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역외 제공자를 EU 법 집행 범위 안에 두는 장치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295705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95705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867205" y="2915107"/>
            <a:ext cx="4000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제22조 권한 있는 대표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6096305" y="2915107"/>
            <a:ext cx="109161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밖 제공자는 출시 전에 EU 내 대표를 서면 위임으로 지정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6096305" y="3314700"/>
            <a:ext cx="109161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대표가 적합성 선언과 기술문서를 10년간 보관, 당국 요청에 응답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6096305" y="3715207"/>
            <a:ext cx="109161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제공자가 의무를 위반한다고 판단하면 위임을 종료하고 당국에 통보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1295705" y="4496105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295705" y="4496105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867205" y="4438498"/>
            <a:ext cx="4000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제23조 수입자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6096305" y="4438498"/>
            <a:ext cx="109161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적합성 평가 완료, 기술문서 구비, CE 표시, 대표 지정 여부를 확인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6096305" y="4839005"/>
            <a:ext cx="109161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미비하거나 위조가 의심되면 출시하지 않음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096305" y="5238598"/>
            <a:ext cx="109161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이름과 연락처를 포장 또는 첨부 문서에 표시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295705" y="6019495"/>
            <a:ext cx="323698" cy="323698"/>
          </a:xfrm>
          <a:prstGeom prst="ellipse">
            <a:avLst/>
          </a:prstGeom>
          <a:solidFill>
            <a:srgbClr val="6B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295705" y="6019495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1867205" y="5962802"/>
            <a:ext cx="4000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제24조 유통자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6096305" y="5962802"/>
            <a:ext cx="109161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 표시와 설명서, 제공자와 수입자의 의무 이행을 확인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6096305" y="6362395"/>
            <a:ext cx="109161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 미충족을 알게 되면 시장에 제공하지 않고 시정 조치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6096305" y="6762902"/>
            <a:ext cx="109161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제공한 경우 회수 또는 철수에 협력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1333195" y="7871102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수입자와 유통자의 의무는 확인 의무, 스스로 평가를 다시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하지는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않음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확인을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소홀히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제99조 4항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과징금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1333195" y="8289897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제품안전 법령의 공급망 구조를 AI에 그대로 이식한 형태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1333195" y="8685832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소프트웨어는 물리적 제품과 달리 유통 단계가 모호함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1333195" y="9085425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장터나 클라우드 제공자는 유통자인가 배포자인가? 분류가 정해지지 않은 영역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18/51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16383305" cy="9902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16383305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3791102"/>
            <a:ext cx="16383305" cy="9902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3791102"/>
            <a:ext cx="16383305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4876495"/>
            <a:ext cx="16383305" cy="9902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4876495"/>
            <a:ext cx="16383305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2805" y="6057900"/>
            <a:ext cx="8048549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2805" y="6057900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286646" y="6057900"/>
            <a:ext cx="8048549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286646" y="6057900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2805" y="8191195"/>
            <a:ext cx="16383305" cy="1333195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(2-5) 제25조 제공자 지위의 전환</a:t>
            </a:r>
            <a:endParaRPr lang="en-US" sz="5000" dirty="0"/>
          </a:p>
        </p:txBody>
      </p:sp>
      <p:sp>
        <p:nvSpPr>
          <p:cNvPr id="23" name="Text 20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배포자가 제공자로 바뀌는 세 가지 경우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295705" y="3029407"/>
            <a:ext cx="323698" cy="323698"/>
          </a:xfrm>
          <a:prstGeom prst="ellipse">
            <a:avLst/>
          </a:prstGeom>
          <a:solidFill>
            <a:srgbClr val="A82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95705" y="3029407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867205" y="2915107"/>
            <a:ext cx="419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상표 부착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6286500" y="2933395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출시된 고위험 시스템에 자기 이름이나 상표를 붙이는 경우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6286500" y="3333902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계약으로 의무를 다르게 배분했더라도 법적 지위는 바뀜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1295705" y="4114800"/>
            <a:ext cx="323698" cy="323698"/>
          </a:xfrm>
          <a:prstGeom prst="ellipse">
            <a:avLst/>
          </a:prstGeom>
          <a:solidFill>
            <a:srgbClr val="A82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295705" y="4114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1867205" y="4000500"/>
            <a:ext cx="419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중대한 변경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6286500" y="4019702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출시된 시스템에 중대한 변경(substantial modification)을 가하는 경우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6286500" y="4419295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후에도 여전히 고위험에 해당하면 변경자가 제공자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1295705" y="5201107"/>
            <a:ext cx="323698" cy="323698"/>
          </a:xfrm>
          <a:prstGeom prst="ellipse">
            <a:avLst/>
          </a:prstGeom>
          <a:solidFill>
            <a:srgbClr val="A82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295705" y="5201107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1867205" y="5086807"/>
            <a:ext cx="419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 변경</a:t>
            </a:r>
            <a:endParaRPr lang="en-US" sz="2000" dirty="0"/>
          </a:p>
        </p:txBody>
      </p:sp>
      <p:sp>
        <p:nvSpPr>
          <p:cNvPr id="37" name="Text 34"/>
          <p:cNvSpPr txBox="1"/>
          <p:nvPr/>
        </p:nvSpPr>
        <p:spPr>
          <a:xfrm>
            <a:off x="6286500" y="5105095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고위험이 아니던 시스템의 의도된 목적을 바꿔 고위험이 되게 하는 경우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6286500" y="5505602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AI 시스템을 고위험 용도로 전용하는 사례가 대표적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1257300" y="6286500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제공자의 협력 의무</a:t>
            </a:r>
            <a:endParaRPr lang="en-US" sz="2500" dirty="0"/>
          </a:p>
        </p:txBody>
      </p:sp>
      <p:sp>
        <p:nvSpPr>
          <p:cNvPr id="40" name="Text 37"/>
          <p:cNvSpPr txBox="1"/>
          <p:nvPr/>
        </p:nvSpPr>
        <p:spPr>
          <a:xfrm>
            <a:off x="1257300" y="6858000"/>
            <a:ext cx="778977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지위가 넘어가면 원 제공자는 그 시스템에 대한 제공자 의무에서 벗어남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1257300" y="7258507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새 제공자가 요건을 이행할 수 있도록 문서와 정보를 제공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9592056" y="6286500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AI의 경우</a:t>
            </a:r>
            <a:endParaRPr lang="en-US" sz="2500" dirty="0"/>
          </a:p>
        </p:txBody>
      </p:sp>
      <p:sp>
        <p:nvSpPr>
          <p:cNvPr id="43" name="Text 40"/>
          <p:cNvSpPr txBox="1"/>
          <p:nvPr/>
        </p:nvSpPr>
        <p:spPr>
          <a:xfrm>
            <a:off x="9592056" y="6858000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AI 모델을 고위험 시스템에 통합하면 통합자가 제공자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9592056" y="7258507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제공자는 통합자에게 필요한 정보를 제공할 의무</a:t>
            </a:r>
            <a:endParaRPr lang="en-US" sz="1800" dirty="0"/>
          </a:p>
        </p:txBody>
      </p:sp>
      <p:sp>
        <p:nvSpPr>
          <p:cNvPr id="45" name="Text 42"/>
          <p:cNvSpPr txBox="1"/>
          <p:nvPr/>
        </p:nvSpPr>
        <p:spPr>
          <a:xfrm>
            <a:off x="1333195" y="8315553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중대한 변경의 판단 기준이 제3조 정의에 있으나 경계가 모호, 미세조정을 어디까지 볼 것인지가 쟁점</a:t>
            </a:r>
            <a:endParaRPr lang="en-US" sz="1800" dirty="0"/>
          </a:p>
        </p:txBody>
      </p:sp>
      <p:sp>
        <p:nvSpPr>
          <p:cNvPr id="46" name="Text 43"/>
          <p:cNvSpPr txBox="1"/>
          <p:nvPr/>
        </p:nvSpPr>
        <p:spPr>
          <a:xfrm>
            <a:off x="1333195" y="8683896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미세조정(fine-tuning)의 연산량을 기준으로 지위 전환을 정하는 방식이 타당한가?</a:t>
            </a:r>
            <a:endParaRPr lang="en-US" sz="1800" dirty="0"/>
          </a:p>
        </p:txBody>
      </p:sp>
      <p:sp>
        <p:nvSpPr>
          <p:cNvPr id="47" name="Text 44"/>
          <p:cNvSpPr txBox="1"/>
          <p:nvPr/>
        </p:nvSpPr>
        <p:spPr>
          <a:xfrm>
            <a:off x="1333195" y="9083489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Hacker(2026)가 이 문제를 기술감사 방법으로 분석, 13주차 선행연구에서 다시 다룸</a:t>
            </a:r>
            <a:endParaRPr lang="en-US" sz="1800" dirty="0"/>
          </a:p>
        </p:txBody>
      </p:sp>
      <p:sp>
        <p:nvSpPr>
          <p:cNvPr id="48" name="Text 45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19/51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5266944" cy="4762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5266944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ecf24681c8a913dc2f6d75d5c759c67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3715207"/>
            <a:ext cx="465795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505956" y="2704795"/>
            <a:ext cx="5266944" cy="4762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505956" y="2704795"/>
            <a:ext cx="5266944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ecf24681c8a913dc2f6d75d5c759c67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6810451" y="3715207"/>
            <a:ext cx="4657954" cy="91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2059107" y="2704795"/>
            <a:ext cx="5277002" cy="4762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2059107" y="2704795"/>
            <a:ext cx="5277002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pic>
        <p:nvPicPr>
          <p:cNvPr id="11" name="Image 3" descr="gen-dedup-871f3dfe2e6d510d81c0b0c2273c4c8e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2363602" y="3715207"/>
            <a:ext cx="4667098" cy="914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952805" y="8192110"/>
            <a:ext cx="16383305" cy="1333195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(2-6) 제26조 배포자의 의무</a:t>
            </a:r>
            <a:endParaRPr lang="en-US" sz="5000" dirty="0"/>
          </a:p>
        </p:txBody>
      </p:sp>
      <p:sp>
        <p:nvSpPr>
          <p:cNvPr id="22" name="Text 16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단계의 의무, 기업과 공공기관 대부분이 여기에 해당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1257300" y="2991002"/>
            <a:ext cx="46579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사용과 감독</a:t>
            </a:r>
            <a:endParaRPr lang="en-US" sz="2500" dirty="0"/>
          </a:p>
        </p:txBody>
      </p:sp>
      <p:sp>
        <p:nvSpPr>
          <p:cNvPr id="24" name="Text 18"/>
          <p:cNvSpPr txBox="1"/>
          <p:nvPr/>
        </p:nvSpPr>
        <p:spPr>
          <a:xfrm>
            <a:off x="1257300" y="3962095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설명서에 정해진 대로 사용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1257300" y="4452214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역량과 교육을 갖춘 자연인을 감독자로 지정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1257300" y="4941418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감독자에게 필요한 지원과 자원을 제공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1257300" y="5431536"/>
            <a:ext cx="532089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근로자 대상 사용 시 근로자 대표에게 사전 통보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6810451" y="2991002"/>
            <a:ext cx="46579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데이터와 기록</a:t>
            </a:r>
            <a:endParaRPr lang="en-US" sz="2500" dirty="0"/>
          </a:p>
        </p:txBody>
      </p:sp>
      <p:sp>
        <p:nvSpPr>
          <p:cNvPr id="29" name="Text 23"/>
          <p:cNvSpPr txBox="1"/>
          <p:nvPr/>
        </p:nvSpPr>
        <p:spPr>
          <a:xfrm>
            <a:off x="6810451" y="3962095"/>
            <a:ext cx="46579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데이터를 통제할 수 있는 범위에서 적절성 확보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6810451" y="4817974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의도된 목적에 맞는 데이터인지 확인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6810451" y="5307178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생성 기록을 최소 6개월 보관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6810451" y="5797296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처리 시 별도 법령 준수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12363602" y="2991002"/>
            <a:ext cx="46680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고지와 보고</a:t>
            </a:r>
            <a:endParaRPr lang="en-US" sz="2500" dirty="0"/>
          </a:p>
        </p:txBody>
      </p:sp>
      <p:sp>
        <p:nvSpPr>
          <p:cNvPr id="34" name="Text 28"/>
          <p:cNvSpPr txBox="1"/>
          <p:nvPr/>
        </p:nvSpPr>
        <p:spPr>
          <a:xfrm>
            <a:off x="12363602" y="3962095"/>
            <a:ext cx="466801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자연인에 관한 결정에 쓰이면 그 사실을 대상자에게 고지</a:t>
            </a:r>
            <a:endParaRPr lang="en-US" sz="1800" dirty="0"/>
          </a:p>
        </p:txBody>
      </p:sp>
      <p:sp>
        <p:nvSpPr>
          <p:cNvPr id="35" name="Text 29"/>
          <p:cNvSpPr txBox="1"/>
          <p:nvPr/>
        </p:nvSpPr>
        <p:spPr>
          <a:xfrm>
            <a:off x="12363602" y="4817974"/>
            <a:ext cx="466801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징후나 부적합을 발견하면 제공자와 당국에 통보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12363602" y="5672938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중대 사고 발생 시 즉시 보고, 사용 중단</a:t>
            </a:r>
            <a:endParaRPr lang="en-US" sz="1800" dirty="0"/>
          </a:p>
        </p:txBody>
      </p:sp>
      <p:sp>
        <p:nvSpPr>
          <p:cNvPr id="37" name="Text 31"/>
          <p:cNvSpPr txBox="1"/>
          <p:nvPr/>
        </p:nvSpPr>
        <p:spPr>
          <a:xfrm>
            <a:off x="12363602" y="6163056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당국의 조사에 협력</a:t>
            </a:r>
            <a:endParaRPr lang="en-US" sz="1800" dirty="0"/>
          </a:p>
        </p:txBody>
      </p:sp>
      <p:sp>
        <p:nvSpPr>
          <p:cNvPr id="38" name="Text 32"/>
          <p:cNvSpPr txBox="1"/>
          <p:nvPr/>
        </p:nvSpPr>
        <p:spPr>
          <a:xfrm>
            <a:off x="1333195" y="8337499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배포자는 시스템을 만들지 않았으므로 요건 자체를 증명하지 않음, 다만 사용 방식에 대한 책임을 짐</a:t>
            </a:r>
            <a:endParaRPr lang="en-US" sz="1800" dirty="0"/>
          </a:p>
        </p:txBody>
      </p:sp>
      <p:sp>
        <p:nvSpPr>
          <p:cNvPr id="39" name="Text 33"/>
          <p:cNvSpPr txBox="1"/>
          <p:nvPr/>
        </p:nvSpPr>
        <p:spPr>
          <a:xfrm>
            <a:off x="1333195" y="8705035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채용에 AI를 쓰는 기업은 배포자, 지원자에게 무엇을 어디까지 고지해야 하는가?</a:t>
            </a:r>
            <a:endParaRPr lang="en-US" sz="1800" dirty="0"/>
          </a:p>
        </p:txBody>
      </p:sp>
      <p:sp>
        <p:nvSpPr>
          <p:cNvPr id="40" name="Text 34"/>
          <p:cNvSpPr txBox="1"/>
          <p:nvPr/>
        </p:nvSpPr>
        <p:spPr>
          <a:xfrm>
            <a:off x="1333195" y="9104628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채용 절차의 공정화에 관한 법률과 비교하면 고지 수준 차이를 분석할 수 있음</a:t>
            </a:r>
            <a:endParaRPr lang="en-US" sz="1800" dirty="0"/>
          </a:p>
        </p:txBody>
      </p:sp>
      <p:sp>
        <p:nvSpPr>
          <p:cNvPr id="41" name="Text 35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20/51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904988"/>
            <a:ext cx="16383305" cy="162031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(2-7) 제27조 기본권 영향평가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배포자 의무 중 하나, 대상이 한정됨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A82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의무를 지는 배포자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공법상 기관과 공공 서비스를 제공하는 민간 주체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부속서 III 5(b) 신용 평가와 5(c) 생명보험, 건강보험 가격 산정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사용 전에 실시, 유사 사례는 기존 평가를 원용 가능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민간 기업 대부분은 이 의무의 대상이 아님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평가에 담을 내용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절차와 사용 기간, 사용 빈도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영향을 받을 자연인과 집단의 범주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예상되는 기본권 침해의 구체적 위험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감독 조치와 피해 발생 시 대응 계획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8040319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결과를 시장감시 당국에 통보, 집행위원회가 설문 양식을 제공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439912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영향평가를 이미 했다면 그것을 보완하는 형태로 수행 가능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820302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인공지능기본법 제35조는 영향평가를 노력 의무로 규정, EU는 한정된 대상에 강제 의무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219895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범위를 좁히고 강제하는 방식과 넓게 권고하는 방식, 어느 쪽이 실제 보호에 유리한가?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21/51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1906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1906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550202"/>
            <a:ext cx="16383305" cy="1975104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(2-8) </a:t>
            </a:r>
            <a:r>
              <a:rPr lang="en-US" altLang="ko-KR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제85~86조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개인의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구제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수단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 이행을 요구할 수 있는 개인의 권리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제85조 당국에 대한 신고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누구든 이 규정 위반을 시장감시 당국에 신고 가능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당국은 절차에 따라 처리하고 결과를 알림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피해자 여부와 무관하게 신고 자격이 인정됨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제86조 설명을 받을 권리</a:t>
            </a:r>
            <a:endParaRPr lang="en-US" sz="2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부속서 III 고위험 시스템이 관여한 결정의 대상자가 행사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건강, 안전, 기본권에 불리한 영향을 주는 결정이 요건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시스템의 역할과 결정의 주요 요소에 대한 설명을 배포자에게 요구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1333195" y="7733780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규정에는 손해배상 청구권 조항이 없음, 민사 책임은 회원국 법과 제조물책임지침이 담당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1333195" y="8145260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책임지침(AI Liability Directive)은 합의 불성립으로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채택되지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않음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결과적으로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금전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배상은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민사법에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의존하는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572500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설명을 받을 권리가 있어도 정보 비대칭 때문에 입증이 어렵다는 지적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9014155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Wachter(2024)와 Bertolini(2025)가 이 공백을 분석, 법경제학과 정책 분석 두 방법의 대조 사례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22/51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16383305" cy="8385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3619195"/>
            <a:ext cx="16383305" cy="8385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361919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4533595"/>
            <a:ext cx="16383305" cy="8385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4533595"/>
            <a:ext cx="16383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2805" y="5447995"/>
            <a:ext cx="16383305" cy="8385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2805" y="5447995"/>
            <a:ext cx="16383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2805" y="6362395"/>
            <a:ext cx="16383305" cy="8385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2805" y="6362395"/>
            <a:ext cx="16383305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2805" y="7962596"/>
            <a:ext cx="16383305" cy="1562710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주체별</a:t>
            </a: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의무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5000" dirty="0"/>
          </a:p>
        </p:txBody>
      </p:sp>
      <p:sp>
        <p:nvSpPr>
          <p:cNvPr id="23" name="Text 20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주체별 의무와 지위 전환, 개인의 구제 수단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295705" y="2962656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95705" y="2962656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867205" y="2952598"/>
            <a:ext cx="151452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주체로 의무를 분담, 제공자에 가장 무거운 의무가 집중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1295705" y="3877056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95705" y="3877056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867205" y="3866998"/>
            <a:ext cx="151452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제16조가 목록 조항, 실제 내용은 제17조와 제43조, 제47~49조에 분산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1295705" y="4791456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295705" y="4791456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1867205" y="4781398"/>
            <a:ext cx="151452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상표 부착, 중대한 변경, 용도 변경 시 배포자가 제공자로 전환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1295705" y="5705856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295705" y="5705856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1867205" y="5695798"/>
            <a:ext cx="151452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기본권 영향평가는 공공기관과 신용, 보험 분야에 한정된 의무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1295705" y="6620256"/>
            <a:ext cx="323698" cy="323698"/>
          </a:xfrm>
          <a:prstGeom prst="ellipse">
            <a:avLst/>
          </a:prstGeom>
          <a:solidFill>
            <a:srgbClr val="A82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295705" y="6620256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1867205" y="6610198"/>
            <a:ext cx="151452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개인에게 신고권과 설명 요구권을 주었으나 손해배상 조항은 없음</a:t>
            </a:r>
            <a:endParaRPr lang="en-US" sz="2000" dirty="0"/>
          </a:p>
        </p:txBody>
      </p:sp>
      <p:sp>
        <p:nvSpPr>
          <p:cNvPr id="39" name="Text 36"/>
          <p:cNvSpPr txBox="1"/>
          <p:nvPr/>
        </p:nvSpPr>
        <p:spPr>
          <a:xfrm>
            <a:off x="1333195" y="8232773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의무를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이행했다는 것을 어떤 절차로 증명하는가, 적합성 평가와 CE 표시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1333195" y="8667598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 분담 구조를 연구 대상으로 삼는다면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1333195" y="9110167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계약서로 책임을 재배분하는 실무 관행과 법정 의무의 관계, 사례 수집이 가능한 주제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23/51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16383305" cy="8193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3619195"/>
            <a:ext cx="16383305" cy="8193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361919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4533595"/>
            <a:ext cx="16383305" cy="8193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4533595"/>
            <a:ext cx="16383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2805" y="5447995"/>
            <a:ext cx="16383305" cy="8193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2805" y="5447995"/>
            <a:ext cx="16383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2805" y="6362395"/>
            <a:ext cx="16383305" cy="8193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2805" y="6362395"/>
            <a:ext cx="16383305" cy="47549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52805" y="7276795"/>
            <a:ext cx="16383305" cy="8193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2805" y="7276795"/>
            <a:ext cx="16383305" cy="47549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52805" y="8382305"/>
            <a:ext cx="16383305" cy="1142999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(3-1)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</a:t>
            </a:r>
            <a:endParaRPr lang="en-US" sz="5000" dirty="0"/>
          </a:p>
        </p:txBody>
      </p:sp>
      <p:sp>
        <p:nvSpPr>
          <p:cNvPr id="25" name="Text 22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 충족에서 시장 출시까지 여섯 단계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1295705" y="2952598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295705" y="2952598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867205" y="2938182"/>
            <a:ext cx="3810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 이행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5905195" y="2957384"/>
            <a:ext cx="8763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제8~15조 일곱 요건을 시스템에 구현, 제17조 품질관리체계 운영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14859000" y="2957384"/>
            <a:ext cx="21534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제8~17조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1295705" y="3866998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295705" y="3866998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867205" y="3852582"/>
            <a:ext cx="3810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적용</a:t>
            </a:r>
            <a:endParaRPr lang="en-US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5905195" y="3871784"/>
            <a:ext cx="8763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조화 표준을 따르면 요건 충족으로 추정, 따르지 않으면 별도 입증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14859000" y="3871784"/>
            <a:ext cx="21534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제40~41조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1295705" y="4781398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295705" y="4781398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1867205" y="4766982"/>
            <a:ext cx="3810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적합성 평가</a:t>
            </a:r>
            <a:endParaRPr lang="en-US" sz="2000" dirty="0"/>
          </a:p>
        </p:txBody>
      </p:sp>
      <p:sp>
        <p:nvSpPr>
          <p:cNvPr id="39" name="Text 36"/>
          <p:cNvSpPr txBox="1"/>
          <p:nvPr/>
        </p:nvSpPr>
        <p:spPr>
          <a:xfrm>
            <a:off x="5905195" y="4786184"/>
            <a:ext cx="8763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통제 방식 또는 인증기관 개입 방식 중 해당하는 경로로 수행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14859000" y="4786184"/>
            <a:ext cx="21534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A7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제43조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1295705" y="5695798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295705" y="5695798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1867205" y="5681382"/>
            <a:ext cx="3810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적합성 선언</a:t>
            </a:r>
            <a:endParaRPr lang="en-US" sz="2000" dirty="0"/>
          </a:p>
        </p:txBody>
      </p:sp>
      <p:sp>
        <p:nvSpPr>
          <p:cNvPr id="44" name="Text 41"/>
          <p:cNvSpPr txBox="1"/>
          <p:nvPr/>
        </p:nvSpPr>
        <p:spPr>
          <a:xfrm>
            <a:off x="5905195" y="5700584"/>
            <a:ext cx="8763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제공자가 스스로 서면 선언 작성, 10년간 보관하고 당국에 제출</a:t>
            </a:r>
            <a:endParaRPr lang="en-US" sz="1800" dirty="0"/>
          </a:p>
        </p:txBody>
      </p:sp>
      <p:sp>
        <p:nvSpPr>
          <p:cNvPr id="45" name="Text 42"/>
          <p:cNvSpPr txBox="1"/>
          <p:nvPr/>
        </p:nvSpPr>
        <p:spPr>
          <a:xfrm>
            <a:off x="14859000" y="5700584"/>
            <a:ext cx="21534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A7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제47조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1295705" y="6610198"/>
            <a:ext cx="323698" cy="323698"/>
          </a:xfrm>
          <a:prstGeom prst="ellipse">
            <a:avLst/>
          </a:prstGeom>
          <a:solidFill>
            <a:srgbClr val="6B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295705" y="6610198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1867205" y="6595782"/>
            <a:ext cx="3810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 표시</a:t>
            </a:r>
            <a:endParaRPr lang="en-US" sz="2000" dirty="0"/>
          </a:p>
        </p:txBody>
      </p:sp>
      <p:sp>
        <p:nvSpPr>
          <p:cNvPr id="49" name="Text 46"/>
          <p:cNvSpPr txBox="1"/>
          <p:nvPr/>
        </p:nvSpPr>
        <p:spPr>
          <a:xfrm>
            <a:off x="5905195" y="6614984"/>
            <a:ext cx="8763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시스템이나 포장, 첨부 문서에 표시, 인증기관 개입 시 그 번호도 병기</a:t>
            </a:r>
            <a:endParaRPr lang="en-US" sz="1800" dirty="0"/>
          </a:p>
        </p:txBody>
      </p:sp>
      <p:sp>
        <p:nvSpPr>
          <p:cNvPr id="50" name="Text 47"/>
          <p:cNvSpPr txBox="1"/>
          <p:nvPr/>
        </p:nvSpPr>
        <p:spPr>
          <a:xfrm>
            <a:off x="14859000" y="6614984"/>
            <a:ext cx="21534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제48조</a:t>
            </a:r>
            <a:endParaRPr lang="en-US" sz="1800" dirty="0"/>
          </a:p>
        </p:txBody>
      </p:sp>
      <p:sp>
        <p:nvSpPr>
          <p:cNvPr id="51" name="Shape 48"/>
          <p:cNvSpPr/>
          <p:nvPr/>
        </p:nvSpPr>
        <p:spPr>
          <a:xfrm>
            <a:off x="1295705" y="7524598"/>
            <a:ext cx="323698" cy="323698"/>
          </a:xfrm>
          <a:prstGeom prst="ellipse">
            <a:avLst/>
          </a:prstGeom>
          <a:solidFill>
            <a:srgbClr val="6B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295705" y="7524598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1867205" y="7510182"/>
            <a:ext cx="3810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등록과 출시</a:t>
            </a:r>
            <a:endParaRPr lang="en-US" sz="2000" dirty="0"/>
          </a:p>
        </p:txBody>
      </p:sp>
      <p:sp>
        <p:nvSpPr>
          <p:cNvPr id="54" name="Text 51"/>
          <p:cNvSpPr txBox="1"/>
          <p:nvPr/>
        </p:nvSpPr>
        <p:spPr>
          <a:xfrm>
            <a:off x="5905195" y="7529384"/>
            <a:ext cx="8763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데이터베이스에 등록한 뒤 시장에 출시, 이후 사후 감시 단계로</a:t>
            </a:r>
            <a:endParaRPr lang="en-US" sz="1800" dirty="0"/>
          </a:p>
        </p:txBody>
      </p:sp>
      <p:sp>
        <p:nvSpPr>
          <p:cNvPr id="55" name="Text 52"/>
          <p:cNvSpPr txBox="1"/>
          <p:nvPr/>
        </p:nvSpPr>
        <p:spPr>
          <a:xfrm>
            <a:off x="14859000" y="7529384"/>
            <a:ext cx="21534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제49조, 제71조</a:t>
            </a:r>
            <a:endParaRPr lang="en-US" sz="1800" dirty="0"/>
          </a:p>
        </p:txBody>
      </p:sp>
      <p:sp>
        <p:nvSpPr>
          <p:cNvPr id="56" name="Text 53"/>
          <p:cNvSpPr txBox="1"/>
          <p:nvPr/>
        </p:nvSpPr>
        <p:spPr>
          <a:xfrm>
            <a:off x="1333195" y="8657081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CE 제도를 AI에 확장한 구조, 제품안전 법령을 다뤄 본 기업은 절차가 익숙</a:t>
            </a:r>
            <a:endParaRPr lang="en-US" sz="1800" dirty="0"/>
          </a:p>
        </p:txBody>
      </p:sp>
      <p:sp>
        <p:nvSpPr>
          <p:cNvPr id="57" name="Text 54"/>
          <p:cNvSpPr txBox="1"/>
          <p:nvPr/>
        </p:nvSpPr>
        <p:spPr>
          <a:xfrm>
            <a:off x="1333195" y="9105595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단계 중 실무 부담이 가장 큰 단계는 어디인가? 단계별 비용 추정이 가능한 주제</a:t>
            </a:r>
            <a:endParaRPr lang="en-US" sz="1800" dirty="0"/>
          </a:p>
        </p:txBody>
      </p:sp>
      <p:sp>
        <p:nvSpPr>
          <p:cNvPr id="58" name="Text 55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24/51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85531"/>
            <a:ext cx="16383305" cy="1839774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(3-2) 제40~41조 조화 표준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추상적 요건을 구체적 방법으로 바꾸는 장치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제40조 적합성 추정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관보에 공표된 조화 표준(harmonised standards)을 따르면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표준이 다루는 범위에서 요건 충족으로 추정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적용은 강제가 아니라 선택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따르지 않으면 다른 방법으로 동등한 수준을 스스로 입증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제41조 공통 명세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 요청에 표준화 기구가 응하지 않거나 결과가 미흡한 경우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6581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집행위원회가 이행법(implementing act)으로 공통 명세를 직접 제정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조화 표준이 마련되면 공통 명세는 폐지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민간 표준화가 지체될 때를 대비한 보충 수단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53701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제정은 유럽표준화기구 CEN과 CENELEC의 공동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기술위원회가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국제표준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ISO/IEC 42001과 ISO/IEC 23894를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참조하되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EU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요건에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맞게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조정</a:t>
            </a:r>
            <a:endParaRPr lang="en-US" altLang="ko-KR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206013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제2강에서 다룬 공동 규제(co-regulation) 방식의 대표 사례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8601948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법이 요건만 정하고 방법은 민간 표준에 맡기는 구조의 정당성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333195" y="900154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제정 과정에 누가 참여하는가? 대기업 편향 가능성을 검증하는 연구가 가능</a:t>
            </a:r>
            <a:endParaRPr lang="en-US" sz="1800" dirty="0"/>
          </a:p>
        </p:txBody>
      </p:sp>
      <p:sp>
        <p:nvSpPr>
          <p:cNvPr id="39" name="Text 34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25/51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439557"/>
            <a:ext cx="16383305" cy="208574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(3-3) 제43조 적합성 평가 2경로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대부분은 자체 평가, 생체인식 일부만 제3자 개입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통제 방식, 부속서 VI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제공자가 스스로 수행, 제3자 개입 없음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품질관리체계와 기술문서를 자체 점검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부속서 III의 2번에서 8번 영역 전부가 이 경로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채용, 신용, 교육, 공공 서비스 등 대부분이 해당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A82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인증기관 방식, 부속서 VII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공지된 인증기관(notified body)이 품질관리체계와 기술문서를 심사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부속서 III 1번 생체인식 영역이 대상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조화 표준을 온전히 적용한 경우에는 내부 통제 방식 선택 가능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부속서 I 제품 경로는 해당 제품 법령의 평가 절차를 따름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601407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중대한 변경이 있으면 평가를 다시 수행, 사전 계획된 변경은 예외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012887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후에도 계속 학습하는 시스템은 변경 계획을 기술문서에 미리 기재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424367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예외적으로 공익 사유가 있으면 당국 허가로 평가 전 임시 사용 가능, 제46조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8820302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고위험인데 대부분이 자체 평가라는 점, 제3강의 자기 분류 문제와 같은 구조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333195" y="9219895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제3자 심사를 생체인식에만 요구한 근거는 무엇인가? 위험의 크기인가 정치적 타협인가?</a:t>
            </a:r>
            <a:endParaRPr lang="en-US" sz="1800" dirty="0"/>
          </a:p>
        </p:txBody>
      </p:sp>
      <p:sp>
        <p:nvSpPr>
          <p:cNvPr id="39" name="Text 34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26/51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6884895"/>
            <a:ext cx="8048549" cy="1581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68848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286646" y="6884895"/>
            <a:ext cx="8048549" cy="1581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286646" y="6884895"/>
            <a:ext cx="8048549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8725205"/>
            <a:ext cx="16383305" cy="800100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(3-4) 제28~39조 인증기관 체계</a:t>
            </a:r>
            <a:endParaRPr lang="en-US" sz="50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평가를 수행하는 민간 기관을 공적으로 통제하는 구조</a:t>
            </a:r>
            <a:endParaRPr lang="en-US" sz="1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704795"/>
          <a:ext cx="16373247" cy="3838653"/>
        </p:xfrm>
        <a:graphic>
          <a:graphicData uri="http://schemas.openxmlformats.org/drawingml/2006/table">
            <a:tbl>
              <a:tblPr/>
              <a:tblGrid>
                <a:gridCol w="2381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7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3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3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제28조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통보 당국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회원국이 인증기관을 지정하고 감독할 당국을 설치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3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제29~30조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신청과 지정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적합성 평가 기관이 신청, 요건 심사를 거쳐 공지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3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제31조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기관의 요건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독립성, 이해충돌 배제, 전문 역량, 비밀 유지, 책임보험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3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제33~34조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자회사와 의무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하도급 시에도 요건 유지, 평가 활동에 대한 기록 의무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3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제36조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지정 변경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요건 미충족 시 지정 제한, 정지, 철회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3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제38~39조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조정과 역외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기관 간 조정 체계, 제3국 기관의 인정 조건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1257300" y="7113495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구조</a:t>
            </a:r>
            <a:endParaRPr lang="en-US" sz="2500" dirty="0"/>
          </a:p>
        </p:txBody>
      </p:sp>
      <p:sp>
        <p:nvSpPr>
          <p:cNvPr id="19" name="Text 15"/>
          <p:cNvSpPr txBox="1"/>
          <p:nvPr/>
        </p:nvSpPr>
        <p:spPr>
          <a:xfrm>
            <a:off x="1257300" y="7665793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평가는 민간 기관이 수행, 그 기관의 자격은 공적 당국이 심사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1257300" y="8066300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제품 인증 제도와 동일한 설계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9592056" y="7113495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현황</a:t>
            </a:r>
            <a:endParaRPr lang="en-US" sz="2500" dirty="0"/>
          </a:p>
        </p:txBody>
      </p:sp>
      <p:sp>
        <p:nvSpPr>
          <p:cNvPr id="22" name="Text 18"/>
          <p:cNvSpPr txBox="1"/>
          <p:nvPr/>
        </p:nvSpPr>
        <p:spPr>
          <a:xfrm>
            <a:off x="9592056" y="7665793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분야 인증기관 지정은 진행 중, 다수 회원국이 미완료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9592056" y="8066300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2027년 고위험 시행까지 확보 여부가 실무 변수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1333195" y="874634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인증기관 수가 부족하면 심사 적체로 시장 진입이 지연될 수 있음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1333195" y="914593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의료기기 분야에서 같은 문제가 관측된 바 있음, 선행 제도와 비교하는 연구가 가능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27/51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458760"/>
            <a:ext cx="16383305" cy="2192015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(3-5) 제47~48조 적합성 선언과 CE 표시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제공자가 스스로 책임을 선언하고 표시로 공표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제47조 EU 적합성 선언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제공자가 시스템별로 서면 선언을 작성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부속서 V의 기재 항목을 따름, 적용한 표준과 평가 경로를 명시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 충족에 대한 책임이 제공자에게 있음을 선언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후 10년간 보관, 당국 요청 시 제출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제48조 CE 표시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눈에 보이게, 읽을 수 있게, 지워지지 않게 부착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물리적 부착이 어려우면 포장이나 첨부 문서에 표시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방식 시스템은 전자적 표시로 갈음 가능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인증기관이 개입한 경우 그 식별 번호를 병기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601407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 표시는 품질 보증이 아니라 법적 요건 준수를 주장하는 표시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012887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허위 표시는 제99조 4항 과징금 대상, 회수와 철수 명령도 가능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424367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부속서 I 제품에 내장된 경우 기존 제품 법령의 CE 표시에 통합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8820302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소비자는 CE 표시를 안전 인증으로 오해할 수 있음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333195" y="9219895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 제도가 신뢰 형성에 기여하는가, 오해를 유발하는가? 인식 조사로 검증 가능한 주제</a:t>
            </a:r>
            <a:endParaRPr lang="en-US" sz="1800" dirty="0"/>
          </a:p>
        </p:txBody>
      </p:sp>
      <p:sp>
        <p:nvSpPr>
          <p:cNvPr id="39" name="Text 34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28/51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5266944" cy="4667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5266944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ecf24681c8a913dc2f6d75d5c759c67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3715207"/>
            <a:ext cx="465795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505956" y="2704795"/>
            <a:ext cx="5266944" cy="4667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505956" y="2704795"/>
            <a:ext cx="5266944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ecf24681c8a913dc2f6d75d5c759c67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6810451" y="3715207"/>
            <a:ext cx="4657954" cy="91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2059107" y="2704795"/>
            <a:ext cx="5277002" cy="4667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2059107" y="2704795"/>
            <a:ext cx="5277002" cy="47549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>
                <a:alpha val="0"/>
              </a:srgbClr>
            </a:solidFill>
            <a:prstDash val="solid"/>
          </a:ln>
        </p:spPr>
      </p:sp>
      <p:pic>
        <p:nvPicPr>
          <p:cNvPr id="11" name="Image 3" descr="gen-dedup-871f3dfe2e6d510d81c0b0c2273c4c8e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2363602" y="3715207"/>
            <a:ext cx="4667098" cy="914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952805" y="7659014"/>
            <a:ext cx="16383305" cy="1866291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(3-6) 제49조, 제71조 EU 등록부</a:t>
            </a:r>
            <a:endParaRPr lang="en-US" sz="5000" dirty="0"/>
          </a:p>
        </p:txBody>
      </p:sp>
      <p:sp>
        <p:nvSpPr>
          <p:cNvPr id="22" name="Text 16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 시스템을 공개 데이터베이스에 등록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1257300" y="2991002"/>
            <a:ext cx="46579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제49조 등록 의무</a:t>
            </a:r>
            <a:endParaRPr lang="en-US" sz="2500" dirty="0"/>
          </a:p>
        </p:txBody>
      </p:sp>
      <p:sp>
        <p:nvSpPr>
          <p:cNvPr id="24" name="Text 18"/>
          <p:cNvSpPr txBox="1"/>
          <p:nvPr/>
        </p:nvSpPr>
        <p:spPr>
          <a:xfrm>
            <a:off x="1257300" y="3962095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부속서 III 고위험 시스템은 출시 전 등록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1257300" y="4452214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제공자와 대표가 등록 주체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1257300" y="4941418"/>
            <a:ext cx="46579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제6조 3항으로 고위험이 아니라고 판단한 경우에도 그 사실을 등록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1257300" y="5797296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공공기관 배포자는 사용 사실을 별도 등록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6810451" y="2991002"/>
            <a:ext cx="46579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제71조 데이터베이스</a:t>
            </a:r>
            <a:endParaRPr lang="en-US" sz="2500" dirty="0"/>
          </a:p>
        </p:txBody>
      </p:sp>
      <p:sp>
        <p:nvSpPr>
          <p:cNvPr id="29" name="Text 23"/>
          <p:cNvSpPr txBox="1"/>
          <p:nvPr/>
        </p:nvSpPr>
        <p:spPr>
          <a:xfrm>
            <a:off x="6810451" y="3962095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집행위원회가 회원국과 함께 구축하고 운영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6810451" y="4452214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부속서 VIII의 항목을 등록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6810451" y="4941418"/>
            <a:ext cx="46579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원칙적으로 일반에 공개, 접근 가능하고 이해 가능한 형태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6810451" y="5797296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 집행과 이민 분야는 비공개 구역에 보관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12363602" y="2991002"/>
            <a:ext cx="46680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항목</a:t>
            </a:r>
            <a:endParaRPr lang="en-US" sz="2500" dirty="0"/>
          </a:p>
        </p:txBody>
      </p:sp>
      <p:sp>
        <p:nvSpPr>
          <p:cNvPr id="34" name="Text 28"/>
          <p:cNvSpPr txBox="1"/>
          <p:nvPr/>
        </p:nvSpPr>
        <p:spPr>
          <a:xfrm>
            <a:off x="12363602" y="3962095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제공자 정보와 연락처, 대표 정보</a:t>
            </a:r>
            <a:endParaRPr lang="en-US" sz="1800" dirty="0"/>
          </a:p>
        </p:txBody>
      </p:sp>
      <p:sp>
        <p:nvSpPr>
          <p:cNvPr id="35" name="Text 29"/>
          <p:cNvSpPr txBox="1"/>
          <p:nvPr/>
        </p:nvSpPr>
        <p:spPr>
          <a:xfrm>
            <a:off x="12363602" y="4452214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명칭과 의도된 목적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12363602" y="4941418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해당하는 부속서 III 영역</a:t>
            </a:r>
            <a:endParaRPr lang="en-US" sz="1800" dirty="0"/>
          </a:p>
        </p:txBody>
      </p:sp>
      <p:sp>
        <p:nvSpPr>
          <p:cNvPr id="37" name="Text 31"/>
          <p:cNvSpPr txBox="1"/>
          <p:nvPr/>
        </p:nvSpPr>
        <p:spPr>
          <a:xfrm>
            <a:off x="12363602" y="5431536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적합성 평가 상태와 인증서 정보</a:t>
            </a:r>
            <a:endParaRPr lang="en-US" sz="1800" dirty="0"/>
          </a:p>
        </p:txBody>
      </p:sp>
      <p:sp>
        <p:nvSpPr>
          <p:cNvPr id="38" name="Text 32"/>
          <p:cNvSpPr txBox="1"/>
          <p:nvPr/>
        </p:nvSpPr>
        <p:spPr>
          <a:xfrm>
            <a:off x="12363602" y="5920740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회원국 내 판매 여부와 설명서 사본</a:t>
            </a:r>
            <a:endParaRPr lang="en-US" sz="1800" dirty="0"/>
          </a:p>
        </p:txBody>
      </p:sp>
      <p:sp>
        <p:nvSpPr>
          <p:cNvPr id="39" name="Text 33"/>
          <p:cNvSpPr txBox="1"/>
          <p:nvPr/>
        </p:nvSpPr>
        <p:spPr>
          <a:xfrm>
            <a:off x="1333195" y="7893423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등록부가 연구자에게 자료원이 됨, 시스템 분포와 분야별 집중도를 확인 가능</a:t>
            </a:r>
            <a:endParaRPr lang="en-US" sz="1800" dirty="0"/>
          </a:p>
        </p:txBody>
      </p:sp>
      <p:sp>
        <p:nvSpPr>
          <p:cNvPr id="40" name="Text 34"/>
          <p:cNvSpPr txBox="1"/>
          <p:nvPr/>
        </p:nvSpPr>
        <p:spPr>
          <a:xfrm>
            <a:off x="1333195" y="8293930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시행이 2027년 이후여서 현재는 자료가 축적되지 않은 상태</a:t>
            </a:r>
            <a:endParaRPr lang="en-US" sz="1800" dirty="0"/>
          </a:p>
        </p:txBody>
      </p:sp>
      <p:sp>
        <p:nvSpPr>
          <p:cNvPr id="41" name="Text 35"/>
          <p:cNvSpPr txBox="1"/>
          <p:nvPr/>
        </p:nvSpPr>
        <p:spPr>
          <a:xfrm>
            <a:off x="1333195" y="867814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등록부가 열리면 실증 연구의 기초 자료가 됨</a:t>
            </a:r>
            <a:endParaRPr lang="en-US" sz="1800" dirty="0"/>
          </a:p>
        </p:txBody>
      </p:sp>
      <p:sp>
        <p:nvSpPr>
          <p:cNvPr id="42" name="Text 36"/>
          <p:cNvSpPr txBox="1"/>
          <p:nvPr/>
        </p:nvSpPr>
        <p:spPr>
          <a:xfrm>
            <a:off x="1333195" y="907773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무엇으로 대체할 수 있는가? 기업 공시와 조달 공고가 대안 자료원</a:t>
            </a:r>
            <a:endParaRPr lang="en-US" sz="1800" dirty="0"/>
          </a:p>
        </p:txBody>
      </p:sp>
      <p:sp>
        <p:nvSpPr>
          <p:cNvPr id="43" name="Text 37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29/51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16383305" cy="8385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3619195"/>
            <a:ext cx="16383305" cy="8385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361919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4533595"/>
            <a:ext cx="16383305" cy="8385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4533595"/>
            <a:ext cx="16383305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2805" y="5447995"/>
            <a:ext cx="16383305" cy="8385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2805" y="5447995"/>
            <a:ext cx="16383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2805" y="6362395"/>
            <a:ext cx="16383305" cy="8385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2805" y="6362395"/>
            <a:ext cx="16383305" cy="47549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2805" y="7894930"/>
            <a:ext cx="16383305" cy="1630375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적합성 평가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정리</a:t>
            </a:r>
            <a:endParaRPr lang="en-US" sz="5000" dirty="0"/>
          </a:p>
        </p:txBody>
      </p:sp>
      <p:sp>
        <p:nvSpPr>
          <p:cNvPr id="23" name="Text 20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적합성 평가와 표시, 등록으로 이어지는 증명 체계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295705" y="2962656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95705" y="2962656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867205" y="2952598"/>
            <a:ext cx="151452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조화 표준을 따르면 요건 충족으로 추정, 표준 적용은 선택 사항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1295705" y="3877056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95705" y="3877056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867205" y="3866998"/>
            <a:ext cx="151452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평가는 두 경로, 부속서 III 대부분이 제공자 자체 평가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1295705" y="4791456"/>
            <a:ext cx="323698" cy="323698"/>
          </a:xfrm>
          <a:prstGeom prst="ellipse">
            <a:avLst/>
          </a:prstGeom>
          <a:solidFill>
            <a:srgbClr val="A82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295705" y="4791456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1867205" y="4781398"/>
            <a:ext cx="151452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제3자 심사는 생체인식 영역에 한정, 표준 적용 시 이마저 선택 가능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1295705" y="5705856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295705" y="5705856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1867205" y="5695798"/>
            <a:ext cx="151452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적합성 선언과 CE 표시로 준수를 공표, 허위 표시는 제재 대상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1295705" y="6620256"/>
            <a:ext cx="323698" cy="323698"/>
          </a:xfrm>
          <a:prstGeom prst="ellipse">
            <a:avLst/>
          </a:prstGeom>
          <a:solidFill>
            <a:srgbClr val="6B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295705" y="6620256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1867205" y="6610198"/>
            <a:ext cx="151452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공개 등록부에 등록, 향후 실증 연구의 자료원이 될 구조</a:t>
            </a:r>
            <a:endParaRPr lang="en-US" sz="2000" dirty="0"/>
          </a:p>
        </p:txBody>
      </p:sp>
      <p:sp>
        <p:nvSpPr>
          <p:cNvPr id="39" name="Text 36"/>
          <p:cNvSpPr txBox="1"/>
          <p:nvPr/>
        </p:nvSpPr>
        <p:spPr>
          <a:xfrm>
            <a:off x="1333195" y="8209941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등급과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무관하게 모든 시스템에 걸리는 투명성 의무, 제50조 하나에 집약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1333195" y="8667598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규제의 실효성을 묻는다면 이 블록이 핵심 대상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1333195" y="9110167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평가 비중이 높은 구조에서 사전 통제가 실제로 작동하는지를 따지는 연구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30/51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7315200"/>
            <a:ext cx="804854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7315200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286646" y="7315200"/>
            <a:ext cx="804854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286646" y="7315200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8876995"/>
            <a:ext cx="16383305" cy="647395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(4-1) 제50조 투명성 의무 개요</a:t>
            </a:r>
            <a:endParaRPr lang="en-US" sz="50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제4장 전체가 단일 조문, 교안의 제34~37조 표기를 교정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848820"/>
              </p:ext>
            </p:extLst>
          </p:nvPr>
        </p:nvGraphicFramePr>
        <p:xfrm>
          <a:off x="952805" y="2704795"/>
          <a:ext cx="16374161" cy="3838653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33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3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단락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3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50조 1항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상호작용 고지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AI와 대화하고 있음을 알림, 명백한 경우는 면제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3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50조 2항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합성 콘텐츠 표시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생성물에 기계가 읽을 수 있는 표식을 삽입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3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50조 3항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감정인식 고지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감정인식과 생체분류 운영 사실을 대상자에게 알림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3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50조 4항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딥페이크 공개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인공 생성이나 조작 사실을 공개, 예술 창작은 완화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3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50조 5항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시점과 형식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최초 노출 시점까지 명확하게, 접근성 요건 충족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양쪽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3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50조 6~7항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관계와 보완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고위험 의무에 영향 없음, 행동강령으로 이행 방법 보완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집행위원회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1257300" y="7524598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범위</a:t>
            </a:r>
            <a:endParaRPr lang="en-US" sz="2500" dirty="0"/>
          </a:p>
        </p:txBody>
      </p:sp>
      <p:sp>
        <p:nvSpPr>
          <p:cNvPr id="19" name="Text 15"/>
          <p:cNvSpPr txBox="1"/>
          <p:nvPr/>
        </p:nvSpPr>
        <p:spPr>
          <a:xfrm>
            <a:off x="1257300" y="8058607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등급과 무관, 제한적 위험 등급의 핵심 의무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1257300" y="8458200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고위험이면 제13조와 제50조를 동시에 이행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9592056" y="7524598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일정</a:t>
            </a:r>
            <a:endParaRPr lang="en-US" sz="2500" dirty="0"/>
          </a:p>
        </p:txBody>
      </p:sp>
      <p:sp>
        <p:nvSpPr>
          <p:cNvPr id="22" name="Text 18"/>
          <p:cNvSpPr txBox="1"/>
          <p:nvPr/>
        </p:nvSpPr>
        <p:spPr>
          <a:xfrm>
            <a:off x="9592056" y="8058607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2026.8.2 일반 적용, 고위험 의무보다 먼저 시작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9592056" y="8458200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2항 기존 시스템은 2026.12.2까지 경과 기간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1333195" y="9068105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의무 중 제공자가 지는 것과 배포자가 지는 것이 갈림, 그 배분 기준은 무엇인가?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31/51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458761"/>
            <a:ext cx="16383305" cy="2066544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(4-2) 제50조 1항 AI 상호작용 고지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사람을 상대하는 시스템은 자신이 AI임을 밝힐 의무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의무의 내용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자연인과 직접 상호작용하도록 의도된 시스템이 대상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설계와 개발 단계에서 고지 기능을 내장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 주체는 제공자, 배포자가 아님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대화형 챗봇, 음성 응답, 상담 자동화가 전형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A82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고지가 면제되는 경우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합리적으로 주의를 기울이는 사람에게 AI임이 자명한 경우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기준은 이용 맥락과 대상 집단의 특성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형사 사법 목적 시스템은 법이 허용하는 범위에서 제외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제3자의 권리 보호 장치가 전제되어야 함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601407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인공지능기본법 제31조 1항도 사전 통지를 요구, 다만 모든 AI 사업자를 대상으로 함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012887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EU는 직접 상호작용 시스템으로 범위를 좁히고 자명한 경우를 면제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424367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범위는 한국이 넓고, 조문 구조는 EU가 정밀한 구조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8820302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자명하다는 판단을 누가 하는가? 고령층과 아동에게도 자명한가?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333195" y="9219895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이용자 인식 조사로 면제 요건의 타당성을 검증하는 연구, 실증 방법이 가능한 주제</a:t>
            </a:r>
            <a:endParaRPr lang="en-US" sz="1800" dirty="0"/>
          </a:p>
        </p:txBody>
      </p:sp>
      <p:sp>
        <p:nvSpPr>
          <p:cNvPr id="39" name="Text 34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32/51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5266944" cy="4667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5266944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ecf24681c8a913dc2f6d75d5c759c67f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715207"/>
            <a:ext cx="465795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505956" y="2704795"/>
            <a:ext cx="5266944" cy="4667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505956" y="2704795"/>
            <a:ext cx="5266944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ecf24681c8a913dc2f6d75d5c759c67f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810451" y="3715207"/>
            <a:ext cx="4657954" cy="91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2059107" y="2704795"/>
            <a:ext cx="5277002" cy="4667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2059107" y="2704795"/>
            <a:ext cx="5277002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pic>
        <p:nvPicPr>
          <p:cNvPr id="11" name="Image 3" descr="gen-dedup-871f3dfe2e6d510d81c0b0c2273c4c8e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363602" y="3715207"/>
            <a:ext cx="4667098" cy="914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952805" y="7719364"/>
            <a:ext cx="16383305" cy="1805941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(4-3) 제50조 2항 합성 콘텐츠 표시</a:t>
            </a:r>
            <a:endParaRPr lang="en-US" sz="5000" dirty="0"/>
          </a:p>
        </p:txBody>
      </p:sp>
      <p:sp>
        <p:nvSpPr>
          <p:cNvPr id="22" name="Text 16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아니라 기계가 읽을 수 있는 표식을 요구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1257300" y="2991002"/>
            <a:ext cx="46579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대상과 주체</a:t>
            </a:r>
            <a:endParaRPr lang="en-US" sz="2500" dirty="0"/>
          </a:p>
        </p:txBody>
      </p:sp>
      <p:sp>
        <p:nvSpPr>
          <p:cNvPr id="24" name="Text 18"/>
          <p:cNvSpPr txBox="1"/>
          <p:nvPr/>
        </p:nvSpPr>
        <p:spPr>
          <a:xfrm>
            <a:off x="1257300" y="3962095"/>
            <a:ext cx="46579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 음성, 이미지, 영상, 텍스트를 생성하는 시스템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1257300" y="4817974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AI 시스템도 포함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1257300" y="5307178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 주체는 제공자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1257300" y="5797296"/>
            <a:ext cx="53757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4항 딥페이크 의무와 별개, 4항은 배포자가 부담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6810451" y="2991002"/>
            <a:ext cx="46579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표식의 요건</a:t>
            </a:r>
            <a:endParaRPr lang="en-US" sz="2500" dirty="0"/>
          </a:p>
        </p:txBody>
      </p:sp>
      <p:sp>
        <p:nvSpPr>
          <p:cNvPr id="29" name="Text 23"/>
          <p:cNvSpPr txBox="1"/>
          <p:nvPr/>
        </p:nvSpPr>
        <p:spPr>
          <a:xfrm>
            <a:off x="6810451" y="3962095"/>
            <a:ext cx="532638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기계가 읽을 수 있는(machine-readable) 형식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6810451" y="4452214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기술적으로 효과적이고 상호운용 가능할 것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6810451" y="4941418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견고하고 신뢰할 수 있을 것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6810451" y="5431536"/>
            <a:ext cx="54580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 워터마크, 메타데이터, 지문 기법 등이 수단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12363602" y="2991002"/>
            <a:ext cx="46680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면제되는 경우</a:t>
            </a:r>
            <a:endParaRPr lang="en-US" sz="2500" dirty="0"/>
          </a:p>
        </p:txBody>
      </p:sp>
      <p:sp>
        <p:nvSpPr>
          <p:cNvPr id="34" name="Text 28"/>
          <p:cNvSpPr txBox="1"/>
          <p:nvPr/>
        </p:nvSpPr>
        <p:spPr>
          <a:xfrm>
            <a:off x="12363602" y="3962095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편집을 보조하는 기능에 그치는 경우</a:t>
            </a:r>
            <a:endParaRPr lang="en-US" sz="1800" dirty="0"/>
          </a:p>
        </p:txBody>
      </p:sp>
      <p:sp>
        <p:nvSpPr>
          <p:cNvPr id="35" name="Text 29"/>
          <p:cNvSpPr txBox="1"/>
          <p:nvPr/>
        </p:nvSpPr>
        <p:spPr>
          <a:xfrm>
            <a:off x="12363602" y="4452214"/>
            <a:ext cx="504657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데이터를 실질적으로 변경하지 않는 경우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12363602" y="4941418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맞춤법 교정과 색보정 등이 해당</a:t>
            </a:r>
            <a:endParaRPr lang="en-US" sz="1800" dirty="0"/>
          </a:p>
        </p:txBody>
      </p:sp>
      <p:sp>
        <p:nvSpPr>
          <p:cNvPr id="37" name="Text 31"/>
          <p:cNvSpPr txBox="1"/>
          <p:nvPr/>
        </p:nvSpPr>
        <p:spPr>
          <a:xfrm>
            <a:off x="12363602" y="5431536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시스템은 2026.12.2까지 경과 기간</a:t>
            </a:r>
            <a:endParaRPr lang="en-US" sz="1800" dirty="0"/>
          </a:p>
        </p:txBody>
      </p:sp>
      <p:sp>
        <p:nvSpPr>
          <p:cNvPr id="38" name="Text 32"/>
          <p:cNvSpPr txBox="1"/>
          <p:nvPr/>
        </p:nvSpPr>
        <p:spPr>
          <a:xfrm>
            <a:off x="1333195" y="7772400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보는 표시는 4항, 기계가 읽는 표식은 2항, 두 층을 나눠 규정한 구조</a:t>
            </a:r>
            <a:endParaRPr lang="en-US" sz="1800" dirty="0"/>
          </a:p>
        </p:txBody>
      </p:sp>
      <p:sp>
        <p:nvSpPr>
          <p:cNvPr id="39" name="Text 33"/>
          <p:cNvSpPr txBox="1"/>
          <p:nvPr/>
        </p:nvSpPr>
        <p:spPr>
          <a:xfrm>
            <a:off x="1333195" y="817290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인공지능기본법 제31조 2항은 사람이 식별 가능한 표시를 요구, 기계 판독은 요구하지 않음</a:t>
            </a:r>
            <a:endParaRPr lang="en-US" sz="1800" dirty="0"/>
          </a:p>
        </p:txBody>
      </p:sp>
      <p:sp>
        <p:nvSpPr>
          <p:cNvPr id="40" name="Text 34"/>
          <p:cNvSpPr txBox="1"/>
          <p:nvPr/>
        </p:nvSpPr>
        <p:spPr>
          <a:xfrm>
            <a:off x="1333195" y="8624353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워터마크는 재인코딩과 편집으로 제거될 수 있음, 견고성을 어떻게 측정하는가?</a:t>
            </a:r>
            <a:endParaRPr lang="en-US" sz="1800" dirty="0"/>
          </a:p>
        </p:txBody>
      </p:sp>
      <p:sp>
        <p:nvSpPr>
          <p:cNvPr id="41" name="Text 35"/>
          <p:cNvSpPr txBox="1"/>
          <p:nvPr/>
        </p:nvSpPr>
        <p:spPr>
          <a:xfrm>
            <a:off x="1333195" y="9023946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표식 제거 공격에 대한 내성을 실험으로 평가하는 연구, 공학 소논문 주제로 적합</a:t>
            </a:r>
            <a:endParaRPr lang="en-US" sz="1800" dirty="0"/>
          </a:p>
        </p:txBody>
      </p:sp>
      <p:sp>
        <p:nvSpPr>
          <p:cNvPr id="42" name="Text 36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33/51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418527"/>
            <a:ext cx="16383305" cy="21067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(4-4) 제50조 3항 감정인식과 생체분류 고지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금지되지 않은 영역에서 쓸 때의 고지 의무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의무의 내용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감정인식 시스템과 생체분류 시스템이 대상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 주체는 배포자, 제공자가 아님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운영 사실을 대상 자연인에게 알림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개인정보는 관련 법령에 따라 처리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A82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등급에 걸친 규율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 — 직장과 교육기관에서의 감정인식, 제5조 1항 (f)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 — 부속서 III 1번 생체인식 영역의 감정인식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제한적 위험 — 그 밖의 감정인식, 제50조 3항 고지 의무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기술이 용도에 따라 세 등급으로 갈리는 사례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601407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상업 서비스에 부수하고 객관적 기술 사유로 반드시 필요한 경우는 면제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012887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법이 허용한 형사 사법 목적 시스템은 제외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424367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제3강에서 다룬 금지 유형 (f)와 (g)의 경계를 다시 확인할 것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8820302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기술이 세 등급에 흩어져 있음, 감정인식 하나만으로 소논문이 성립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333195" y="9219895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금지와 고위험, 고지 의무의 경계선을 조문 대조로 정리하는 연구</a:t>
            </a:r>
            <a:endParaRPr lang="en-US" sz="1800" dirty="0"/>
          </a:p>
        </p:txBody>
      </p:sp>
      <p:sp>
        <p:nvSpPr>
          <p:cNvPr id="39" name="Text 34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34/51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16383305" cy="11237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3924605"/>
            <a:ext cx="16383305" cy="11237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3924605"/>
            <a:ext cx="16383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5143500"/>
            <a:ext cx="16383305" cy="11237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5143500"/>
            <a:ext cx="16383305" cy="47549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2805" y="6400800"/>
            <a:ext cx="8048549" cy="161894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2805" y="6400800"/>
            <a:ext cx="8048549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286646" y="6400800"/>
            <a:ext cx="8048549" cy="161894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286646" y="6400800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2805" y="8257946"/>
            <a:ext cx="16383305" cy="126735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(4-5) 제50조 4항 딥페이크 공개</a:t>
            </a:r>
            <a:endParaRPr lang="en-US" sz="5000" dirty="0"/>
          </a:p>
        </p:txBody>
      </p:sp>
      <p:sp>
        <p:nvSpPr>
          <p:cNvPr id="23" name="Text 20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알아볼 수 있는 형태로 공개할 의무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295705" y="2991002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95705" y="2991002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867205" y="2915107"/>
            <a:ext cx="419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6286500" y="2933395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딥페이크(deepfake)를 생성하거나 조작한 배포자는 그 사실을 공개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6286500" y="3333902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딥페이크 정의는 제3조 60호, 실제와 유사하게 보이는 합성 이미지와 음성, 영상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1295705" y="4209898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295705" y="4209898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1867205" y="4134002"/>
            <a:ext cx="419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예술 창작 완화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6286500" y="4153205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예술, 창작, 풍자, 허구 작품은 감상을 해치지 않는 방식으로 표시 가능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6286500" y="4552798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작품을 가리지 않는 위치에 표시하는 방식이 허용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1295705" y="5429707"/>
            <a:ext cx="323698" cy="323698"/>
          </a:xfrm>
          <a:prstGeom prst="ellipse">
            <a:avLst/>
          </a:prstGeom>
          <a:solidFill>
            <a:srgbClr val="6B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295705" y="5429707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1867205" y="5352898"/>
            <a:ext cx="419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보도 목적 텍스트</a:t>
            </a:r>
            <a:endParaRPr lang="en-US" sz="2000" dirty="0"/>
          </a:p>
        </p:txBody>
      </p:sp>
      <p:sp>
        <p:nvSpPr>
          <p:cNvPr id="37" name="Text 34"/>
          <p:cNvSpPr txBox="1"/>
          <p:nvPr/>
        </p:nvSpPr>
        <p:spPr>
          <a:xfrm>
            <a:off x="6286500" y="5372100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공익 정보를 알리는 목적의 텍스트는 편집 책임이 존재하면 표시 면제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6286500" y="5772607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언론의 편집권을 존중하는 취지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1257300" y="6629400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 유형과의 관계</a:t>
            </a:r>
            <a:endParaRPr lang="en-US" sz="2500" dirty="0"/>
          </a:p>
        </p:txBody>
      </p:sp>
      <p:sp>
        <p:nvSpPr>
          <p:cNvPr id="40" name="Text 37"/>
          <p:cNvSpPr txBox="1"/>
          <p:nvPr/>
        </p:nvSpPr>
        <p:spPr>
          <a:xfrm>
            <a:off x="1257300" y="7181698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 없는 성적 콘텐츠와 아동 성학대 물질은 금지 대상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1257300" y="7582205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제5조 1항 (ba)와 (bb), 2026.12.2 적용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9592056" y="6629400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한국과의 대조</a:t>
            </a:r>
            <a:endParaRPr lang="en-US" sz="2500" dirty="0"/>
          </a:p>
        </p:txBody>
      </p:sp>
      <p:sp>
        <p:nvSpPr>
          <p:cNvPr id="43" name="Text 40"/>
          <p:cNvSpPr txBox="1"/>
          <p:nvPr/>
        </p:nvSpPr>
        <p:spPr>
          <a:xfrm>
            <a:off x="9592056" y="7181698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제31조 3항이 가상 결과물의 표시를 규정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9592056" y="7582205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예술 창작 완화 조항은 두지 않음</a:t>
            </a:r>
            <a:endParaRPr lang="en-US" sz="1800" dirty="0"/>
          </a:p>
        </p:txBody>
      </p:sp>
      <p:sp>
        <p:nvSpPr>
          <p:cNvPr id="45" name="Text 42"/>
          <p:cNvSpPr txBox="1"/>
          <p:nvPr/>
        </p:nvSpPr>
        <p:spPr>
          <a:xfrm>
            <a:off x="1376386" y="8529066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2항은 제공자가 기계 판독 표식, 4항은 배포자가 사람이 보는 공개, 두 의무가 함께 걸림</a:t>
            </a:r>
            <a:endParaRPr lang="en-US" sz="1800" dirty="0"/>
          </a:p>
        </p:txBody>
      </p:sp>
      <p:sp>
        <p:nvSpPr>
          <p:cNvPr id="46" name="Text 43"/>
          <p:cNvSpPr txBox="1"/>
          <p:nvPr/>
        </p:nvSpPr>
        <p:spPr>
          <a:xfrm>
            <a:off x="1333195" y="8962492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풍자와 허위정보의 경계를 법이 그을 수 있는가? 선거 국면에서 특히 문제가 되는 지점</a:t>
            </a:r>
            <a:endParaRPr lang="en-US" sz="1800" dirty="0"/>
          </a:p>
        </p:txBody>
      </p:sp>
      <p:sp>
        <p:nvSpPr>
          <p:cNvPr id="47" name="Text 44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35/51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16383305" cy="8385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3619195"/>
            <a:ext cx="16383305" cy="8385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361919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4533595"/>
            <a:ext cx="16383305" cy="8385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4533595"/>
            <a:ext cx="16383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2805" y="5447995"/>
            <a:ext cx="16383305" cy="8385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2805" y="5447995"/>
            <a:ext cx="16383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2805" y="6362395"/>
            <a:ext cx="16383305" cy="8385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2805" y="6362395"/>
            <a:ext cx="16383305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2805" y="7894930"/>
            <a:ext cx="16383305" cy="1630375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투명성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5000" dirty="0"/>
          </a:p>
        </p:txBody>
      </p:sp>
      <p:sp>
        <p:nvSpPr>
          <p:cNvPr id="23" name="Text 20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제50조 하나에 네 가지 투명성 의무가 집약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295705" y="2962656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95705" y="2962656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867205" y="2952598"/>
            <a:ext cx="151452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교안의 제34~37조 표기는 초안 기준, 최종본은 단일 제50조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1295705" y="3877056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95705" y="3877056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867205" y="3866998"/>
            <a:ext cx="151452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1항과 2항은 제공자, 3항과 4항은 배포자가 의무 주체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1295705" y="4791456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295705" y="4791456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1867205" y="4781398"/>
            <a:ext cx="151452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2항은 기계 판독 표식, 4항은 사람이 보는 공개, 두 층으로 분리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1295705" y="5705856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295705" y="5705856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1867205" y="5695798"/>
            <a:ext cx="151452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감정인식은 금지와 고위험, 고지 의무 세 등급에 걸쳐 있음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1295705" y="6620256"/>
            <a:ext cx="323698" cy="323698"/>
          </a:xfrm>
          <a:prstGeom prst="ellipse">
            <a:avLst/>
          </a:prstGeom>
          <a:solidFill>
            <a:srgbClr val="A82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295705" y="6620256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1867205" y="6610198"/>
            <a:ext cx="151452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2026.8.2 적용으로 고위험 의무보다 먼저 시작, 기존 시스템은 2026.12.2</a:t>
            </a:r>
            <a:endParaRPr lang="en-US" sz="2000" dirty="0"/>
          </a:p>
        </p:txBody>
      </p:sp>
      <p:sp>
        <p:nvSpPr>
          <p:cNvPr id="39" name="Text 36"/>
          <p:cNvSpPr txBox="1"/>
          <p:nvPr/>
        </p:nvSpPr>
        <p:spPr>
          <a:xfrm>
            <a:off x="1333195" y="8112395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시스템이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아니라 모델 자체를 규율하는 별도 트랙, 범용 AI 제5장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1333195" y="8570052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투명성은 가장 가벼운 의무이면서 가장 넓게 적용되는 의무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1333195" y="9069826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고지만으로 이용자 보호가 되는가? 고지 후 동의 없는 이용을 어떻게 볼 것인가?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36/51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534657"/>
            <a:ext cx="16383305" cy="199064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(5-1)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트랙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등급 체계로 포섭할 수 없었던 대상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A82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체계가 막힌 지점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등급은 의도된 목적을 전제로 판단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모델은 목적이 정해지지 않은 상태로 출시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모델이 채용 심사에도 쓰이고 오락에도 쓰임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용도를 모르면 등급을 매길 수 없는 구조적 한계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입법의 대응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2021년 발의안에는 범용 AI 조항이 없었음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심의 중 생성형 AI가 등장하며 제5장이 신설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시스템이 아니라 모델(model) 자체를 규율 대상으로 삼음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대신 연산량 기준으로 두 층을 구분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748169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결과적으로 이 법은 세 개의 평행 트랙을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갖게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됨 :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트랙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투명성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트랙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트랙이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각각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altLang="ko-KR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209215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Edwards(2025)가 이 구조를 세 개의 평행 트랙으로 정리, 13주차에서 다시 다룸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8605150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기반 규제를 내세운 법에 위험 등급이 없는 트랙이 들어온 셈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333195" y="9004743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Ebers(2024)가 이를 진정한 위험 기반인지 묻는 비판으로 전개, 개념 분석 방법의 사례</a:t>
            </a:r>
            <a:endParaRPr lang="en-US" sz="1800" dirty="0"/>
          </a:p>
        </p:txBody>
      </p:sp>
      <p:sp>
        <p:nvSpPr>
          <p:cNvPr id="39" name="Text 34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37/51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16383305" cy="1238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4038905"/>
            <a:ext cx="16383305" cy="1238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4038905"/>
            <a:ext cx="16383305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5372100"/>
            <a:ext cx="16383305" cy="1238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5372100"/>
            <a:ext cx="16383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2805" y="7067397"/>
            <a:ext cx="16383305" cy="2456993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(5-2) 제51조 체계적 위험 분류</a:t>
            </a:r>
            <a:endParaRPr lang="en-US" sz="5000" dirty="0"/>
          </a:p>
        </p:txBody>
      </p:sp>
      <p:sp>
        <p:nvSpPr>
          <p:cNvPr id="21" name="Text 18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연산량을 기준으로 삼은 유일한 조문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295705" y="3010205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95705" y="3010205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867205" y="2933395"/>
            <a:ext cx="419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 능력 기준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6286500" y="2952598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적절한 기술 도구와 지표, 벤치마크로 평가한 결과 고영향 능력을 가진 경우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286500" y="3353105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또는 집행위원회가 직권이나 과학패널 경고에 따라 동등하다고 결정한 경우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295705" y="4343400"/>
            <a:ext cx="323698" cy="323698"/>
          </a:xfrm>
          <a:prstGeom prst="ellipse">
            <a:avLst/>
          </a:prstGeom>
          <a:solidFill>
            <a:srgbClr val="A82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95705" y="43434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867205" y="4267505"/>
            <a:ext cx="419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연산량 추정 규정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6286500" y="4286707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학습에 쓴 누적 연산량이 부동소수점 연산 10의 25제곱을 넘으면 고영향으로 추정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286500" y="4686300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추정(presumption)이므로 사업자가 반증할 수 있음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295705" y="5676595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295705" y="5676595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1867205" y="5600700"/>
            <a:ext cx="419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조정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6286500" y="5619902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집행위원회가 기술 발전에 맞춰 위임입법으로 임계값과 지표를 수정 가능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6286500" y="6019495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부속서 XIII가 판단 시 고려할 기준을 제시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333195" y="7454456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교안의 연산량 임계값 표기는 최종본과 일치, 출처 4건 이상에서 확인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1333195" y="7854049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집행위원회 지침 기준으로 이 임계를 넘는 모델은 소수의 최첨단 모델에 한정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1333195" y="8279057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인공지능기본법 제32조도 학습 연산량 기준을 두었으나 구체 수치는 대통령령에 위임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1295705" y="8654148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연산량이 위험의 대리 지표로 타당한가? 적은 연산으로 위험한 모델이 나오면 어떻게 되는가?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38/51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16383305" cy="10671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3866998"/>
            <a:ext cx="16383305" cy="10671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3866998"/>
            <a:ext cx="16383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5029200"/>
            <a:ext cx="16383305" cy="10671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5029200"/>
            <a:ext cx="16383305" cy="47549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2805" y="6286499"/>
            <a:ext cx="8048549" cy="1878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2805" y="6286500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286646" y="6286499"/>
            <a:ext cx="8048549" cy="1878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286646" y="6286500"/>
            <a:ext cx="8048549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2805" y="8497519"/>
            <a:ext cx="16383305" cy="1026871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(5-3) 제52조 통보와 반증 절차</a:t>
            </a:r>
            <a:endParaRPr lang="en-US" sz="5000" dirty="0"/>
          </a:p>
        </p:txBody>
      </p:sp>
      <p:sp>
        <p:nvSpPr>
          <p:cNvPr id="23" name="Text 20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추정을 다투는 절차를 조문으로 마련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295705" y="2991002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95705" y="2991002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867205" y="2915107"/>
            <a:ext cx="419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 내 통보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6286500" y="2933395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충족을 알게 된 시점부터 2주 안에 집행위원회에 통보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6286500" y="3333902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충족이 예견되는 시점도 포함, 학습 완료 전이라도 해당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1295705" y="4153205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295705" y="4153205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1867205" y="4076395"/>
            <a:ext cx="419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반증 제출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6286500" y="4095598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임계를 넘었어도 체계적 위험이 없다는 근거를 함께 제출 가능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6286500" y="4496105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집행위원회가 인정하면 체계적 위험 분류에서 제외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1295705" y="5315407"/>
            <a:ext cx="323698" cy="323698"/>
          </a:xfrm>
          <a:prstGeom prst="ellipse">
            <a:avLst/>
          </a:prstGeom>
          <a:solidFill>
            <a:srgbClr val="6B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295705" y="5315407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1867205" y="5238598"/>
            <a:ext cx="419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재심과 목록 공개</a:t>
            </a:r>
            <a:endParaRPr lang="en-US" sz="2000" dirty="0"/>
          </a:p>
        </p:txBody>
      </p:sp>
      <p:sp>
        <p:nvSpPr>
          <p:cNvPr id="37" name="Text 34"/>
          <p:cNvSpPr txBox="1"/>
          <p:nvPr/>
        </p:nvSpPr>
        <p:spPr>
          <a:xfrm>
            <a:off x="6286500" y="5257800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기각된 사업자는 6개월 후 새 근거로 다시 요청 가능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6286500" y="5658307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집행위원회가 체계적 위험 모델 목록을 공개, 영업비밀은 보호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1257300" y="6515100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층 구조</a:t>
            </a:r>
            <a:endParaRPr lang="en-US" sz="2500" dirty="0"/>
          </a:p>
        </p:txBody>
      </p:sp>
      <p:sp>
        <p:nvSpPr>
          <p:cNvPr id="40" name="Text 37"/>
          <p:cNvSpPr txBox="1"/>
          <p:nvPr/>
        </p:nvSpPr>
        <p:spPr>
          <a:xfrm>
            <a:off x="1257300" y="7086600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범용 AI 모델은 제53~54조 의무만 부담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1257300" y="7487107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체계적 위험 모델은 제55조 의무가 추가로 부과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9592056" y="6515100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분류 문제</a:t>
            </a:r>
            <a:endParaRPr lang="en-US" sz="2500" dirty="0"/>
          </a:p>
        </p:txBody>
      </p:sp>
      <p:sp>
        <p:nvSpPr>
          <p:cNvPr id="43" name="Text 40"/>
          <p:cNvSpPr txBox="1"/>
          <p:nvPr/>
        </p:nvSpPr>
        <p:spPr>
          <a:xfrm>
            <a:off x="9592056" y="7086600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연산량은 사업자만 정확히 아는 정보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9592056" y="7487107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통보를 하지 않으면 당국이 먼저 알 수 없는 구조</a:t>
            </a:r>
            <a:endParaRPr lang="en-US" sz="1800" dirty="0"/>
          </a:p>
        </p:txBody>
      </p:sp>
      <p:sp>
        <p:nvSpPr>
          <p:cNvPr id="45" name="Text 42"/>
          <p:cNvSpPr txBox="1"/>
          <p:nvPr/>
        </p:nvSpPr>
        <p:spPr>
          <a:xfrm>
            <a:off x="1333195" y="8686342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제5장 전체가 2025.8.2 적용 개시, 그 이전 출시 모델은 2027.8.2까지 의무 이행</a:t>
            </a:r>
            <a:endParaRPr lang="en-US" sz="1800" dirty="0"/>
          </a:p>
        </p:txBody>
      </p:sp>
      <p:sp>
        <p:nvSpPr>
          <p:cNvPr id="46" name="Text 43"/>
          <p:cNvSpPr txBox="1"/>
          <p:nvPr/>
        </p:nvSpPr>
        <p:spPr>
          <a:xfrm>
            <a:off x="1333195" y="9068105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연산량 신고를 검증할 기술적 수단이 있는가? 검증 방법을 제안하는 연구가 가능</a:t>
            </a:r>
            <a:endParaRPr lang="en-US" sz="1800" dirty="0"/>
          </a:p>
        </p:txBody>
      </p:sp>
      <p:sp>
        <p:nvSpPr>
          <p:cNvPr id="47" name="Text 44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39/51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16383305" cy="11237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3924605"/>
            <a:ext cx="16383305" cy="11237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392460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5143500"/>
            <a:ext cx="16383305" cy="11237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5143500"/>
            <a:ext cx="16383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2805" y="6362395"/>
            <a:ext cx="16383305" cy="11237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2805" y="6362395"/>
            <a:ext cx="16383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2805" y="7886700"/>
            <a:ext cx="16383305" cy="1638606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(5-4) 제53조 범용 AI 일반 의무</a:t>
            </a:r>
            <a:endParaRPr lang="en-US" sz="5000" dirty="0"/>
          </a:p>
        </p:txBody>
      </p:sp>
      <p:sp>
        <p:nvSpPr>
          <p:cNvPr id="21" name="Text 18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범용 AI 모델 제공자가 부담하는 네 가지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295705" y="3010205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95705" y="3010205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867205" y="2933395"/>
            <a:ext cx="419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기술문서 작성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6286500" y="2952598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학습과 시험 과정, 평가 결과를 담은 문서를 작성하고 최신 유지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286500" y="3353105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부속서 XI가 항목을 지정, 당국 요청 시 제출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295705" y="42291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95705" y="42291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867205" y="4153205"/>
            <a:ext cx="419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통합자 정보 제공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6286500" y="4172407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시스템에 통합하려는 하위 제공자에게 필요한 정보를 제공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286500" y="4572000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부속서 XII가 항목을 지정, 영업비밀은 보호하면서 제공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295705" y="5447995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295705" y="5447995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1867205" y="5372100"/>
            <a:ext cx="419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저작권 정책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6286500" y="5391302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저작권법 준수 정책을 마련, 텍스트와 데이터 마이닝 거부 의사를 존중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6286500" y="5790895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 판독 가능한 거부 표시를 식별하는 최신 기술을 적용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1295705" y="6667805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295705" y="6667805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1867205" y="6590995"/>
            <a:ext cx="419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데이터 요약</a:t>
            </a:r>
            <a:endParaRPr lang="en-US" sz="2000" dirty="0"/>
          </a:p>
        </p:txBody>
      </p:sp>
      <p:sp>
        <p:nvSpPr>
          <p:cNvPr id="40" name="Text 37"/>
          <p:cNvSpPr txBox="1"/>
          <p:nvPr/>
        </p:nvSpPr>
        <p:spPr>
          <a:xfrm>
            <a:off x="6286500" y="6610198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학습에 사용한 콘텐츠의 요약을 작성하여 공개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6286500" y="7010705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집행위원회가 제공하는 양식을 따름, 2025년에 양식 확정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1333195" y="7980829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 7대 요건과 달리 성능과 안전 자체를 요구하지 않음, 문서와 정보 제공 중심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1333195" y="8381336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단계에서는 투명성만 확보하고 위험 통제는 시스템 단계로 넘기는 설계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333195" y="8769419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데이터 요약을 어느 수준까지 공개해야 저작권자가 권리를 행사할 수 있는가?</a:t>
            </a:r>
            <a:endParaRPr lang="en-US" sz="1800" dirty="0"/>
          </a:p>
        </p:txBody>
      </p:sp>
      <p:sp>
        <p:nvSpPr>
          <p:cNvPr id="45" name="Text 42"/>
          <p:cNvSpPr txBox="1"/>
          <p:nvPr/>
        </p:nvSpPr>
        <p:spPr>
          <a:xfrm>
            <a:off x="1333195" y="9169926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저작권법 개정 논의와 대조하면 비교법 소논문이 성립</a:t>
            </a:r>
            <a:endParaRPr lang="en-US" sz="1800" dirty="0"/>
          </a:p>
        </p:txBody>
      </p:sp>
      <p:sp>
        <p:nvSpPr>
          <p:cNvPr id="46" name="Text 4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40/51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01407"/>
            <a:ext cx="16383305" cy="192389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(5-5) 제54조 대표 지정과 공개 모델 면제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역외 모델 제공자의 접점과 자유 공개 모델의 예외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제54조 권한 있는 대표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밖 제공자는 출시 전 EU 내 대표를 서면 위임으로 지정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대표가 기술문서를 보관하고 당국 요청에 응답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제공자가 의무를 위반한다고 판단하면 위임을 종료하고 통보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 시스템의 제22조와 같은 구조를 모델 단계에 둠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 공개 모델의 면제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 개방 라이선스로 공개된 모델은 일부 의무가 면제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기술문서와 통합자 정보 제공 의무가 면제 대상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저작권 정책과 학습 데이터 요약은 면제되지 않음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체계적 위험 모델이면 면제 없음, 제55조 의무 전부 부담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796175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면제 요건은 가중치와 구조 정보가 공개되고 무상으로 이용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가능할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것.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유료화하거나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개인정보로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수익을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얻으면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면제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대상이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아님</a:t>
            </a:r>
            <a:endParaRPr lang="en-US" altLang="ko-KR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168874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이름만 개방인 모델을 걸러내려는 취지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8564809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 모델 면제가 규제 우회 통로가 될 수 있다는 지적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333195" y="8964402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Wachter(2024)가 개방 모델과 하위 통합자의 책임 공백을 분석, 법경제학 방법의 사례</a:t>
            </a:r>
            <a:endParaRPr lang="en-US" sz="1800" dirty="0"/>
          </a:p>
        </p:txBody>
      </p:sp>
      <p:sp>
        <p:nvSpPr>
          <p:cNvPr id="39" name="Text 34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41/51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16383305" cy="11237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16383305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3924605"/>
            <a:ext cx="16383305" cy="11237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3924605"/>
            <a:ext cx="16383305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5143500"/>
            <a:ext cx="16383305" cy="11237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5143500"/>
            <a:ext cx="16383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2805" y="6362395"/>
            <a:ext cx="16383305" cy="11237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2805" y="6362395"/>
            <a:ext cx="16383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2805" y="7829094"/>
            <a:ext cx="16383305" cy="1696212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(5-6) 제55조 체계적 위험 모델의 추가 의무</a:t>
            </a:r>
            <a:endParaRPr lang="en-US" sz="5000" dirty="0"/>
          </a:p>
        </p:txBody>
      </p:sp>
      <p:sp>
        <p:nvSpPr>
          <p:cNvPr id="21" name="Text 18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제53조 의무에 더해 네 가지가 추가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295705" y="3010205"/>
            <a:ext cx="323698" cy="323698"/>
          </a:xfrm>
          <a:prstGeom prst="ellipse">
            <a:avLst/>
          </a:prstGeom>
          <a:solidFill>
            <a:srgbClr val="A82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95705" y="3010205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867205" y="2933395"/>
            <a:ext cx="419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평가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6286500" y="2952598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표준화된 프로토콜과 도구로 모델을 평가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286500" y="3353105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적대적 시험(red-teaming)을 실시하고 결과를 문서화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295705" y="4229100"/>
            <a:ext cx="323698" cy="323698"/>
          </a:xfrm>
          <a:prstGeom prst="ellipse">
            <a:avLst/>
          </a:prstGeom>
          <a:solidFill>
            <a:srgbClr val="A82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95705" y="42291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867205" y="4153205"/>
            <a:ext cx="419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평가와 완화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6286500" y="4172407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차원의 체계적 위험을 평가하고 완화 조치를 시행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286500" y="4572000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개발과 출시, 사용 과정에서 발생할 위험 원인까지 포함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295705" y="5447995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295705" y="5447995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1867205" y="5372100"/>
            <a:ext cx="419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보고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6286500" y="5391302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중대 사고 정보를 파악하여 AI 사무국과 회원국 당국에 지체 없이 보고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6286500" y="5790895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시정 조치 내용도 함께 보고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1295705" y="6667805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295705" y="6667805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1867205" y="6590995"/>
            <a:ext cx="419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사이버보안 보호</a:t>
            </a:r>
            <a:endParaRPr lang="en-US" sz="2000" dirty="0"/>
          </a:p>
        </p:txBody>
      </p:sp>
      <p:sp>
        <p:nvSpPr>
          <p:cNvPr id="40" name="Text 37"/>
          <p:cNvSpPr txBox="1"/>
          <p:nvPr/>
        </p:nvSpPr>
        <p:spPr>
          <a:xfrm>
            <a:off x="6286500" y="6610198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모델과 물리적 기반 시설에 적절한 사이버보안 조치를 확보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6286500" y="7010705"/>
            <a:ext cx="107259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탈취와 무단 접근 방지가 핵심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1333195" y="7886700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제56조 행동강령을 따르면 이 의무들의 이행으로 인정, 따르지 않으면 다른 방법을 입증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1333195" y="828720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위반 시 제101조에 따라 집행위원회가 직접 과징금을 부과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333195" y="868873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적대적 시험의 범위와 수준을 법이 정하지 않음, 사업자 자율에 맡겨진 영역</a:t>
            </a:r>
            <a:endParaRPr lang="en-US" sz="1800" dirty="0"/>
          </a:p>
        </p:txBody>
      </p:sp>
      <p:sp>
        <p:nvSpPr>
          <p:cNvPr id="45" name="Text 42"/>
          <p:cNvSpPr txBox="1"/>
          <p:nvPr/>
        </p:nvSpPr>
        <p:spPr>
          <a:xfrm>
            <a:off x="1333195" y="908924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프로토콜 표준화를 제안하는 연구, 공학 소논문 주제로 적합</a:t>
            </a:r>
            <a:endParaRPr lang="en-US" sz="1800" dirty="0"/>
          </a:p>
        </p:txBody>
      </p:sp>
      <p:sp>
        <p:nvSpPr>
          <p:cNvPr id="46" name="Text 4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42/51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5266944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5266944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ecf24681c8a913dc2f6d75d5c759c67f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715207"/>
            <a:ext cx="465795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505956" y="2704795"/>
            <a:ext cx="5266944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505956" y="2704795"/>
            <a:ext cx="5266944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ecf24681c8a913dc2f6d75d5c759c67f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810451" y="3715207"/>
            <a:ext cx="4657954" cy="91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2059107" y="2704795"/>
            <a:ext cx="5277002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2059107" y="2704795"/>
            <a:ext cx="5277002" cy="47549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>
                <a:alpha val="0"/>
              </a:srgbClr>
            </a:solidFill>
            <a:prstDash val="solid"/>
          </a:ln>
        </p:spPr>
      </p:sp>
      <p:pic>
        <p:nvPicPr>
          <p:cNvPr id="11" name="Image 3" descr="gen-dedup-871f3dfe2e6d510d81c0b0c2273c4c8e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363602" y="3715207"/>
            <a:ext cx="4667098" cy="914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952805" y="7904988"/>
            <a:ext cx="16383305" cy="162031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(5-7) 제56조 범용 AI 행동강령</a:t>
            </a:r>
            <a:endParaRPr lang="en-US" sz="5000" dirty="0"/>
          </a:p>
        </p:txBody>
      </p:sp>
      <p:sp>
        <p:nvSpPr>
          <p:cNvPr id="22" name="Text 16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 규제를 법적 이행 수단으로 끌어올린 장치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1257300" y="2991002"/>
            <a:ext cx="46579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제정 경과</a:t>
            </a:r>
            <a:endParaRPr lang="en-US" sz="2500" dirty="0"/>
          </a:p>
        </p:txBody>
      </p:sp>
      <p:sp>
        <p:nvSpPr>
          <p:cNvPr id="24" name="Text 18"/>
          <p:cNvSpPr txBox="1"/>
          <p:nvPr/>
        </p:nvSpPr>
        <p:spPr>
          <a:xfrm>
            <a:off x="1257300" y="3962095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사무국이 작성 과정을 주도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1257300" y="4452214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2025.7.10 최종본 공개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1257300" y="4941418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2025.8.1 서명자 명단 공개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1257300" y="5431536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2025.8.2부터 제5장 의무 적용 개시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6810451" y="2991002"/>
            <a:ext cx="46579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개의 장</a:t>
            </a:r>
            <a:endParaRPr lang="en-US" sz="2500" dirty="0"/>
          </a:p>
        </p:txBody>
      </p:sp>
      <p:sp>
        <p:nvSpPr>
          <p:cNvPr id="29" name="Text 23"/>
          <p:cNvSpPr txBox="1"/>
          <p:nvPr/>
        </p:nvSpPr>
        <p:spPr>
          <a:xfrm>
            <a:off x="6810451" y="3962095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투명성 — 모든 범용 AI 제공자 대상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6810451" y="4452214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저작권 — 모든 범용 AI 제공자 대상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6810451" y="4941418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안전과 보안 — 체계적 위험 모델 한정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6810451" y="5431536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서명은 장 단위로 선택 가능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12363602" y="2991002"/>
            <a:ext cx="46680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 현황</a:t>
            </a:r>
            <a:endParaRPr lang="en-US" sz="2500" dirty="0"/>
          </a:p>
        </p:txBody>
      </p:sp>
      <p:sp>
        <p:nvSpPr>
          <p:cNvPr id="34" name="Text 28"/>
          <p:cNvSpPr txBox="1"/>
          <p:nvPr/>
        </p:nvSpPr>
        <p:spPr>
          <a:xfrm>
            <a:off x="12363602" y="3962095"/>
            <a:ext cx="466801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 — 구글, 마이크로소프트, 오픈AI, 앤스로픽, 아마존, IBM, 미스트랄 등</a:t>
            </a:r>
            <a:endParaRPr lang="en-US" sz="1800" dirty="0"/>
          </a:p>
        </p:txBody>
      </p:sp>
      <p:sp>
        <p:nvSpPr>
          <p:cNvPr id="35" name="Text 29"/>
          <p:cNvSpPr txBox="1"/>
          <p:nvPr/>
        </p:nvSpPr>
        <p:spPr>
          <a:xfrm>
            <a:off x="12363602" y="4817974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미서명 — 메타, 중국 기반 제공자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12363602" y="5307178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서명은 의무가 아니라 선택</a:t>
            </a:r>
            <a:endParaRPr lang="en-US" sz="1800" dirty="0"/>
          </a:p>
        </p:txBody>
      </p:sp>
      <p:sp>
        <p:nvSpPr>
          <p:cNvPr id="37" name="Text 31"/>
          <p:cNvSpPr txBox="1"/>
          <p:nvPr/>
        </p:nvSpPr>
        <p:spPr>
          <a:xfrm>
            <a:off x="12363602" y="5797296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미서명자는 동등한 이행을 스스로 입증</a:t>
            </a:r>
            <a:endParaRPr lang="en-US" sz="1800" dirty="0"/>
          </a:p>
        </p:txBody>
      </p:sp>
      <p:sp>
        <p:nvSpPr>
          <p:cNvPr id="38" name="Text 32"/>
          <p:cNvSpPr txBox="1"/>
          <p:nvPr/>
        </p:nvSpPr>
        <p:spPr>
          <a:xfrm>
            <a:off x="1333195" y="804037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제2강에서 다룬 자율 규제와 공동 규제의 중간 형태, 서명하면 준수로 추정되는 구조</a:t>
            </a:r>
            <a:endParaRPr lang="en-US" sz="1800" dirty="0"/>
          </a:p>
        </p:txBody>
      </p:sp>
      <p:sp>
        <p:nvSpPr>
          <p:cNvPr id="39" name="Text 33"/>
          <p:cNvSpPr txBox="1"/>
          <p:nvPr/>
        </p:nvSpPr>
        <p:spPr>
          <a:xfrm>
            <a:off x="1333195" y="84399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 트랙의 조화 표준과 같은 기능을 범용 AI 트랙에서 수행</a:t>
            </a:r>
            <a:endParaRPr lang="en-US" sz="1800" dirty="0"/>
          </a:p>
        </p:txBody>
      </p:sp>
      <p:sp>
        <p:nvSpPr>
          <p:cNvPr id="40" name="Text 34"/>
          <p:cNvSpPr txBox="1"/>
          <p:nvPr/>
        </p:nvSpPr>
        <p:spPr>
          <a:xfrm>
            <a:off x="1333195" y="8820302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규율 대상이 규율 내용을 함께 만드는 구조의 정당성</a:t>
            </a:r>
            <a:endParaRPr lang="en-US" sz="1800" dirty="0"/>
          </a:p>
        </p:txBody>
      </p:sp>
      <p:sp>
        <p:nvSpPr>
          <p:cNvPr id="41" name="Text 35"/>
          <p:cNvSpPr txBox="1"/>
          <p:nvPr/>
        </p:nvSpPr>
        <p:spPr>
          <a:xfrm>
            <a:off x="1333195" y="9219895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 기업과 미서명 기업의 실제 행태 차이를 비교하는 연구가 가능</a:t>
            </a:r>
            <a:endParaRPr lang="en-US" sz="1800" dirty="0"/>
          </a:p>
        </p:txBody>
      </p:sp>
      <p:sp>
        <p:nvSpPr>
          <p:cNvPr id="42" name="Text 36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43/51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2805" y="7753198"/>
            <a:ext cx="16383305" cy="17721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</a:t>
            </a:r>
            <a:r>
              <a:rPr lang="en-US" altLang="ko-KR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5000" dirty="0"/>
          </a:p>
        </p:txBody>
      </p:sp>
      <p:sp>
        <p:nvSpPr>
          <p:cNvPr id="15" name="Text 12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AI 트랙, 모델 단계의 두 층 구조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704795"/>
          <a:ext cx="16374161" cy="3219601"/>
        </p:xfrm>
        <a:graphic>
          <a:graphicData uri="http://schemas.openxmlformats.org/drawingml/2006/table">
            <a:tbl>
              <a:tblPr/>
              <a:tblGrid>
                <a:gridCol w="1619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29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73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99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조문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75895" marB="7589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75895" marB="7589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75895" marB="7589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75895" marB="7589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제51조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체계적 위험 분류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고영향 능력 기준, 학습 연산량 10의 25제곱 초과 시 추정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제52조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통보와 반증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2주 내 통보, 반증 제출 가능, 목록 공개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제53조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의무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기술문서, 통합자 정보, 저작권 정책, 학습 데이터 요약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범용 AI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제54조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대표와 면제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역외 제공자의 EU 대표 지정, 자유 공개 모델 일부 면제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역외와 공개 모델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제55조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 의무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평가와 적대적 시험, 위험 완화, 사고 보고, 보안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체계적 위험 모델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제56조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행동강령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2025.7.10 공개, 세 개 장, 서명하면 이행으로 인정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</a:t>
                      </a:r>
                      <a:endParaRPr lang="en-US" sz="17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75895" marB="7589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1329080" y="8178206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단계는 문서와 정보 중심, 성능과 안전 통제는 시스템 단계로 이전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1329080" y="8540765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모든 의무를 누가 집행하는가, 거버넌스 기구와 제재 3단계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1329080" y="8892809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모델과 시스템 중 어느 단계를 규율하는 것이 효과적인가? 책임 배분의 근본 문제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44/51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780629"/>
            <a:ext cx="16383305" cy="1744676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(6-1)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AI는 집행위원회, 나머지는 회원국 당국이 담당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 — AI 사무국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집행위원회 산하 조직, 독립 기관이 아님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AI 모델에 대한 직접 감독과 제재 권한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행동강령 작성 조정, 평가 방법론 개발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회원국 당국에 대한 지원과 일관성 확보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회원국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관할 당국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각국이 통보 당국과 시장감시 당국을 지정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고위험과 투명성 의무의 집행을 담당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접점(single point of contact)을 지정해 공표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제99조 과징금은 이 당국이 부과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945678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회원국 당국 지정은 진행 중, 이탈리아가 법률 132/2025로 가장 먼저 정비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34527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덴마크와 핀란드, 아일랜드 등이 완료, 독일과 프랑스, 폴란드 등은 입법 단계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820302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27개국이 각자 집행하면 같은 조문이 다르게 적용될 수 있음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219895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한국은 과학기술정보통신부 단일 부처 집행, 어느 구조가 일관성에 유리한가?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45/51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6781803"/>
            <a:ext cx="8048549" cy="179130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6781803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286646" y="6781803"/>
            <a:ext cx="8048549" cy="179130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286646" y="6781803"/>
            <a:ext cx="8048549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8870345"/>
            <a:ext cx="16383305" cy="800100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(6-2) 제64~70조 거버넌스 기구</a:t>
            </a:r>
            <a:endParaRPr lang="en-US" sz="50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교안의 제50~56조 표기를 최종본으로 교정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118602"/>
              </p:ext>
            </p:extLst>
          </p:nvPr>
        </p:nvGraphicFramePr>
        <p:xfrm>
          <a:off x="952805" y="2704795"/>
          <a:ext cx="16373246" cy="3706066"/>
        </p:xfrm>
        <a:graphic>
          <a:graphicData uri="http://schemas.openxmlformats.org/drawingml/2006/table">
            <a:tbl>
              <a:tblPr/>
              <a:tblGrid>
                <a:gridCol w="1904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38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09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94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기구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구성과 역할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4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제64조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사무국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집행위원회 산하, 범용 AI 직접 감독과 제재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집행 기구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4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제65~66조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유럽 AI 위원회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회원국 대표로 구성, 당국 간 조정과 의견 제시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조정 기구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4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제67조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자문 포럼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산업, 중소기업, 학계, 시민사회의 균형 대표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자문 기구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4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제68조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과학패널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독립 전문가, 체계적 위험 모델에 대한 경고 발령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전문 기구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4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제69조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전문가 지원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회원국이 과학패널 전문가의 지원을 요청 가능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 절차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4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제70조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회원국 관할 당국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통보 당국과 시장감시 당국 지정, 단일 접점 공표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국내 집행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705" marR="152705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1257300" y="7010403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사무국의 권한</a:t>
            </a:r>
            <a:endParaRPr lang="en-US" sz="2500" dirty="0"/>
          </a:p>
        </p:txBody>
      </p:sp>
      <p:sp>
        <p:nvSpPr>
          <p:cNvPr id="19" name="Text 15"/>
          <p:cNvSpPr txBox="1"/>
          <p:nvPr/>
        </p:nvSpPr>
        <p:spPr>
          <a:xfrm>
            <a:off x="1257300" y="7562701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기술문서 요청, 모델 접근과 평가 실시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1257300" y="7963208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시정 조치 요구, 모델 회수 명령, 과징금 직접 부과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9592056" y="7010403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독립성 쟁점</a:t>
            </a:r>
            <a:endParaRPr lang="en-US" sz="2500" dirty="0"/>
          </a:p>
        </p:txBody>
      </p:sp>
      <p:sp>
        <p:nvSpPr>
          <p:cNvPr id="22" name="Text 18"/>
          <p:cNvSpPr txBox="1"/>
          <p:nvPr/>
        </p:nvSpPr>
        <p:spPr>
          <a:xfrm>
            <a:off x="9592056" y="7562701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사무국이 집행위원회 내부 조직이라 정치적 영향 가능성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9592056" y="7963208"/>
            <a:ext cx="7439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규율 대상과 협상하며 강령을 만드는 구조에 대한 비판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1333195" y="8934602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 기구의 독립성을 어떤 지표로 평가할 수 있는가?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1333195" y="9334195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 감독기구의 독립성 논의가 선행 연구로 참고 가능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46/51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16383305" cy="10479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3847795"/>
            <a:ext cx="16383305" cy="10479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3847795"/>
            <a:ext cx="16383305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4990795"/>
            <a:ext cx="16383305" cy="10479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4990795"/>
            <a:ext cx="16383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2805" y="6133795"/>
            <a:ext cx="16383305" cy="10479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2805" y="6133795"/>
            <a:ext cx="16383305" cy="47549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2805" y="7809890"/>
            <a:ext cx="16383305" cy="1715415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(6-3) 제72~94조 사후 감시와 집행</a:t>
            </a:r>
            <a:endParaRPr lang="en-US" sz="5000" dirty="0"/>
          </a:p>
        </p:txBody>
      </p:sp>
      <p:sp>
        <p:nvSpPr>
          <p:cNvPr id="21" name="Text 18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교안의 제57~63조 표기를 최종본으로 교정, 23개 조문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295705" y="2991002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95705" y="2991002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867205" y="2915107"/>
            <a:ext cx="3810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제72조 사후 모니터링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5905195" y="2933395"/>
            <a:ext cx="111063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제공자가 출시 후 성능과 위험을 지속 수집하는 체계를 운영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5905195" y="3333902"/>
            <a:ext cx="111063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수집한 정보가 제9조 위험관리로 되돌아오는 순환 구조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295705" y="4134002"/>
            <a:ext cx="323698" cy="323698"/>
          </a:xfrm>
          <a:prstGeom prst="ellipse">
            <a:avLst/>
          </a:prstGeom>
          <a:solidFill>
            <a:srgbClr val="A82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95705" y="4134002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867205" y="4058107"/>
            <a:ext cx="3810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제73조 중대 사고 보고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5905195" y="4076395"/>
            <a:ext cx="111063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중대 사고를 인지한 즉시 시장감시 당국에 보고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5905195" y="4476902"/>
            <a:ext cx="111063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사망은 10일, 그 밖의 중대 사고는 15일 이내가 원칙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295705" y="5277002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295705" y="5277002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1867205" y="5201107"/>
            <a:ext cx="3810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제74~84조 집행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5905195" y="5219395"/>
            <a:ext cx="111063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당국의 조사 권한, 문서 요구, 소스코드 접근까지 가능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5905195" y="5619902"/>
            <a:ext cx="111063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시스템에 대한 시정 요구와 철수, 회수 명령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1295705" y="6420002"/>
            <a:ext cx="323698" cy="323698"/>
          </a:xfrm>
          <a:prstGeom prst="ellipse">
            <a:avLst/>
          </a:prstGeom>
          <a:solidFill>
            <a:srgbClr val="6B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295705" y="6420002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1867205" y="6344107"/>
            <a:ext cx="3810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제88~94조 모델 감독</a:t>
            </a:r>
            <a:endParaRPr lang="en-US" sz="2000" dirty="0"/>
          </a:p>
        </p:txBody>
      </p:sp>
      <p:sp>
        <p:nvSpPr>
          <p:cNvPr id="40" name="Text 37"/>
          <p:cNvSpPr txBox="1"/>
          <p:nvPr/>
        </p:nvSpPr>
        <p:spPr>
          <a:xfrm>
            <a:off x="5905195" y="6362395"/>
            <a:ext cx="111063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AI 모델은 AI 사무국이 직접 감독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5905195" y="6762902"/>
            <a:ext cx="111063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기술문서 요청, 모델 평가 실시, 시정 조치 요구가 가능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1333195" y="7925803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거버넌스와 제재 조항은 2025.8.2부터 적용 개시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333195" y="8337283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집행위원회의 본격적인 직접 집행은 2026.8.2부터로 예정</a:t>
            </a:r>
            <a:endParaRPr lang="en-US" sz="1800" dirty="0"/>
          </a:p>
        </p:txBody>
      </p:sp>
      <p:sp>
        <p:nvSpPr>
          <p:cNvPr id="45" name="Text 42"/>
          <p:cNvSpPr txBox="1"/>
          <p:nvPr/>
        </p:nvSpPr>
        <p:spPr>
          <a:xfrm>
            <a:off x="1333195" y="8733218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소스코드 접근 권한까지 두었으나 영업비밀 보호와 충돌 가능</a:t>
            </a:r>
            <a:endParaRPr lang="en-US" sz="1800" dirty="0"/>
          </a:p>
        </p:txBody>
      </p:sp>
      <p:sp>
        <p:nvSpPr>
          <p:cNvPr id="46" name="Text 43"/>
          <p:cNvSpPr txBox="1"/>
          <p:nvPr/>
        </p:nvSpPr>
        <p:spPr>
          <a:xfrm>
            <a:off x="1333195" y="913281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 권한의 범위와 한계를 다루는 연구, 경쟁법 조사 절차와 비교 가능</a:t>
            </a:r>
            <a:endParaRPr lang="en-US" sz="1800" dirty="0"/>
          </a:p>
        </p:txBody>
      </p:sp>
      <p:sp>
        <p:nvSpPr>
          <p:cNvPr id="47" name="Text 44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47/51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7200900"/>
            <a:ext cx="8048549" cy="1257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7200900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286646" y="7200900"/>
            <a:ext cx="8048549" cy="1257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286646" y="7200900"/>
            <a:ext cx="8048549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8648395"/>
            <a:ext cx="16383305" cy="875995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(6-4) 제99~101조 제재 3단계</a:t>
            </a:r>
            <a:endParaRPr lang="en-US" sz="50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교안의 제60~63조 표기를 최종본으로 교정</a:t>
            </a:r>
            <a:endParaRPr lang="en-US" sz="1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672797"/>
              </p:ext>
            </p:extLst>
          </p:nvPr>
        </p:nvGraphicFramePr>
        <p:xfrm>
          <a:off x="952805" y="2704795"/>
          <a:ext cx="16373246" cy="4104744"/>
        </p:xfrm>
        <a:graphic>
          <a:graphicData uri="http://schemas.openxmlformats.org/drawingml/2006/table">
            <a:tbl>
              <a:tblPr/>
              <a:tblGrid>
                <a:gridCol w="2000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5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91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63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조항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위반 유형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부과 주체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제99조 3항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제5조 금지 관행 위반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3,500만 유로 또는 매출 7퍼센트 중 높은 금액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회원국 당국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제99조 4항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제공자, 배포자, 인증기관의 의무 위반, 제50조 투명성 포함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1,500만 유로 또는 매출 3퍼센트 중 높은 금액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회원국 당국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제99조 5항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당국과 인증기관에 허위 또는 불완전한 정보 제공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750만 유로 또는 매출 1퍼센트 중 높은 금액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회원국 당국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제99조 6항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중소기업 대상 완화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 금액과 비율 중 낮은 쪽을 상한으로 적용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회원국 당국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제100조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 기관과 기구의 위반, 금지 관행은 2항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금지 위반 150만 유로, 그 밖의 위반 75만 유로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유럽 데이터보호 감독관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6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제101조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범용 AI 모델 제공자의 제5장 의무 위반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1,500만 유로 또는 매출 3퍼센트 중 높은 금액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집행위원회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1257300" y="7410298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산정의 특징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1257300" y="7944307"/>
            <a:ext cx="743955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정액과 매출 비율 중 높은 쪽, 전년도 전세계 매출 기준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9592056" y="7410298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 현황</a:t>
            </a:r>
            <a:endParaRPr lang="en-US" sz="2500" dirty="0"/>
          </a:p>
        </p:txBody>
      </p:sp>
      <p:sp>
        <p:nvSpPr>
          <p:cNvPr id="21" name="Text 17"/>
          <p:cNvSpPr txBox="1"/>
          <p:nvPr/>
        </p:nvSpPr>
        <p:spPr>
          <a:xfrm>
            <a:off x="9592056" y="7944307"/>
            <a:ext cx="743955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2025.8.2 적용 개시, 부과 사례는 원문 재확인 필요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1333195" y="8742595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인공지능기본법 제43조 과태료 상한은 3,000만 원, 약 1백분의 1 규모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1333195" y="9142188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제재 수준이 준수 행동에 미치는 영향을 따지는 연구, 법경제학 방법으로 접근 가능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48/51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52805" y="8210397"/>
            <a:ext cx="16383305" cy="131490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7대 요건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주체별 의무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적합성 평가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투명성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범용 AI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거버넌스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(6-5) 의무 구조, 한국과의 대조</a:t>
            </a:r>
            <a:endParaRPr lang="en-US" sz="50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인공지능기본법 2026.1.22 시행, 조항 단위로 비교</a:t>
            </a:r>
            <a:endParaRPr lang="en-US" sz="1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483482"/>
              </p:ext>
            </p:extLst>
          </p:nvPr>
        </p:nvGraphicFramePr>
        <p:xfrm>
          <a:off x="952805" y="2704795"/>
          <a:ext cx="16374161" cy="4896612"/>
        </p:xfrm>
        <a:graphic>
          <a:graphicData uri="http://schemas.openxmlformats.org/drawingml/2006/table">
            <a:tbl>
              <a:tblPr/>
              <a:tblGrid>
                <a:gridCol w="1383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3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3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4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40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축</a:t>
                      </a:r>
                      <a:endParaRPr lang="en-US" sz="18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 AI Act</a:t>
                      </a:r>
                      <a:endParaRPr lang="en-US" sz="18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 인공지능기본법</a:t>
                      </a:r>
                      <a:endParaRPr lang="en-US" sz="18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쟁점</a:t>
                      </a:r>
                      <a:endParaRPr lang="en-US" sz="18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의무 주체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제공자, 배포자, 수입자, 유통자 네 주체 분리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사업자 단일 개념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책임 귀속의 명확성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의무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제8~15조 7대 요건, 상태를 법이 지정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제34조 위험관리, 설명가능성, 인간감독 등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항목은 유사, 강제력은 차이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 확인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제43조 적합성 평가, 제48조 CE 표시 의무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제33조 사전 검토 권고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의무 대 권고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영향평가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제27조 영향평가, 공공과 신용 보험에 강제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제35조 노력 의무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범위와 강제력의 교환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투명성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제50조, 기계 판독 표식까지 요구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제31조, 사람이 식별 가능한 표시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기술 수준의 차이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범용 AI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제51조, 연산량 10의 25제곱을 법에 명시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제32조, 임계값을 대통령령에 위임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예측 가능성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역외 대표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제22조와 제54조, 시스템과 모델 각각 지정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제36조 국내 대표자 지정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구조는 유사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제재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제99조, 매출 최대 7퍼센트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제43조, 과태료 3,000만 원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억지력의 격차</a:t>
                      </a:r>
                      <a:endParaRPr lang="en-US" sz="18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2646" marR="142646" marT="38405" marB="38405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1333195" y="8352828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 항목은 두 법이 상당히 겹침, 갈리는 지점은 사전 통제의 강제 여부와 제재 수준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333195" y="875242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EU는 경성법 기반 공동 규제, 한국은 자율 규제를 앞세운 구조라는 학계 평가, 방정미(2026)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333195" y="915201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노성희(2025)가 다섯 가지 입법 보완을 권고, 13주차 선행연구에서 다시 다룸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49/51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16383305" cy="7616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3562502"/>
            <a:ext cx="16383305" cy="7616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3562502"/>
            <a:ext cx="16383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4419295"/>
            <a:ext cx="16383305" cy="7616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4419295"/>
            <a:ext cx="16383305" cy="47549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2805" y="5277002"/>
            <a:ext cx="16383305" cy="7616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2805" y="5277002"/>
            <a:ext cx="16383305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2805" y="6133795"/>
            <a:ext cx="16383305" cy="7616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2805" y="613379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52805" y="6991502"/>
            <a:ext cx="16383305" cy="7616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2805" y="6991502"/>
            <a:ext cx="16383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52805" y="8781898"/>
            <a:ext cx="16383305" cy="743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4강 정리</a:t>
            </a:r>
            <a:endParaRPr lang="en-US" sz="5000" dirty="0"/>
          </a:p>
        </p:txBody>
      </p:sp>
      <p:sp>
        <p:nvSpPr>
          <p:cNvPr id="19" name="Text 16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295705" y="2933395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95705" y="2933395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867205" y="2910868"/>
            <a:ext cx="3810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7대 요건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5905195" y="2930070"/>
            <a:ext cx="111063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제8조 총괄과 제9~15조 개별 요건, 위험관리가 나머지 여섯을 묶는 상위 체계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295705" y="3791102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95705" y="3791102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867205" y="3768575"/>
            <a:ext cx="3810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주체별 의무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5905195" y="3787777"/>
            <a:ext cx="111063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주체로 분담, 제공자에 집중, 상표와 변경, 용도 전환 시 지위가 이동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295705" y="4647895"/>
            <a:ext cx="323698" cy="323698"/>
          </a:xfrm>
          <a:prstGeom prst="ellipse">
            <a:avLst/>
          </a:prstGeom>
          <a:solidFill>
            <a:srgbClr val="6B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295705" y="4647895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867205" y="4625368"/>
            <a:ext cx="3810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적합성 평가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5905195" y="4644570"/>
            <a:ext cx="111063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적용과 두 평가 경로, 부속서 III 대부분이 자체 평가, CE 표시와 등록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295705" y="5505602"/>
            <a:ext cx="323698" cy="323698"/>
          </a:xfrm>
          <a:prstGeom prst="ellipse">
            <a:avLst/>
          </a:prstGeom>
          <a:solidFill>
            <a:srgbClr val="A82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295705" y="5505602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1867205" y="5483075"/>
            <a:ext cx="3810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투명성 의무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5905195" y="5502277"/>
            <a:ext cx="111063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제50조에 네 의무, 기계 판독 표식과 사람이 보는 공개를 분리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1295705" y="6362395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295705" y="6362395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1867205" y="6339868"/>
            <a:ext cx="3810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AI</a:t>
            </a:r>
            <a:endParaRPr lang="en-US" sz="2000" dirty="0"/>
          </a:p>
        </p:txBody>
      </p:sp>
      <p:sp>
        <p:nvSpPr>
          <p:cNvPr id="39" name="Text 36"/>
          <p:cNvSpPr txBox="1"/>
          <p:nvPr/>
        </p:nvSpPr>
        <p:spPr>
          <a:xfrm>
            <a:off x="5905195" y="6359070"/>
            <a:ext cx="111063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연산량 기준으로 두 층, 모델 단계는 문서 중심, 행동강령이 이행 수단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1295705" y="7220102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295705" y="7220102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1867205" y="7197575"/>
            <a:ext cx="3810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거버넌스와 제재</a:t>
            </a:r>
            <a:endParaRPr lang="en-US" sz="2000" dirty="0"/>
          </a:p>
        </p:txBody>
      </p:sp>
      <p:sp>
        <p:nvSpPr>
          <p:cNvPr id="43" name="Text 40"/>
          <p:cNvSpPr txBox="1"/>
          <p:nvPr/>
        </p:nvSpPr>
        <p:spPr>
          <a:xfrm>
            <a:off x="5905195" y="7216777"/>
            <a:ext cx="111063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AI는 집행위원회, 나머지는 회원국 당국, 과징금 상한 매출 7퍼센트</a:t>
            </a:r>
            <a:endParaRPr lang="en-US" sz="1800" dirty="0"/>
          </a:p>
        </p:txBody>
      </p:sp>
      <p:sp>
        <p:nvSpPr>
          <p:cNvPr id="47" name="Text 44"/>
          <p:cNvSpPr txBox="1"/>
          <p:nvPr/>
        </p:nvSpPr>
        <p:spPr>
          <a:xfrm>
            <a:off x="1333195" y="898215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비교, 시행 효과 측정, 개념 분석 중 어느 방법을 쓸지가 12주차 연구방법론과 이어짐</a:t>
            </a:r>
            <a:endParaRPr lang="en-US" sz="1800" dirty="0"/>
          </a:p>
        </p:txBody>
      </p:sp>
      <p:sp>
        <p:nvSpPr>
          <p:cNvPr id="48" name="Text 45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50/51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715207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715207"/>
            <a:ext cx="7438644" cy="91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참고자료 안내</a:t>
            </a:r>
            <a:endParaRPr lang="en-US" sz="5000" dirty="0"/>
          </a:p>
        </p:txBody>
      </p:sp>
      <p:sp>
        <p:nvSpPr>
          <p:cNvPr id="13" name="Text 8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작성용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참고자료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257300" y="2991002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 본문(조문) 영한대역</a:t>
            </a:r>
            <a:endParaRPr lang="en-US" sz="2500" dirty="0"/>
          </a:p>
        </p:txBody>
      </p:sp>
      <p:sp>
        <p:nvSpPr>
          <p:cNvPr id="15" name="Text 10"/>
          <p:cNvSpPr txBox="1"/>
          <p:nvPr/>
        </p:nvSpPr>
        <p:spPr>
          <a:xfrm>
            <a:off x="1257300" y="398129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조문 제1~113조 + 부속서 14개, 영문·한글 나란히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1257300" y="448056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개정 조문에 [개정전 보기] — 2024 원본과 개정 후 비교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257300" y="497982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신설 조문 6개(4a·60a·75a~d) 별도 표시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257300" y="547908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목차에서 조문 클릭·[목차] 복귀, 장(章)별 구성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1257300" y="597834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EU_AI_Act_full_kor.html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9592056" y="2991002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 전문(前文) 영한대역</a:t>
            </a:r>
            <a:endParaRPr lang="en-US" sz="2500" dirty="0"/>
          </a:p>
        </p:txBody>
      </p:sp>
      <p:sp>
        <p:nvSpPr>
          <p:cNvPr id="21" name="Text 16"/>
          <p:cNvSpPr txBox="1"/>
          <p:nvPr/>
        </p:nvSpPr>
        <p:spPr>
          <a:xfrm>
            <a:off x="9592056" y="398129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입법이유 Recital 180개 항, 영문·한글 나란히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9592056" y="448056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항에 요약 제목 부여 — 목차에서 내용 식별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9592056" y="497982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 목적·위험기반 접근·기본권 등 입법 배경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9592056" y="547908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EU_AI_Act_recitals_kor.html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9592056" y="597834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본문(조문)과 상호 링크 — 취지↔조문 넘나들기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51/51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</TotalTime>
  <Words>8913</Words>
  <Application>Microsoft Office PowerPoint</Application>
  <PresentationFormat>사용자 지정</PresentationFormat>
  <Paragraphs>1581</Paragraphs>
  <Slides>51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56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양희정</cp:lastModifiedBy>
  <cp:revision>12</cp:revision>
  <dcterms:created xsi:type="dcterms:W3CDTF">2026-09-15T22:43:35Z</dcterms:created>
  <dcterms:modified xsi:type="dcterms:W3CDTF">2026-09-17T06:23:18Z</dcterms:modified>
</cp:coreProperties>
</file>